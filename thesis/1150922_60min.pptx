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6"/>
    <p:sldId id="284" r:id="rId5"/>
    <p:sldId id="285" r:id="rId4"/>
    <p:sldId id="286" r:id="rId3"/>
    <p:sldId id="287" r:id="rId2"/>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236" autoAdjust="0"/>
  </p:normalViewPr>
  <p:slideViewPr>
    <p:cSldViewPr snapToGrid="0" snapToObjects="1">
      <p:cViewPr>
        <p:scale>
          <a:sx n="66" d="100"/>
          <a:sy n="66" d="100"/>
        </p:scale>
        <p:origin x="644" y="-2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2.xml"/><Relationship Id="rId3" Type="http://schemas.openxmlformats.org/officeDocument/2006/relationships/slide" Target="slides/slide31.xml"/><Relationship Id="rId4" Type="http://schemas.openxmlformats.org/officeDocument/2006/relationships/slide" Target="slides/slide30.xml"/><Relationship Id="rId5" Type="http://schemas.openxmlformats.org/officeDocument/2006/relationships/slide" Target="slides/slide29.xml"/><Relationship Id="rId6" Type="http://schemas.openxmlformats.org/officeDocument/2006/relationships/slide" Target="slides/slide28.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invertIfNegative val="0"/>
            <c:spPr>
              <a:solidFill>
                <a:srgbClr val="2E5A92"/>
              </a:solidFill>
            </c:spPr>
          </c:dPt>
          <c:dPt>
            <c:idx val="1"/>
            <c:invertIfNegative val="0"/>
            <c:spPr>
              <a:solidFill>
                <a:srgbClr val="2E5A92"/>
              </a:solidFill>
            </c:spPr>
          </c:dPt>
          <c:dPt>
            <c:idx val="2"/>
            <c:invertIfNegative val="0"/>
            <c:spPr>
              <a:solidFill>
                <a:srgbClr val="C4553B"/>
              </a:solidFill>
            </c:spPr>
          </c:dPt>
          <c:dPt>
            <c:idx val="3"/>
            <c:invertIfNegative val="0"/>
            <c:spPr>
              <a:solidFill>
                <a:srgbClr val="C4553B"/>
              </a:solidFill>
            </c:spPr>
          </c:dPt>
          <c:dPt>
            <c:idx val="4"/>
            <c:invertIfNegative val="0"/>
            <c:spPr>
              <a:solidFill>
                <a:srgbClr val="C4553B"/>
              </a:solidFill>
            </c:spPr>
          </c:dPt>
          <c:cat>
            <c:strRef>
              <c:f>Sheet1!$A$2:$A$6</c:f>
              <c:strCache>
                <c:ptCount val="5"/>
                <c:pt idx="0">
                  <c:v>Z-Score
（0 次決策）</c:v>
                </c:pt>
                <c:pt idx="1">
                  <c:v>DL-THR
（1 次決策）</c:v>
                </c:pt>
                <c:pt idx="2">
                  <c:v>v3 FQI
（≤126 次）</c:v>
                </c:pt>
                <c:pt idx="3">
                  <c:v>v1 DQN
（≤126 次）</c:v>
                </c:pt>
                <c:pt idx="4">
                  <c:v>v2 DQN
（≤126 次）</c:v>
                </c:pt>
              </c:strCache>
            </c:strRef>
          </c:cat>
          <c:val>
            <c:numRef>
              <c:f>Sheet1!$B$2:$B$6</c:f>
              <c:numCache>
                <c:formatCode>General</c:formatCode>
                <c:ptCount val="5"/>
                <c:pt idx="0">
                  <c:v>1.962962962962963</c:v>
                </c:pt>
                <c:pt idx="1">
                  <c:v>1.9444444444444444</c:v>
                </c:pt>
                <c:pt idx="2">
                  <c:v>4.203703703703703</c:v>
                </c:pt>
                <c:pt idx="3">
                  <c:v>5.592592592592593</c:v>
                </c:pt>
                <c:pt idx="4">
                  <c:v>7.907407407407407</c:v>
                </c:pt>
              </c:numCache>
            </c:numRef>
          </c:val>
          <c:invertIfNegative val="0"/>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9CA3AF"/>
            </a:solidFill>
          </a:ln>
        </c:spPr>
        <c:txPr>
          <a:bodyPr/>
          <a:lstStyle/>
          <a:p>
            <a:pPr>
              <a:defRPr sz="1100"/>
            </a:pPr>
          </a:p>
        </c:txPr>
        <c:crossAx val="-2113994440"/>
        <c:crosses val="autoZero"/>
        <c:auto val="1"/>
        <c:lblAlgn val="ctr"/>
        <c:lblOffset val="100"/>
        <c:noMultiLvlLbl val="0"/>
      </c:catAx>
      <c:valAx>
        <c:axId val="-2113994440"/>
        <c:scaling>
          <c:max val="9.0"/>
          <c:min val="0.0"/>
        </c:scaling>
        <c:delete val="0"/>
        <c:axPos val="l"/>
        <c:majorGridlines>
          <c:spPr>
            <a:ln>
              <a:solidFill>
                <a:srgbClr val="D9DEE7"/>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1A1A1A"/>
          </a:solidFill>
          <a:latin typeface="Microsoft JhengHe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＋DL-THR 門檻選擇</c:v>
                </c:pt>
              </c:strCache>
            </c:strRef>
          </c:tx>
          <c:spPr>
            <a:ln w="31750">
              <a:solidFill>
                <a:srgbClr val="C4553B"/>
              </a:solidFill>
            </a:ln>
          </c:spPr>
          <c:marker>
            <c:symbol val="none"/>
          </c:marker>
          <c:cat>
            <c:strRef>
              <c:f>Sheet1!$A$2:$A$26</c:f>
              <c:strCache>
                <c:ptCount val="25"/>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pt idx="24">
                  <c:v>2025</c:v>
                </c:pt>
              </c:strCache>
            </c:strRef>
          </c:cat>
          <c:val>
            <c:numRef>
              <c:f>Sheet1!$B$2:$B$26</c:f>
              <c:numCache>
                <c:formatCode>General</c:formatCode>
                <c:ptCount val="25"/>
                <c:pt idx="0">
                  <c:v>9918</c:v>
                </c:pt>
                <c:pt idx="1">
                  <c:v>10179</c:v>
                </c:pt>
                <c:pt idx="2">
                  <c:v>10135</c:v>
                </c:pt>
                <c:pt idx="3">
                  <c:v>10141</c:v>
                </c:pt>
                <c:pt idx="4">
                  <c:v>10311</c:v>
                </c:pt>
                <c:pt idx="5">
                  <c:v>10679</c:v>
                </c:pt>
                <c:pt idx="6">
                  <c:v>11116</c:v>
                </c:pt>
                <c:pt idx="7">
                  <c:v>13340</c:v>
                </c:pt>
                <c:pt idx="8">
                  <c:v>14344</c:v>
                </c:pt>
                <c:pt idx="9">
                  <c:v>14241</c:v>
                </c:pt>
                <c:pt idx="10">
                  <c:v>13916</c:v>
                </c:pt>
                <c:pt idx="11">
                  <c:v>14090</c:v>
                </c:pt>
                <c:pt idx="12">
                  <c:v>13926</c:v>
                </c:pt>
                <c:pt idx="13">
                  <c:v>13795</c:v>
                </c:pt>
                <c:pt idx="14">
                  <c:v>13694</c:v>
                </c:pt>
                <c:pt idx="15">
                  <c:v>13783</c:v>
                </c:pt>
                <c:pt idx="16">
                  <c:v>13684</c:v>
                </c:pt>
                <c:pt idx="17">
                  <c:v>13530</c:v>
                </c:pt>
                <c:pt idx="18">
                  <c:v>13353</c:v>
                </c:pt>
                <c:pt idx="19">
                  <c:v>13416</c:v>
                </c:pt>
                <c:pt idx="20">
                  <c:v>13406</c:v>
                </c:pt>
                <c:pt idx="21">
                  <c:v>13396</c:v>
                </c:pt>
                <c:pt idx="22">
                  <c:v>13442</c:v>
                </c:pt>
                <c:pt idx="23">
                  <c:v>13021</c:v>
                </c:pt>
                <c:pt idx="24">
                  <c:v>13062</c:v>
                </c:pt>
              </c:numCache>
            </c:numRef>
          </c:val>
          <c:smooth val="0"/>
        </c:ser>
        <c:ser>
          <c:idx val="1"/>
          <c:order val="1"/>
          <c:tx>
            <c:strRef>
              <c:f>Sheet1!$C$1</c:f>
              <c:strCache>
                <c:ptCount val="1"/>
                <c:pt idx="0">
                  <c:v>Z-Score 固定門檻</c:v>
                </c:pt>
              </c:strCache>
            </c:strRef>
          </c:tx>
          <c:spPr>
            <a:ln w="31750">
              <a:solidFill>
                <a:srgbClr val="2E5A92"/>
              </a:solidFill>
            </a:ln>
          </c:spPr>
          <c:marker>
            <c:symbol val="none"/>
          </c:marker>
          <c:cat>
            <c:strRef>
              <c:f>Sheet1!$A$2:$A$26</c:f>
              <c:strCache>
                <c:ptCount val="25"/>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pt idx="24">
                  <c:v>2025</c:v>
                </c:pt>
              </c:strCache>
            </c:strRef>
          </c:cat>
          <c:val>
            <c:numRef>
              <c:f>Sheet1!$C$2:$C$26</c:f>
              <c:numCache>
                <c:formatCode>General</c:formatCode>
                <c:ptCount val="25"/>
                <c:pt idx="0">
                  <c:v>10023</c:v>
                </c:pt>
                <c:pt idx="1">
                  <c:v>10293</c:v>
                </c:pt>
                <c:pt idx="2">
                  <c:v>10210</c:v>
                </c:pt>
                <c:pt idx="3">
                  <c:v>10123</c:v>
                </c:pt>
                <c:pt idx="4">
                  <c:v>10219</c:v>
                </c:pt>
                <c:pt idx="5">
                  <c:v>10588</c:v>
                </c:pt>
                <c:pt idx="6">
                  <c:v>11081</c:v>
                </c:pt>
                <c:pt idx="7">
                  <c:v>12088</c:v>
                </c:pt>
                <c:pt idx="8">
                  <c:v>12796</c:v>
                </c:pt>
                <c:pt idx="9">
                  <c:v>12926</c:v>
                </c:pt>
                <c:pt idx="10">
                  <c:v>12570</c:v>
                </c:pt>
                <c:pt idx="11">
                  <c:v>12697</c:v>
                </c:pt>
                <c:pt idx="12">
                  <c:v>12478</c:v>
                </c:pt>
                <c:pt idx="13">
                  <c:v>12284</c:v>
                </c:pt>
                <c:pt idx="14">
                  <c:v>12189</c:v>
                </c:pt>
                <c:pt idx="15">
                  <c:v>12214</c:v>
                </c:pt>
                <c:pt idx="16">
                  <c:v>12097</c:v>
                </c:pt>
                <c:pt idx="17">
                  <c:v>11888</c:v>
                </c:pt>
                <c:pt idx="18">
                  <c:v>11615</c:v>
                </c:pt>
                <c:pt idx="19">
                  <c:v>11691</c:v>
                </c:pt>
                <c:pt idx="20">
                  <c:v>11630</c:v>
                </c:pt>
                <c:pt idx="21">
                  <c:v>11638</c:v>
                </c:pt>
                <c:pt idx="22">
                  <c:v>11590</c:v>
                </c:pt>
                <c:pt idx="23">
                  <c:v>11047</c:v>
                </c:pt>
                <c:pt idx="24">
                  <c:v>11072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CA3AF"/>
            </a:solidFill>
          </a:ln>
        </c:spPr>
        <c:txPr>
          <a:bodyPr/>
          <a:lstStyle/>
          <a:p>
            <a:pPr>
              <a:defRPr sz="1100"/>
            </a:pPr>
          </a:p>
        </c:txPr>
        <c:crossAx val="2140495176"/>
        <c:crosses val="autoZero"/>
        <c:auto val="1"/>
        <c:lblAlgn val="ctr"/>
        <c:lblOffset val="100"/>
        <c:noMultiLvlLbl val="0"/>
      </c:catAx>
      <c:valAx>
        <c:axId val="2140495176"/>
        <c:scaling>
          <c:max val="15000.0"/>
          <c:min val="9000.0"/>
        </c:scaling>
        <c:delete val="0"/>
        <c:axPos val="l"/>
        <c:majorGridlines>
          <c:spPr>
            <a:ln>
              <a:solidFill>
                <a:srgbClr val="D9DEE7"/>
              </a:solidFill>
            </a:ln>
          </c:spPr>
        </c:majorGridlines>
        <c:numFmt formatCode="#,##0" sourceLinked="0"/>
        <c:majorTickMark val="out"/>
        <c:minorTickMark val="none"/>
        <c:tickLblPos val="nextTo"/>
        <c:spPr>
          <a:ln>
            <a:noFill/>
          </a:ln>
        </c:spPr>
        <c:crossAx val="2118791784"/>
        <c:crosses val="autoZero"/>
      </c:valAx>
    </c:plotArea>
    <c:legend>
      <c:legendPos val="t"/>
      <c:layout/>
      <c:overlay val="0"/>
      <c:txPr>
        <a:bodyPr/>
        <a:lstStyle/>
        <a:p>
          <a:pPr>
            <a:defRPr sz="1200"/>
          </a:pPr>
        </a:p>
      </c:txPr>
    </c:legend>
    <c:plotVisOnly val="1"/>
    <c:dispBlanksAs val="gap"/>
    <c:showDLblsOverMax val="0"/>
  </c:chart>
  <c:txPr>
    <a:bodyPr/>
    <a:lstStyle/>
    <a:p>
      <a:pPr>
        <a:defRPr sz="1100">
          <a:solidFill>
            <a:srgbClr val="1A1A1A"/>
          </a:solidFill>
          <a:latin typeface="Microsoft JhengHe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v>
                </c:pt>
              </c:strCache>
            </c:strRef>
          </c:tx>
          <c:dPt>
            <c:idx val="0"/>
            <c:invertIfNegative val="0"/>
            <c:spPr>
              <a:solidFill>
                <a:srgbClr val="2E5A92"/>
              </a:solidFill>
            </c:spPr>
          </c:dPt>
          <c:dPt>
            <c:idx val="1"/>
            <c:invertIfNegative val="0"/>
            <c:spPr>
              <a:solidFill>
                <a:srgbClr val="2E5A92"/>
              </a:solidFill>
            </c:spPr>
          </c:dPt>
          <c:dPt>
            <c:idx val="2"/>
            <c:invertIfNegative val="0"/>
            <c:spPr>
              <a:solidFill>
                <a:srgbClr val="2E5A92"/>
              </a:solidFill>
            </c:spPr>
          </c:dPt>
          <c:dPt>
            <c:idx val="3"/>
            <c:invertIfNegative val="0"/>
            <c:spPr>
              <a:solidFill>
                <a:srgbClr val="2E5A92"/>
              </a:solidFill>
            </c:spPr>
          </c:dPt>
          <c:dPt>
            <c:idx val="4"/>
            <c:invertIfNegative val="0"/>
            <c:spPr>
              <a:solidFill>
                <a:srgbClr val="2E5A92"/>
              </a:solidFill>
            </c:spPr>
          </c:dPt>
          <c:dPt>
            <c:idx val="5"/>
            <c:invertIfNegative val="0"/>
            <c:spPr>
              <a:solidFill>
                <a:srgbClr val="2E5A92"/>
              </a:solidFill>
            </c:spPr>
          </c:dPt>
          <c:dPt>
            <c:idx val="6"/>
            <c:invertIfNegative val="0"/>
            <c:spPr>
              <a:solidFill>
                <a:srgbClr val="2E5A92"/>
              </a:solidFill>
            </c:spPr>
          </c:dPt>
          <c:dPt>
            <c:idx val="7"/>
            <c:invertIfNegative val="0"/>
            <c:spPr>
              <a:solidFill>
                <a:srgbClr val="2E5A92"/>
              </a:solidFill>
            </c:spPr>
          </c:dPt>
          <c:dPt>
            <c:idx val="8"/>
            <c:invertIfNegative val="0"/>
            <c:spPr>
              <a:solidFill>
                <a:srgbClr val="2E5A92"/>
              </a:solidFill>
            </c:spPr>
          </c:dPt>
          <c:dPt>
            <c:idx val="9"/>
            <c:invertIfNegative val="0"/>
            <c:spPr>
              <a:solidFill>
                <a:srgbClr val="2E5A92"/>
              </a:solidFill>
            </c:spPr>
          </c:dPt>
          <c:dPt>
            <c:idx val="10"/>
            <c:invertIfNegative val="0"/>
            <c:spPr>
              <a:solidFill>
                <a:srgbClr val="2E5A92"/>
              </a:solidFill>
            </c:spPr>
          </c:dPt>
          <c:dPt>
            <c:idx val="11"/>
            <c:invertIfNegative val="0"/>
            <c:spPr>
              <a:solidFill>
                <a:srgbClr val="2E5A92"/>
              </a:solidFill>
            </c:spPr>
          </c:dPt>
          <c:dPt>
            <c:idx val="12"/>
            <c:invertIfNegative val="0"/>
            <c:spPr>
              <a:solidFill>
                <a:srgbClr val="2E5A92"/>
              </a:solidFill>
            </c:spPr>
          </c:dPt>
          <c:dPt>
            <c:idx val="13"/>
            <c:invertIfNegative val="0"/>
            <c:spPr>
              <a:solidFill>
                <a:srgbClr val="C4553B"/>
              </a:solidFill>
            </c:spPr>
          </c:dPt>
          <c:dPt>
            <c:idx val="14"/>
            <c:invertIfNegative val="0"/>
            <c:spPr>
              <a:solidFill>
                <a:srgbClr val="2E5A92"/>
              </a:solidFill>
            </c:spPr>
          </c:dPt>
          <c:cat>
            <c:strRef>
              <c:f>Sheet1!$A$2:$A$16</c:f>
              <c:strCache>
                <c:ptCount val="15"/>
                <c:pt idx="0">
                  <c:v>KM SDP</c:v>
                </c:pt>
                <c:pt idx="1">
                  <c:v>KM DTW</c:v>
                </c:pt>
                <c:pt idx="2">
                  <c:v>KM SSD</c:v>
                </c:pt>
                <c:pt idx="3">
                  <c:v>HDB SDP</c:v>
                </c:pt>
                <c:pt idx="4">
                  <c:v>HDB DTW</c:v>
                </c:pt>
                <c:pt idx="5">
                  <c:v>HDB SSD</c:v>
                </c:pt>
                <c:pt idx="6">
                  <c:v>AGG SDP</c:v>
                </c:pt>
                <c:pt idx="7">
                  <c:v>AGG DTW</c:v>
                </c:pt>
                <c:pt idx="8">
                  <c:v>AGG SSD</c:v>
                </c:pt>
                <c:pt idx="9">
                  <c:v>GICS SDP</c:v>
                </c:pt>
                <c:pt idx="10">
                  <c:v>GICS DTW</c:v>
                </c:pt>
                <c:pt idx="11">
                  <c:v>GICS SSD</c:v>
                </c:pt>
                <c:pt idx="12">
                  <c:v>不分組 SDP</c:v>
                </c:pt>
                <c:pt idx="13">
                  <c:v>不分組 DTW</c:v>
                </c:pt>
                <c:pt idx="14">
                  <c:v>不分組 SSD</c:v>
                </c:pt>
              </c:strCache>
            </c:strRef>
          </c:cat>
          <c:val>
            <c:numRef>
              <c:f>Sheet1!$B$2:$B$16</c:f>
              <c:numCache>
                <c:formatCode>General</c:formatCode>
                <c:ptCount val="15"/>
                <c:pt idx="0">
                  <c:v>-1.456</c:v>
                </c:pt>
                <c:pt idx="1">
                  <c:v>-1.435</c:v>
                </c:pt>
                <c:pt idx="2">
                  <c:v>-1.577</c:v>
                </c:pt>
                <c:pt idx="3">
                  <c:v>-1.015</c:v>
                </c:pt>
                <c:pt idx="4">
                  <c:v>-0.822</c:v>
                </c:pt>
                <c:pt idx="5">
                  <c:v>-1.38</c:v>
                </c:pt>
                <c:pt idx="6">
                  <c:v>-0.771</c:v>
                </c:pt>
                <c:pt idx="7">
                  <c:v>-0.689</c:v>
                </c:pt>
                <c:pt idx="8">
                  <c:v>-1.042</c:v>
                </c:pt>
                <c:pt idx="9">
                  <c:v>-0.471</c:v>
                </c:pt>
                <c:pt idx="10">
                  <c:v>-0.522</c:v>
                </c:pt>
                <c:pt idx="11">
                  <c:v>-0.705</c:v>
                </c:pt>
                <c:pt idx="12">
                  <c:v>-0.391</c:v>
                </c:pt>
                <c:pt idx="13">
                  <c:v>0.009</c:v>
                </c:pt>
                <c:pt idx="14">
                  <c:v>-0.308</c:v>
                </c:pt>
              </c:numCache>
            </c:numRef>
          </c:val>
          <c:invertIfNegative val="0"/>
        </c:ser>
        <c:dLbls>
          <c:numFmt formatCode="+0.000;−0.000" sourceLinked="0"/>
          <c:txPr>
            <a:bodyPr/>
            <a:lstStyle/>
            <a:p>
              <a:pPr>
                <a:defRPr sz="10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low"/>
        <c:spPr>
          <a:ln>
            <a:solidFill>
              <a:srgbClr val="9CA3AF"/>
            </a:solidFill>
          </a:ln>
        </c:spPr>
        <c:txPr>
          <a:bodyPr/>
          <a:lstStyle/>
          <a:p>
            <a:pPr>
              <a:defRPr sz="1000"/>
            </a:pPr>
          </a:p>
        </c:txPr>
        <c:crossAx val="-2113994440"/>
        <c:crosses val="autoZero"/>
        <c:auto val="1"/>
        <c:lblAlgn val="ctr"/>
        <c:lblOffset val="100"/>
        <c:noMultiLvlLbl val="0"/>
      </c:catAx>
      <c:valAx>
        <c:axId val="-2113994440"/>
        <c:scaling>
          <c:max val="0.5"/>
          <c:min val="-2.0"/>
        </c:scaling>
        <c:delete val="0"/>
        <c:axPos val="b"/>
        <c:majorGridlines>
          <c:spPr>
            <a:ln>
              <a:solidFill>
                <a:srgbClr val="D9DEE7"/>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1A1A1A"/>
          </a:solidFill>
          <a:latin typeface="Microsoft JhengHe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invertIfNegative val="0"/>
            <c:spPr>
              <a:solidFill>
                <a:srgbClr val="2E5A92"/>
              </a:solidFill>
            </c:spPr>
          </c:dPt>
          <c:dPt>
            <c:idx val="1"/>
            <c:invertIfNegative val="0"/>
            <c:spPr>
              <a:solidFill>
                <a:srgbClr val="C4553B"/>
              </a:solidFill>
            </c:spPr>
          </c:dPt>
          <c:dPt>
            <c:idx val="2"/>
            <c:invertIfNegative val="0"/>
            <c:spPr>
              <a:solidFill>
                <a:srgbClr val="C4553B"/>
              </a:solidFill>
            </c:spPr>
          </c:dPt>
          <c:dPt>
            <c:idx val="3"/>
            <c:invertIfNegative val="0"/>
            <c:spPr>
              <a:solidFill>
                <a:srgbClr val="0B2A5B"/>
              </a:solidFill>
            </c:spPr>
          </c:dPt>
          <c:cat>
            <c:strRef>
              <c:f>Sheet1!$A$2:$A$5</c:f>
              <c:strCache>
                <c:ptCount val="4"/>
                <c:pt idx="0">
                  <c:v>收斂獲利</c:v>
                </c:pt>
                <c:pt idx="1">
                  <c:v>期末強平</c:v>
                </c:pt>
                <c:pt idx="2">
                  <c:v>停損</c:v>
                </c:pt>
                <c:pt idx="3">
                  <c:v>淨額</c:v>
                </c:pt>
              </c:strCache>
            </c:strRef>
          </c:cat>
          <c:val>
            <c:numRef>
              <c:f>Sheet1!$B$2:$B$5</c:f>
              <c:numCache>
                <c:formatCode>General</c:formatCode>
                <c:ptCount val="4"/>
                <c:pt idx="0">
                  <c:v>16217</c:v>
                </c:pt>
                <c:pt idx="1">
                  <c:v>-9369</c:v>
                </c:pt>
                <c:pt idx="2">
                  <c:v>-5776</c:v>
                </c:pt>
                <c:pt idx="3">
                  <c:v>1072</c:v>
                </c:pt>
              </c:numCache>
            </c:numRef>
          </c:val>
          <c:invertIfNegative val="0"/>
        </c:ser>
        <c:dLbls>
          <c:numFmt formatCode="+#,##0;−#,##0"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9CA3AF"/>
            </a:solidFill>
          </a:ln>
        </c:spPr>
        <c:txPr>
          <a:bodyPr/>
          <a:lstStyle/>
          <a:p>
            <a:pPr>
              <a:defRPr sz="1100"/>
            </a:pPr>
          </a:p>
        </c:txPr>
        <c:crossAx val="-2113994440"/>
        <c:crosses val="autoZero"/>
        <c:auto val="1"/>
        <c:lblAlgn val="ctr"/>
        <c:lblOffset val="100"/>
        <c:noMultiLvlLbl val="0"/>
      </c:catAx>
      <c:valAx>
        <c:axId val="-2113994440"/>
        <c:scaling>
          <c:max val="20000.0"/>
          <c:min val="-15000.0"/>
        </c:scaling>
        <c:delete val="0"/>
        <c:axPos val="l"/>
        <c:majorGridlines>
          <c:spPr>
            <a:ln>
              <a:solidFill>
                <a:srgbClr val="D9DEE7"/>
              </a:solidFill>
            </a:ln>
          </c:spPr>
        </c:majorGridlines>
        <c:numFmt formatCode="#,##0" sourceLinked="0"/>
        <c:majorTickMark val="out"/>
        <c:minorTickMark val="none"/>
        <c:tickLblPos val="nextTo"/>
        <c:spPr>
          <a:ln>
            <a:noFill/>
          </a:ln>
        </c:spPr>
        <c:txPr>
          <a:bodyPr/>
          <a:lstStyle/>
          <a:p>
            <a:pPr>
              <a:defRPr sz="1100"/>
            </a:pPr>
          </a:p>
        </c:txPr>
        <c:crossAx val="-2068027336"/>
        <c:crosses val="autoZero"/>
        <c:majorUnit val="5000.0"/>
      </c:valAx>
    </c:plotArea>
    <c:dispBlanksAs val="gap"/>
  </c:chart>
  <c:txPr>
    <a:bodyPr/>
    <a:lstStyle/>
    <a:p>
      <a:pPr>
        <a:defRPr sz="1100">
          <a:solidFill>
            <a:srgbClr val="1A1A1A"/>
          </a:solidFill>
          <a:latin typeface="Microsoft JhengHe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401672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30 秒｜講完時約 00:30】</a:t>
            </a:r>
          </a:p>
          <a:p/>
          <a:p>
            <a:r>
              <a:t>各位老師好，我是李伯修。今天要報告的論文題目是「結合配對來源組裝與動作空間設計之配對交易系統建構與實證」。</a:t>
            </a:r>
          </a:p>
          <a:p/>
          <a:p>
            <a:r>
              <a:t>題目有點長，我先用一句白話講：這篇在問的是——如果我們用機器學習來決定配對交易什麼時候進場、什麼時候出場，那「讓模型每一期可以做幾次決定」這件事，到底重不重要？</a:t>
            </a:r>
          </a:p>
          <a:p/>
          <a:p>
            <a:r>
              <a:t>今天大概會講一個小時，我會從配對交易是什麼開始講，所以不熟這個領域也沒關係。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01:30】</a:t>
            </a:r>
          </a:p>
          <a:p/>
          <a:p>
            <a:r>
              <a:t>先跟大家講一下今天的路線。</a:t>
            </a:r>
          </a:p>
          <a:p/>
          <a:p>
            <a:r>
              <a:t>一共六個部分。第一部分我會先花幾分鐘講配對交易本身——它在做什麼、為什麼大家覺得它越來越不靈。第二部分講我想問的問題，也就是我在文獻裡看到的一個缺口。第三部分是方法，我怎麼把這個問題變成一個可以做的實驗。</a:t>
            </a:r>
          </a:p>
          <a:p/>
          <a:p>
            <a:r>
              <a:t>第四部分是重點，也是篇幅最大的地方：三段實證結果。這邊我要先打個預防針——三段的證據強度不一樣，有的是事前就把判準寫死的，有的是分析時才採用的，我會分開講，不會混在一起。</a:t>
            </a:r>
          </a:p>
          <a:p/>
          <a:p>
            <a:r>
              <a:t>第五部分回答一個大家一定會問的問題：所以這個東西可以拿來賺錢嗎？答案是不行，我會講清楚為什麼。最後是結論。</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02:30】</a:t>
            </a:r>
          </a:p>
          <a:p/>
          <a:p>
            <a:r>
              <a:t>我習慣先把答案放在前面，這樣等一下聽的時候比較不會迷路。</a:t>
            </a:r>
          </a:p>
          <a:p/>
          <a:p>
            <a:r>
              <a:t>我問了三個問題。第一個：如果讓模型每天自由決定要不要持倉，會不會比較差？答案是會，而且差很多——換手率是其他做法的兩到四倍，績效全部比較差。</a:t>
            </a:r>
          </a:p>
          <a:p/>
          <a:p>
            <a:r>
              <a:t>第二個：模型能不能看出「這一組配對應該用比較高的門檻、那一組應該用比較低的」？答案是不能，它甚至輸給一個完全不看配對、只用一個常數的做法。</a:t>
            </a:r>
          </a:p>
          <a:p/>
          <a:p>
            <a:r>
              <a:t>第三個：那如果只讓模型每一期選一次門檻，會不會比傳統的固定門檻好？答案是好，五個配對來源方向全部是正的——但是好的幅度不夠大，跨不過「可以拿去交易」的門檻。</a:t>
            </a:r>
          </a:p>
          <a:p/>
          <a:p>
            <a:r>
              <a:t>所以整篇的一句話是：決定成敗的是「讓模型做幾次決定」這個設計，而不是模型本身聰不聰明。接下來我就一步一步講我是怎麼得到這三個答案的。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15 秒｜講完時約 02:45】</a:t>
            </a:r>
          </a:p>
          <a:p/>
          <a:p>
            <a:r>
              <a:t>好，我們進入第一部分：背景。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30 秒｜講完時約 04:15】</a:t>
            </a:r>
          </a:p>
          <a:p/>
          <a:p>
            <a:r>
              <a:t>配對交易的邏輯其實很直覺。</a:t>
            </a:r>
          </a:p>
          <a:p/>
          <a:p>
            <a:r>
              <a:t>我們找兩檔平常走勢很像的股票——通常是因為同一批經濟因素在推動它們，比如同產業的兩家公司。平常它們的價差會在一個範圍裡面晃來晃去。</a:t>
            </a:r>
          </a:p>
          <a:p/>
          <a:p>
            <a:r>
              <a:t>右邊這張是示意圖，是我畫的模擬路徑，不是真實資料。縱軸是價差，換算成 z 分數。當價差突然拉很開、超過正兩個標準差，也就是第一個點，我們就買相對便宜的那一檔、賣相對貴的那一檔。等價差回到零，第二個點，兩邊一起平倉，賺的就是價差收斂的那一段。</a:t>
            </a:r>
          </a:p>
          <a:p/>
          <a:p>
            <a:r>
              <a:t>請大家特別看第三、第四個點：價差又拉開，我們又進場，但它一直沒有回來，到交易期結束還在發散，這時候不管怎樣都要強制平倉——這種情況通常是虧的。這個「期末強制平倉」等一下在第五部分會變得非常重要。</a:t>
            </a:r>
          </a:p>
          <a:p/>
          <a:p>
            <a:r>
              <a:t>最後，因為是一多一空、金額差不多，所以我們不需要猜大盤會漲還是會跌。這就是它被叫做「市場中性」策略的原因。</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05:30】</a:t>
            </a:r>
          </a:p>
          <a:p/>
          <a:p>
            <a:r>
              <a:t>配對交易最標準的玩法，是 2006 年 GGR 這篇論文定下來的，到今天幾乎所有研究都拿它當基準。</a:t>
            </a:r>
          </a:p>
          <a:p/>
          <a:p>
            <a:r>
              <a:t>流程分兩段。第一段叫形成期，252 個交易日，差不多一年，這段時間只做一件事：挑配對、估參數，完全不交易。第二段叫交易期，126 個交易日，差不多半年，就照規則進出場。兩段不重疊，所以交易期是完全樣本外的，不會有偷看未來的問題。</a:t>
            </a:r>
          </a:p>
          <a:p/>
          <a:p>
            <a:r>
              <a:t>規則很簡單：挑距離最小的配對；價差偏離兩個標準差就進場；回到零就出場；然後最後一列——交易期結束的時候，不管價差回來沒有，一律強制平倉。</a:t>
            </a:r>
          </a:p>
          <a:p/>
          <a:p>
            <a:r>
              <a:t>後面我會一直提到「Z-Score 基準」，指的就是這一套：進場門檻 2.0、出場門檻 0.0，固定不變，不做任何學習。</a:t>
            </a:r>
          </a:p>
          <a:p/>
          <a:p>
            <a:r>
              <a:t>補充一個細節：我算距離用的是對數價格的 z 分數，跟 GGR 原文用的總報酬指數略有不同——我的版本衡量的是「走勢形狀」像不像，這樣做是為了跟交易端的價差計算放在同一個標準化空間裡。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45 秒｜講完時約 06:15】</a:t>
            </a:r>
          </a:p>
          <a:p/>
          <a:p>
            <a:r>
              <a:t>那為什麼這樣會賺錢？三個理由。</a:t>
            </a:r>
          </a:p>
          <a:p/>
          <a:p>
            <a:r>
              <a:t>第一，它賭的是相對價格，不是絕對價格。我不需要預測任何一檔股票會漲會跌，我只需要相信：兩檔有共同經濟驅動因子的股票，它們的相對價格會回到某個均衡附近。這可以想成是「一價法則」的弱化版本。</a:t>
            </a:r>
          </a:p>
          <a:p/>
          <a:p>
            <a:r>
              <a:t>第二，它是市場中性的。GGR 當年就驗證過，配對組合對 Fama-French 三因子的曝險非常低，所以這份報酬很難用市場、規模、價值這些已知的風險因子來解釋，這也是它被叫做「異常報酬」的原因。</a:t>
            </a:r>
          </a:p>
          <a:p/>
          <a:p>
            <a:r>
              <a:t>第三點很重要：它其實不要求兩檔同產業。同產業只是一個充分條件，不是必要條件——兩檔不同產業、但被同樣總體因子推動的股票，理論上也可以是好配對。這就是後來大家用機器學習去做分群、找跨產業配對的理論依據。</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07:30】</a:t>
            </a:r>
          </a:p>
          <a:p/>
          <a:p>
            <a:r>
              <a:t>但問題來了：這招越來越不靈。</a:t>
            </a:r>
          </a:p>
          <a:p/>
          <a:p>
            <a:r>
              <a:t>GGR 當年在 1962 到 2002 年的樣本裡，報告的年化超額報酬最高可以到 11%。但後面的研究很一致地發現，這個績效在 2000 年之後大幅衰減。</a:t>
            </a:r>
          </a:p>
          <a:p/>
          <a:p>
            <a:r>
              <a:t>Do 跟 Faff 2010 年那篇把樣本拉到 2009 年，發現獲利從九零年代末就開始往下掉，而且不是被某一段特別差的期間拉下來的。2012 年那篇更直接：把真實的交易成本放進去，單邊大概 30 個基點，多數策略的淨報酬就不顯著了。</a:t>
            </a:r>
          </a:p>
          <a:p/>
          <a:p>
            <a:r>
              <a:t>Krauss 2017 年的回顧有一句話我很喜歡：方法之間的差異，常常比你換一段樣本期間造成的差異還小。換句話說，你以為是方法進步，可能只是剛好換到一段比較好的期間。</a:t>
            </a:r>
          </a:p>
          <a:p/>
          <a:p>
            <a:r>
              <a:t>下面這點對我很重要：衰減在流動性高的大型股上更明顯，而我的樣本剛好就是 S&amp;P 500、2000 到 2025 年，完全落在衰減之後。這是我刻意的選擇——我要問的不是它以前賺不賺錢，而是學習式的交易端能不能在衰減之後把優勢找回來，以及如果有好處，好處是從哪裡來的。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08:30】</a:t>
            </a:r>
          </a:p>
          <a:p/>
          <a:p>
            <a:r>
              <a:t>面對這個衰減，文獻的反應很自然：把機器學習丟進去，看能不能救回來。</a:t>
            </a:r>
          </a:p>
          <a:p/>
          <a:p>
            <a:r>
              <a:t>配對交易本來就分兩段，所以機器學習也就被用在兩個地方。第一條路線改良形成期，也就是怎麼找配對：用非監督式分群取代 GICS 產業分類，去找跨產業、但被同樣因子推動的配對。Han、He 跟 Toh 2023 年那篇是這條路最完整的證據。</a:t>
            </a:r>
          </a:p>
          <a:p/>
          <a:p>
            <a:r>
              <a:t>第二條路線改良交易期，也就是什麼時候進出場：用深度強化學習取代固定的兩倍標準差門檻，讓模型自己學。Kim 跟 Kim 2019 年是這條路的代表。</a:t>
            </a:r>
          </a:p>
          <a:p/>
          <a:p>
            <a:r>
              <a:t>我做的是第二條。但我要強調，我問的不是「DRL 有沒有用」這種問題——那個已經很多人做過了，而且答案常常跟樣本期間綁在一起。我要問的是一個更前面的問題，第二部分會講。</a:t>
            </a:r>
          </a:p>
          <a:p/>
          <a:p>
            <a:r>
              <a:t>不過在那之前，我想先分享一個我在整理文獻時看到、覺得滿有意思的現象。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30 秒｜講完時約 10:00】</a:t>
            </a:r>
          </a:p>
          <a:p/>
          <a:p>
            <a:r>
              <a:t>我把文獻裡「報告 AI 做配對交易有效」的研究，依照資料頻率排出來，發現一個很一致的型態：成功案例幾乎都是日內資料——分鐘級、五分鐘、日內。</a:t>
            </a:r>
          </a:p>
          <a:p/>
          <a:p>
            <a:r>
              <a:t>唯一的例外是最下面 Han 等人 2023 年那篇，它是月頻，但它用的是整個 CRSP 全美股、數千檔股票，加上 126 個特徵，母體跟特徵都比一般研究大得多。</a:t>
            </a:r>
          </a:p>
          <a:p/>
          <a:p>
            <a:r>
              <a:t>這個型態有兩種讀法，而且意涵剛好相反。第一種：方法本身有效，只是日頻資料的訊噪比撐不起它——那日頻失敗不代表方法不好。第二種：績效其實跟頻率無關，這個型態是發表選擇造成的——那日頻失敗就是對方法的實質否證。一篇研究沒辦法分辨這兩種，但可以補上缺的那組東西：日頻上的受控對照。</a:t>
            </a:r>
          </a:p>
          <a:p/>
          <a:p>
            <a:r>
              <a:t>所以我把其中兩個核心構想搬到日頻 S&amp;P 500 上試。第一個是預測「價差不會回來」，模型的 AUC 是 0.5286，還輸給它想改良的 SSD 排序本身。第二個是用標準差設停損，三個、四個、五個標準差，沒有任何一個讓年化報酬轉正。</a:t>
            </a:r>
          </a:p>
          <a:p/>
          <a:p>
            <a:r>
              <a:t>我要誠實說明一點：表上打星號的兩篇，書目資料我還在補，論文裡也已經註記了。這張的重點是：構想不會自動從日內移轉到日頻。記住這件事，它跟我後面的主題有關。</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15 秒｜講完時約 10:15】</a:t>
            </a:r>
          </a:p>
          <a:p/>
          <a:p>
            <a:r>
              <a:t>好，第二部分：我想問的問題。</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11:30】</a:t>
            </a:r>
          </a:p>
          <a:p/>
          <a:p>
            <a:r>
              <a:t>這就是我看到的缺口。</a:t>
            </a:r>
          </a:p>
          <a:p/>
          <a:p>
            <a:r>
              <a:t>當你把所有用 DRL 做配對交易的論文攤開來，會發現它們都做了同一個決定：要讓模型每一期可以做幾次決策。而多數研究給了模型很大的權限——每天自由決定持倉：做多價差、做空價差、或是空手。</a:t>
            </a:r>
          </a:p>
          <a:p/>
          <a:p>
            <a:r>
              <a:t>但沒有任何一篇解釋為什麼是這個設計，它就像一個理所當然的預設值。</a:t>
            </a:r>
          </a:p>
          <a:p/>
          <a:p>
            <a:r>
              <a:t>我把它叫做「動作空間」，就是模型可以做的決策集合。每一篇 DRL 論文都一定要設定它，但它從來沒有被當成實驗變因。</a:t>
            </a:r>
          </a:p>
          <a:p/>
          <a:p>
            <a:r>
              <a:t>沒有控制它會怎樣？三件事。第一，模型失敗的時候，你分不清是演算法不好，還是動作空間設計不好。第二，模型成功的時候，你分不清是它真的看懂了每一組配對，還是只是選單的形狀剛好比較好。第三，每篇論文的頻率、母體都不一樣，跨論文比較沒辦法取代在同一條管線裡面做的消融實驗。</a:t>
            </a:r>
          </a:p>
          <a:p/>
          <a:p>
            <a:r>
              <a:t>這就是我的切入點。</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12:45】</a:t>
            </a:r>
          </a:p>
          <a:p/>
          <a:p>
            <a:r>
              <a:t>所以動作空間，說白了就是：模型每一期可以做幾次決定。我把它分成三類。</a:t>
            </a:r>
          </a:p>
          <a:p/>
          <a:p>
            <a:r>
              <a:t>第一類是零次：固定門檻。進場 2.0、出場 0.0，永遠不變，它根本不做決定。這就是 GGR 以來的傳統做法。</a:t>
            </a:r>
          </a:p>
          <a:p/>
          <a:p>
            <a:r>
              <a:t>第二類是一次：每一期開始之前，從九個選項裡挑一個——可以選擇這期不交易，也就是 SKIP，或是八組不同的進出場門檻。這是我的交易端，叫 DL-THR，等一下方法會細講。</a:t>
            </a:r>
          </a:p>
          <a:p/>
          <a:p>
            <a:r>
              <a:t>第三類是最多 126 次：每天都在做多、做空、空手之間選一個。這是多數 DRL 文獻的做法。為什麼是 126？因為交易期就是 126 個交易日，天天決定，一期最多就是 126 次。</a:t>
            </a:r>
          </a:p>
          <a:p/>
          <a:p>
            <a:r>
              <a:t>所以你看，三者的決策次數，從零、一到一百二十六，差了兩個數量級。問題是：這個差異到底重不重要？</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13:45】</a:t>
            </a:r>
          </a:p>
          <a:p/>
          <a:p>
            <a:r>
              <a:t>那直覺上，動作空間越大應該越好吧？</a:t>
            </a:r>
          </a:p>
          <a:p/>
          <a:p>
            <a:r>
              <a:t>左邊是支持「越大越好」的理由：天天決定的動作空間，表達能力涵蓋任何固定門檻規則——如果固定門檻真的比較好，模型大不了就學出一條固定規則。所以理論上，它至少不會比較差。</a:t>
            </a:r>
          </a:p>
          <a:p/>
          <a:p>
            <a:r>
              <a:t>右邊是支持「越大越糟」的理由：決策次數越多，每次決策能依據的訊號就越短，雜訊佔比就越高。更實際的是，每一次決策都可能多付一次換手成本——剛剛講過，成本在這個策略裡是非常致命的。</a:t>
            </a:r>
          </a:p>
          <a:p/>
          <a:p>
            <a:r>
              <a:t>所以這裡有一個取捨：表達能力，對上訊噪比跟成本。在日頻上它到底往哪邊倒？這不需要理論爭辯，可以直接用實驗回答。而文獻沒有做這個實驗，就是因為沒有人把動作空間當成變因。我的研究就是去做這個實驗。</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15:00】</a:t>
            </a:r>
          </a:p>
          <a:p/>
          <a:p>
            <a:r>
              <a:t>所以我問了三個問題，而且它們是一個接一個的。</a:t>
            </a:r>
          </a:p>
          <a:p/>
          <a:p>
            <a:r>
              <a:t>Q1 是核心：動作空間到底是不是關鍵？在其他一切都一樣的條件下，只把每期決策次數從零、一放大到 126，會不會讓模型系統性地過度交易、績效變差？</a:t>
            </a:r>
          </a:p>
          <a:p/>
          <a:p>
            <a:r>
              <a:t>Q2 是接著問的：如果 Q1 告訴我們該把動作空間縮小，那縮小之後模型還剩什麼能力？每期只選一次門檻的時候，它能不能看出「這一組配對應該用比較高的門檻」——講白了，它能不能贏過一個完全不看配對、只用一個常數的做法？</a:t>
            </a:r>
          </a:p>
          <a:p/>
          <a:p>
            <a:r>
              <a:t>Q3 是驗收：門檻選擇相對固定門檻到底有沒有用？而且我刻意把「界線在哪」也放進題目，因為我的答案在相對層面是「有」，在絕對層面是「不能交易」，這兩件事不能混為一談。</a:t>
            </a:r>
          </a:p>
          <a:p/>
          <a:p>
            <a:r>
              <a:t>右邊這一欄請大家記一下，它是每一題的證據等級。Q1 是完整預先登記的，判準在跑之前就寫死了；Q2 是跑之前定稿；Q3 則是分析時依照文獻慣例採用的判準。我後面報結果時，會一直提醒這個差別。</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16:00】</a:t>
            </a:r>
          </a:p>
          <a:p/>
          <a:p>
            <a:r>
              <a:t>在進方法之前，我想先把範圍講清楚：我主張什麼、不主張什麼。</a:t>
            </a:r>
          </a:p>
          <a:p/>
          <a:p>
            <a:r>
              <a:t>我會檢驗的，是動作空間的設計對學習式交易端的影響，透過剛剛那三段證據。三段共用一個原則：任兩條被拿來比較的策略，只能差一個地方。</a:t>
            </a:r>
          </a:p>
          <a:p/>
          <a:p>
            <a:r>
              <a:t>我不主張的有三件事。第一，我不主張這個交易端可以實際獲利——第五部分會講為什麼。第二，我不主張資料驅動的分群比產業分組好——這在我的資料條件下沒有被支持，我只做描述。第三，我不涉及日內頻率。</a:t>
            </a:r>
          </a:p>
          <a:p/>
          <a:p>
            <a:r>
              <a:t>另外，我給自己三個方法上的要求。第一，推論基礎要對：不拿每條策略各自網格裡最好的那一格來比，一律用全網格等權組合。第二，判準要先於資料：消融的假說、門檻、核對程序，在回測開跑之前就提交到版本庫。第三，限制要量化揭露——包括我自己在開發過程中犯的實作錯誤，我都會用數字交代，不會因為修好了就不講。</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15 秒｜講完時約 16:15】</a:t>
            </a:r>
          </a:p>
          <a:p/>
          <a:p>
            <a:r>
              <a:t>接下來是第三部分：我怎麼做。這部分我會講比較細，因為後面所有結論能不能相信，都取決於這裡的設計。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17:15】</a:t>
            </a:r>
          </a:p>
          <a:p/>
          <a:p>
            <a:r>
              <a:t>先給大家看全貌。整套系統就是四個方塊。</a:t>
            </a:r>
          </a:p>
          <a:p/>
          <a:p>
            <a:r>
              <a:t>最左邊是資料：S&amp;P 500 成分股，2000 到 2025 年的日頻資料，而且全程只用「當時看得到」的資訊。</a:t>
            </a:r>
          </a:p>
          <a:p/>
          <a:p>
            <a:r>
              <a:t>第二塊是形成期，也就是挑配對。我把它拆成四層：特徵、分組、篩選、排序。它會產出五個配對來源，這五個來源只在「分組」這一層不同。</a:t>
            </a:r>
          </a:p>
          <a:p/>
          <a:p>
            <a:r>
              <a:t>第三塊是交易端，決定什麼時候進出場，這裡就是我的主角：三種動作空間，每期零次、一次、最多 126 次決策。重點是——同一批配對，只換交易端。</a:t>
            </a:r>
          </a:p>
          <a:p/>
          <a:p>
            <a:r>
              <a:t>最後是評估：逐日報酬差加上區塊拔靴檢定、全網格等權口徑，而消融的部分是預先登記的。</a:t>
            </a:r>
          </a:p>
          <a:p/>
          <a:p>
            <a:r>
              <a:t>底下這句是整個方法的核心：任兩條被比較的策略，只能差一個地方。我要強調這不是口號，而是寫進程式架構的性質——每一層都用標準化的介面接起來，所以任何一個交易端，都可以在完全同一批配對上原樣重跑。沒有這個性質，後面的消融就做不起來。</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18:15】</a:t>
            </a:r>
          </a:p>
          <a:p/>
          <a:p>
            <a:r>
              <a:t>資料的部分。價格來自 Tiingo，用含息還原價；扣掉第一個形成窗之後，有 6,287 個可交易日。</a:t>
            </a:r>
          </a:p>
          <a:p/>
          <a:p>
            <a:r>
              <a:t>最重要的是時點處理，我做了三道控制，全部都是為了不偷看未來。</a:t>
            </a:r>
          </a:p>
          <a:p/>
          <a:p>
            <a:r>
              <a:t>第一是成分股：每一期只取當時真的在指數裡面的股票。我的成分股表涵蓋 843 檔曾經是成分股的標的、866 段成員期間，其中 363 段已經被剔除——這些股票在被剔除之前都正常參與配對。所以我不是拿今天的成分股名單去回溯，那樣會有存活者偏誤。</a:t>
            </a:r>
          </a:p>
          <a:p/>
          <a:p>
            <a:r>
              <a:t>第二是基本面：只取不晚於形成期結束日的最近一筆。第三是特徵：只用形成期窗內的資料，交易期的價格完全不參與任何估計。</a:t>
            </a:r>
          </a:p>
          <a:p/>
          <a:p>
            <a:r>
              <a:t>成本用 Do 跟 Faff 2012 年的估計，單邊 0.29%，一個往返大約 0.58%。這個估計的樣本比較早，現在的成本應該更低，所以是偏保守的。</a:t>
            </a:r>
          </a:p>
          <a:p/>
          <a:p>
            <a:r>
              <a:t>最後我先講一個限制：基本面資料在 2000 到 2008 年完全沒有，覆蓋率是零，所以那段期間基本面特徵其實是常數。這會影響分期的解讀，後面限制那裡會再提。</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19:15】</a:t>
            </a:r>
          </a:p>
          <a:p/>
          <a:p>
            <a:r>
              <a:t>回測是滾動的。形成期 252 天、交易期 126 天，每 21 天往前滾一次，整段樣本一共 295 期。</a:t>
            </a:r>
          </a:p>
          <a:p/>
          <a:p>
            <a:r>
              <a:t>右邊是示意圖。每一條是一個期：灰色是形成期，紅色是交易期。因為每 21 天就開一個新的交易期，而一個交易期要跑 126 天，所以你拉一條垂直線，像虛線這一天，會看到有 6 個交易期同時在持倉。</a:t>
            </a:r>
          </a:p>
          <a:p/>
          <a:p>
            <a:r>
              <a:t>這個設計有兩個後果，後面都會用到。第一，相鄰期的報酬是重疊的，所以逐期報酬序列有結構性的自相關——這決定了我的統計檢定不能用一般的 t 檢定，要用區塊拔靴。第二，因為交易期是 126 天，所以天天決定的動作空間，一期最多就是 126 次決策。這就是剛剛那個 126 的來源。</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20:15】</a:t>
            </a:r>
          </a:p>
          <a:p/>
          <a:p>
            <a:r>
              <a:t>形成期我拆成四層，每一層都可以單獨換掉。</a:t>
            </a:r>
          </a:p>
          <a:p/>
          <a:p>
            <a:r>
              <a:t>第一層是特徵萃取，19 維。第二層是分組，也就是紅色這塊——它是唯一有差異的一層，提供五個配對來源。第三層是統計篩選，做共整合檢定。第四層是群內排序，用距離挑出最像的前 N 組。</a:t>
            </a:r>
          </a:p>
          <a:p/>
          <a:p>
            <a:r>
              <a:t>左下有一個設計細節我想講：為什麼篩選要放在排序前面？如果先排序、只拿距離最近的幾組去檢定、然後截斷，那距離整體比較大的那些組，可能一組配對都輪不到被檢定。所以我先讓組內每一組候選都受檢，而且不設候選截斷。</a:t>
            </a:r>
          </a:p>
          <a:p/>
          <a:p>
            <a:r>
              <a:t>右下是這個架構的目的：五個來源只在第二層不同，其他三層完全一樣，所以任兩個來源之間只有一個變因。接下來我一層一層很快帶過。</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21:15】</a:t>
            </a:r>
          </a:p>
          <a:p/>
          <a:p>
            <a:r>
              <a:t>特徵層是 19 維：報酬 PCA 的 5 個主成分載荷、市值跟盈餘殖利率、再加上 GICS 產業的 one-hot。三個區塊各自標準化之後再拼起來，以預設權重算，兩檔股票距離的大約 63% 來自報酬主成分，25% 來自基本面，11% 來自產業。</a:t>
            </a:r>
          </a:p>
          <a:p/>
          <a:p>
            <a:r>
              <a:t>PCA 載荷的想法來自 Avellaneda 跟 Lee：一檔股票在共同風險因子上的曝險，就代表它在經濟上的位置。另外有個小細節：缺值我用全域中位數補，而不是產業中位數——因為在缺值很多的時候，用產業中位數等於偷偷把產業標籤又寫了一次。</a:t>
            </a:r>
          </a:p>
          <a:p/>
          <a:p>
            <a:r>
              <a:t>右邊是五個配對來源。不分組就是整個市場一組；GICS 用 11 大產業；另外三種是資料驅動的分群。大家可以看到，分得越細，排除掉的標的越多，K-means 每期會排除四成二的股票。</a:t>
            </a:r>
          </a:p>
          <a:p/>
          <a:p>
            <a:r>
              <a:t>分群模型每一期都重新配適，一共 295 次，這是為了防止前視偏誤。另外「不分組」是一個零點，它讓我可以區分「用不同方式限制候選池」跟「限制本身」的效果。</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22:15】</a:t>
            </a:r>
          </a:p>
          <a:p/>
          <a:p>
            <a:r>
              <a:t>篩選層做的是共整合檢定。對組內每一組候選配對，先用迴歸估對沖比例，再對殘差做 ADF 檢定，p 值小於 0.05 才通過。</a:t>
            </a:r>
          </a:p>
          <a:p/>
          <a:p>
            <a:r>
              <a:t>這裡有一個我自己踩過的坑，我覺得值得講。ADF 的 p 值不能用 Dickey-Fuller 的分布來算。原因是：DF 分布描述的是一條「觀測到的」序列；但這裡檢定的是「估計出來的」殘差，OLS 已經先把它的變異壓到最小了，所以它的虛無分布會更偏負。</a:t>
            </a:r>
          </a:p>
          <a:p/>
          <a:p>
            <a:r>
              <a:t>用錯的後果非常大：用 DF 臨界值，通過率是 77%；改用 MacKinnon 的正確臨界值，通過率降到大約 9.5%。一個名目 5% 的檢定，不可能拒絕 77% 的虛無假設——這個數字本身就是警訊。</a:t>
            </a:r>
          </a:p>
          <a:p/>
          <a:p>
            <a:r>
              <a:t>另外兩道附加檢定我拿掉了，它們出自 Sarmento 跟 Horta 2020 年那篇。OU 半衰期沒有鑑別力，通過 ADF 的殘差有 99.8% 本來就落在 1 到 42 天，它只淘汰 0.2%。Hurst 指數則是前一版的實作量錯了對象。所以最後篩選層只留下唯一一道有正確虛無分布的檢定。這些實作上的修正，我在附錄 B 都有完整記錄。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23:15】</a:t>
            </a:r>
          </a:p>
          <a:p/>
          <a:p>
            <a:r>
              <a:t>排序層用三種距離找最像的配對。</a:t>
            </a:r>
          </a:p>
          <a:p/>
          <a:p>
            <a:r>
              <a:t>第一種是 SSD，兩條標準化對數價格的平方差加總。因為先做了標準化，它衡量的是走勢的形狀像不像，對波動率不敏感。</a:t>
            </a:r>
          </a:p>
          <a:p/>
          <a:p>
            <a:r>
              <a:t>第二種是 DTW，動態時間校正，它允許時間軸局部伸縮之後再對齊，我用 15 天的帶寬。不過它有一個概念上的張力：配對交易要的是兩檔「同時」回歸，如果兩條走勢要扭曲 15 天才對得上，它們的價差在真實時間上未必會回歸。</a:t>
            </a:r>
          </a:p>
          <a:p/>
          <a:p>
            <a:r>
              <a:t>第三種是 SDP，把 SSD 跟 DTW 各自標準化之後相加。這邊有個小發現：原本的實作是「取第一主成分」來融合兩者，但 2 乘 2 相關矩陣的主成分方向永遠是 45 度，跟兩者的相關係數完全無關——所以它其實就是等權相加，我在論文裡就老實這樣稱呼它。</a:t>
            </a:r>
          </a:p>
          <a:p/>
          <a:p>
            <a:r>
              <a:t>後面大家會看到「GICS-SSD」「GICS-SDP」這種名字，意思就是「GICS 分組乘上 SSD 排序」這樣的組合。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24:30】</a:t>
            </a:r>
          </a:p>
          <a:p/>
          <a:p>
            <a:r>
              <a:t>這是整篇最核心的實驗：五條臂，唯一的差別就是動作空間。</a:t>
            </a:r>
          </a:p>
          <a:p/>
          <a:p>
            <a:r>
              <a:t>上面兩條是基準：Z-Score 每期零次決策，DL-THR 每期一次。下面三條是處理組，是三代「天天決定持倉」的實作：v1 是原始的 LSTM-DQN，v2 是把 v1 的訓練缺陷修掉的版本，v3 是批次擬合 Q，也就是 FQI。</a:t>
            </a:r>
          </a:p>
          <a:p/>
          <a:p>
            <a:r>
              <a:t>這三代其實有一段來歷：我在開發過程中先後做了這三代，結果全部輸給固定門檻，而且修掉缺陷之後還是輸。這讓我懷疑問題出在動作空間本身。但開發時的觀察不能當論文證據——當時三代不是跑在同一批配對上，明細後來也在資料庫重建時遺失了。所以我把它重做成一個受控消融。</a:t>
            </a:r>
          </a:p>
          <a:p/>
          <a:p>
            <a:r>
              <a:t>右上是五臂完全相同的部分：同一批 GICS-SDP 配對、同一個網格格點、同一種對沖口徑、訓練預算一律 150 episodes、同一段期間。</a:t>
            </a:r>
          </a:p>
          <a:p/>
          <a:p>
            <a:r>
              <a:t>左下：為什麼訓練預算不能砍？因為一旦砍了，「它表現差只是因為訓練不夠」就會變成我排除不了的替代解釋。代價是單臂要跑三天左右。</a:t>
            </a:r>
          </a:p>
          <a:p/>
          <a:p>
            <a:r>
              <a:t>右下：五臂共同期是 108 期。有一個不對稱——只有 v1 需要形成期的價格切片，所以左緣有 12 期只有 v1 算不了。我的處置是取五臂交集，而且這件事是在執行前就寫進預先登記的，不是事後才補的說明。</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25:30】</a:t>
            </a:r>
          </a:p>
          <a:p/>
          <a:p>
            <a:r>
              <a:t>這個消融是預先登記的：三個假說、達標的門檻，在回測開跑之前就寫好、提交到版本庫了。</a:t>
            </a:r>
          </a:p>
          <a:p/>
          <a:p>
            <a:r>
              <a:t>H1 是主要假說：天天決定持倉的換手率，會顯著高於另外兩種。達標要同時滿足兩個條件：總進場數比值至少兩倍，而且 BH 校正後 p 小於 0.05，還要同時贏過兩個基準；三條臂裡面至少要有兩條達標。</a:t>
            </a:r>
          </a:p>
          <a:p/>
          <a:p>
            <a:r>
              <a:t>H2 是次要：它的 Sharpe 不會比門檻選擇高。H3 是機制：它的劣勢主要是換手成本造成的，判準是零成本重算之後，差距要縮小一半以上。</a:t>
            </a:r>
          </a:p>
          <a:p/>
          <a:p>
            <a:r>
              <a:t>H3 的用意寫在右邊：我想把「交易太頻繁」跟「因為成本而虧錢」拆開。前者是動作空間本身的性質，後者只是它的後果。如果我只量到虧錢，那我其實沒有說到動作空間。</a:t>
            </a:r>
          </a:p>
          <a:p/>
          <a:p>
            <a:r>
              <a:t>下面這個是我覺得很重要的一點：程式回報「成功」，不等於真的跑成功。我在開發過程中兩度遇到程式說成功、但實際上零筆有效模擬的情況。所以我另外設了七項核對，任何一項不過，就算執行失敗，不准拿輸出來分析。其中我最喜歡的是「逐期耗時」——用耗時來確認模型真的有在訓練，而不是空轉。</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26:30】</a:t>
            </a:r>
          </a:p>
          <a:p/>
          <a:p>
            <a:r>
              <a:t>現在講我自己的交易端，DL-THR。它每一期只做一次選擇。</a:t>
            </a:r>
          </a:p>
          <a:p/>
          <a:p>
            <a:r>
              <a:t>左邊是它的選單，一共九個選項：進場門檻有 1.5、2.0、2.5、3.0 四種，出場門檻有 0.0 跟 0.5 兩種，組合起來八格，再加上一個 SKIP，也就是這一期不交易。紅色那一格 (2.0, 0.0) 就是 Z-Score 基準，所以選單一定包含基準。這個「從離散的門檻組合裡挑一個」的設計，是沿用 Kim 跟 Kim 2019 年的動作空間。</a:t>
            </a:r>
          </a:p>
          <a:p/>
          <a:p>
            <a:r>
              <a:t>它根據什麼選？右邊是狀態：12 維的形成期特徵，分成五類——偏離狀態、回歸品質、近期狀態、配對性質、可交易性。全部都是在交易期開始之前就能算好的，所以沒有偷看未來。</a:t>
            </a:r>
          </a:p>
          <a:p/>
          <a:p>
            <a:r>
              <a:t>網路本身很簡單，一個 MLP，輸入 12 維，隱藏層 64，輸出 9 個動作各自的預測報酬，每期增量訓練 40 個 epoch。選完之後，整個交易期就交給標準的 Z-Score 狀態機去執行。</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27:30】</a:t>
            </a:r>
          </a:p>
          <a:p/>
          <a:p>
            <a:r>
              <a:t>這張我一定要講清楚：DL-THR 其實不是強化學習。</a:t>
            </a:r>
          </a:p>
          <a:p/>
          <a:p>
            <a:r>
              <a:t>為什麼？因為這九個動作的報酬，全部都可以精確地反事實回算——我只要拿那一期的價格，把九組門檻各模擬一次，就知道每個動作會賺多少。既然每個動作的報酬都看得到，就不存在「要不要去試試看沒選過的動作」這種探索與利用的取捨。所以它是全資訊的監督回歸，不是部分回饋的強化學習。</a:t>
            </a:r>
          </a:p>
          <a:p/>
          <a:p>
            <a:r>
              <a:t>程式碼跟資料庫裡面還叫它 DRL，那是歷史命名；論文裡我依照學習問題的性質，一律叫它 DL-THR。</a:t>
            </a:r>
          </a:p>
          <a:p/>
          <a:p>
            <a:r>
              <a:t>右邊是三項結構性保證：選單包含基準，所以策略空間一定涵蓋 Z-Score；樣本不夠的時候自動退回基準；還有 SKIP，讓它可以主動拒絕交易，這是固定規則沒有的。</a:t>
            </a:r>
          </a:p>
          <a:p/>
          <a:p>
            <a:r>
              <a:t>防前視偏誤用的是 walk-forward：第 k 期的決策，只能用交易期在第 k 期開始之前就已經結束的樣本來訓練。另外網路沒有固定種子，所以我做了五輪獨立重訓，後面穩健性會報。</a:t>
            </a:r>
          </a:p>
          <a:p/>
          <a:p>
            <a:r>
              <a:t>那既然它不是 RL，真正的 RL 版本會怎樣？下一張。</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45 秒｜講完時約 28:15】</a:t>
            </a:r>
          </a:p>
          <a:p/>
          <a:p>
            <a:r>
              <a:t>既然 DL-THR 不是強化學習，那真正的強化學習版本會怎樣？我也做了一個，叫 RL-THR。</a:t>
            </a:r>
          </a:p>
          <a:p/>
          <a:p>
            <a:r>
              <a:t>它跟 DL-THR 逐位元相同——同樣的狀態、同樣的選單、同樣的網路、同樣的訓練排程——唯一的差別是：它只看得到自己實際選中的那個動作的報酬，沒選的看不到，所以需要用 ε-greedy 去探索。</a:t>
            </a:r>
          </a:p>
          <a:p/>
          <a:p>
            <a:r>
              <a:t>這樣兩者的差額，就是「反事實標籤」到底值多少。直覺上全資訊應該比較好，因為每次決策給你九筆標籤而不是一筆，樣本效率比較高。但我要強調，這是一個待檢驗的預期，不是既定事實。結果會在第四部分揭曉，而且有點出乎意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29:15】</a:t>
            </a:r>
          </a:p>
          <a:p/>
          <a:p>
            <a:r>
              <a:t>統計上我特別小心三件事。</a:t>
            </a:r>
          </a:p>
          <a:p/>
          <a:p>
            <a:r>
              <a:t>第一是抽樣單位。很多研究會把 15 個參數配置當成 15 個觀測去做 t 檢定，但這是偽重複——它們共用同一份資料、同一段期間、甚至同一批配對，彼此高度相關，有效樣本數其實接近一條回測路徑。所以我改用時間當抽樣單位。</a:t>
            </a:r>
          </a:p>
          <a:p/>
          <a:p>
            <a:r>
              <a:t>第二是主檢定：逐日報酬差，搭配循環區塊拔靴，重抽一萬次。區塊長度取 126 天，一個完整交易期，因為剛剛講過 6 期重疊會造成自相關。還有一個細節：沒有持倉的日子，報酬記為零，不是遺漏值，不然會系統性地排除掉「選擇不交易」這個行為。</a:t>
            </a:r>
          </a:p>
          <a:p/>
          <a:p>
            <a:r>
              <a:t>第三是報告口徑：所有績效主張，都用 15 個配置的等權組合，而不是挑出來的最佳配置。等權組合沒有東西可挑，選擇偏誤就從源頭消失了。代價是數字比較難看，但這是誠實的代價——事前你本來就不知道哪一格會贏。</a:t>
            </a:r>
          </a:p>
          <a:p/>
          <a:p>
            <a:r>
              <a:t>另外，多重比較用 BH-FDR 校正；我也全程並行算了 Newey-West HAC 當對照，結果方向跟量級都一致。</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30:15】</a:t>
            </a:r>
          </a:p>
          <a:p/>
          <a:p>
            <a:r>
              <a:t>方法的最後一張，兩件事。</a:t>
            </a:r>
          </a:p>
          <a:p/>
          <a:p>
            <a:r>
              <a:t>第一，年化報酬我有三種算法。帳面年化，是用總資本算，閒置現金當零利息，這是論文預設、最保守的口徑。動用資本年化，是用實際動用的資金去除，這跟 GGR 的算法對齊。rf 超額年化，是把閒置現金也算無風險利息之後、超過無風險利率的部分——要跟「放定存」比的時候，只有這個口徑是公平的。</a:t>
            </a:r>
          </a:p>
          <a:p/>
          <a:p>
            <a:r>
              <a:t>為什麼要分這麼細？因為各臂平均只動用兩成到將近六成的資金，其餘都閒置。用不同口徑，數字會差很多，所以三個必須並列，不能只挑一個報。</a:t>
            </a:r>
          </a:p>
          <a:p/>
          <a:p>
            <a:r>
              <a:t>第二，證據等級。第一段的動作空間消融是完整預先登記的；第二段是跑之前定稿的；第三段之後，判準是依照文獻慣例在分析時採用的。它們的證據強度不一樣，所以接下來報結果時，我會在每一張的頁首標出來。</a:t>
            </a:r>
          </a:p>
          <a:p/>
          <a:p>
            <a:r>
              <a:t>好，方法講完了，接下來是結果。</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30 秒｜講完時約 30:45】</a:t>
            </a:r>
          </a:p>
          <a:p/>
          <a:p>
            <a:r>
              <a:t>好，進入第四部分，結果。</a:t>
            </a:r>
          </a:p>
          <a:p/>
          <a:p>
            <a:r>
              <a:t>提醒一下結構：三段證據依序回答三個問題。前兩段的結果是否證——也就是「不是大家以為的那樣」；第三段是正面結果。然後我會花一些時間檢查第三段的正面結果到底是不是真的，最後是穩健性。</a:t>
            </a:r>
          </a:p>
          <a:p/>
          <a:p>
            <a:r>
              <a:t>每一張的頁首我都會標出證據等級，第一段是完整預先登記、第二段是跑前定稿、第三段之後是分析時判準。</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30 秒｜講完時約 32:15】</a:t>
            </a:r>
          </a:p>
          <a:p/>
          <a:p>
            <a:r>
              <a:t>第一段結果。這是我唯一完整預先登記的部分，也是證據最強的一段。</a:t>
            </a:r>
          </a:p>
          <a:p/>
          <a:p>
            <a:r>
              <a:t>左邊長條圖，橫軸是五條臂，縱軸是每期進場次數。藍色兩條是基準：固定門檻 1.96 次、DL-THR 1.94 次，幾乎一樣。紅色三條是天天決定持倉的：v3 是 4.2 次、v1 是 5.6 次、v2 是 7.9 次。</a:t>
            </a:r>
          </a:p>
          <a:p/>
          <a:p>
            <a:r>
              <a:t>右上的表是總進場數的比值：對 Z-Score 是 2.1 到 4.0 倍，對 DL-THR 也差不多，BH 校正後全部顯著，最大的 p 值也只有萬分之四。判準只要求三條裡面兩條達標，結果是三條全部達標，而且每一條都同時贏過兩個基準。</a:t>
            </a:r>
          </a:p>
          <a:p/>
          <a:p>
            <a:r>
              <a:t>右下我要誠實講一件事：雖然有 108 期，但因為相鄰期重疊，區塊長度要取 6 期，所以實際上只有 18 個獨立區塊。這是這個設計檢定力的上限，我不會宣稱比這更多的東西。</a:t>
            </a:r>
          </a:p>
          <a:p/>
          <a:p>
            <a:r>
              <a:t>另外，我也換了一種進場的定義重算，比值 2.87 到 4.10，結論不變。所以答案很清楚：讓模型天天決定，它就會交易得多很多。</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33:15】</a:t>
            </a:r>
          </a:p>
          <a:p/>
          <a:p>
            <a:r>
              <a:t>H2 是績效。表上的「交集 Sharpe」是五臂共同 108 期上重算的。三條天天決定的臂：v1 負 0.83、v2 負 1.55、v3 負 0.30；兩條基準都在負 0.01 附近。所以 H2 成立：三條臂的風險調整後報酬，全部不高於門檻選擇。</a:t>
            </a:r>
          </a:p>
          <a:p/>
          <a:p>
            <a:r>
              <a:t>但右邊這件事我一定要並列講，不然會誤導大家。你會發現兩個基準在交集上的 Sharpe 也是負的——這是因為取五臂交集的時候，丟掉了左緣 11 期，而那剛好是 2008 年 7 月到 2009 年 6 月的危機反彈期。兩個基準的獲利幾乎都在那段裡面：只看那 11 期，它們的 Sharpe 是正 1.44 跟 1.54。</a:t>
            </a:r>
          </a:p>
          <a:p/>
          <a:p>
            <a:r>
              <a:t>所以表格最右邊那欄，是各自在全部期間上的 Sharpe，基準是正 0.42、0.44。組內比較是公平的，因為五臂用的是同一組 108 期；但我不會拿交集的數字去說基準也不行。這一段講的是相對的行為差異，不是絕對績效。</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34:30】</a:t>
            </a:r>
          </a:p>
          <a:p/>
          <a:p>
            <a:r>
              <a:t>H3 是機制：它輸，是不是因為換手成本？這邊的結果是分裂的，而我覺得這個分裂比一致的結果更有訊息量。</a:t>
            </a:r>
          </a:p>
          <a:p/>
          <a:p>
            <a:r>
              <a:t>表上是它們對 DL-THR 的 Sharpe 差。v1 跟 v2 在含成本的時候差很多，但把成本拿掉重算，差距縮小了 87% 跟 83%——所以這兩代是輸在交易太頻繁。</a:t>
            </a:r>
          </a:p>
          <a:p/>
          <a:p>
            <a:r>
              <a:t>但 v3 不一樣：拿掉成本之後，它對 DL-THR 反而從負 0.285 變成正 0.195，也就是在沒有成本的世界裡，它其實略優；是成本一加回來，它才翻負。所以 v3 的問題不是太常交易，而是它的那一點點增益，剛好不夠付它自己的換手成本。</a:t>
            </a:r>
          </a:p>
          <a:p/>
          <a:p>
            <a:r>
              <a:t>所以「天天決定為什麼會輸」，在三代之間不是同一個原因。</a:t>
            </a:r>
          </a:p>
          <a:p/>
          <a:p>
            <a:r>
              <a:t>下面是第一段的結論跟邊界：Q1 的答案是肯定的，動作空間確實是關鍵約束。但它只在一個配對來源、一個格點、108 期上做過，學習臂也沒有固定種子、每臂只跑一次。我測過同組態重跑的差異可以到 2 到 2.8 倍，還是小於效果量的 2.1 到 4.1 倍，所以結論成立，但範圍要講清楚。</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35:30】</a:t>
            </a:r>
          </a:p>
          <a:p/>
          <a:p>
            <a:r>
              <a:t>講到這裡，一定會有人問：三代都用 LSTM、都是擬合 Q 函數這一族，會不會只是剛好挑錯演算法？</a:t>
            </a:r>
          </a:p>
          <a:p/>
          <a:p>
            <a:r>
              <a:t>所以我後來又做了一個探索性的補充，放在附錄 E。在同一批配對、同樣 108 期上，換了四種做法：左上是官方的 v3，LSTM 加 Double-Q；右上把 Double-Q 拿掉；下排把 LSTM 換成沒有遞迴的 MLP；最下面是完全不同的一族——表格式價值迭代，沒有神經網路、沒有梯度下降。</a:t>
            </a:r>
          </a:p>
          <a:p/>
          <a:p>
            <a:r>
              <a:t>結果：第一，編碼器才是主要變因，MLP 兩格都差很多，而且進場次數暴增到 800 多次，逼近最愛交易的 v2。第二，Double-Q 的影響很小，而且方向不穩定——在 LSTM 上它比較好，在 MLP 上反而比較差，這看起來比較像單次執行的雜訊。第三，最有說服力的是表格法：它收斂到精確解，不存在「訓練不夠」或「優化器沒調好」的問題，結果卻是九臂裡面最差的。</a:t>
            </a:r>
          </a:p>
          <a:p/>
          <a:p>
            <a:r>
              <a:t>所以五種實作方式，全部輸給門檻選擇。這讓「只是挑錯演算法」這個質疑更難成立。</a:t>
            </a:r>
          </a:p>
          <a:p/>
          <a:p>
            <a:r>
              <a:t>但證據等級我要講清楚：這部分沒有預先登記、每臂只跑一次、沒有種子也沒有檢定，只是探索性的佐證。我在探索過程中還踩過一次坑——在比較短的窗口上，去掉 Double-Q 看起來大勝，拉長到 108 期就反轉了。這個過程我也完整記在附錄 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36:45】</a:t>
            </a:r>
          </a:p>
          <a:p/>
          <a:p>
            <a:r>
              <a:t>第二段。第一段告訴我們：應該把動作空間縮小。那縮小到每期只選一次門檻之後，模型還剩什麼能力？</a:t>
            </a:r>
          </a:p>
          <a:p/>
          <a:p>
            <a:r>
              <a:t>我用監督回歸去逐對學門檻，也就是讓模型看每一組配對的 30 維特徵，預測它該用 20 個動作裡的哪一個。對照組是「擴張窗最佳常數」：每一期只用截至前一期的資料，挑出一個整體最好的門檻，然後套用到所有配對——它完全不看個別配對，而且是合法、沒有前視的。</a:t>
            </a:r>
          </a:p>
          <a:p/>
          <a:p>
            <a:r>
              <a:t>評估指標叫 capture_frac，就是實際賺到的，佔完美預知上限的比例。</a:t>
            </a:r>
          </a:p>
          <a:p/>
          <a:p>
            <a:r>
              <a:t>結果：模型每期平均 0.0055，最佳常數是 0.0104，差距負 0.0049，p 值萬分之四。也就是說，模型不只是沒學到東西，它是顯著比一個常數還差。</a:t>
            </a:r>
          </a:p>
          <a:p/>
          <a:p>
            <a:r>
              <a:t>判準在跑之前就定稿了，裁決是未過閘。</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38:00】</a:t>
            </a:r>
          </a:p>
          <a:p/>
          <a:p>
            <a:r>
              <a:t>為什麼會輸給常數？機制其實講得清楚，而且這是資訊科學的機制，不需要任何價格理論。</a:t>
            </a:r>
          </a:p>
          <a:p/>
          <a:p>
            <a:r>
              <a:t>先看訊號：我設計的依據是價差波動度跟最佳進場門檻之間的相關，Spearman 是 0.10，t 值 3.37。統計上顯著，但量級很弱。</a:t>
            </a:r>
          </a:p>
          <a:p/>
          <a:p>
            <a:r>
              <a:t>然後看選法：我是對 20 個獨立回歸的預測值取最大，也就是 argmax。問題就在這裡——當訊號很弱的時候，最容易被推到最高的，往往是預測誤差最大的那一個輸出。所以選取這個動作本身帶進來的雜訊，比訊號還大。</a:t>
            </a:r>
          </a:p>
          <a:p/>
          <a:p>
            <a:r>
              <a:t>右邊是我覺得很漂亮的一點：這跟第一段是同一件事的兩面。天天決定的 DRL，輸出會塌成一個常數，它選的門檻中位數是 2.11 到 2.33，跟配對排名幾乎沒有關係——雜訊太大的時候，最安全的預測就是常數。而我改用正確的範式之後，結果不是塌成常數，而是比常數還差。兩者一致指向：逐對選門檻所需要的訊號，在現有的特徵裡就是不夠。</a:t>
            </a:r>
          </a:p>
          <a:p/>
          <a:p>
            <a:r>
              <a:t>最後有一個不是 AI 的副產品：那個擴張窗最佳常數，比現行的 2.0 進場高了 50%，多數期都選中 3.0。但我要提醒不能外推——進場門檻的下界 1.5 我從來沒跑過，所以這只在跑過的範圍內成立。</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30 秒｜講完時約 39:30】</a:t>
            </a:r>
          </a:p>
          <a:p/>
          <a:p>
            <a:r>
              <a:t>第三段是主檢定，也是全篇唯一通過多重檢定校正的正向結果。再提醒一次證據等級：這一段的判準不是事前登記的，是依文獻慣例在分析時採用的。</a:t>
            </a:r>
          </a:p>
          <a:p/>
          <a:p>
            <a:r>
              <a:t>做法是：形成期的配對完全固定，只把交易端從固定門檻換成 DL-THR，看逐日報酬差。五個配對來源，年化增益從 0.24 到 0.80%，方向全部是正的；BH 校正後，五個裡面有三個顯著。</a:t>
            </a:r>
          </a:p>
          <a:p/>
          <a:p>
            <a:r>
              <a:t>左下請容我強調：不要用二分法讀這張表。K-means 校正後 p 是 0.0495，通過；GICS-SSD 是 0.0504，沒通過——兩個只差 0.0009。在門檻邊上，過或不過非常不穩，應該看效果量跟信賴區間：五個裡面有四個，信賴區間的下界是正的。</a:t>
            </a:r>
          </a:p>
          <a:p/>
          <a:p>
            <a:r>
              <a:t>右下是我覺得最值得講的：增益最大的，是傳統的 GICS 產業分類，不是任何一種資料驅動的分群。這說明門檻選擇的價值跟分群方法無關——它來自交易端的設計，而不是形成期挑配對挑得比較聰明。</a:t>
            </a:r>
          </a:p>
          <a:p/>
          <a:p>
            <a:r>
              <a:t>還有一個背景我要交代：這組顯著是在我修正了一個對沖口徑的實作錯誤之後才出現的，修正前是零比五。這件事記在附錄 B。</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40:30】</a:t>
            </a:r>
          </a:p>
          <a:p/>
          <a:p>
            <a:r>
              <a:t>這是把門檻選擇疊加在 GICS-SSD 上的 25 年權益曲線，起始資本一萬。</a:t>
            </a:r>
          </a:p>
          <a:p/>
          <a:p>
            <a:r>
              <a:t>紅線是加了 DL-THR 的，藍線是固定門檻。25 年終值分別是 13,062 跟 11,072。差距是看得到的。</a:t>
            </a:r>
          </a:p>
          <a:p/>
          <a:p>
            <a:r>
              <a:t>但有兩件事要講。第一，這是 15 個參數配置的等權組合，不是我挑出來的最佳格。第二，請大家看曲線的形狀：大部分的增長發生在 2008 到 2009 年，之後兩條線都走得很平，甚至慢慢往下。這一點在第五部分會變成一個重要的限制——獲利高度集中在特定的市場環境。</a:t>
            </a:r>
          </a:p>
          <a:p/>
          <a:p>
            <a:r>
              <a:t>而且這張圖也預告了下一個問題：25 年從一萬變一萬三，年化大約 1%。光是這個數字，就已經說明了為什麼我不能宣稱它可以交易。不過在講那個之前，我想先檢查：這個增益到底是不是真的「學到東西」？</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41:45】</a:t>
            </a:r>
          </a:p>
          <a:p/>
          <a:p>
            <a:r>
              <a:t>第三段看起來有增益，但我要先檢查：這個增益，會不會根本不是「學到東西」，而是某種機械效應？我想到三種「假增益」，逐一排除。</a:t>
            </a:r>
          </a:p>
          <a:p/>
          <a:p>
            <a:r>
              <a:t>第一種是 SKIP。DL-THR 可以拒絕交易，實測會跳過三到四成的配對期。但如果底層策略的期望值本來就是負的，那隨便跳過任何一批配對，在期望上都會「避開損失」。所以我做置換檢定：隨機跳過同樣數量，重抽兩千次，看它有沒有贏過隨機。</a:t>
            </a:r>
          </a:p>
          <a:p/>
          <a:p>
            <a:r>
              <a:t>第二種是門檻水準：DL-THR 選的門檻中位數是 2.19 到 2.37，本來就比 2.0 高。會不會只是「把門檻調高」就有效？我把固定門檻拉到同樣水準來對照。</a:t>
            </a:r>
          </a:p>
          <a:p/>
          <a:p>
            <a:r>
              <a:t>第三種是總曝險：少交易本身會不會就是增益？我固定門檻 2.0、隨機跳過同樣數量的配對期來對照。</a:t>
            </a:r>
          </a:p>
          <a:p/>
          <a:p>
            <a:r>
              <a:t>結果在表上：兩條 GICS 跟 HDBSCAN，三項都排除了。但 K-means 跟 Agglomerative 不行——它們的 SKIP 技巧成分是負的，也就是它們跳過的配對，還不如隨機跳過；Agglomerative 的增益，多半就是調高門檻的效果。</a:t>
            </a:r>
          </a:p>
          <a:p/>
          <a:p>
            <a:r>
              <a:t>所以如果把「機制證據」跟上一張的「統計顯著」取交集，只剩 HDBSCAN 跟 GICS-SDP。另外這三個檢定都是事後重抽，沒有辦法涵蓋「跳過 A、把錢給 B」這種再配置效應，這個列為後續研究。</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42:45】</a:t>
            </a:r>
          </a:p>
          <a:p/>
          <a:p>
            <a:r>
              <a:t>第二種假增益我特別拿出來講，因為它是這篇研究一個不可迴避的張力。</a:t>
            </a:r>
          </a:p>
          <a:p/>
          <a:p>
            <a:r>
              <a:t>A 欄是 DL-THR 對原本 2.0 門檻的增益；B 欄是對「拉到同樣門檻水準」的 Z-Score 的增益；C 欄就是純粹調高門檻本身帶來的效果。複製率就是 C 佔 A 的比例。</a:t>
            </a:r>
          </a:p>
          <a:p/>
          <a:p>
            <a:r>
              <a:t>在四個來源上，把門檻調高只能複製 3.6% 到 32% 的增益，B 欄的效果量幾乎沒縮水。所以增益不是單純調高門檻。</a:t>
            </a:r>
          </a:p>
          <a:p/>
          <a:p>
            <a:r>
              <a:t>但 Agglomerative 是例外，也就是反紅那一列：它的複製率達到 38% 到 75%，而且純門檻管道本身就顯著。換句話說，Agglomerative 那一點點增益，多半就是門檻調高的效果。</a:t>
            </a:r>
          </a:p>
          <a:p/>
          <a:p>
            <a:r>
              <a:t>右下是覆蓋範圍的限制：門檻 2.1 到 2.3 覆蓋了五個來源、2.5 跟 3.0 只覆蓋四個，而下界 1.5 從來沒執行過。所以我只能說：在跑過的取值上，水準複製不了多數的增益。我不能說最適門檻在哪裡，也不能說這個維度已經窮盡了。</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43:45】</a:t>
            </a:r>
          </a:p>
          <a:p/>
          <a:p>
            <a:r>
              <a:t>第三部分我留了一個伏筆：全資訊的 DL-THR，跟只看得到自己選的那個動作的 RL-THR，誰比較好？</a:t>
            </a:r>
          </a:p>
          <a:p/>
          <a:p>
            <a:r>
              <a:t>直覺上應該是全資訊比較好，因為每次決策有九筆標籤。但結果是：三個 RL 版本，不管探索率設多少，點估計全部比全資訊版好，大約好 0.24 到 0.29%。</a:t>
            </a:r>
          </a:p>
          <a:p/>
          <a:p>
            <a:r>
              <a:t>不過差異全部不顯著，p 值在 0.19 到 0.33 之間，信賴區間都涵蓋零。所以我不主張「部分回饋比較好」。我只主張否定的那一半：資料不支持「全資訊標籤是這個交易端效果的來源」這個預期——如果它是，DL-THR 應該要贏，結果方向是相反的。</a:t>
            </a:r>
          </a:p>
          <a:p/>
          <a:p>
            <a:r>
              <a:t>一個可能的機制是過度擬合：全資訊訓練要求網路同時擬合九個動作的報酬，其中八個在那次決策裡根本沒被執行，如果那些反事實估計本身很吵，硬去擬合它們反而會傷害真正被執行的那個動作。但這是推測，我沒有檢定。</a:t>
            </a:r>
          </a:p>
          <a:p/>
          <a:p>
            <a:r>
              <a:t>限制是：這個對照只在一個配對來源上做，而且 RL-THR 沒有做多輪重訓。</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45:00】</a:t>
            </a:r>
          </a:p>
          <a:p/>
          <a:p>
            <a:r>
              <a:t>最後是穩健性，三件事。</a:t>
            </a:r>
          </a:p>
          <a:p/>
          <a:p>
            <a:r>
              <a:t>第一，五輪獨立重訓。我在研究後期修正了一個對沖口徑的實作錯誤，修正後績效有明顯的位移；但網路沒有固定種子，所以要確認這個位移不是重訓的雜訊。我用一個獨立預先註冊的判準檢查：修正前的 Sharpe，低於修正後四輪最小值的比例，是 120 組裡的 88 組，73%。如果沒有效果，這個比例應該是五分之一，二項檢定的 p 值是 10 的負 36 次方。跨輪的標準差中位數只有 0.031，遠小於位移。唯一的例外是 K-means-SSD 那條臂，它不能單獨宣稱。</a:t>
            </a:r>
          </a:p>
          <a:p/>
          <a:p>
            <a:r>
              <a:t>第二，市況分層：把交易日依市場波動分成三檔。十列全部是同一個型態——動盪期賺錢，平靜期跟一般期是虧的或持平。DL-THR 在 30 格裡改善了 22 格，改善集中在原本虧最多的兩檔。但是動盪期的報酬，有 54% 到 87% 集中在 2008 到 2009 這兩年，所以這不能拿來建立「只在高波動期交易」的策略。這部分的細節在附錄 C。</a:t>
            </a:r>
          </a:p>
          <a:p/>
          <a:p>
            <a:r>
              <a:t>第三，交易成本：五個來源的 DL-THR 都提高了損益兩平的成本，GICS 加 DL-THR 可以撐到大約 1%，對 0.58% 的成本有七成以上的餘裕；但 K-means 兩臂的餘裕是負的。</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46:00】</a:t>
            </a:r>
          </a:p>
          <a:p/>
          <a:p>
            <a:r>
              <a:t>把第四部分收起來。</a:t>
            </a:r>
          </a:p>
          <a:p/>
          <a:p>
            <a:r>
              <a:t>Q1：動作空間是關鍵約束嗎？是。天天決定會讓換手率變成兩到四倍，三條臂全部達標，這是完整預先登記的結果。</a:t>
            </a:r>
          </a:p>
          <a:p/>
          <a:p>
            <a:r>
              <a:t>Q2：模型能逐對辨識該用哪個門檻嗎？否。它顯著輸給一個常數，這是跑前定稿的判準。</a:t>
            </a:r>
          </a:p>
          <a:p/>
          <a:p>
            <a:r>
              <a:t>Q3：門檻選擇相對固定門檻有沒有用？有，方向五個來源全正、校正後三個顯著——但不可交易。這是分析時的判準。</a:t>
            </a:r>
          </a:p>
          <a:p/>
          <a:p>
            <a:r>
              <a:t>請注意最右邊那一欄，三段的證據等級不一樣，我刻意標出來，因為我認為把預先登記的結果跟事後判準的結果混在一起報告是不誠實的。</a:t>
            </a:r>
          </a:p>
          <a:p/>
          <a:p>
            <a:r>
              <a:t>這三個答案並不一致，但合起來其實講的是同一件事：門檻選擇的增益，來自動作空間的設計，而不是模型逐對辨識的能力。如果三個答案全部都是「是」，我反而會懷疑。</a:t>
            </a:r>
          </a:p>
          <a:p/>
          <a:p>
            <a:r>
              <a:t>那 Q3 的「不可交易」是怎麼來的？這是第五部分。</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15 秒｜講完時約 46:15】</a:t>
            </a:r>
          </a:p>
          <a:p/>
          <a:p>
            <a:r>
              <a:t>第五部分：所以，可以拿來賺錢嗎？</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47:30】</a:t>
            </a:r>
          </a:p>
          <a:p/>
          <a:p>
            <a:r>
              <a:t>先從最底層看起：只用配對選擇加固定門檻，這 25 年表現如何？</a:t>
            </a:r>
          </a:p>
          <a:p/>
          <a:p>
            <a:r>
              <a:t>這張圖是 15 格固定門檻基準的 rf 超額年化。rf 超額的意思是：把閒置現金也算 2% 的無風險利息之後，超過無風險利率的部分。為什麼要用這個口徑？因為要跟「把錢放著收利息」比，兩邊必須用同一個標準。我論文的前一版就犯過這個錯：把策略的閒置現金當零利息，卻讓對照組整筆收 2%，那樣不公平，我已經更正了。</a:t>
            </a:r>
          </a:p>
          <a:p/>
          <a:p>
            <a:r>
              <a:t>結果是 15 格沒有一格是正的。最高的不分組 DTW，只有 0.009%，實質上等於零；最低的是負 1.58。換句話說，單靠配對選擇加固定門檻，這 25 年連無風險利率都跑不贏。</a:t>
            </a:r>
          </a:p>
          <a:p/>
          <a:p>
            <a:r>
              <a:t>唯二為正的，是疊加 DL-THR 的兩條 GICS 臂，0.375 跟 0.390%。但我要自己拆穿一件事：其中 0.282%，純粹是因為 DL-THR 會跳過三到四成的配對期，資金利用率只有 42%，比固定門檻的 57% 低，所以閒置現金多收了利息。那 0.282 不能算成技巧。拆掉之後剩下的 0.798 跟 0.579，剛好就是第三段報的年化增益，逐位相同——這是一個內部一致性的檢查。</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48:45】</a:t>
            </a:r>
          </a:p>
          <a:p/>
          <a:p>
            <a:r>
              <a:t>第二道界線：如果不看等權組合，直接挑網格裡最好的那一格呢？</a:t>
            </a:r>
          </a:p>
          <a:p/>
          <a:p>
            <a:r>
              <a:t>最好的一格是不分組 DTW、只持有一對、不停損，帳面年化 3.6%，rf 超額 4.6%，看起來很漂亮。但這是 15 格裡挑 1 格之後的數字，本身就帶有選擇偏誤。所以我用 Deflated Sharpe Ratio 把它扣回來：試驗宇宙取 72 個策略，門檻 Sharpe 0.546。結果 55 條策略，沒有任何一條通過 0.95；表上這五條的 DSR 都在 0.5 以下。</a:t>
            </a:r>
          </a:p>
          <a:p/>
          <a:p>
            <a:r>
              <a:t>右上是一個很有意思的例子。整個試驗宇宙裡 DSR 最高的四條，其實都不在這張表上：它們全是形成期拉長到 504 天的版本。第一名 GICS-SSD 全期 Sharpe 0.634，DSR 0.681。但你把它的樣本切成前後兩半——前半 Sharpe 將近 1，後半是負 0.389。它的高分完全來自前半期，第二到第四名也一樣，後半期都是負的。</a:t>
            </a:r>
          </a:p>
          <a:p/>
          <a:p>
            <a:r>
              <a:t>這正好說明 DSR 不足以獨力防止選擇偏誤：DSR 校正的是「你看過幾個候選」，但它不校正「你用全期指標，挑到一個在後半期已經失效的策略」。</a:t>
            </a:r>
          </a:p>
          <a:p/>
          <a:p>
            <a:r>
              <a:t>下面的表是全樣本的證據：把 25 年對半切，491 格裡只有 29 格兩半都是正的，不到 6%。用全期 Sharpe 挑前十名，有八個後半是負的；用前半期挑前十名，十個後半全部是負的。所以結論是：用任何全樣本指標去挑，挑到的幾乎都是後半期已經失效的策略。這也是我堅持用等權口徑的原因。</a:t>
            </a:r>
          </a:p>
          <a:p/>
          <a:p>
            <a:r>
              <a:t>（如果老師接著問「那把所有策略都改成 504 呢」：我全部重跑過了，放在附錄 F，翻備用頁 B13。）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49:45】</a:t>
            </a:r>
          </a:p>
          <a:p/>
          <a:p>
            <a:r>
              <a:t>把三道界線放在一起。每一道都足以說「不能交易」，而且它們彼此獨立。</a:t>
            </a:r>
          </a:p>
          <a:p/>
          <a:p>
            <a:r>
              <a:t>第一道是絕對績效。等權口徑下最好的策略，帳面年化只有 1.026%，rf 超額 0.375%，Sharpe 0.276。而且對「日均報酬是不是零」的檢定，六組全部不顯著。這邊我要特別澄清，因為這是最常被誤讀的地方：第三段通過校正的，是「相對於 Z-Score 的差」，不是這裡的絕對水準，兩者不矛盾。</a:t>
            </a:r>
          </a:p>
          <a:p/>
          <a:p>
            <a:r>
              <a:t>第二道是 DSR：沒有任何策略通過，最高的四條後半期都是負的。</a:t>
            </a:r>
          </a:p>
          <a:p/>
          <a:p>
            <a:r>
              <a:t>第三道是成本餘裕，這道我老實說只有部分成立：K-means 的餘裕是負的，但 GICS 加 DL-THR 對成本有七成以上的餘裕。所以用成本來否定，嚴格來說只適用於 K-means。</a:t>
            </a:r>
          </a:p>
          <a:p/>
          <a:p>
            <a:r>
              <a:t>下面這句，是我整篇論文最想講清楚的一句話：「比某個基準好」跟「本身可以交易」是兩個不同的主張，而我的研究只支持前者。這不是修辭上的保留——效果是存在的、方向是一致的、機制也可以歸因；但水準太低，選擇偏誤校正後不夠，而且其中一個來源連成本都付不起。</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51:00】</a:t>
            </a:r>
          </a:p>
          <a:p/>
          <a:p>
            <a:r>
              <a:t>如果多數交易確實收斂獲利，那錢被什麼吃掉了？</a:t>
            </a:r>
          </a:p>
          <a:p/>
          <a:p>
            <a:r>
              <a:t>先看逐筆統計：399 個固定門檻的格子，逐筆勝率 59%，也就是將近六成的交易是賺錢的。但獲利因子只有 0.995，差不多打平。</a:t>
            </a:r>
          </a:p>
          <a:p/>
          <a:p>
            <a:r>
              <a:t>原因是：策略的損益其實是三股流量相減的結果。以 GICS-SSD 為例，收斂獲利有一萬六千多，但期末強制平倉虧掉九千多，停損又虧掉五千多，最後淨額只剩一千出頭，不到收斂獲利的十五分之一。</a:t>
            </a:r>
          </a:p>
          <a:p/>
          <a:p>
            <a:r>
              <a:t>右邊的表是五種分組方式，兩股虧損合計吃掉了收斂獲利的 89% 到 107%；K-means 甚至是淨虧。</a:t>
            </a:r>
          </a:p>
          <a:p/>
          <a:p>
            <a:r>
              <a:t>我也要誠實講：這張表的前一版漏算了停損這一股，把淨額高估了大約六倍，後來發現並更正了。這也是為什麼我在方法那邊一直強調，要能交叉驗證——現在這個數字可以跟曝險表的數字逐位對上。</a:t>
            </a:r>
          </a:p>
          <a:p/>
          <a:p>
            <a:r>
              <a:t>那期末強平這股為什麼這麼大？是那些配對「還沒回來」嗎？下一張。</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52:00】</a:t>
            </a:r>
          </a:p>
          <a:p/>
          <a:p>
            <a:r>
              <a:t>期末強平的那些配對，是不是只是需要多一點時間？如果是，延長交易期就好了。</a:t>
            </a:r>
          </a:p>
          <a:p/>
          <a:p>
            <a:r>
              <a:t>我拿了 3,107 筆期末強制平倉的交易，往後再追蹤一整個交易期。平倉那一刻，價差已經偏離了 3.5 個標準差。再給它 126 天，只有 45% 回歸；剩下 55% 不但沒回來，偏離還從 4.6 個標準差繼續擴大到 6.8。</a:t>
            </a:r>
          </a:p>
          <a:p/>
          <a:p>
            <a:r>
              <a:t>所以這些配對不是還沒回來，而是回不來了——它們在持續發散。延長交易期的淨效果是：四成五轉成獲利、五成五虧得更多，還多佔用資金半年。我在附錄 C 測了三種針對這個現象的改良，全部被否證。</a:t>
            </a:r>
          </a:p>
          <a:p/>
          <a:p>
            <a:r>
              <a:t>下面是一個統計上的小提醒，我覺得很值得講。強平率跟績效的關係：逐臂算，相關係數是負 0.82；逐配置算，15 個配置裡 15 個都是負的。但如果你偷懶，把 225 個配置全部混在一起算，相關係數會變成正 0.48，符號完全相反。這是 Simpson 悖論，原因是停損這個維度：停損越緊，強平率越低，但績效反而越差。所以一定要逐配置比較。當然，這還是相關不是因果。</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53:00】</a:t>
            </a:r>
          </a:p>
          <a:p/>
          <a:p>
            <a:r>
              <a:t>接下來一個大家可能會好奇的問題：五種分組方式，哪一種比較好？</a:t>
            </a:r>
          </a:p>
          <a:p/>
          <a:p>
            <a:r>
              <a:t>表上是描述性的數字：排除的標的越多，期末強平率越高，績效越差。不分組反而最好，K-means 最差。但這不是嚴格單調的，Agglomerative 排除的比 HDBSCAN 多，表現卻比較好，所以它是一個趨勢，不是定律。</a:t>
            </a:r>
          </a:p>
          <a:p/>
          <a:p>
            <a:r>
              <a:t>那為什麼我不做檢定？右邊是答案。我早期其實做過九組直接對照，結果九組方向都偏向 GICS，但校正後零組顯著。更關鍵的是，那個設計的最小可偵測效果是 1.14%，比參照臂自己的年化績效 0.46 還大。也就是說，就算真的有 0.3%的差異，檢定力也只有 11%。</a:t>
            </a:r>
          </a:p>
          <a:p/>
          <a:p>
            <a:r>
              <a:t>原因是結構性的：交易期層的比較，兩臂用的是同一批配對，差分可以把雜訊消掉；但形成期層的比較，兩臂本來就持有不同的配對，標準誤是 1.83 倍。要把可偵測效果壓到 0.3%，大約需要 14.5 倍的樣本——大概是三個半世紀的日資料。</a:t>
            </a:r>
          </a:p>
          <a:p/>
          <a:p>
            <a:r>
              <a:t>所以我把這一節從「結論」降成「描述性觀察」。坦白說，這是我整篇論文裡最不情願、但也最必要的一個決定。</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54:15】</a:t>
            </a:r>
          </a:p>
          <a:p/>
          <a:p>
            <a:r>
              <a:t>研究限制，我依照對結論的影響程度排。</a:t>
            </a:r>
          </a:p>
          <a:p/>
          <a:p>
            <a:r>
              <a:t>最重要的是第一項：消融只在一個配對來源、一個格點、108 期上做，學習臂沒有固定種子、每臂只跑一次。我測過的執行間雜訊小於效果量，所以結論成立，但範圍要講清楚。</a:t>
            </a:r>
          </a:p>
          <a:p/>
          <a:p>
            <a:r>
              <a:t>第二、三項是資料條件：母體是 S&amp;P 500，比分組改良的文獻用的 CRSP 全美股小很多；特徵維度也比 Han 等人少很多，2008 年以前甚至沒有財報資料。第十項相關：文獻指出衰減在大型股最嚴重，所以結論未必能外推到中小型股。</a:t>
            </a:r>
          </a:p>
          <a:p/>
          <a:p>
            <a:r>
              <a:t>第四項是存活者偏誤：170 檔下市的股票裡，有 49 檔沒有價格資料。方向是明確的——絕對績效會被高估，所以我說的「不顯著」是偏保守的。第五項成本假設的年代也是偏保守的方向。</a:t>
            </a:r>
          </a:p>
          <a:p/>
          <a:p>
            <a:r>
              <a:t>第六到第九項，是統計上的：交易層的逐日序列只有一輪；再配置效應沒有直接驗證；門檻下界 1.5 從來沒跑過；形成期層的檢定力不足。</a:t>
            </a:r>
          </a:p>
          <a:p/>
          <a:p>
            <a:r>
              <a:t>最後兩項：跟前一屆研究（許鈞翔，2025）的回測差距，我只隔離了八項差異中的一項，差距本身還沒解釋，細節在附錄 A；還有剛剛講的附錄 E，演算法穩健性目前只有探索性的證據。</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55:15】</a:t>
            </a:r>
          </a:p>
          <a:p/>
          <a:p>
            <a:r>
              <a:t>好，最後是結論。如果今天只能記住一句話，我希望是這句：</a:t>
            </a:r>
          </a:p>
          <a:p/>
          <a:p>
            <a:r>
              <a:t>決定學習式交易端成敗的，是動作空間的形狀，而不是演算法的強弱，也不是模型能不能看懂每一組配對。</a:t>
            </a:r>
          </a:p>
          <a:p/>
          <a:p>
            <a:r>
              <a:t>天天決定的動作空間，理論上表達能力最強，實際上系統性地更差；每期只選一次門檻，模型也學不到逐對的差異，但這個動作空間本身——包含拒絕交易的選項——相對固定門檻確實有一致的改善。</a:t>
            </a:r>
          </a:p>
          <a:p/>
          <a:p>
            <a:r>
              <a:t>至於那個形狀帶來的增益：它是真的，方向一致，機制可以歸因，但它不夠大。這是一個關於「設計」的結論，而不是關於「獲利」的結論。我認為這樣講，比硬要宣稱它能賺錢誠實得多。</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56:30】</a:t>
            </a:r>
          </a:p>
          <a:p/>
          <a:p>
            <a:r>
              <a:t>這篇研究的貢獻，我整理成五項。</a:t>
            </a:r>
          </a:p>
          <a:p/>
          <a:p>
            <a:r>
              <a:t>第一，把動作空間設為唯一變因，並且完整預先登記。文獻裡每篇都各自選了一種動作空間去報績效，沒有人在同一條管線裡只變動它。</a:t>
            </a:r>
          </a:p>
          <a:p/>
          <a:p>
            <a:r>
              <a:t>第二，分離「動作空間的形狀」跟「逐對辨識能力」。這兩者的實務意涵剛好相反：如果增益來自形狀，你應該去設計更好的選單；如果來自辨識能力，你應該去找更好的特徵。我的結論是來自前者。</a:t>
            </a:r>
          </a:p>
          <a:p/>
          <a:p>
            <a:r>
              <a:t>第三，釐清增益「不是」從哪裡來的。特別是指出，損益分解裡常見的「SKIP 貢獻」其實是一個會計恆等式，不是技巧——底層期望為負的時候，隨機跳過也會避開損失。</a:t>
            </a:r>
          </a:p>
          <a:p/>
          <a:p>
            <a:r>
              <a:t>第四，指出 AI 成功案例的頻率相依，並補上日頻的受控對照。</a:t>
            </a:r>
          </a:p>
          <a:p/>
          <a:p>
            <a:r>
              <a:t>第五，記錄了一組實作錯誤跟它們對結論的影響：修正後主軸 13 格裡有 12 格改善。一個可以陳述的觀察是：用錯誤的臨界值跟量錯對象的估計量篩掉的，系統性地是比較好的配對。</a:t>
            </a:r>
          </a:p>
          <a:p/>
          <a:p>
            <a:r>
              <a:t>最後補一句：我在方法上用的那些作法，像是用時間當抽樣單位，都是統計上的既有標準，我不宣稱它們是方法論的創見。</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15 秒｜講完時約 57:45】</a:t>
            </a:r>
          </a:p>
          <a:p/>
          <a:p>
            <a:r>
              <a:t>接下來是建議，分兩邊。</a:t>
            </a:r>
          </a:p>
          <a:p/>
          <a:p>
            <a:r>
              <a:t>對後續研究，最直接的是：在其他配對來源跟格點上重複這個消融，可以先用成本比較低的 FQI 擴大覆蓋；然後為學習臂固定種子、跑多輪，這是比較更小的設計差異時的前提。另外門檻水準要掃完整，尤其是從沒跑過的 1.5；再配置效應要直接驗證；形成期層如果要比較，要先想辦法構造「兩臂同一批標的」的配對設計。最後一項是附錄 E 延伸出來的：把演算法穩健性正式化，補上策略梯度法這一類，而且依照附錄 D 的規格預先登記。</a:t>
            </a:r>
          </a:p>
          <a:p/>
          <a:p>
            <a:r>
              <a:t>對實務，我不建議直接採用我檢驗的策略。但如果還是要做配對交易，我的證據支持三件事：第一，動作空間要設計成每期少數次決策，而不是天天決定——這是我證據最強的一項——而且要有拒絕交易的選項。第二，不要期待模型能逐對辨識，把力氣放在選單設計上，回報可能比特徵工程大。第三，要記得獲利高度集中在動盪期：這個策略實質上是在賣出波動率的均值回歸選擇權。</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 分 00 秒｜講完時約 58:45】</a:t>
            </a:r>
          </a:p>
          <a:p/>
          <a:p>
            <a:r>
              <a:t>最後，我想用論文結語的五件事收尾，這是我在做這篇研究的過程中真正學到的。</a:t>
            </a:r>
          </a:p>
          <a:p/>
          <a:p>
            <a:r>
              <a:t>第一，表達能力更強的設計，可以系統性地更差。直覺告訴我們動作空間越大越好，但在日頻上，決策越多次，訊號越短、雜訊越多、成本越高。</a:t>
            </a:r>
          </a:p>
          <a:p/>
          <a:p>
            <a:r>
              <a:t>第二，判準必須早於資料，而且要能承受自己的錯誤。我的核對程式第一次執行時沒通過，原因是核對程式本身寫錯了；更正之後由失敗轉為通過。這正是預先登記最容易被濫用的情境——看到失敗才改程式。我的處置是把它完整寫進偏離紀錄。預先登記的價值不在於不出錯，而在於出錯的時候留下痕跡。</a:t>
            </a:r>
          </a:p>
          <a:p/>
          <a:p>
            <a:r>
              <a:t>第三，「未獲支持」跟「無效」不是同一件事，而區分它們是有代價的。</a:t>
            </a:r>
          </a:p>
          <a:p/>
          <a:p>
            <a:r>
              <a:t>第四，設計選擇會用意想不到的方式攜帶資訊。像產業先驗，不只存在於 one-hot 編碼裡，也藏在缺值插補的規則裡。</a:t>
            </a:r>
          </a:p>
          <a:p/>
          <a:p>
            <a:r>
              <a:t>第五，方法章寫了什麼，跟程式實際做了什麼，是兩件需要分別驗證的事。我修正實作錯誤之後，交易層的結果從零比五顯著變成三比五——這意味著在修正之前，我所有的結論都建立在一條並不是我描述的那條管線上。</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【建議 15 秒｜講完時約 59:00】</a:t>
            </a:r>
          </a:p>
          <a:p/>
          <a:p>
            <a:r>
              <a:t>我的報告到這裡，謝謝各位老師，敬請指教。</a:t>
            </a:r>
          </a:p>
          <a:p/>
          <a:p>
            <a:r>
              <a:t>後面準備了備用投影片，如果老師對預先登記的細節、重訓的雜訊、報酬口徑、實作修正、或附錄 E 的完整數字有興趣，我可以直接翻出來。</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以下為備用投影片，問答時依問題翻到對應頁。</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如果老師問預先登記的細節，或是「你怎麼確認那三天的回測真的跑成功了」，用這張。</a:t>
            </a:r>
          </a:p>
          <a:p/>
          <a:p>
            <a:r>
              <a:t>七項核對在回測啟動前就寫定了，全部通過。第四項特別說明：我核對 v1、v2 的逐期耗時中位數要超過 60 分鐘，用來確認模型真的在訓練、不是空轉，實測是 69.7 跟 71.0 分鐘。</a:t>
            </a:r>
          </a:p>
          <a:p/>
          <a:p>
            <a:r>
              <a:t>下面這件事我主動揭露：分析程式第一次跑的時候，第二跟第七項沒過。原因是核對程式本身把「左緣」寫成單一期，而不是整個 12 期的區塊。更正之後由失敗轉為通過。這正是預先登記最容易被濫用的情境——看到失敗才改程式——所以我把更正的依據、它只用日期不涉結果的性質、以及「它確實是看到失敗之後才改的」，全部寫進偏離紀錄。</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如果老師問「網路沒固定種子，怎麼知道差異不是隨機的」，用這張。</a:t>
            </a:r>
          </a:p>
          <a:p/>
          <a:p>
            <a:r>
              <a:t>我對每個配對來源做了五輪獨立重訓，檢驗的問題是：對沖口徑修正造成的績效位移，有沒有超出重訓本身的雜訊。120 組比較裡，有 88 組修正前的 Sharpe 低於修正後四輪的最小值；如果修正沒效果，這個比例應該是五分之一，二項檢定 p 值是 10 的負 36 次方。跨輪標準差中位數 0.031，而位移中位數是 0.236，差了將近八倍。</a:t>
            </a:r>
          </a:p>
          <a:p/>
          <a:p>
            <a:r>
              <a:t>例外我主動說：K-means-SSD 那條臂只有 6/15，p 值 0.061，沒過，不能單獨宣稱。</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如果老師追問報酬口徑，用這張。</a:t>
            </a:r>
          </a:p>
          <a:p/>
          <a:p>
            <a:r>
              <a:t>年化有三個口徑：帳面、動用資本、rf 超額，等權口徑下最好的策略分別是 1.026%、2.793%、0.375%。關鍵是資金利用率只有 42.6%，逾半數資金長期閒置。</a:t>
            </a:r>
          </a:p>
          <a:p/>
          <a:p>
            <a:r>
              <a:t>下面那張表把 DL-THR 的 rf 超額優勢拆開：1.080%裡，0.798 是真實報酬差，0.282 純粹是少動用資本多收的利息。拆出來的 0.798 跟 0.579，跟第三段主檢定報的年化差逐位相同——因為 rf 超額對逐日損益是線性的，所以這個拆解是代數恆等式，不是湊的。那 0.282 不應該算成技巧。</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如果老師問「這些數字可靠嗎」或「你怎麼確認實作正確」，用這張。</a:t>
            </a:r>
          </a:p>
          <a:p/>
          <a:p>
            <a:r>
              <a:t>我在研究後期發現多項實作跟方法章宣告的不符，這裡列八項。最嚴重的是共整合檢定用錯臨界值，通過率虛高到 77%；最危險的是子視窗回測的槽位洩漏，它會讓某一期零配對而且完全不報錯。</a:t>
            </a:r>
          </a:p>
          <a:p/>
          <a:p>
            <a:r>
              <a:t>修正後，交易層的相對效果從零比五顯著變成三比五——修正之前，我關於交易層的任何結論都建立在一條並不是我描述的管線上。今天報告的每一個數字，都產自修正後的管線。</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如果老師問「什麼時候賺錢」或「能不能只在高波動期交易」，用這張。</a:t>
            </a:r>
          </a:p>
          <a:p/>
          <a:p>
            <a:r>
              <a:t>12 個臂全部是同一型態：動盪期為正，平靜期跟一般期為負；我用 walk-forward 門檻重做，排除了前視偏誤。但動盪期報酬極度集中，2008 到 2009 兩年就貢獻了 54% 到 87%。2022 年動盪日數最多，卻幾乎沒賺，因為那一年的波動來自升息跟通膨的趨勢性移動，價差偏離後不一定回歸。以已實現波動定義的市況，分不出這兩種來源。</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如果老師問「有沒有試過其他改良」或「為什麼不延長交易期」，用這張。三項都否證：時間停損 20 格全部比現行差，因為回歸集中在持倉後期；延長交易期，只有 45% 會回來，其餘持續發散。三項都是針對「期末強平佔四成」設計的，結論是那個現象靠調時間修不掉。</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如果老師問為什麼我的結果跟前一屆的研究差這麼多，用這張。</a:t>
            </a:r>
          </a:p>
          <a:p/>
          <a:p>
            <a:r>
              <a:t>我逐行比對後找出八項實作差異。我只隔離了第五項，進場時點，因為它可以在不動其他任何東西的情況下替換。結果改成對方的回歸式進場後，三種排序的年化報酬全部下降，方向跟待解釋的差距相反，所以它不是差距的來源。就量級來看，最可能主導差距的是成本假設跟報酬口徑，但替換它們等於改寫全章的報告口徑，不在我的範圍內。這不是對前行研究的評價，只是在我的引擎跟參數下的結果。這三條策略也已經計入 DSR 的試驗宇宙。</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如果老師問參數敏感性，用這張。我採 OFAT，一次只動一個參數。要特別交代的是 entry_z：宣告的掃描值包含 1.5，但實際上從來沒有執行，所以任何關於最適門檻位置的陳述都不能外推到 1.5。</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如果老師問分群結果穩不穩定，用這張。用調整蘭德指數量測兩期分組的一致性。HDBSCAN 的分布是雙峰的：大部分時候非常穩定，但有一成的時候跟隨機差不多。這裡只刻畫穩定度，不主張穩定比較好。</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如果老師問多重檢定的選擇，用這張。我控制 FDR 而不是 FWER，因為比較數少而且高度相關，FWER 太保守。要揭露的前提是比較族不獨立；BH 在正迴歸相依下仍然成立，但這個條件我沒有形式化驗證。不過就算改用任意相依都成立的保守版本，消融的主要結果仍然全部顯著。</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如果老師要附錄 E 的完整數字，用這張。兩欄 Sharpe 口徑不同：官方那欄來自 4.1.3 節的正式管線，重算那欄是我為了讓九臂可以同口徑比較而用的簡化公式，兩者差約 0.02 到 0.03，只用於排序。另外表格法只用 ZScore 一個維度當狀態，所以它同時換了演算法跟狀態表示，不是完全乾淨的單變因對照——但資訊更少卻輸更多，讓這個限制的方向是保守的。</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如果老師要看 15 格的完整數字，用這張。三個口徑並列，rf 超額口徑下沒有一格是正的。</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【備用投影片：問答時使用】</a:t>
            </a:r>
          </a:p>
          <a:p/>
          <a:p>
            <a:r>
              <a:t>如果老師問「504 明顯比較好，為什麼不改用 504」，用這張。</a:t>
            </a:r>
          </a:p>
          <a:p/>
          <a:p>
            <a:r>
              <a:t>我把論文核心的 20 條策略全部改成兩年形成期重跑，判準在跑之前就寫好了。</a:t>
            </a:r>
          </a:p>
          <a:p/>
          <a:p>
            <a:r>
              <a:t>左邊是主軸 15 臂：15 臂裡有 13 臂的 Sharpe 比 252 高，乍看確實比較好。但我事先寫了第二個條件——後半期不能是負的。結果後半期的中位數是負 0.384，而且後半期還比 252 好的只有 5 臂。30 個後半期的 Sharpe 全部是負的。所以依照事先的判準，這是前半期效果，我不說 504 比較好。</a:t>
            </a:r>
          </a:p>
          <a:p/>
          <a:p>
            <a:r>
              <a:t>右邊是比較重要的部分：第三段的主結論——門檻選擇相對固定門檻——在 504 下五個來源全部是正的，四個顯著，方向重現。要老實講的是，從三個顯著變成四個，主要是因為 504 的樣本從 2002 年開始；把 252 也限制在同一段期間，它本身也是四個顯著。</a:t>
            </a:r>
          </a:p>
          <a:p/>
          <a:p>
            <a:r>
              <a:t>最下面：這 19 條新方法依照我自己的規則要計入試驗宇宙，N 從 53 變成 72，門檻從 0.408 升到 0.546，仍然沒有任何策略通過 DSR 0.95。正文 5.1.2 節現在報的就是這個 72 的清點。</a:t>
            </a:r>
          </a:p>
          <a:p/>
          <a:p>
            <a:r>
              <a:t>一句話：504 讓前半期更好看，但沒有讓策略變得可以交易；而我最主要的結論，對形成期長度是穩健的。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A5B"/>
        </a:solidFill>
        <a:effectLst/>
      </p:bgPr>
    </p:bg>
    <p:spTree>
      <p:nvGrpSpPr>
        <p:cNvPr id="1" name=""/>
        <p:cNvGrpSpPr/>
        <p:nvPr/>
      </p:nvGrpSpPr>
      <p:grpSpPr/>
      <p:sp>
        <p:nvSpPr>
          <p:cNvPr id="2" name="TextBox 1"/>
          <p:cNvSpPr txBox="1"/>
          <p:nvPr/>
        </p:nvSpPr>
        <p:spPr>
          <a:xfrm>
            <a:off x="1005840" y="1691640"/>
            <a:ext cx="10149840" cy="2194560"/>
          </a:xfrm>
          <a:prstGeom prst="rect">
            <a:avLst/>
          </a:prstGeom>
          <a:noFill/>
        </p:spPr>
        <p:txBody>
          <a:bodyPr wrap="square" lIns="0" rIns="0" tIns="0" bIns="0" anchor="t">
            <a:spAutoFit/>
          </a:bodyPr>
          <a:lstStyle/>
          <a:p>
            <a:pPr algn="l">
              <a:lnSpc>
                <a:spcPct val="125000"/>
              </a:lnSpc>
              <a:spcAft>
                <a:spcPts val="400"/>
              </a:spcAft>
            </a:pPr>
            <a:r>
              <a:rPr sz="3000" b="1">
                <a:solidFill>
                  <a:srgbClr val="FFFFFF"/>
                </a:solidFill>
                <a:latin typeface="Microsoft JhengHei"/>
                <a:ea typeface="Microsoft JhengHei"/>
              </a:rPr>
              <a:t>結合配對來源組裝與動作空間設計之</a:t>
            </a:r>
          </a:p>
          <a:p>
            <a:pPr algn="l">
              <a:lnSpc>
                <a:spcPct val="125000"/>
              </a:lnSpc>
              <a:spcAft>
                <a:spcPts val="800"/>
              </a:spcAft>
            </a:pPr>
            <a:r>
              <a:rPr sz="4000" b="1">
                <a:solidFill>
                  <a:srgbClr val="FFFFFF"/>
                </a:solidFill>
                <a:latin typeface="Microsoft JhengHei"/>
                <a:ea typeface="Microsoft JhengHei"/>
              </a:rPr>
              <a:t>配對交易系統建構與實證</a:t>
            </a:r>
          </a:p>
          <a:p>
            <a:pPr algn="l">
              <a:lnSpc>
                <a:spcPct val="125000"/>
              </a:lnSpc>
              <a:spcAft>
                <a:spcPts val="600"/>
              </a:spcAft>
            </a:pPr>
            <a:r>
              <a:rPr sz="2400" b="0">
                <a:solidFill>
                  <a:srgbClr val="E8EDF5"/>
                </a:solidFill>
                <a:latin typeface="Microsoft JhengHei"/>
                <a:ea typeface="Microsoft JhengHei"/>
              </a:rPr>
              <a:t>以 S&amp;P 500 為例</a:t>
            </a:r>
          </a:p>
        </p:txBody>
      </p:sp>
      <p:sp>
        <p:nvSpPr>
          <p:cNvPr id="3" name="TextBox 2"/>
          <p:cNvSpPr txBox="1"/>
          <p:nvPr/>
        </p:nvSpPr>
        <p:spPr>
          <a:xfrm>
            <a:off x="1005840" y="4709160"/>
            <a:ext cx="10149840" cy="822960"/>
          </a:xfrm>
          <a:prstGeom prst="rect">
            <a:avLst/>
          </a:prstGeom>
          <a:noFill/>
        </p:spPr>
        <p:txBody>
          <a:bodyPr wrap="square" lIns="0" rIns="0" tIns="0" bIns="0" anchor="t">
            <a:spAutoFit/>
          </a:bodyPr>
          <a:lstStyle/>
          <a:p>
            <a:pPr algn="l">
              <a:lnSpc>
                <a:spcPct val="125000"/>
              </a:lnSpc>
              <a:spcAft>
                <a:spcPts val="600"/>
              </a:spcAft>
            </a:pPr>
            <a:r>
              <a:rPr sz="1500" b="0">
                <a:solidFill>
                  <a:srgbClr val="E8EDF5"/>
                </a:solidFill>
                <a:latin typeface="Microsoft JhengHei"/>
                <a:ea typeface="Microsoft JhengHei"/>
              </a:rPr>
              <a:t>元智大學　資訊管理在職碩士專班</a:t>
            </a:r>
          </a:p>
          <a:p>
            <a:pPr algn="l">
              <a:lnSpc>
                <a:spcPct val="125000"/>
              </a:lnSpc>
              <a:spcAft>
                <a:spcPts val="600"/>
              </a:spcAft>
            </a:pPr>
            <a:r>
              <a:rPr sz="1600" b="1">
                <a:solidFill>
                  <a:srgbClr val="FFFFFF"/>
                </a:solidFill>
                <a:latin typeface="Microsoft JhengHei"/>
                <a:ea typeface="Microsoft JhengHei"/>
              </a:rPr>
              <a:t>研究生：李伯修　　指導教授：李詩政 博士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開場</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今天的路線圖</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a:t>
            </a:r>
          </a:p>
        </p:txBody>
      </p:sp>
      <p:sp>
        <p:nvSpPr>
          <p:cNvPr id="5" name="TextBox 4"/>
          <p:cNvSpPr txBox="1"/>
          <p:nvPr/>
        </p:nvSpPr>
        <p:spPr>
          <a:xfrm>
            <a:off x="640080" y="1691640"/>
            <a:ext cx="731520" cy="603504"/>
          </a:xfrm>
          <a:prstGeom prst="rect">
            <a:avLst/>
          </a:prstGeom>
          <a:noFill/>
        </p:spPr>
        <p:txBody>
          <a:bodyPr wrap="square" lIns="0" rIns="0" tIns="0" bIns="0" anchor="t">
            <a:spAutoFit/>
          </a:bodyPr>
          <a:lstStyle/>
          <a:p>
            <a:pPr algn="l">
              <a:lnSpc>
                <a:spcPct val="125000"/>
              </a:lnSpc>
              <a:spcAft>
                <a:spcPts val="600"/>
              </a:spcAft>
            </a:pPr>
            <a:r>
              <a:rPr sz="2200" b="1">
                <a:solidFill>
                  <a:srgbClr val="0B2A5B"/>
                </a:solidFill>
                <a:latin typeface="Microsoft JhengHei"/>
                <a:ea typeface="Microsoft JhengHei"/>
              </a:rPr>
              <a:t>1</a:t>
            </a:r>
          </a:p>
        </p:txBody>
      </p:sp>
      <p:sp>
        <p:nvSpPr>
          <p:cNvPr id="6" name="TextBox 5"/>
          <p:cNvSpPr txBox="1"/>
          <p:nvPr/>
        </p:nvSpPr>
        <p:spPr>
          <a:xfrm>
            <a:off x="1463040" y="1728216"/>
            <a:ext cx="6035040" cy="603504"/>
          </a:xfrm>
          <a:prstGeom prst="rect">
            <a:avLst/>
          </a:prstGeom>
          <a:noFill/>
        </p:spPr>
        <p:txBody>
          <a:bodyPr wrap="square" lIns="0" rIns="0" tIns="0" bIns="0" anchor="t">
            <a:spAutoFit/>
          </a:bodyPr>
          <a:lstStyle/>
          <a:p>
            <a:pPr algn="l">
              <a:lnSpc>
                <a:spcPct val="125000"/>
              </a:lnSpc>
              <a:spcAft>
                <a:spcPts val="600"/>
              </a:spcAft>
            </a:pPr>
            <a:r>
              <a:rPr sz="2000" b="1">
                <a:solidFill>
                  <a:srgbClr val="0B2A5B"/>
                </a:solidFill>
                <a:latin typeface="Microsoft JhengHei"/>
                <a:ea typeface="Microsoft JhengHei"/>
              </a:rPr>
              <a:t>背景：配對交易是什麼</a:t>
            </a:r>
          </a:p>
        </p:txBody>
      </p:sp>
      <p:sp>
        <p:nvSpPr>
          <p:cNvPr id="7" name="TextBox 6"/>
          <p:cNvSpPr txBox="1"/>
          <p:nvPr/>
        </p:nvSpPr>
        <p:spPr>
          <a:xfrm>
            <a:off x="7589519" y="1783080"/>
            <a:ext cx="2194560" cy="603504"/>
          </a:xfrm>
          <a:prstGeom prst="rect">
            <a:avLst/>
          </a:prstGeom>
          <a:noFill/>
        </p:spPr>
        <p:txBody>
          <a:bodyPr wrap="square" lIns="0" rIns="0" tIns="0" bIns="0" anchor="t">
            <a:spAutoFit/>
          </a:bodyPr>
          <a:lstStyle/>
          <a:p>
            <a:pPr algn="l">
              <a:lnSpc>
                <a:spcPct val="125000"/>
              </a:lnSpc>
              <a:spcAft>
                <a:spcPts val="600"/>
              </a:spcAft>
            </a:pPr>
            <a:r>
              <a:rPr sz="1300" b="0">
                <a:solidFill>
                  <a:srgbClr val="0B2A5B"/>
                </a:solidFill>
                <a:latin typeface="Microsoft JhengHei"/>
                <a:ea typeface="Microsoft JhengHei"/>
              </a:rPr>
              <a:t>§1.1、第二章</a:t>
            </a:r>
          </a:p>
        </p:txBody>
      </p:sp>
      <p:sp>
        <p:nvSpPr>
          <p:cNvPr id="8" name="TextBox 7"/>
          <p:cNvSpPr txBox="1"/>
          <p:nvPr/>
        </p:nvSpPr>
        <p:spPr>
          <a:xfrm>
            <a:off x="9875519" y="1783080"/>
            <a:ext cx="1463040" cy="603504"/>
          </a:xfrm>
          <a:prstGeom prst="rect">
            <a:avLst/>
          </a:prstGeom>
          <a:noFill/>
        </p:spPr>
        <p:txBody>
          <a:bodyPr wrap="square" lIns="0" rIns="0" tIns="0" bIns="0" anchor="t">
            <a:spAutoFit/>
          </a:bodyPr>
          <a:lstStyle/>
          <a:p>
            <a:pPr algn="r">
              <a:lnSpc>
                <a:spcPct val="125000"/>
              </a:lnSpc>
              <a:spcAft>
                <a:spcPts val="600"/>
              </a:spcAft>
            </a:pPr>
            <a:r>
              <a:rPr sz="1300" b="0">
                <a:solidFill>
                  <a:srgbClr val="0B2A5B"/>
                </a:solidFill>
                <a:latin typeface="Microsoft JhengHei"/>
                <a:ea typeface="Microsoft JhengHei"/>
              </a:rPr>
              <a:t>約 8 分鐘</a:t>
            </a:r>
          </a:p>
        </p:txBody>
      </p:sp>
      <p:sp>
        <p:nvSpPr>
          <p:cNvPr id="9" name="TextBox 8"/>
          <p:cNvSpPr txBox="1"/>
          <p:nvPr/>
        </p:nvSpPr>
        <p:spPr>
          <a:xfrm>
            <a:off x="640080" y="2295144"/>
            <a:ext cx="731520" cy="603504"/>
          </a:xfrm>
          <a:prstGeom prst="rect">
            <a:avLst/>
          </a:prstGeom>
          <a:noFill/>
        </p:spPr>
        <p:txBody>
          <a:bodyPr wrap="square" lIns="0" rIns="0" tIns="0" bIns="0" anchor="t">
            <a:spAutoFit/>
          </a:bodyPr>
          <a:lstStyle/>
          <a:p>
            <a:pPr algn="l">
              <a:lnSpc>
                <a:spcPct val="125000"/>
              </a:lnSpc>
              <a:spcAft>
                <a:spcPts val="600"/>
              </a:spcAft>
            </a:pPr>
            <a:r>
              <a:rPr sz="2200" b="1">
                <a:solidFill>
                  <a:srgbClr val="0B2A5B"/>
                </a:solidFill>
                <a:latin typeface="Microsoft JhengHei"/>
                <a:ea typeface="Microsoft JhengHei"/>
              </a:rPr>
              <a:t>2</a:t>
            </a:r>
          </a:p>
        </p:txBody>
      </p:sp>
      <p:sp>
        <p:nvSpPr>
          <p:cNvPr id="10" name="TextBox 9"/>
          <p:cNvSpPr txBox="1"/>
          <p:nvPr/>
        </p:nvSpPr>
        <p:spPr>
          <a:xfrm>
            <a:off x="1463040" y="2331720"/>
            <a:ext cx="6035040" cy="603504"/>
          </a:xfrm>
          <a:prstGeom prst="rect">
            <a:avLst/>
          </a:prstGeom>
          <a:noFill/>
        </p:spPr>
        <p:txBody>
          <a:bodyPr wrap="square" lIns="0" rIns="0" tIns="0" bIns="0" anchor="t">
            <a:spAutoFit/>
          </a:bodyPr>
          <a:lstStyle/>
          <a:p>
            <a:pPr algn="l">
              <a:lnSpc>
                <a:spcPct val="125000"/>
              </a:lnSpc>
              <a:spcAft>
                <a:spcPts val="600"/>
              </a:spcAft>
            </a:pPr>
            <a:r>
              <a:rPr sz="2000" b="1">
                <a:solidFill>
                  <a:srgbClr val="0B2A5B"/>
                </a:solidFill>
                <a:latin typeface="Microsoft JhengHei"/>
                <a:ea typeface="Microsoft JhengHei"/>
              </a:rPr>
              <a:t>我想問的問題</a:t>
            </a:r>
          </a:p>
        </p:txBody>
      </p:sp>
      <p:sp>
        <p:nvSpPr>
          <p:cNvPr id="11" name="TextBox 10"/>
          <p:cNvSpPr txBox="1"/>
          <p:nvPr/>
        </p:nvSpPr>
        <p:spPr>
          <a:xfrm>
            <a:off x="7589519" y="2386584"/>
            <a:ext cx="2194560" cy="603504"/>
          </a:xfrm>
          <a:prstGeom prst="rect">
            <a:avLst/>
          </a:prstGeom>
          <a:noFill/>
        </p:spPr>
        <p:txBody>
          <a:bodyPr wrap="square" lIns="0" rIns="0" tIns="0" bIns="0" anchor="t">
            <a:spAutoFit/>
          </a:bodyPr>
          <a:lstStyle/>
          <a:p>
            <a:pPr algn="l">
              <a:lnSpc>
                <a:spcPct val="125000"/>
              </a:lnSpc>
              <a:spcAft>
                <a:spcPts val="600"/>
              </a:spcAft>
            </a:pPr>
            <a:r>
              <a:rPr sz="1300" b="0">
                <a:solidFill>
                  <a:srgbClr val="0B2A5B"/>
                </a:solidFill>
                <a:latin typeface="Microsoft JhengHei"/>
                <a:ea typeface="Microsoft JhengHei"/>
              </a:rPr>
              <a:t>§1.2–1.3、§2.3.5</a:t>
            </a:r>
          </a:p>
        </p:txBody>
      </p:sp>
      <p:sp>
        <p:nvSpPr>
          <p:cNvPr id="12" name="TextBox 11"/>
          <p:cNvSpPr txBox="1"/>
          <p:nvPr/>
        </p:nvSpPr>
        <p:spPr>
          <a:xfrm>
            <a:off x="9875519" y="2386584"/>
            <a:ext cx="1463040" cy="603504"/>
          </a:xfrm>
          <a:prstGeom prst="rect">
            <a:avLst/>
          </a:prstGeom>
          <a:noFill/>
        </p:spPr>
        <p:txBody>
          <a:bodyPr wrap="square" lIns="0" rIns="0" tIns="0" bIns="0" anchor="t">
            <a:spAutoFit/>
          </a:bodyPr>
          <a:lstStyle/>
          <a:p>
            <a:pPr algn="r">
              <a:lnSpc>
                <a:spcPct val="125000"/>
              </a:lnSpc>
              <a:spcAft>
                <a:spcPts val="600"/>
              </a:spcAft>
            </a:pPr>
            <a:r>
              <a:rPr sz="1300" b="0">
                <a:solidFill>
                  <a:srgbClr val="0B2A5B"/>
                </a:solidFill>
                <a:latin typeface="Microsoft JhengHei"/>
                <a:ea typeface="Microsoft JhengHei"/>
              </a:rPr>
              <a:t>約 6 分鐘</a:t>
            </a:r>
          </a:p>
        </p:txBody>
      </p:sp>
      <p:sp>
        <p:nvSpPr>
          <p:cNvPr id="13" name="TextBox 12"/>
          <p:cNvSpPr txBox="1"/>
          <p:nvPr/>
        </p:nvSpPr>
        <p:spPr>
          <a:xfrm>
            <a:off x="640080" y="2898648"/>
            <a:ext cx="731520" cy="603504"/>
          </a:xfrm>
          <a:prstGeom prst="rect">
            <a:avLst/>
          </a:prstGeom>
          <a:noFill/>
        </p:spPr>
        <p:txBody>
          <a:bodyPr wrap="square" lIns="0" rIns="0" tIns="0" bIns="0" anchor="t">
            <a:spAutoFit/>
          </a:bodyPr>
          <a:lstStyle/>
          <a:p>
            <a:pPr algn="l">
              <a:lnSpc>
                <a:spcPct val="125000"/>
              </a:lnSpc>
              <a:spcAft>
                <a:spcPts val="600"/>
              </a:spcAft>
            </a:pPr>
            <a:r>
              <a:rPr sz="2200" b="1">
                <a:solidFill>
                  <a:srgbClr val="0B2A5B"/>
                </a:solidFill>
                <a:latin typeface="Microsoft JhengHei"/>
                <a:ea typeface="Microsoft JhengHei"/>
              </a:rPr>
              <a:t>3</a:t>
            </a:r>
          </a:p>
        </p:txBody>
      </p:sp>
      <p:sp>
        <p:nvSpPr>
          <p:cNvPr id="14" name="TextBox 13"/>
          <p:cNvSpPr txBox="1"/>
          <p:nvPr/>
        </p:nvSpPr>
        <p:spPr>
          <a:xfrm>
            <a:off x="1463040" y="2935224"/>
            <a:ext cx="6035040" cy="603504"/>
          </a:xfrm>
          <a:prstGeom prst="rect">
            <a:avLst/>
          </a:prstGeom>
          <a:noFill/>
        </p:spPr>
        <p:txBody>
          <a:bodyPr wrap="square" lIns="0" rIns="0" tIns="0" bIns="0" anchor="t">
            <a:spAutoFit/>
          </a:bodyPr>
          <a:lstStyle/>
          <a:p>
            <a:pPr algn="l">
              <a:lnSpc>
                <a:spcPct val="125000"/>
              </a:lnSpc>
              <a:spcAft>
                <a:spcPts val="600"/>
              </a:spcAft>
            </a:pPr>
            <a:r>
              <a:rPr sz="2000" b="1">
                <a:solidFill>
                  <a:srgbClr val="0B2A5B"/>
                </a:solidFill>
                <a:latin typeface="Microsoft JhengHei"/>
                <a:ea typeface="Microsoft JhengHei"/>
              </a:rPr>
              <a:t>我怎麼做</a:t>
            </a:r>
          </a:p>
        </p:txBody>
      </p:sp>
      <p:sp>
        <p:nvSpPr>
          <p:cNvPr id="15" name="TextBox 14"/>
          <p:cNvSpPr txBox="1"/>
          <p:nvPr/>
        </p:nvSpPr>
        <p:spPr>
          <a:xfrm>
            <a:off x="7589519" y="2990088"/>
            <a:ext cx="2194560" cy="603504"/>
          </a:xfrm>
          <a:prstGeom prst="rect">
            <a:avLst/>
          </a:prstGeom>
          <a:noFill/>
        </p:spPr>
        <p:txBody>
          <a:bodyPr wrap="square" lIns="0" rIns="0" tIns="0" bIns="0" anchor="t">
            <a:spAutoFit/>
          </a:bodyPr>
          <a:lstStyle/>
          <a:p>
            <a:pPr algn="l">
              <a:lnSpc>
                <a:spcPct val="125000"/>
              </a:lnSpc>
              <a:spcAft>
                <a:spcPts val="600"/>
              </a:spcAft>
            </a:pPr>
            <a:r>
              <a:rPr sz="1300" b="0">
                <a:solidFill>
                  <a:srgbClr val="0B2A5B"/>
                </a:solidFill>
                <a:latin typeface="Microsoft JhengHei"/>
                <a:ea typeface="Microsoft JhengHei"/>
              </a:rPr>
              <a:t>第三章</a:t>
            </a:r>
          </a:p>
        </p:txBody>
      </p:sp>
      <p:sp>
        <p:nvSpPr>
          <p:cNvPr id="16" name="TextBox 15"/>
          <p:cNvSpPr txBox="1"/>
          <p:nvPr/>
        </p:nvSpPr>
        <p:spPr>
          <a:xfrm>
            <a:off x="9875519" y="2990088"/>
            <a:ext cx="1463040" cy="603504"/>
          </a:xfrm>
          <a:prstGeom prst="rect">
            <a:avLst/>
          </a:prstGeom>
          <a:noFill/>
        </p:spPr>
        <p:txBody>
          <a:bodyPr wrap="square" lIns="0" rIns="0" tIns="0" bIns="0" anchor="t">
            <a:spAutoFit/>
          </a:bodyPr>
          <a:lstStyle/>
          <a:p>
            <a:pPr algn="r">
              <a:lnSpc>
                <a:spcPct val="125000"/>
              </a:lnSpc>
              <a:spcAft>
                <a:spcPts val="600"/>
              </a:spcAft>
            </a:pPr>
            <a:r>
              <a:rPr sz="1300" b="0">
                <a:solidFill>
                  <a:srgbClr val="0B2A5B"/>
                </a:solidFill>
                <a:latin typeface="Microsoft JhengHei"/>
                <a:ea typeface="Microsoft JhengHei"/>
              </a:rPr>
              <a:t>約 14 分鐘</a:t>
            </a:r>
          </a:p>
        </p:txBody>
      </p:sp>
      <p:sp>
        <p:nvSpPr>
          <p:cNvPr id="17" name="TextBox 16"/>
          <p:cNvSpPr txBox="1"/>
          <p:nvPr/>
        </p:nvSpPr>
        <p:spPr>
          <a:xfrm>
            <a:off x="640080" y="3502152"/>
            <a:ext cx="731520" cy="603504"/>
          </a:xfrm>
          <a:prstGeom prst="rect">
            <a:avLst/>
          </a:prstGeom>
          <a:noFill/>
        </p:spPr>
        <p:txBody>
          <a:bodyPr wrap="square" lIns="0" rIns="0" tIns="0" bIns="0" anchor="t">
            <a:spAutoFit/>
          </a:bodyPr>
          <a:lstStyle/>
          <a:p>
            <a:pPr algn="l">
              <a:lnSpc>
                <a:spcPct val="125000"/>
              </a:lnSpc>
              <a:spcAft>
                <a:spcPts val="600"/>
              </a:spcAft>
            </a:pPr>
            <a:r>
              <a:rPr sz="2200" b="1">
                <a:solidFill>
                  <a:srgbClr val="0B2A5B"/>
                </a:solidFill>
                <a:latin typeface="Microsoft JhengHei"/>
                <a:ea typeface="Microsoft JhengHei"/>
              </a:rPr>
              <a:t>4</a:t>
            </a:r>
          </a:p>
        </p:txBody>
      </p:sp>
      <p:sp>
        <p:nvSpPr>
          <p:cNvPr id="18" name="TextBox 17"/>
          <p:cNvSpPr txBox="1"/>
          <p:nvPr/>
        </p:nvSpPr>
        <p:spPr>
          <a:xfrm>
            <a:off x="1463040" y="3538728"/>
            <a:ext cx="6035040" cy="603504"/>
          </a:xfrm>
          <a:prstGeom prst="rect">
            <a:avLst/>
          </a:prstGeom>
          <a:noFill/>
        </p:spPr>
        <p:txBody>
          <a:bodyPr wrap="square" lIns="0" rIns="0" tIns="0" bIns="0" anchor="t">
            <a:spAutoFit/>
          </a:bodyPr>
          <a:lstStyle/>
          <a:p>
            <a:pPr algn="l">
              <a:lnSpc>
                <a:spcPct val="125000"/>
              </a:lnSpc>
              <a:spcAft>
                <a:spcPts val="600"/>
              </a:spcAft>
            </a:pPr>
            <a:r>
              <a:rPr sz="2000" b="1">
                <a:solidFill>
                  <a:srgbClr val="0B2A5B"/>
                </a:solidFill>
                <a:latin typeface="Microsoft JhengHei"/>
                <a:ea typeface="Microsoft JhengHei"/>
              </a:rPr>
              <a:t>結果：三段證據</a:t>
            </a:r>
          </a:p>
        </p:txBody>
      </p:sp>
      <p:sp>
        <p:nvSpPr>
          <p:cNvPr id="19" name="TextBox 18"/>
          <p:cNvSpPr txBox="1"/>
          <p:nvPr/>
        </p:nvSpPr>
        <p:spPr>
          <a:xfrm>
            <a:off x="7589519" y="3593592"/>
            <a:ext cx="2194560" cy="603504"/>
          </a:xfrm>
          <a:prstGeom prst="rect">
            <a:avLst/>
          </a:prstGeom>
          <a:noFill/>
        </p:spPr>
        <p:txBody>
          <a:bodyPr wrap="square" lIns="0" rIns="0" tIns="0" bIns="0" anchor="t">
            <a:spAutoFit/>
          </a:bodyPr>
          <a:lstStyle/>
          <a:p>
            <a:pPr algn="l">
              <a:lnSpc>
                <a:spcPct val="125000"/>
              </a:lnSpc>
              <a:spcAft>
                <a:spcPts val="600"/>
              </a:spcAft>
            </a:pPr>
            <a:r>
              <a:rPr sz="1300" b="0">
                <a:solidFill>
                  <a:srgbClr val="0B2A5B"/>
                </a:solidFill>
                <a:latin typeface="Microsoft JhengHei"/>
                <a:ea typeface="Microsoft JhengHei"/>
              </a:rPr>
              <a:t>第四章</a:t>
            </a:r>
          </a:p>
        </p:txBody>
      </p:sp>
      <p:sp>
        <p:nvSpPr>
          <p:cNvPr id="20" name="TextBox 19"/>
          <p:cNvSpPr txBox="1"/>
          <p:nvPr/>
        </p:nvSpPr>
        <p:spPr>
          <a:xfrm>
            <a:off x="9875519" y="3593592"/>
            <a:ext cx="1463040" cy="603504"/>
          </a:xfrm>
          <a:prstGeom prst="rect">
            <a:avLst/>
          </a:prstGeom>
          <a:noFill/>
        </p:spPr>
        <p:txBody>
          <a:bodyPr wrap="square" lIns="0" rIns="0" tIns="0" bIns="0" anchor="t">
            <a:spAutoFit/>
          </a:bodyPr>
          <a:lstStyle/>
          <a:p>
            <a:pPr algn="r">
              <a:lnSpc>
                <a:spcPct val="125000"/>
              </a:lnSpc>
              <a:spcAft>
                <a:spcPts val="600"/>
              </a:spcAft>
            </a:pPr>
            <a:r>
              <a:rPr sz="1300" b="0">
                <a:solidFill>
                  <a:srgbClr val="0B2A5B"/>
                </a:solidFill>
                <a:latin typeface="Microsoft JhengHei"/>
                <a:ea typeface="Microsoft JhengHei"/>
              </a:rPr>
              <a:t>約 16 分鐘</a:t>
            </a:r>
          </a:p>
        </p:txBody>
      </p:sp>
      <p:sp>
        <p:nvSpPr>
          <p:cNvPr id="21" name="TextBox 20"/>
          <p:cNvSpPr txBox="1"/>
          <p:nvPr/>
        </p:nvSpPr>
        <p:spPr>
          <a:xfrm>
            <a:off x="640080" y="4105656"/>
            <a:ext cx="731520" cy="603504"/>
          </a:xfrm>
          <a:prstGeom prst="rect">
            <a:avLst/>
          </a:prstGeom>
          <a:noFill/>
        </p:spPr>
        <p:txBody>
          <a:bodyPr wrap="square" lIns="0" rIns="0" tIns="0" bIns="0" anchor="t">
            <a:spAutoFit/>
          </a:bodyPr>
          <a:lstStyle/>
          <a:p>
            <a:pPr algn="l">
              <a:lnSpc>
                <a:spcPct val="125000"/>
              </a:lnSpc>
              <a:spcAft>
                <a:spcPts val="600"/>
              </a:spcAft>
            </a:pPr>
            <a:r>
              <a:rPr sz="2200" b="1">
                <a:solidFill>
                  <a:srgbClr val="0B2A5B"/>
                </a:solidFill>
                <a:latin typeface="Microsoft JhengHei"/>
                <a:ea typeface="Microsoft JhengHei"/>
              </a:rPr>
              <a:t>5</a:t>
            </a:r>
          </a:p>
        </p:txBody>
      </p:sp>
      <p:sp>
        <p:nvSpPr>
          <p:cNvPr id="22" name="TextBox 21"/>
          <p:cNvSpPr txBox="1"/>
          <p:nvPr/>
        </p:nvSpPr>
        <p:spPr>
          <a:xfrm>
            <a:off x="1463040" y="4142232"/>
            <a:ext cx="6035040" cy="603504"/>
          </a:xfrm>
          <a:prstGeom prst="rect">
            <a:avLst/>
          </a:prstGeom>
          <a:noFill/>
        </p:spPr>
        <p:txBody>
          <a:bodyPr wrap="square" lIns="0" rIns="0" tIns="0" bIns="0" anchor="t">
            <a:spAutoFit/>
          </a:bodyPr>
          <a:lstStyle/>
          <a:p>
            <a:pPr algn="l">
              <a:lnSpc>
                <a:spcPct val="125000"/>
              </a:lnSpc>
              <a:spcAft>
                <a:spcPts val="600"/>
              </a:spcAft>
            </a:pPr>
            <a:r>
              <a:rPr sz="2000" b="1">
                <a:solidFill>
                  <a:srgbClr val="0B2A5B"/>
                </a:solidFill>
                <a:latin typeface="Microsoft JhengHei"/>
                <a:ea typeface="Microsoft JhengHei"/>
              </a:rPr>
              <a:t>所以，可以拿來賺錢嗎？</a:t>
            </a:r>
          </a:p>
        </p:txBody>
      </p:sp>
      <p:sp>
        <p:nvSpPr>
          <p:cNvPr id="23" name="TextBox 22"/>
          <p:cNvSpPr txBox="1"/>
          <p:nvPr/>
        </p:nvSpPr>
        <p:spPr>
          <a:xfrm>
            <a:off x="7589519" y="4197096"/>
            <a:ext cx="2194560" cy="603504"/>
          </a:xfrm>
          <a:prstGeom prst="rect">
            <a:avLst/>
          </a:prstGeom>
          <a:noFill/>
        </p:spPr>
        <p:txBody>
          <a:bodyPr wrap="square" lIns="0" rIns="0" tIns="0" bIns="0" anchor="t">
            <a:spAutoFit/>
          </a:bodyPr>
          <a:lstStyle/>
          <a:p>
            <a:pPr algn="l">
              <a:lnSpc>
                <a:spcPct val="125000"/>
              </a:lnSpc>
              <a:spcAft>
                <a:spcPts val="600"/>
              </a:spcAft>
            </a:pPr>
            <a:r>
              <a:rPr sz="1300" b="0">
                <a:solidFill>
                  <a:srgbClr val="0B2A5B"/>
                </a:solidFill>
                <a:latin typeface="Microsoft JhengHei"/>
                <a:ea typeface="Microsoft JhengHei"/>
              </a:rPr>
              <a:t>第五章</a:t>
            </a:r>
          </a:p>
        </p:txBody>
      </p:sp>
      <p:sp>
        <p:nvSpPr>
          <p:cNvPr id="24" name="TextBox 23"/>
          <p:cNvSpPr txBox="1"/>
          <p:nvPr/>
        </p:nvSpPr>
        <p:spPr>
          <a:xfrm>
            <a:off x="9875519" y="4197096"/>
            <a:ext cx="1463040" cy="603504"/>
          </a:xfrm>
          <a:prstGeom prst="rect">
            <a:avLst/>
          </a:prstGeom>
          <a:noFill/>
        </p:spPr>
        <p:txBody>
          <a:bodyPr wrap="square" lIns="0" rIns="0" tIns="0" bIns="0" anchor="t">
            <a:spAutoFit/>
          </a:bodyPr>
          <a:lstStyle/>
          <a:p>
            <a:pPr algn="r">
              <a:lnSpc>
                <a:spcPct val="125000"/>
              </a:lnSpc>
              <a:spcAft>
                <a:spcPts val="600"/>
              </a:spcAft>
            </a:pPr>
            <a:r>
              <a:rPr sz="1300" b="0">
                <a:solidFill>
                  <a:srgbClr val="0B2A5B"/>
                </a:solidFill>
                <a:latin typeface="Microsoft JhengHei"/>
                <a:ea typeface="Microsoft JhengHei"/>
              </a:rPr>
              <a:t>約 8 分鐘</a:t>
            </a:r>
          </a:p>
        </p:txBody>
      </p:sp>
      <p:sp>
        <p:nvSpPr>
          <p:cNvPr id="25" name="TextBox 24"/>
          <p:cNvSpPr txBox="1"/>
          <p:nvPr/>
        </p:nvSpPr>
        <p:spPr>
          <a:xfrm>
            <a:off x="640080" y="4709160"/>
            <a:ext cx="731520" cy="603504"/>
          </a:xfrm>
          <a:prstGeom prst="rect">
            <a:avLst/>
          </a:prstGeom>
          <a:noFill/>
        </p:spPr>
        <p:txBody>
          <a:bodyPr wrap="square" lIns="0" rIns="0" tIns="0" bIns="0" anchor="t">
            <a:spAutoFit/>
          </a:bodyPr>
          <a:lstStyle/>
          <a:p>
            <a:pPr algn="l">
              <a:lnSpc>
                <a:spcPct val="125000"/>
              </a:lnSpc>
              <a:spcAft>
                <a:spcPts val="600"/>
              </a:spcAft>
            </a:pPr>
            <a:r>
              <a:rPr sz="2200" b="1">
                <a:solidFill>
                  <a:srgbClr val="0B2A5B"/>
                </a:solidFill>
                <a:latin typeface="Microsoft JhengHei"/>
                <a:ea typeface="Microsoft JhengHei"/>
              </a:rPr>
              <a:t>6</a:t>
            </a:r>
          </a:p>
        </p:txBody>
      </p:sp>
      <p:sp>
        <p:nvSpPr>
          <p:cNvPr id="26" name="TextBox 25"/>
          <p:cNvSpPr txBox="1"/>
          <p:nvPr/>
        </p:nvSpPr>
        <p:spPr>
          <a:xfrm>
            <a:off x="1463040" y="4745736"/>
            <a:ext cx="6035040" cy="603504"/>
          </a:xfrm>
          <a:prstGeom prst="rect">
            <a:avLst/>
          </a:prstGeom>
          <a:noFill/>
        </p:spPr>
        <p:txBody>
          <a:bodyPr wrap="square" lIns="0" rIns="0" tIns="0" bIns="0" anchor="t">
            <a:spAutoFit/>
          </a:bodyPr>
          <a:lstStyle/>
          <a:p>
            <a:pPr algn="l">
              <a:lnSpc>
                <a:spcPct val="125000"/>
              </a:lnSpc>
              <a:spcAft>
                <a:spcPts val="600"/>
              </a:spcAft>
            </a:pPr>
            <a:r>
              <a:rPr sz="2000" b="1">
                <a:solidFill>
                  <a:srgbClr val="0B2A5B"/>
                </a:solidFill>
                <a:latin typeface="Microsoft JhengHei"/>
                <a:ea typeface="Microsoft JhengHei"/>
              </a:rPr>
              <a:t>結論</a:t>
            </a:r>
          </a:p>
        </p:txBody>
      </p:sp>
      <p:sp>
        <p:nvSpPr>
          <p:cNvPr id="27" name="TextBox 26"/>
          <p:cNvSpPr txBox="1"/>
          <p:nvPr/>
        </p:nvSpPr>
        <p:spPr>
          <a:xfrm>
            <a:off x="7589519" y="4800600"/>
            <a:ext cx="2194560" cy="603504"/>
          </a:xfrm>
          <a:prstGeom prst="rect">
            <a:avLst/>
          </a:prstGeom>
          <a:noFill/>
        </p:spPr>
        <p:txBody>
          <a:bodyPr wrap="square" lIns="0" rIns="0" tIns="0" bIns="0" anchor="t">
            <a:spAutoFit/>
          </a:bodyPr>
          <a:lstStyle/>
          <a:p>
            <a:pPr algn="l">
              <a:lnSpc>
                <a:spcPct val="125000"/>
              </a:lnSpc>
              <a:spcAft>
                <a:spcPts val="600"/>
              </a:spcAft>
            </a:pPr>
            <a:r>
              <a:rPr sz="1300" b="0">
                <a:solidFill>
                  <a:srgbClr val="0B2A5B"/>
                </a:solidFill>
                <a:latin typeface="Microsoft JhengHei"/>
                <a:ea typeface="Microsoft JhengHei"/>
              </a:rPr>
              <a:t>第六章</a:t>
            </a:r>
          </a:p>
        </p:txBody>
      </p:sp>
      <p:sp>
        <p:nvSpPr>
          <p:cNvPr id="28" name="TextBox 27"/>
          <p:cNvSpPr txBox="1"/>
          <p:nvPr/>
        </p:nvSpPr>
        <p:spPr>
          <a:xfrm>
            <a:off x="9875519" y="4800600"/>
            <a:ext cx="1463040" cy="603504"/>
          </a:xfrm>
          <a:prstGeom prst="rect">
            <a:avLst/>
          </a:prstGeom>
          <a:noFill/>
        </p:spPr>
        <p:txBody>
          <a:bodyPr wrap="square" lIns="0" rIns="0" tIns="0" bIns="0" anchor="t">
            <a:spAutoFit/>
          </a:bodyPr>
          <a:lstStyle/>
          <a:p>
            <a:pPr algn="r">
              <a:lnSpc>
                <a:spcPct val="125000"/>
              </a:lnSpc>
              <a:spcAft>
                <a:spcPts val="600"/>
              </a:spcAft>
            </a:pPr>
            <a:r>
              <a:rPr sz="1300" b="0">
                <a:solidFill>
                  <a:srgbClr val="0B2A5B"/>
                </a:solidFill>
                <a:latin typeface="Microsoft JhengHei"/>
                <a:ea typeface="Microsoft JhengHei"/>
              </a:rPr>
              <a:t>約 5 分鐘</a:t>
            </a:r>
          </a:p>
        </p:txBody>
      </p:sp>
      <p:sp>
        <p:nvSpPr>
          <p:cNvPr id="29" name="TextBox 28"/>
          <p:cNvSpPr txBox="1"/>
          <p:nvPr/>
        </p:nvSpPr>
        <p:spPr>
          <a:xfrm>
            <a:off x="640080" y="5532120"/>
            <a:ext cx="10881360" cy="457200"/>
          </a:xfrm>
          <a:prstGeom prst="rect">
            <a:avLst/>
          </a:prstGeom>
          <a:noFill/>
        </p:spPr>
        <p:txBody>
          <a:bodyPr wrap="square" lIns="0" rIns="0" tIns="0" bIns="0" anchor="t">
            <a:spAutoFit/>
          </a:bodyPr>
          <a:lstStyle/>
          <a:p>
            <a:pPr algn="l">
              <a:lnSpc>
                <a:spcPct val="125000"/>
              </a:lnSpc>
              <a:spcAft>
                <a:spcPts val="600"/>
              </a:spcAft>
            </a:pPr>
            <a:r>
              <a:rPr sz="1500" b="0">
                <a:solidFill>
                  <a:srgbClr val="6B7280"/>
                </a:solidFill>
                <a:latin typeface="Microsoft JhengHei"/>
                <a:ea typeface="Microsoft JhengHei"/>
              </a:rPr>
              <a:t>第四部分是重點：三段證據，而且三段的證據強度不一樣，我會一段一段分開講。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開場</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先講結論：三個問題，三個不一樣的答案</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a:t>
            </a:r>
          </a:p>
        </p:txBody>
      </p:sp>
      <p:sp>
        <p:nvSpPr>
          <p:cNvPr id="5" name="TextBox 4"/>
          <p:cNvSpPr txBox="1"/>
          <p:nvPr/>
        </p:nvSpPr>
        <p:spPr>
          <a:xfrm>
            <a:off x="640080" y="1783080"/>
            <a:ext cx="822960" cy="548640"/>
          </a:xfrm>
          <a:prstGeom prst="rect">
            <a:avLst/>
          </a:prstGeom>
          <a:noFill/>
        </p:spPr>
        <p:txBody>
          <a:bodyPr wrap="square" lIns="0" rIns="0" tIns="0" bIns="0" anchor="t">
            <a:spAutoFit/>
          </a:bodyPr>
          <a:lstStyle/>
          <a:p>
            <a:pPr algn="l">
              <a:lnSpc>
                <a:spcPct val="125000"/>
              </a:lnSpc>
              <a:spcAft>
                <a:spcPts val="600"/>
              </a:spcAft>
            </a:pPr>
            <a:r>
              <a:rPr sz="2600" b="1">
                <a:solidFill>
                  <a:srgbClr val="0B2A5B"/>
                </a:solidFill>
                <a:latin typeface="Microsoft JhengHei"/>
                <a:ea typeface="Microsoft JhengHei"/>
              </a:rPr>
              <a:t>Q1</a:t>
            </a:r>
          </a:p>
        </p:txBody>
      </p:sp>
      <p:sp>
        <p:nvSpPr>
          <p:cNvPr id="6" name="TextBox 5"/>
          <p:cNvSpPr txBox="1"/>
          <p:nvPr/>
        </p:nvSpPr>
        <p:spPr>
          <a:xfrm>
            <a:off x="1508760" y="1819656"/>
            <a:ext cx="5669280" cy="822960"/>
          </a:xfrm>
          <a:prstGeom prst="rect">
            <a:avLst/>
          </a:prstGeom>
          <a:noFill/>
        </p:spPr>
        <p:txBody>
          <a:bodyPr wrap="square" lIns="0" rIns="0" tIns="0" bIns="0" anchor="t">
            <a:spAutoFit/>
          </a:bodyPr>
          <a:lstStyle/>
          <a:p>
            <a:pPr algn="l">
              <a:lnSpc>
                <a:spcPct val="125000"/>
              </a:lnSpc>
              <a:spcAft>
                <a:spcPts val="600"/>
              </a:spcAft>
            </a:pPr>
            <a:r>
              <a:rPr sz="1700" b="0">
                <a:solidFill>
                  <a:srgbClr val="1A1A1A"/>
                </a:solidFill>
                <a:latin typeface="Microsoft JhengHei"/>
                <a:ea typeface="Microsoft JhengHei"/>
              </a:rPr>
              <a:t>讓模型「天天決定持倉」會不會比較差？</a:t>
            </a:r>
          </a:p>
          <a:p>
            <a:pPr algn="l">
              <a:lnSpc>
                <a:spcPct val="125000"/>
              </a:lnSpc>
              <a:spcAft>
                <a:spcPts val="600"/>
              </a:spcAft>
            </a:pPr>
            <a:r>
              <a:rPr sz="1300" b="0">
                <a:solidFill>
                  <a:srgbClr val="6B7280"/>
                </a:solidFill>
                <a:latin typeface="Microsoft JhengHei"/>
                <a:ea typeface="Microsoft JhengHei"/>
              </a:rPr>
              <a:t>換手率 2.1–4.1 倍，績效全部比較差</a:t>
            </a:r>
          </a:p>
        </p:txBody>
      </p:sp>
      <p:sp>
        <p:nvSpPr>
          <p:cNvPr id="7" name="TextBox 6"/>
          <p:cNvSpPr txBox="1"/>
          <p:nvPr/>
        </p:nvSpPr>
        <p:spPr>
          <a:xfrm>
            <a:off x="7498079" y="1801368"/>
            <a:ext cx="4023360" cy="548640"/>
          </a:xfrm>
          <a:prstGeom prst="rect">
            <a:avLst/>
          </a:prstGeom>
          <a:noFill/>
        </p:spPr>
        <p:txBody>
          <a:bodyPr wrap="square" lIns="0" rIns="0" tIns="0" bIns="0" anchor="t">
            <a:spAutoFit/>
          </a:bodyPr>
          <a:lstStyle/>
          <a:p>
            <a:pPr algn="l">
              <a:lnSpc>
                <a:spcPct val="125000"/>
              </a:lnSpc>
              <a:spcAft>
                <a:spcPts val="600"/>
              </a:spcAft>
            </a:pPr>
            <a:r>
              <a:rPr sz="2400" b="1">
                <a:solidFill>
                  <a:srgbClr val="C4553B"/>
                </a:solidFill>
                <a:latin typeface="Microsoft JhengHei"/>
                <a:ea typeface="Microsoft JhengHei"/>
              </a:rPr>
              <a:t>會，而且差很多</a:t>
            </a:r>
          </a:p>
        </p:txBody>
      </p:sp>
      <p:sp>
        <p:nvSpPr>
          <p:cNvPr id="8" name="TextBox 7"/>
          <p:cNvSpPr txBox="1"/>
          <p:nvPr/>
        </p:nvSpPr>
        <p:spPr>
          <a:xfrm>
            <a:off x="640080" y="2926080"/>
            <a:ext cx="822960" cy="548640"/>
          </a:xfrm>
          <a:prstGeom prst="rect">
            <a:avLst/>
          </a:prstGeom>
          <a:noFill/>
        </p:spPr>
        <p:txBody>
          <a:bodyPr wrap="square" lIns="0" rIns="0" tIns="0" bIns="0" anchor="t">
            <a:spAutoFit/>
          </a:bodyPr>
          <a:lstStyle/>
          <a:p>
            <a:pPr algn="l">
              <a:lnSpc>
                <a:spcPct val="125000"/>
              </a:lnSpc>
              <a:spcAft>
                <a:spcPts val="600"/>
              </a:spcAft>
            </a:pPr>
            <a:r>
              <a:rPr sz="2600" b="1">
                <a:solidFill>
                  <a:srgbClr val="0B2A5B"/>
                </a:solidFill>
                <a:latin typeface="Microsoft JhengHei"/>
                <a:ea typeface="Microsoft JhengHei"/>
              </a:rPr>
              <a:t>Q2</a:t>
            </a:r>
          </a:p>
        </p:txBody>
      </p:sp>
      <p:sp>
        <p:nvSpPr>
          <p:cNvPr id="9" name="TextBox 8"/>
          <p:cNvSpPr txBox="1"/>
          <p:nvPr/>
        </p:nvSpPr>
        <p:spPr>
          <a:xfrm>
            <a:off x="1508760" y="2962656"/>
            <a:ext cx="5669280" cy="822960"/>
          </a:xfrm>
          <a:prstGeom prst="rect">
            <a:avLst/>
          </a:prstGeom>
          <a:noFill/>
        </p:spPr>
        <p:txBody>
          <a:bodyPr wrap="square" lIns="0" rIns="0" tIns="0" bIns="0" anchor="t">
            <a:spAutoFit/>
          </a:bodyPr>
          <a:lstStyle/>
          <a:p>
            <a:pPr algn="l">
              <a:lnSpc>
                <a:spcPct val="125000"/>
              </a:lnSpc>
              <a:spcAft>
                <a:spcPts val="600"/>
              </a:spcAft>
            </a:pPr>
            <a:r>
              <a:rPr sz="1700" b="0">
                <a:solidFill>
                  <a:srgbClr val="1A1A1A"/>
                </a:solidFill>
                <a:latin typeface="Microsoft JhengHei"/>
                <a:ea typeface="Microsoft JhengHei"/>
              </a:rPr>
              <a:t>模型能不能看出「這一組配對該用哪個門檻」？</a:t>
            </a:r>
          </a:p>
          <a:p>
            <a:pPr algn="l">
              <a:lnSpc>
                <a:spcPct val="125000"/>
              </a:lnSpc>
              <a:spcAft>
                <a:spcPts val="600"/>
              </a:spcAft>
            </a:pPr>
            <a:r>
              <a:rPr sz="1300" b="0">
                <a:solidFill>
                  <a:srgbClr val="6B7280"/>
                </a:solidFill>
                <a:latin typeface="Microsoft JhengHei"/>
                <a:ea typeface="Microsoft JhengHei"/>
              </a:rPr>
              <a:t>還輸給一個完全不看配對的常數</a:t>
            </a:r>
          </a:p>
        </p:txBody>
      </p:sp>
      <p:sp>
        <p:nvSpPr>
          <p:cNvPr id="10" name="TextBox 9"/>
          <p:cNvSpPr txBox="1"/>
          <p:nvPr/>
        </p:nvSpPr>
        <p:spPr>
          <a:xfrm>
            <a:off x="7498079" y="2944368"/>
            <a:ext cx="4023360" cy="548640"/>
          </a:xfrm>
          <a:prstGeom prst="rect">
            <a:avLst/>
          </a:prstGeom>
          <a:noFill/>
        </p:spPr>
        <p:txBody>
          <a:bodyPr wrap="square" lIns="0" rIns="0" tIns="0" bIns="0" anchor="t">
            <a:spAutoFit/>
          </a:bodyPr>
          <a:lstStyle/>
          <a:p>
            <a:pPr algn="l">
              <a:lnSpc>
                <a:spcPct val="125000"/>
              </a:lnSpc>
              <a:spcAft>
                <a:spcPts val="600"/>
              </a:spcAft>
            </a:pPr>
            <a:r>
              <a:rPr sz="2400" b="1">
                <a:solidFill>
                  <a:srgbClr val="0B2A5B"/>
                </a:solidFill>
                <a:latin typeface="Microsoft JhengHei"/>
                <a:ea typeface="Microsoft JhengHei"/>
              </a:rPr>
              <a:t>不能</a:t>
            </a:r>
          </a:p>
        </p:txBody>
      </p:sp>
      <p:sp>
        <p:nvSpPr>
          <p:cNvPr id="11" name="TextBox 10"/>
          <p:cNvSpPr txBox="1"/>
          <p:nvPr/>
        </p:nvSpPr>
        <p:spPr>
          <a:xfrm>
            <a:off x="640080" y="4069080"/>
            <a:ext cx="822960" cy="548640"/>
          </a:xfrm>
          <a:prstGeom prst="rect">
            <a:avLst/>
          </a:prstGeom>
          <a:noFill/>
        </p:spPr>
        <p:txBody>
          <a:bodyPr wrap="square" lIns="0" rIns="0" tIns="0" bIns="0" anchor="t">
            <a:spAutoFit/>
          </a:bodyPr>
          <a:lstStyle/>
          <a:p>
            <a:pPr algn="l">
              <a:lnSpc>
                <a:spcPct val="125000"/>
              </a:lnSpc>
              <a:spcAft>
                <a:spcPts val="600"/>
              </a:spcAft>
            </a:pPr>
            <a:r>
              <a:rPr sz="2600" b="1">
                <a:solidFill>
                  <a:srgbClr val="0B2A5B"/>
                </a:solidFill>
                <a:latin typeface="Microsoft JhengHei"/>
                <a:ea typeface="Microsoft JhengHei"/>
              </a:rPr>
              <a:t>Q3</a:t>
            </a:r>
          </a:p>
        </p:txBody>
      </p:sp>
      <p:sp>
        <p:nvSpPr>
          <p:cNvPr id="12" name="TextBox 11"/>
          <p:cNvSpPr txBox="1"/>
          <p:nvPr/>
        </p:nvSpPr>
        <p:spPr>
          <a:xfrm>
            <a:off x="1508760" y="4105656"/>
            <a:ext cx="5669280" cy="822960"/>
          </a:xfrm>
          <a:prstGeom prst="rect">
            <a:avLst/>
          </a:prstGeom>
          <a:noFill/>
        </p:spPr>
        <p:txBody>
          <a:bodyPr wrap="square" lIns="0" rIns="0" tIns="0" bIns="0" anchor="t">
            <a:spAutoFit/>
          </a:bodyPr>
          <a:lstStyle/>
          <a:p>
            <a:pPr algn="l">
              <a:lnSpc>
                <a:spcPct val="125000"/>
              </a:lnSpc>
              <a:spcAft>
                <a:spcPts val="600"/>
              </a:spcAft>
            </a:pPr>
            <a:r>
              <a:rPr sz="1700" b="0">
                <a:solidFill>
                  <a:srgbClr val="1A1A1A"/>
                </a:solidFill>
                <a:latin typeface="Microsoft JhengHei"/>
                <a:ea typeface="Microsoft JhengHei"/>
              </a:rPr>
              <a:t>「每期只選一次門檻」比固定門檻好嗎？</a:t>
            </a:r>
          </a:p>
          <a:p>
            <a:pPr algn="l">
              <a:lnSpc>
                <a:spcPct val="125000"/>
              </a:lnSpc>
              <a:spcAft>
                <a:spcPts val="600"/>
              </a:spcAft>
            </a:pPr>
            <a:r>
              <a:rPr sz="1300" b="0">
                <a:solidFill>
                  <a:srgbClr val="6B7280"/>
                </a:solidFill>
                <a:latin typeface="Microsoft JhengHei"/>
                <a:ea typeface="Microsoft JhengHei"/>
              </a:rPr>
              <a:t>五個來源方向全正，但跨不過可交易的門檻</a:t>
            </a:r>
          </a:p>
        </p:txBody>
      </p:sp>
      <p:sp>
        <p:nvSpPr>
          <p:cNvPr id="13" name="TextBox 12"/>
          <p:cNvSpPr txBox="1"/>
          <p:nvPr/>
        </p:nvSpPr>
        <p:spPr>
          <a:xfrm>
            <a:off x="7498079" y="4087368"/>
            <a:ext cx="4023360" cy="548640"/>
          </a:xfrm>
          <a:prstGeom prst="rect">
            <a:avLst/>
          </a:prstGeom>
          <a:noFill/>
        </p:spPr>
        <p:txBody>
          <a:bodyPr wrap="square" lIns="0" rIns="0" tIns="0" bIns="0" anchor="t">
            <a:spAutoFit/>
          </a:bodyPr>
          <a:lstStyle/>
          <a:p>
            <a:pPr algn="l">
              <a:lnSpc>
                <a:spcPct val="125000"/>
              </a:lnSpc>
              <a:spcAft>
                <a:spcPts val="600"/>
              </a:spcAft>
            </a:pPr>
            <a:r>
              <a:rPr sz="2400" b="1">
                <a:solidFill>
                  <a:srgbClr val="0B2A5B"/>
                </a:solidFill>
                <a:latin typeface="Microsoft JhengHei"/>
                <a:ea typeface="Microsoft JhengHei"/>
              </a:rPr>
              <a:t>好，但不夠賺</a:t>
            </a:r>
          </a:p>
        </p:txBody>
      </p:sp>
      <p:sp>
        <p:nvSpPr>
          <p:cNvPr id="14" name="Rounded Rectangle 13"/>
          <p:cNvSpPr/>
          <p:nvPr/>
        </p:nvSpPr>
        <p:spPr>
          <a:xfrm>
            <a:off x="640080" y="5120640"/>
            <a:ext cx="10881360" cy="896112"/>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600"/>
              </a:spcAft>
            </a:pPr>
            <a:r>
              <a:rPr sz="1500" b="0">
                <a:solidFill>
                  <a:srgbClr val="1A1A1A"/>
                </a:solidFill>
                <a:latin typeface="Microsoft JhengHei"/>
                <a:ea typeface="Microsoft JhengHei"/>
              </a:rPr>
              <a:t>一句話：</a:t>
            </a:r>
            <a:r>
              <a:rPr sz="1500" b="1">
                <a:solidFill>
                  <a:srgbClr val="1A1A1A"/>
                </a:solidFill>
                <a:latin typeface="Microsoft JhengHei"/>
                <a:ea typeface="Microsoft JhengHei"/>
              </a:rPr>
              <a:t>決定成敗的是「讓模型做幾次決定」這個設計，不是模型聰不聰明</a:t>
            </a:r>
            <a:r>
              <a:rPr sz="1500" b="0">
                <a:solidFill>
                  <a:srgbClr val="1A1A1A"/>
                </a:solidFill>
                <a:latin typeface="Microsoft JhengHei"/>
                <a:ea typeface="Microsoft JhengHei"/>
              </a:rPr>
              <a:t>——但這個設計帶來的好處，還不夠大到可以拿去交易。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2A5B"/>
        </a:solidFill>
        <a:effectLst/>
      </p:bgPr>
    </p:bg>
    <p:spTree>
      <p:nvGrpSpPr>
        <p:cNvPr id="1" name=""/>
        <p:cNvGrpSpPr/>
        <p:nvPr/>
      </p:nvGrpSpPr>
      <p:grpSpPr/>
      <p:sp>
        <p:nvSpPr>
          <p:cNvPr id="2" name="TextBox 1"/>
          <p:cNvSpPr txBox="1"/>
          <p:nvPr/>
        </p:nvSpPr>
        <p:spPr>
          <a:xfrm>
            <a:off x="640080" y="502920"/>
            <a:ext cx="10881360" cy="365760"/>
          </a:xfrm>
          <a:prstGeom prst="rect">
            <a:avLst/>
          </a:prstGeom>
          <a:noFill/>
        </p:spPr>
        <p:txBody>
          <a:bodyPr wrap="square" lIns="0" rIns="0" tIns="0" bIns="0" anchor="t">
            <a:spAutoFit/>
          </a:bodyPr>
          <a:lstStyle/>
          <a:p>
            <a:pPr algn="l">
              <a:lnSpc>
                <a:spcPct val="125000"/>
              </a:lnSpc>
              <a:spcAft>
                <a:spcPts val="600"/>
              </a:spcAft>
            </a:pPr>
            <a:r>
              <a:rPr sz="1400" b="1">
                <a:solidFill>
                  <a:srgbClr val="E8EDF5"/>
                </a:solidFill>
                <a:latin typeface="Microsoft JhengHei"/>
                <a:ea typeface="Microsoft JhengHei"/>
              </a:rPr>
              <a:t>第一部分　｜　§1.1、第二章</a:t>
            </a:r>
          </a:p>
        </p:txBody>
      </p:sp>
      <p:sp>
        <p:nvSpPr>
          <p:cNvPr id="3" name="TextBox 2"/>
          <p:cNvSpPr txBox="1"/>
          <p:nvPr/>
        </p:nvSpPr>
        <p:spPr>
          <a:xfrm>
            <a:off x="640080" y="868680"/>
            <a:ext cx="10881360" cy="822960"/>
          </a:xfrm>
          <a:prstGeom prst="rect">
            <a:avLst/>
          </a:prstGeom>
          <a:noFill/>
        </p:spPr>
        <p:txBody>
          <a:bodyPr wrap="square" lIns="0" rIns="0" tIns="0" bIns="0" anchor="t">
            <a:spAutoFit/>
          </a:bodyPr>
          <a:lstStyle/>
          <a:p>
            <a:pPr algn="l">
              <a:lnSpc>
                <a:spcPct val="125000"/>
              </a:lnSpc>
              <a:spcAft>
                <a:spcPts val="600"/>
              </a:spcAft>
            </a:pPr>
            <a:r>
              <a:rPr sz="3600" b="1">
                <a:solidFill>
                  <a:srgbClr val="FFFFFF"/>
                </a:solidFill>
                <a:latin typeface="Microsoft JhengHei"/>
                <a:ea typeface="Microsoft JhengHei"/>
              </a:rPr>
              <a:t>背景：配對交易是什麼</a:t>
            </a:r>
          </a:p>
        </p:txBody>
      </p:sp>
      <p:sp>
        <p:nvSpPr>
          <p:cNvPr id="4" name="TextBox 3"/>
          <p:cNvSpPr txBox="1"/>
          <p:nvPr/>
        </p:nvSpPr>
        <p:spPr>
          <a:xfrm>
            <a:off x="640080" y="1691640"/>
            <a:ext cx="10881360" cy="548640"/>
          </a:xfrm>
          <a:prstGeom prst="rect">
            <a:avLst/>
          </a:prstGeom>
          <a:noFill/>
        </p:spPr>
        <p:txBody>
          <a:bodyPr wrap="square" lIns="0" rIns="0" tIns="0" bIns="0" anchor="t">
            <a:spAutoFit/>
          </a:bodyPr>
          <a:lstStyle/>
          <a:p>
            <a:pPr algn="l">
              <a:lnSpc>
                <a:spcPct val="125000"/>
              </a:lnSpc>
              <a:spcAft>
                <a:spcPts val="600"/>
              </a:spcAft>
            </a:pPr>
            <a:r>
              <a:rPr sz="1700" b="0">
                <a:solidFill>
                  <a:srgbClr val="E8EDF5"/>
                </a:solidFill>
                <a:latin typeface="Microsoft JhengHei"/>
                <a:ea typeface="Microsoft JhengHei"/>
              </a:rPr>
              <a:t>先花幾分鐘講清楚：配對交易在做什麼，以及為什麼大家覺得它越來越不靈。</a:t>
            </a:r>
          </a:p>
        </p:txBody>
      </p:sp>
      <p:sp>
        <p:nvSpPr>
          <p:cNvPr id="5" name="TextBox 4"/>
          <p:cNvSpPr txBox="1"/>
          <p:nvPr/>
        </p:nvSpPr>
        <p:spPr>
          <a:xfrm>
            <a:off x="640080" y="260604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C4553B"/>
                </a:solidFill>
                <a:latin typeface="Microsoft JhengHei"/>
                <a:ea typeface="Microsoft JhengHei"/>
              </a:rPr>
              <a:t>1</a:t>
            </a:r>
          </a:p>
        </p:txBody>
      </p:sp>
      <p:sp>
        <p:nvSpPr>
          <p:cNvPr id="6" name="TextBox 5"/>
          <p:cNvSpPr txBox="1"/>
          <p:nvPr/>
        </p:nvSpPr>
        <p:spPr>
          <a:xfrm>
            <a:off x="1463040" y="2642616"/>
            <a:ext cx="6035040" cy="512064"/>
          </a:xfrm>
          <a:prstGeom prst="rect">
            <a:avLst/>
          </a:prstGeom>
          <a:noFill/>
        </p:spPr>
        <p:txBody>
          <a:bodyPr wrap="square" lIns="0" rIns="0" tIns="0" bIns="0" anchor="t">
            <a:spAutoFit/>
          </a:bodyPr>
          <a:lstStyle/>
          <a:p>
            <a:pPr algn="l">
              <a:lnSpc>
                <a:spcPct val="125000"/>
              </a:lnSpc>
              <a:spcAft>
                <a:spcPts val="600"/>
              </a:spcAft>
            </a:pPr>
            <a:r>
              <a:rPr sz="2000" b="1">
                <a:solidFill>
                  <a:srgbClr val="FFFFFF"/>
                </a:solidFill>
                <a:latin typeface="Microsoft JhengHei"/>
                <a:ea typeface="Microsoft JhengHei"/>
              </a:rPr>
              <a:t>背景：配對交易是什麼</a:t>
            </a:r>
          </a:p>
        </p:txBody>
      </p:sp>
      <p:sp>
        <p:nvSpPr>
          <p:cNvPr id="7" name="TextBox 6"/>
          <p:cNvSpPr txBox="1"/>
          <p:nvPr/>
        </p:nvSpPr>
        <p:spPr>
          <a:xfrm>
            <a:off x="7589519" y="269748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FFFFFF"/>
                </a:solidFill>
                <a:latin typeface="Microsoft JhengHei"/>
                <a:ea typeface="Microsoft JhengHei"/>
              </a:rPr>
              <a:t>§1.1、第二章</a:t>
            </a:r>
          </a:p>
        </p:txBody>
      </p:sp>
      <p:sp>
        <p:nvSpPr>
          <p:cNvPr id="8" name="TextBox 7"/>
          <p:cNvSpPr txBox="1"/>
          <p:nvPr/>
        </p:nvSpPr>
        <p:spPr>
          <a:xfrm>
            <a:off x="9875519" y="269748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FFFFFF"/>
                </a:solidFill>
                <a:latin typeface="Microsoft JhengHei"/>
                <a:ea typeface="Microsoft JhengHei"/>
              </a:rPr>
              <a:t>約 8 分鐘</a:t>
            </a:r>
          </a:p>
        </p:txBody>
      </p:sp>
      <p:sp>
        <p:nvSpPr>
          <p:cNvPr id="9" name="TextBox 8"/>
          <p:cNvSpPr txBox="1"/>
          <p:nvPr/>
        </p:nvSpPr>
        <p:spPr>
          <a:xfrm>
            <a:off x="640080" y="3118104"/>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2</a:t>
            </a:r>
          </a:p>
        </p:txBody>
      </p:sp>
      <p:sp>
        <p:nvSpPr>
          <p:cNvPr id="10" name="TextBox 9"/>
          <p:cNvSpPr txBox="1"/>
          <p:nvPr/>
        </p:nvSpPr>
        <p:spPr>
          <a:xfrm>
            <a:off x="1463040" y="3154680"/>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我想問的問題</a:t>
            </a:r>
          </a:p>
        </p:txBody>
      </p:sp>
      <p:sp>
        <p:nvSpPr>
          <p:cNvPr id="11" name="TextBox 10"/>
          <p:cNvSpPr txBox="1"/>
          <p:nvPr/>
        </p:nvSpPr>
        <p:spPr>
          <a:xfrm>
            <a:off x="7589519" y="3209544"/>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§1.2–1.3、§2.3.5</a:t>
            </a:r>
          </a:p>
        </p:txBody>
      </p:sp>
      <p:sp>
        <p:nvSpPr>
          <p:cNvPr id="12" name="TextBox 11"/>
          <p:cNvSpPr txBox="1"/>
          <p:nvPr/>
        </p:nvSpPr>
        <p:spPr>
          <a:xfrm>
            <a:off x="9875519" y="3209544"/>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6 分鐘</a:t>
            </a:r>
          </a:p>
        </p:txBody>
      </p:sp>
      <p:sp>
        <p:nvSpPr>
          <p:cNvPr id="13" name="TextBox 12"/>
          <p:cNvSpPr txBox="1"/>
          <p:nvPr/>
        </p:nvSpPr>
        <p:spPr>
          <a:xfrm>
            <a:off x="640080" y="3630168"/>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3</a:t>
            </a:r>
          </a:p>
        </p:txBody>
      </p:sp>
      <p:sp>
        <p:nvSpPr>
          <p:cNvPr id="14" name="TextBox 13"/>
          <p:cNvSpPr txBox="1"/>
          <p:nvPr/>
        </p:nvSpPr>
        <p:spPr>
          <a:xfrm>
            <a:off x="1463040" y="3666744"/>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我怎麼做</a:t>
            </a:r>
          </a:p>
        </p:txBody>
      </p:sp>
      <p:sp>
        <p:nvSpPr>
          <p:cNvPr id="15" name="TextBox 14"/>
          <p:cNvSpPr txBox="1"/>
          <p:nvPr/>
        </p:nvSpPr>
        <p:spPr>
          <a:xfrm>
            <a:off x="7589519" y="3721608"/>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第三章</a:t>
            </a:r>
          </a:p>
        </p:txBody>
      </p:sp>
      <p:sp>
        <p:nvSpPr>
          <p:cNvPr id="16" name="TextBox 15"/>
          <p:cNvSpPr txBox="1"/>
          <p:nvPr/>
        </p:nvSpPr>
        <p:spPr>
          <a:xfrm>
            <a:off x="9875519" y="3721608"/>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14 分鐘</a:t>
            </a:r>
          </a:p>
        </p:txBody>
      </p:sp>
      <p:sp>
        <p:nvSpPr>
          <p:cNvPr id="17" name="TextBox 16"/>
          <p:cNvSpPr txBox="1"/>
          <p:nvPr/>
        </p:nvSpPr>
        <p:spPr>
          <a:xfrm>
            <a:off x="640080" y="4142232"/>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4</a:t>
            </a:r>
          </a:p>
        </p:txBody>
      </p:sp>
      <p:sp>
        <p:nvSpPr>
          <p:cNvPr id="18" name="TextBox 17"/>
          <p:cNvSpPr txBox="1"/>
          <p:nvPr/>
        </p:nvSpPr>
        <p:spPr>
          <a:xfrm>
            <a:off x="1463040" y="4178808"/>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結果：三段證據</a:t>
            </a:r>
          </a:p>
        </p:txBody>
      </p:sp>
      <p:sp>
        <p:nvSpPr>
          <p:cNvPr id="19" name="TextBox 18"/>
          <p:cNvSpPr txBox="1"/>
          <p:nvPr/>
        </p:nvSpPr>
        <p:spPr>
          <a:xfrm>
            <a:off x="7589519" y="4233672"/>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第四章</a:t>
            </a:r>
          </a:p>
        </p:txBody>
      </p:sp>
      <p:sp>
        <p:nvSpPr>
          <p:cNvPr id="20" name="TextBox 19"/>
          <p:cNvSpPr txBox="1"/>
          <p:nvPr/>
        </p:nvSpPr>
        <p:spPr>
          <a:xfrm>
            <a:off x="9875519" y="4233672"/>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16 分鐘</a:t>
            </a:r>
          </a:p>
        </p:txBody>
      </p:sp>
      <p:sp>
        <p:nvSpPr>
          <p:cNvPr id="21" name="TextBox 20"/>
          <p:cNvSpPr txBox="1"/>
          <p:nvPr/>
        </p:nvSpPr>
        <p:spPr>
          <a:xfrm>
            <a:off x="640080" y="4654296"/>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5</a:t>
            </a:r>
          </a:p>
        </p:txBody>
      </p:sp>
      <p:sp>
        <p:nvSpPr>
          <p:cNvPr id="22" name="TextBox 21"/>
          <p:cNvSpPr txBox="1"/>
          <p:nvPr/>
        </p:nvSpPr>
        <p:spPr>
          <a:xfrm>
            <a:off x="1463040" y="4690872"/>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所以，可以拿來賺錢嗎？</a:t>
            </a:r>
          </a:p>
        </p:txBody>
      </p:sp>
      <p:sp>
        <p:nvSpPr>
          <p:cNvPr id="23" name="TextBox 22"/>
          <p:cNvSpPr txBox="1"/>
          <p:nvPr/>
        </p:nvSpPr>
        <p:spPr>
          <a:xfrm>
            <a:off x="7589519" y="4745736"/>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第五章</a:t>
            </a:r>
          </a:p>
        </p:txBody>
      </p:sp>
      <p:sp>
        <p:nvSpPr>
          <p:cNvPr id="24" name="TextBox 23"/>
          <p:cNvSpPr txBox="1"/>
          <p:nvPr/>
        </p:nvSpPr>
        <p:spPr>
          <a:xfrm>
            <a:off x="9875519" y="4745736"/>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8 分鐘</a:t>
            </a:r>
          </a:p>
        </p:txBody>
      </p:sp>
      <p:sp>
        <p:nvSpPr>
          <p:cNvPr id="25" name="TextBox 24"/>
          <p:cNvSpPr txBox="1"/>
          <p:nvPr/>
        </p:nvSpPr>
        <p:spPr>
          <a:xfrm>
            <a:off x="640080" y="516636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6</a:t>
            </a:r>
          </a:p>
        </p:txBody>
      </p:sp>
      <p:sp>
        <p:nvSpPr>
          <p:cNvPr id="26" name="TextBox 25"/>
          <p:cNvSpPr txBox="1"/>
          <p:nvPr/>
        </p:nvSpPr>
        <p:spPr>
          <a:xfrm>
            <a:off x="1463040" y="5202936"/>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結論</a:t>
            </a:r>
          </a:p>
        </p:txBody>
      </p:sp>
      <p:sp>
        <p:nvSpPr>
          <p:cNvPr id="27" name="TextBox 26"/>
          <p:cNvSpPr txBox="1"/>
          <p:nvPr/>
        </p:nvSpPr>
        <p:spPr>
          <a:xfrm>
            <a:off x="7589519" y="525780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第六章</a:t>
            </a:r>
          </a:p>
        </p:txBody>
      </p:sp>
      <p:sp>
        <p:nvSpPr>
          <p:cNvPr id="28" name="TextBox 27"/>
          <p:cNvSpPr txBox="1"/>
          <p:nvPr/>
        </p:nvSpPr>
        <p:spPr>
          <a:xfrm>
            <a:off x="9875519" y="525780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5 分鐘</a:t>
            </a:r>
          </a:p>
        </p:txBody>
      </p:sp>
      <p:sp>
        <p:nvSpPr>
          <p:cNvPr id="29" name="TextBox 28"/>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E8EDF5"/>
                </a:solidFill>
                <a:latin typeface="Microsoft JhengHei"/>
                <a:ea typeface="Microsoft Jheng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第一部分 · 背景　｜　§1.1、§2.1.1</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配對交易：不猜漲跌，只賭兩檔股票會「回到原本的關係」</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5</a:t>
            </a:r>
          </a:p>
        </p:txBody>
      </p:sp>
      <p:sp>
        <p:nvSpPr>
          <p:cNvPr id="5" name="TextBox 4"/>
          <p:cNvSpPr txBox="1"/>
          <p:nvPr/>
        </p:nvSpPr>
        <p:spPr>
          <a:xfrm>
            <a:off x="640080" y="1691640"/>
            <a:ext cx="5120640" cy="3840480"/>
          </a:xfrm>
          <a:prstGeom prst="rect">
            <a:avLst/>
          </a:prstGeom>
          <a:noFill/>
        </p:spPr>
        <p:txBody>
          <a:bodyPr wrap="square" lIns="0" rIns="0" tIns="0" bIns="0" anchor="t">
            <a:spAutoFit/>
          </a:bodyPr>
          <a:lstStyle/>
          <a:p>
            <a:pPr algn="l">
              <a:lnSpc>
                <a:spcPct val="125000"/>
              </a:lnSpc>
              <a:spcAft>
                <a:spcPts val="1200"/>
              </a:spcAft>
            </a:pPr>
            <a:r>
              <a:rPr sz="1700" b="0">
                <a:solidFill>
                  <a:srgbClr val="1A1A1A"/>
                </a:solidFill>
                <a:latin typeface="Microsoft JhengHei"/>
                <a:ea typeface="Microsoft JhengHei"/>
              </a:rPr>
              <a:t>找兩檔</a:t>
            </a:r>
            <a:r>
              <a:rPr sz="1700" b="1">
                <a:solidFill>
                  <a:srgbClr val="1A1A1A"/>
                </a:solidFill>
                <a:latin typeface="Microsoft JhengHei"/>
                <a:ea typeface="Microsoft JhengHei"/>
              </a:rPr>
              <a:t>平常走勢很像</a:t>
            </a:r>
            <a:r>
              <a:rPr sz="1700" b="0">
                <a:solidFill>
                  <a:srgbClr val="1A1A1A"/>
                </a:solidFill>
                <a:latin typeface="Microsoft JhengHei"/>
                <a:ea typeface="Microsoft JhengHei"/>
              </a:rPr>
              <a:t>的股票——通常是同一批經濟因素在推動它們。</a:t>
            </a:r>
          </a:p>
          <a:p>
            <a:pPr algn="l">
              <a:lnSpc>
                <a:spcPct val="125000"/>
              </a:lnSpc>
              <a:spcAft>
                <a:spcPts val="1200"/>
              </a:spcAft>
            </a:pPr>
            <a:r>
              <a:rPr sz="1700" b="0">
                <a:solidFill>
                  <a:srgbClr val="1A1A1A"/>
                </a:solidFill>
                <a:latin typeface="Microsoft JhengHei"/>
                <a:ea typeface="Microsoft JhengHei"/>
              </a:rPr>
              <a:t>平常它們的價差在一個範圍裡晃。價差</a:t>
            </a:r>
            <a:r>
              <a:rPr sz="1700" b="1">
                <a:solidFill>
                  <a:srgbClr val="1A1A1A"/>
                </a:solidFill>
                <a:latin typeface="Microsoft JhengHei"/>
                <a:ea typeface="Microsoft JhengHei"/>
              </a:rPr>
              <a:t>突然拉很開</a:t>
            </a:r>
            <a:r>
              <a:rPr sz="1700" b="0">
                <a:solidFill>
                  <a:srgbClr val="1A1A1A"/>
                </a:solidFill>
                <a:latin typeface="Microsoft JhengHei"/>
                <a:ea typeface="Microsoft JhengHei"/>
              </a:rPr>
              <a:t>時，就</a:t>
            </a:r>
            <a:r>
              <a:rPr sz="1700" b="1">
                <a:solidFill>
                  <a:srgbClr val="1A1A1A"/>
                </a:solidFill>
                <a:latin typeface="Microsoft JhengHei"/>
                <a:ea typeface="Microsoft JhengHei"/>
              </a:rPr>
              <a:t>買相對便宜的、賣相對貴的</a:t>
            </a:r>
            <a:r>
              <a:rPr sz="1700" b="0">
                <a:solidFill>
                  <a:srgbClr val="1A1A1A"/>
                </a:solidFill>
                <a:latin typeface="Microsoft JhengHei"/>
                <a:ea typeface="Microsoft JhengHei"/>
              </a:rPr>
              <a:t>。</a:t>
            </a:r>
          </a:p>
          <a:p>
            <a:pPr algn="l">
              <a:lnSpc>
                <a:spcPct val="125000"/>
              </a:lnSpc>
              <a:spcAft>
                <a:spcPts val="1200"/>
              </a:spcAft>
            </a:pPr>
            <a:r>
              <a:rPr sz="1700" b="0">
                <a:solidFill>
                  <a:srgbClr val="1A1A1A"/>
                </a:solidFill>
                <a:latin typeface="Microsoft JhengHei"/>
                <a:ea typeface="Microsoft JhengHei"/>
              </a:rPr>
              <a:t>等價差回到原本的位置，兩邊一起平倉；賺的是</a:t>
            </a:r>
            <a:r>
              <a:rPr sz="1700" b="1">
                <a:solidFill>
                  <a:srgbClr val="1A1A1A"/>
                </a:solidFill>
                <a:latin typeface="Microsoft JhengHei"/>
                <a:ea typeface="Microsoft JhengHei"/>
              </a:rPr>
              <a:t>價差收斂</a:t>
            </a:r>
            <a:r>
              <a:rPr sz="1700" b="0">
                <a:solidFill>
                  <a:srgbClr val="1A1A1A"/>
                </a:solidFill>
                <a:latin typeface="Microsoft JhengHei"/>
                <a:ea typeface="Microsoft JhengHei"/>
              </a:rPr>
              <a:t>的那一段。</a:t>
            </a:r>
          </a:p>
          <a:p>
            <a:pPr algn="l">
              <a:lnSpc>
                <a:spcPct val="125000"/>
              </a:lnSpc>
              <a:spcAft>
                <a:spcPts val="1200"/>
              </a:spcAft>
            </a:pPr>
            <a:r>
              <a:rPr sz="1700" b="0">
                <a:solidFill>
                  <a:srgbClr val="1A1A1A"/>
                </a:solidFill>
                <a:latin typeface="Microsoft JhengHei"/>
                <a:ea typeface="Microsoft JhengHei"/>
              </a:rPr>
              <a:t>一多一空、金額相當 → </a:t>
            </a:r>
            <a:r>
              <a:rPr sz="1700" b="1">
                <a:solidFill>
                  <a:srgbClr val="1A1A1A"/>
                </a:solidFill>
                <a:latin typeface="Microsoft JhengHei"/>
                <a:ea typeface="Microsoft JhengHei"/>
              </a:rPr>
              <a:t>不需要猜大盤會漲還是會跌</a:t>
            </a:r>
            <a:r>
              <a:rPr sz="1700" b="0">
                <a:solidFill>
                  <a:srgbClr val="1A1A1A"/>
                </a:solidFill>
                <a:latin typeface="Microsoft JhengHei"/>
                <a:ea typeface="Microsoft JhengHei"/>
              </a:rPr>
              <a:t>。</a:t>
            </a:r>
          </a:p>
        </p:txBody>
      </p:sp>
      <p:sp>
        <p:nvSpPr>
          <p:cNvPr id="6" name="Rectangle 5"/>
          <p:cNvSpPr/>
          <p:nvPr/>
        </p:nvSpPr>
        <p:spPr>
          <a:xfrm>
            <a:off x="6126480" y="1463040"/>
            <a:ext cx="5440679" cy="420624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7" name="TextBox 6"/>
          <p:cNvSpPr txBox="1"/>
          <p:nvPr/>
        </p:nvSpPr>
        <p:spPr>
          <a:xfrm>
            <a:off x="6172200" y="1508760"/>
            <a:ext cx="5349240" cy="274320"/>
          </a:xfrm>
          <a:prstGeom prst="rect">
            <a:avLst/>
          </a:prstGeom>
          <a:noFill/>
        </p:spPr>
        <p:txBody>
          <a:bodyPr wrap="square" lIns="0" rIns="0" tIns="0" bIns="0" anchor="t">
            <a:spAutoFit/>
          </a:bodyPr>
          <a:lstStyle/>
          <a:p>
            <a:pPr algn="l">
              <a:lnSpc>
                <a:spcPct val="125000"/>
              </a:lnSpc>
              <a:spcAft>
                <a:spcPts val="600"/>
              </a:spcAft>
            </a:pPr>
            <a:r>
              <a:rPr sz="1200" b="1">
                <a:solidFill>
                  <a:srgbClr val="0B2A5B"/>
                </a:solidFill>
                <a:latin typeface="Microsoft JhengHei"/>
                <a:ea typeface="Microsoft JhengHei"/>
              </a:rPr>
              <a:t>價差（z 分數）示意圖</a:t>
            </a:r>
          </a:p>
        </p:txBody>
      </p:sp>
      <p:cxnSp>
        <p:nvCxnSpPr>
          <p:cNvPr id="8" name="Connector 7"/>
          <p:cNvCxnSpPr/>
          <p:nvPr/>
        </p:nvCxnSpPr>
        <p:spPr>
          <a:xfrm>
            <a:off x="6172200" y="2663190"/>
            <a:ext cx="5349240" cy="0"/>
          </a:xfrm>
          <a:prstGeom prst="line">
            <a:avLst/>
          </a:prstGeom>
          <a:ln w="12700">
            <a:solidFill>
              <a:srgbClr val="C4553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05272" y="2544318"/>
            <a:ext cx="457200" cy="274320"/>
          </a:xfrm>
          <a:prstGeom prst="rect">
            <a:avLst/>
          </a:prstGeom>
          <a:noFill/>
        </p:spPr>
        <p:txBody>
          <a:bodyPr wrap="square" lIns="0" rIns="0" tIns="0" bIns="0" anchor="t">
            <a:spAutoFit/>
          </a:bodyPr>
          <a:lstStyle/>
          <a:p>
            <a:pPr algn="r">
              <a:lnSpc>
                <a:spcPct val="125000"/>
              </a:lnSpc>
              <a:spcAft>
                <a:spcPts val="600"/>
              </a:spcAft>
            </a:pPr>
            <a:r>
              <a:rPr sz="1100" b="0">
                <a:solidFill>
                  <a:srgbClr val="C4553B"/>
                </a:solidFill>
                <a:latin typeface="Microsoft JhengHei"/>
                <a:ea typeface="Microsoft JhengHei"/>
              </a:rPr>
              <a:t>+2σ</a:t>
            </a:r>
          </a:p>
        </p:txBody>
      </p:sp>
      <p:cxnSp>
        <p:nvCxnSpPr>
          <p:cNvPr id="10" name="Connector 9"/>
          <p:cNvCxnSpPr/>
          <p:nvPr/>
        </p:nvCxnSpPr>
        <p:spPr>
          <a:xfrm>
            <a:off x="6172200" y="3543300"/>
            <a:ext cx="5349240"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605272" y="3424428"/>
            <a:ext cx="457200" cy="274320"/>
          </a:xfrm>
          <a:prstGeom prst="rect">
            <a:avLst/>
          </a:prstGeom>
          <a:noFill/>
        </p:spPr>
        <p:txBody>
          <a:bodyPr wrap="square" lIns="0" rIns="0" tIns="0" bIns="0" anchor="t">
            <a:spAutoFit/>
          </a:bodyPr>
          <a:lstStyle/>
          <a:p>
            <a:pPr algn="r">
              <a:lnSpc>
                <a:spcPct val="125000"/>
              </a:lnSpc>
              <a:spcAft>
                <a:spcPts val="600"/>
              </a:spcAft>
            </a:pPr>
            <a:r>
              <a:rPr sz="1100" b="0">
                <a:solidFill>
                  <a:srgbClr val="6B7280"/>
                </a:solidFill>
                <a:latin typeface="Microsoft JhengHei"/>
                <a:ea typeface="Microsoft JhengHei"/>
              </a:rPr>
              <a:t>0</a:t>
            </a:r>
          </a:p>
        </p:txBody>
      </p:sp>
      <p:cxnSp>
        <p:nvCxnSpPr>
          <p:cNvPr id="12" name="Connector 11"/>
          <p:cNvCxnSpPr/>
          <p:nvPr/>
        </p:nvCxnSpPr>
        <p:spPr>
          <a:xfrm>
            <a:off x="6172200" y="4423410"/>
            <a:ext cx="5349240" cy="0"/>
          </a:xfrm>
          <a:prstGeom prst="line">
            <a:avLst/>
          </a:prstGeom>
          <a:ln w="12700">
            <a:solidFill>
              <a:srgbClr val="C4553B"/>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05272" y="4304538"/>
            <a:ext cx="457200" cy="274320"/>
          </a:xfrm>
          <a:prstGeom prst="rect">
            <a:avLst/>
          </a:prstGeom>
          <a:noFill/>
        </p:spPr>
        <p:txBody>
          <a:bodyPr wrap="square" lIns="0" rIns="0" tIns="0" bIns="0" anchor="t">
            <a:spAutoFit/>
          </a:bodyPr>
          <a:lstStyle/>
          <a:p>
            <a:pPr algn="r">
              <a:lnSpc>
                <a:spcPct val="125000"/>
              </a:lnSpc>
              <a:spcAft>
                <a:spcPts val="600"/>
              </a:spcAft>
            </a:pPr>
            <a:r>
              <a:rPr sz="1100" b="0">
                <a:solidFill>
                  <a:srgbClr val="C4553B"/>
                </a:solidFill>
                <a:latin typeface="Microsoft JhengHei"/>
                <a:ea typeface="Microsoft JhengHei"/>
              </a:rPr>
              <a:t>−2σ</a:t>
            </a:r>
          </a:p>
        </p:txBody>
      </p:sp>
      <p:sp>
        <p:nvSpPr>
          <p:cNvPr id="14" name="Freeform 13"/>
          <p:cNvSpPr/>
          <p:nvPr/>
        </p:nvSpPr>
        <p:spPr>
          <a:xfrm>
            <a:off x="6172200" y="2316220"/>
            <a:ext cx="5349240" cy="2784801"/>
          </a:xfrm>
          <a:custGeom>
            <a:avLst/>
            <a:gdLst/>
            <a:ahLst/>
            <a:cxnLst/>
            <a:rect l="l" t="t" r="r" b="b"/>
            <a:pathLst>
              <a:path w="5349240" h="2784801">
                <a:moveTo>
                  <a:pt x="0" y="1131276"/>
                </a:moveTo>
                <a:lnTo>
                  <a:pt x="42454" y="1163973"/>
                </a:lnTo>
                <a:lnTo>
                  <a:pt x="84908" y="1115968"/>
                </a:lnTo>
                <a:lnTo>
                  <a:pt x="127362" y="1089003"/>
                </a:lnTo>
                <a:lnTo>
                  <a:pt x="169817" y="1251648"/>
                </a:lnTo>
                <a:lnTo>
                  <a:pt x="212271" y="1196431"/>
                </a:lnTo>
                <a:lnTo>
                  <a:pt x="254725" y="1159799"/>
                </a:lnTo>
                <a:lnTo>
                  <a:pt x="297180" y="1194412"/>
                </a:lnTo>
                <a:lnTo>
                  <a:pt x="339634" y="1008862"/>
                </a:lnTo>
                <a:lnTo>
                  <a:pt x="382088" y="1036108"/>
                </a:lnTo>
                <a:lnTo>
                  <a:pt x="424542" y="1130661"/>
                </a:lnTo>
                <a:lnTo>
                  <a:pt x="466997" y="1057536"/>
                </a:lnTo>
                <a:lnTo>
                  <a:pt x="509451" y="1194714"/>
                </a:lnTo>
                <a:lnTo>
                  <a:pt x="551905" y="1173973"/>
                </a:lnTo>
                <a:lnTo>
                  <a:pt x="594360" y="986962"/>
                </a:lnTo>
                <a:lnTo>
                  <a:pt x="636814" y="1024532"/>
                </a:lnTo>
                <a:lnTo>
                  <a:pt x="679268" y="900861"/>
                </a:lnTo>
                <a:lnTo>
                  <a:pt x="721722" y="819510"/>
                </a:lnTo>
                <a:lnTo>
                  <a:pt x="764177" y="934894"/>
                </a:lnTo>
                <a:lnTo>
                  <a:pt x="806631" y="785767"/>
                </a:lnTo>
                <a:lnTo>
                  <a:pt x="849085" y="690955"/>
                </a:lnTo>
                <a:lnTo>
                  <a:pt x="891540" y="645093"/>
                </a:lnTo>
                <a:lnTo>
                  <a:pt x="933994" y="389574"/>
                </a:lnTo>
                <a:lnTo>
                  <a:pt x="976448" y="364631"/>
                </a:lnTo>
                <a:lnTo>
                  <a:pt x="1018902" y="381562"/>
                </a:lnTo>
                <a:lnTo>
                  <a:pt x="1061357" y="283518"/>
                </a:lnTo>
                <a:lnTo>
                  <a:pt x="1103811" y="369828"/>
                </a:lnTo>
                <a:lnTo>
                  <a:pt x="1146265" y="314804"/>
                </a:lnTo>
                <a:lnTo>
                  <a:pt x="1188720" y="183493"/>
                </a:lnTo>
                <a:lnTo>
                  <a:pt x="1231174" y="215997"/>
                </a:lnTo>
                <a:lnTo>
                  <a:pt x="1273628" y="138554"/>
                </a:lnTo>
                <a:lnTo>
                  <a:pt x="1316082" y="136810"/>
                </a:lnTo>
                <a:lnTo>
                  <a:pt x="1358537" y="234318"/>
                </a:lnTo>
                <a:lnTo>
                  <a:pt x="1400991" y="176358"/>
                </a:lnTo>
                <a:lnTo>
                  <a:pt x="1443445" y="153109"/>
                </a:lnTo>
                <a:lnTo>
                  <a:pt x="1485900" y="105951"/>
                </a:lnTo>
                <a:lnTo>
                  <a:pt x="1528354" y="0"/>
                </a:lnTo>
                <a:lnTo>
                  <a:pt x="1570808" y="44449"/>
                </a:lnTo>
                <a:lnTo>
                  <a:pt x="1613262" y="125837"/>
                </a:lnTo>
                <a:lnTo>
                  <a:pt x="1655717" y="243203"/>
                </a:lnTo>
                <a:lnTo>
                  <a:pt x="1698171" y="386571"/>
                </a:lnTo>
                <a:lnTo>
                  <a:pt x="1740625" y="426068"/>
                </a:lnTo>
                <a:lnTo>
                  <a:pt x="1783079" y="457961"/>
                </a:lnTo>
                <a:lnTo>
                  <a:pt x="1825534" y="449362"/>
                </a:lnTo>
                <a:lnTo>
                  <a:pt x="1867988" y="442372"/>
                </a:lnTo>
                <a:lnTo>
                  <a:pt x="1910442" y="533554"/>
                </a:lnTo>
                <a:lnTo>
                  <a:pt x="1952897" y="592105"/>
                </a:lnTo>
                <a:lnTo>
                  <a:pt x="1995351" y="696873"/>
                </a:lnTo>
                <a:lnTo>
                  <a:pt x="2037805" y="779893"/>
                </a:lnTo>
                <a:lnTo>
                  <a:pt x="2080260" y="748645"/>
                </a:lnTo>
                <a:lnTo>
                  <a:pt x="2122714" y="845363"/>
                </a:lnTo>
                <a:lnTo>
                  <a:pt x="2165168" y="928734"/>
                </a:lnTo>
                <a:lnTo>
                  <a:pt x="2207622" y="1001627"/>
                </a:lnTo>
                <a:lnTo>
                  <a:pt x="2250077" y="1223751"/>
                </a:lnTo>
                <a:lnTo>
                  <a:pt x="2292531" y="1262064"/>
                </a:lnTo>
                <a:lnTo>
                  <a:pt x="2334985" y="1248992"/>
                </a:lnTo>
                <a:lnTo>
                  <a:pt x="2377440" y="1297847"/>
                </a:lnTo>
                <a:lnTo>
                  <a:pt x="2419894" y="1147087"/>
                </a:lnTo>
                <a:lnTo>
                  <a:pt x="2462348" y="1152215"/>
                </a:lnTo>
                <a:lnTo>
                  <a:pt x="2504802" y="1250186"/>
                </a:lnTo>
                <a:lnTo>
                  <a:pt x="2547257" y="1166380"/>
                </a:lnTo>
                <a:lnTo>
                  <a:pt x="2589711" y="1248598"/>
                </a:lnTo>
                <a:lnTo>
                  <a:pt x="2632165" y="1223682"/>
                </a:lnTo>
                <a:lnTo>
                  <a:pt x="2674620" y="1026872"/>
                </a:lnTo>
                <a:lnTo>
                  <a:pt x="2717074" y="1077383"/>
                </a:lnTo>
                <a:lnTo>
                  <a:pt x="2759528" y="1023761"/>
                </a:lnTo>
                <a:lnTo>
                  <a:pt x="2801982" y="988396"/>
                </a:lnTo>
                <a:lnTo>
                  <a:pt x="2844437" y="1191165"/>
                </a:lnTo>
                <a:lnTo>
                  <a:pt x="2886891" y="1151841"/>
                </a:lnTo>
                <a:lnTo>
                  <a:pt x="2929345" y="1147418"/>
                </a:lnTo>
                <a:lnTo>
                  <a:pt x="2971800" y="1249134"/>
                </a:lnTo>
                <a:lnTo>
                  <a:pt x="3014254" y="1124343"/>
                </a:lnTo>
                <a:lnTo>
                  <a:pt x="3056708" y="1216632"/>
                </a:lnTo>
                <a:lnTo>
                  <a:pt x="3099162" y="1375978"/>
                </a:lnTo>
                <a:lnTo>
                  <a:pt x="3141617" y="1346047"/>
                </a:lnTo>
                <a:lnTo>
                  <a:pt x="3184071" y="1490322"/>
                </a:lnTo>
                <a:lnTo>
                  <a:pt x="3226525" y="1482135"/>
                </a:lnTo>
                <a:lnTo>
                  <a:pt x="3268980" y="1333979"/>
                </a:lnTo>
                <a:lnTo>
                  <a:pt x="3311434" y="1418088"/>
                </a:lnTo>
                <a:lnTo>
                  <a:pt x="3353888" y="1407211"/>
                </a:lnTo>
                <a:lnTo>
                  <a:pt x="3396342" y="1455809"/>
                </a:lnTo>
                <a:lnTo>
                  <a:pt x="3438797" y="1674545"/>
                </a:lnTo>
                <a:lnTo>
                  <a:pt x="3481251" y="1694755"/>
                </a:lnTo>
                <a:lnTo>
                  <a:pt x="3523705" y="1747839"/>
                </a:lnTo>
                <a:lnTo>
                  <a:pt x="3566160" y="1828364"/>
                </a:lnTo>
                <a:lnTo>
                  <a:pt x="3608614" y="1778711"/>
                </a:lnTo>
                <a:lnTo>
                  <a:pt x="3651068" y="1891499"/>
                </a:lnTo>
                <a:lnTo>
                  <a:pt x="3693522" y="2025690"/>
                </a:lnTo>
                <a:lnTo>
                  <a:pt x="3735977" y="2091223"/>
                </a:lnTo>
                <a:lnTo>
                  <a:pt x="3778431" y="2217242"/>
                </a:lnTo>
                <a:lnTo>
                  <a:pt x="3820885" y="2211398"/>
                </a:lnTo>
                <a:lnTo>
                  <a:pt x="3863340" y="2156547"/>
                </a:lnTo>
                <a:lnTo>
                  <a:pt x="3905794" y="2149503"/>
                </a:lnTo>
                <a:lnTo>
                  <a:pt x="3948248" y="2124091"/>
                </a:lnTo>
                <a:lnTo>
                  <a:pt x="3990702" y="2197521"/>
                </a:lnTo>
                <a:lnTo>
                  <a:pt x="4033157" y="2275941"/>
                </a:lnTo>
                <a:lnTo>
                  <a:pt x="4075611" y="2309172"/>
                </a:lnTo>
                <a:lnTo>
                  <a:pt x="4118065" y="2336555"/>
                </a:lnTo>
                <a:lnTo>
                  <a:pt x="4160520" y="2274422"/>
                </a:lnTo>
                <a:lnTo>
                  <a:pt x="4202974" y="2271619"/>
                </a:lnTo>
                <a:lnTo>
                  <a:pt x="4245428" y="2314392"/>
                </a:lnTo>
                <a:lnTo>
                  <a:pt x="4287882" y="2339128"/>
                </a:lnTo>
                <a:lnTo>
                  <a:pt x="4330337" y="2468166"/>
                </a:lnTo>
                <a:lnTo>
                  <a:pt x="4372791" y="2485447"/>
                </a:lnTo>
                <a:lnTo>
                  <a:pt x="4415245" y="2424844"/>
                </a:lnTo>
                <a:lnTo>
                  <a:pt x="4457700" y="2442847"/>
                </a:lnTo>
                <a:lnTo>
                  <a:pt x="4500154" y="2342528"/>
                </a:lnTo>
                <a:lnTo>
                  <a:pt x="4542608" y="2357641"/>
                </a:lnTo>
                <a:lnTo>
                  <a:pt x="4585062" y="2497356"/>
                </a:lnTo>
                <a:lnTo>
                  <a:pt x="4627517" y="2480739"/>
                </a:lnTo>
                <a:lnTo>
                  <a:pt x="4669971" y="2577626"/>
                </a:lnTo>
                <a:lnTo>
                  <a:pt x="4712425" y="2612204"/>
                </a:lnTo>
                <a:lnTo>
                  <a:pt x="4754880" y="2465386"/>
                </a:lnTo>
                <a:lnTo>
                  <a:pt x="4797334" y="2535339"/>
                </a:lnTo>
                <a:lnTo>
                  <a:pt x="4839788" y="2539711"/>
                </a:lnTo>
                <a:lnTo>
                  <a:pt x="4882242" y="2510938"/>
                </a:lnTo>
                <a:lnTo>
                  <a:pt x="4924697" y="2698997"/>
                </a:lnTo>
                <a:lnTo>
                  <a:pt x="4967151" y="2653845"/>
                </a:lnTo>
                <a:lnTo>
                  <a:pt x="5009605" y="2592731"/>
                </a:lnTo>
                <a:lnTo>
                  <a:pt x="5052059" y="2667881"/>
                </a:lnTo>
                <a:lnTo>
                  <a:pt x="5094514" y="2520840"/>
                </a:lnTo>
                <a:lnTo>
                  <a:pt x="5136968" y="2564931"/>
                </a:lnTo>
                <a:lnTo>
                  <a:pt x="5179422" y="2720940"/>
                </a:lnTo>
                <a:lnTo>
                  <a:pt x="5221877" y="2660140"/>
                </a:lnTo>
                <a:lnTo>
                  <a:pt x="5264331" y="2775784"/>
                </a:lnTo>
                <a:lnTo>
                  <a:pt x="5306785" y="2784801"/>
                </a:lnTo>
                <a:lnTo>
                  <a:pt x="5349240" y="2607818"/>
                </a:lnTo>
              </a:path>
            </a:pathLst>
          </a:custGeom>
          <a:noFill/>
          <a:ln w="28575">
            <a:solidFill>
              <a:srgbClr val="2E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64977" y="2531158"/>
            <a:ext cx="137160" cy="137160"/>
          </a:xfrm>
          <a:prstGeom prst="ellipse">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16" name="TextBox 15"/>
          <p:cNvSpPr txBox="1"/>
          <p:nvPr/>
        </p:nvSpPr>
        <p:spPr>
          <a:xfrm>
            <a:off x="7187837" y="2032810"/>
            <a:ext cx="2377440" cy="274320"/>
          </a:xfrm>
          <a:prstGeom prst="rect">
            <a:avLst/>
          </a:prstGeom>
          <a:noFill/>
        </p:spPr>
        <p:txBody>
          <a:bodyPr wrap="square" lIns="0" rIns="0" tIns="0" bIns="0" anchor="t">
            <a:spAutoFit/>
          </a:bodyPr>
          <a:lstStyle/>
          <a:p>
            <a:pPr algn="l">
              <a:lnSpc>
                <a:spcPct val="125000"/>
              </a:lnSpc>
              <a:spcAft>
                <a:spcPts val="600"/>
              </a:spcAft>
            </a:pPr>
            <a:r>
              <a:rPr sz="1150" b="1">
                <a:solidFill>
                  <a:srgbClr val="1A1A1A"/>
                </a:solidFill>
                <a:latin typeface="Microsoft JhengHei"/>
                <a:ea typeface="Microsoft JhengHei"/>
              </a:rPr>
              <a:t>① 拉開 → 進場</a:t>
            </a:r>
          </a:p>
        </p:txBody>
      </p:sp>
      <p:sp>
        <p:nvSpPr>
          <p:cNvPr id="17" name="Oval 16"/>
          <p:cNvSpPr/>
          <p:nvPr/>
        </p:nvSpPr>
        <p:spPr>
          <a:xfrm>
            <a:off x="8396151" y="3509704"/>
            <a:ext cx="137160" cy="137160"/>
          </a:xfrm>
          <a:prstGeom prst="ellipse">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18" name="TextBox 17"/>
          <p:cNvSpPr txBox="1"/>
          <p:nvPr/>
        </p:nvSpPr>
        <p:spPr>
          <a:xfrm>
            <a:off x="7641771" y="3742876"/>
            <a:ext cx="2377440" cy="274320"/>
          </a:xfrm>
          <a:prstGeom prst="rect">
            <a:avLst/>
          </a:prstGeom>
          <a:noFill/>
        </p:spPr>
        <p:txBody>
          <a:bodyPr wrap="square" lIns="0" rIns="0" tIns="0" bIns="0" anchor="t">
            <a:spAutoFit/>
          </a:bodyPr>
          <a:lstStyle/>
          <a:p>
            <a:pPr algn="l">
              <a:lnSpc>
                <a:spcPct val="125000"/>
              </a:lnSpc>
              <a:spcAft>
                <a:spcPts val="600"/>
              </a:spcAft>
            </a:pPr>
            <a:r>
              <a:rPr sz="1150" b="1">
                <a:solidFill>
                  <a:srgbClr val="1A1A1A"/>
                </a:solidFill>
                <a:latin typeface="Microsoft JhengHei"/>
                <a:ea typeface="Microsoft JhengHei"/>
              </a:rPr>
              <a:t>② 回到 0 → 平倉獲利</a:t>
            </a:r>
          </a:p>
        </p:txBody>
      </p:sp>
      <p:sp>
        <p:nvSpPr>
          <p:cNvPr id="19" name="Oval 18"/>
          <p:cNvSpPr/>
          <p:nvPr/>
        </p:nvSpPr>
        <p:spPr>
          <a:xfrm>
            <a:off x="9882051" y="4464882"/>
            <a:ext cx="137160" cy="137160"/>
          </a:xfrm>
          <a:prstGeom prst="ellipse">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20" name="TextBox 19"/>
          <p:cNvSpPr txBox="1"/>
          <p:nvPr/>
        </p:nvSpPr>
        <p:spPr>
          <a:xfrm>
            <a:off x="8076111" y="4579182"/>
            <a:ext cx="2377440" cy="274320"/>
          </a:xfrm>
          <a:prstGeom prst="rect">
            <a:avLst/>
          </a:prstGeom>
          <a:noFill/>
        </p:spPr>
        <p:txBody>
          <a:bodyPr wrap="square" lIns="0" rIns="0" tIns="0" bIns="0" anchor="t">
            <a:spAutoFit/>
          </a:bodyPr>
          <a:lstStyle/>
          <a:p>
            <a:pPr algn="l">
              <a:lnSpc>
                <a:spcPct val="125000"/>
              </a:lnSpc>
              <a:spcAft>
                <a:spcPts val="600"/>
              </a:spcAft>
            </a:pPr>
            <a:r>
              <a:rPr sz="1150" b="1">
                <a:solidFill>
                  <a:srgbClr val="1A1A1A"/>
                </a:solidFill>
                <a:latin typeface="Microsoft JhengHei"/>
                <a:ea typeface="Microsoft JhengHei"/>
              </a:rPr>
              <a:t>③ 又拉開 → 進場</a:t>
            </a:r>
          </a:p>
        </p:txBody>
      </p:sp>
      <p:sp>
        <p:nvSpPr>
          <p:cNvPr id="21" name="Oval 20"/>
          <p:cNvSpPr/>
          <p:nvPr/>
        </p:nvSpPr>
        <p:spPr>
          <a:xfrm>
            <a:off x="11452860" y="4855458"/>
            <a:ext cx="137160" cy="137160"/>
          </a:xfrm>
          <a:prstGeom prst="ellipse">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0" rIns="0" tIns="0" bIns="0"/>
          <a:lstStyle/>
          <a:p>
            <a:pPr algn="ctr"/>
          </a:p>
        </p:txBody>
      </p:sp>
      <p:sp>
        <p:nvSpPr>
          <p:cNvPr id="22" name="TextBox 21"/>
          <p:cNvSpPr txBox="1"/>
          <p:nvPr/>
        </p:nvSpPr>
        <p:spPr>
          <a:xfrm>
            <a:off x="9189720" y="5152638"/>
            <a:ext cx="2377440" cy="274320"/>
          </a:xfrm>
          <a:prstGeom prst="rect">
            <a:avLst/>
          </a:prstGeom>
          <a:noFill/>
        </p:spPr>
        <p:txBody>
          <a:bodyPr wrap="square" lIns="0" rIns="0" tIns="0" bIns="0" anchor="t">
            <a:spAutoFit/>
          </a:bodyPr>
          <a:lstStyle/>
          <a:p>
            <a:pPr algn="l">
              <a:lnSpc>
                <a:spcPct val="125000"/>
              </a:lnSpc>
              <a:spcAft>
                <a:spcPts val="600"/>
              </a:spcAft>
            </a:pPr>
            <a:r>
              <a:rPr sz="1150" b="1">
                <a:solidFill>
                  <a:srgbClr val="1A1A1A"/>
                </a:solidFill>
                <a:latin typeface="Microsoft JhengHei"/>
                <a:ea typeface="Microsoft JhengHei"/>
              </a:rPr>
              <a:t>④ 期末還沒回來 → 強制平倉</a:t>
            </a:r>
          </a:p>
        </p:txBody>
      </p:sp>
      <p:sp>
        <p:nvSpPr>
          <p:cNvPr id="23" name="TextBox 22"/>
          <p:cNvSpPr txBox="1"/>
          <p:nvPr/>
        </p:nvSpPr>
        <p:spPr>
          <a:xfrm>
            <a:off x="6172200" y="5376672"/>
            <a:ext cx="534924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模擬路徑，僅供說明，非實際資料</a:t>
            </a:r>
          </a:p>
        </p:txBody>
      </p:sp>
      <p:sp>
        <p:nvSpPr>
          <p:cNvPr id="24" name="TextBox 23"/>
          <p:cNvSpPr txBox="1"/>
          <p:nvPr/>
        </p:nvSpPr>
        <p:spPr>
          <a:xfrm>
            <a:off x="640080" y="6053328"/>
            <a:ext cx="10332720" cy="27432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Gatev, E., Goetzmann, W. N., &amp; Rouwenhorst, K. G. (2006). Pairs trading: Performance of a relative-value arbitrage rule. The Review of Financial Studies, 19(3), 797–827.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第一部分 · 背景　｜　§2.1.2、§3.1.3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標準玩法：先花一年挑配對，再花半年照規則交易</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a:t>
            </a:r>
          </a:p>
        </p:txBody>
      </p:sp>
      <p:sp>
        <p:nvSpPr>
          <p:cNvPr id="5" name="Rounded Rectangle 4"/>
          <p:cNvSpPr/>
          <p:nvPr/>
        </p:nvSpPr>
        <p:spPr>
          <a:xfrm>
            <a:off x="640080" y="1783080"/>
            <a:ext cx="6309360" cy="96012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146304" bIns="146304" wrap="square"/>
          <a:lstStyle/>
          <a:p>
            <a:pPr algn="l">
              <a:lnSpc>
                <a:spcPct val="125000"/>
              </a:lnSpc>
              <a:spcAft>
                <a:spcPts val="200"/>
              </a:spcAft>
            </a:pPr>
            <a:r>
              <a:rPr sz="1600" b="1">
                <a:solidFill>
                  <a:srgbClr val="FFFFFF"/>
                </a:solidFill>
                <a:latin typeface="Microsoft JhengHei"/>
                <a:ea typeface="Microsoft JhengHei"/>
              </a:rPr>
              <a:t>形成期　252 個交易日（約一年）</a:t>
            </a:r>
          </a:p>
          <a:p>
            <a:pPr algn="l">
              <a:lnSpc>
                <a:spcPct val="125000"/>
              </a:lnSpc>
              <a:spcAft>
                <a:spcPts val="600"/>
              </a:spcAft>
            </a:pPr>
            <a:r>
              <a:rPr sz="1300" b="0">
                <a:solidFill>
                  <a:srgbClr val="E8EDF5"/>
                </a:solidFill>
                <a:latin typeface="Microsoft JhengHei"/>
                <a:ea typeface="Microsoft JhengHei"/>
              </a:rPr>
              <a:t>挑配對、估參數——這段時間不交易</a:t>
            </a:r>
          </a:p>
        </p:txBody>
      </p:sp>
      <p:sp>
        <p:nvSpPr>
          <p:cNvPr id="6" name="Rounded Rectangle 5"/>
          <p:cNvSpPr/>
          <p:nvPr/>
        </p:nvSpPr>
        <p:spPr>
          <a:xfrm>
            <a:off x="7086600" y="1783080"/>
            <a:ext cx="4434840" cy="960120"/>
          </a:xfrm>
          <a:prstGeom prst="roundRect">
            <a:avLst>
              <a:gd name="adj" fmla="val 6000"/>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146304" bIns="146304" wrap="square"/>
          <a:lstStyle/>
          <a:p>
            <a:pPr algn="l">
              <a:lnSpc>
                <a:spcPct val="125000"/>
              </a:lnSpc>
              <a:spcAft>
                <a:spcPts val="200"/>
              </a:spcAft>
            </a:pPr>
            <a:r>
              <a:rPr sz="1600" b="1">
                <a:solidFill>
                  <a:srgbClr val="FFFFFF"/>
                </a:solidFill>
                <a:latin typeface="Microsoft JhengHei"/>
                <a:ea typeface="Microsoft JhengHei"/>
              </a:rPr>
              <a:t>交易期　126 個交易日（約半年）</a:t>
            </a:r>
          </a:p>
          <a:p>
            <a:pPr algn="l">
              <a:lnSpc>
                <a:spcPct val="125000"/>
              </a:lnSpc>
              <a:spcAft>
                <a:spcPts val="600"/>
              </a:spcAft>
            </a:pPr>
            <a:r>
              <a:rPr sz="1300" b="0">
                <a:solidFill>
                  <a:srgbClr val="FBE3DC"/>
                </a:solidFill>
                <a:latin typeface="Microsoft JhengHei"/>
                <a:ea typeface="Microsoft JhengHei"/>
              </a:rPr>
              <a:t>照規則進出——完全樣本外</a:t>
            </a:r>
          </a:p>
        </p:txBody>
      </p:sp>
      <p:cxnSp>
        <p:nvCxnSpPr>
          <p:cNvPr id="7" name="Connector 6"/>
          <p:cNvCxnSpPr/>
          <p:nvPr/>
        </p:nvCxnSpPr>
        <p:spPr>
          <a:xfrm>
            <a:off x="6967728" y="2258568"/>
            <a:ext cx="109728" cy="0"/>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640080" y="3063240"/>
          <a:ext cx="10881360" cy="1828800"/>
        </p:xfrm>
        <a:graphic>
          <a:graphicData uri="http://schemas.openxmlformats.org/drawingml/2006/table">
            <a:tbl>
              <a:tblPr firstRow="1" bandRow="1">
                <a:tableStyleId>{5C22544A-7EE6-4342-B048-85BDC9FD1C3A}</a:tableStyleId>
              </a:tblPr>
              <a:tblGrid>
                <a:gridCol w="2743200"/>
                <a:gridCol w="8138160"/>
              </a:tblGrid>
              <a:tr h="365760">
                <a:tc>
                  <a:txBody>
                    <a:bodyPr wrap="square"/>
                    <a:lstStyle/>
                    <a:p>
                      <a:pPr algn="l">
                        <a:lnSpc>
                          <a:spcPct val="110000"/>
                        </a:lnSpc>
                        <a:spcAft>
                          <a:spcPts val="0"/>
                        </a:spcAft>
                      </a:pPr>
                      <a:r>
                        <a:rPr sz="1500" b="1">
                          <a:solidFill>
                            <a:srgbClr val="FFFFFF"/>
                          </a:solidFill>
                          <a:latin typeface="Microsoft JhengHei"/>
                          <a:ea typeface="Microsoft JhengHei"/>
                        </a:rPr>
                        <a:t>規則</a:t>
                      </a:r>
                    </a:p>
                  </a:txBody>
                  <a:tcPr marT="27432" marB="27432" marL="73152" marR="73152" anchor="ctr">
                    <a:solidFill>
                      <a:srgbClr val="0B2A5B"/>
                    </a:solidFill>
                  </a:tcPr>
                </a:tc>
                <a:tc>
                  <a:txBody>
                    <a:bodyPr wrap="square"/>
                    <a:lstStyle/>
                    <a:p>
                      <a:pPr algn="l">
                        <a:lnSpc>
                          <a:spcPct val="110000"/>
                        </a:lnSpc>
                        <a:spcAft>
                          <a:spcPts val="0"/>
                        </a:spcAft>
                      </a:pPr>
                      <a:r>
                        <a:rPr sz="1500" b="1">
                          <a:solidFill>
                            <a:srgbClr val="FFFFFF"/>
                          </a:solidFill>
                          <a:latin typeface="Microsoft JhengHei"/>
                          <a:ea typeface="Microsoft JhengHei"/>
                        </a:rPr>
                        <a:t>作法</a:t>
                      </a:r>
                    </a:p>
                  </a:txBody>
                  <a:tcPr marT="27432" marB="27432" marL="73152" marR="73152" anchor="ctr">
                    <a:solidFill>
                      <a:srgbClr val="0B2A5B"/>
                    </a:solidFill>
                  </a:tcPr>
                </a:tc>
              </a:tr>
              <a:tr h="365760">
                <a:tc>
                  <a:txBody>
                    <a:bodyPr wrap="square"/>
                    <a:lstStyle/>
                    <a:p>
                      <a:pPr algn="l">
                        <a:lnSpc>
                          <a:spcPct val="110000"/>
                        </a:lnSpc>
                        <a:spcAft>
                          <a:spcPts val="0"/>
                        </a:spcAft>
                      </a:pPr>
                      <a:r>
                        <a:rPr sz="1500" b="0">
                          <a:solidFill>
                            <a:srgbClr val="1A1A1A"/>
                          </a:solidFill>
                          <a:latin typeface="Microsoft JhengHei"/>
                          <a:ea typeface="Microsoft JhengHei"/>
                        </a:rPr>
                        <a:t>怎麼挑配對</a:t>
                      </a:r>
                    </a:p>
                  </a:txBody>
                  <a:tcPr marT="27432" marB="27432" marL="73152" marR="73152" anchor="ctr">
                    <a:solidFill>
                      <a:srgbClr val="FFFFFF"/>
                    </a:solidFill>
                  </a:tcPr>
                </a:tc>
                <a:tc>
                  <a:txBody>
                    <a:bodyPr wrap="square"/>
                    <a:lstStyle/>
                    <a:p>
                      <a:pPr algn="l">
                        <a:lnSpc>
                          <a:spcPct val="110000"/>
                        </a:lnSpc>
                        <a:spcAft>
                          <a:spcPts val="0"/>
                        </a:spcAft>
                      </a:pPr>
                      <a:r>
                        <a:rPr sz="1500" b="0">
                          <a:solidFill>
                            <a:srgbClr val="1A1A1A"/>
                          </a:solidFill>
                          <a:latin typeface="Microsoft JhengHei"/>
                          <a:ea typeface="Microsoft JhengHei"/>
                        </a:rPr>
                        <a:t>兩檔股票標準化價格的距離最小（SSD）的前幾組</a:t>
                      </a:r>
                    </a:p>
                  </a:txBody>
                  <a:tcPr marT="27432" marB="27432" marL="73152" marR="73152" anchor="ctr">
                    <a:solidFill>
                      <a:srgbClr val="FFFFFF"/>
                    </a:solidFill>
                  </a:tcPr>
                </a:tc>
              </a:tr>
              <a:tr h="365760">
                <a:tc>
                  <a:txBody>
                    <a:bodyPr wrap="square"/>
                    <a:lstStyle/>
                    <a:p>
                      <a:pPr algn="l">
                        <a:lnSpc>
                          <a:spcPct val="110000"/>
                        </a:lnSpc>
                        <a:spcAft>
                          <a:spcPts val="0"/>
                        </a:spcAft>
                      </a:pPr>
                      <a:r>
                        <a:rPr sz="1500" b="0">
                          <a:solidFill>
                            <a:srgbClr val="1A1A1A"/>
                          </a:solidFill>
                          <a:latin typeface="Microsoft JhengHei"/>
                          <a:ea typeface="Microsoft JhengHei"/>
                        </a:rPr>
                        <a:t>什麼時候進場</a:t>
                      </a:r>
                    </a:p>
                  </a:txBody>
                  <a:tcPr marT="27432" marB="27432" marL="73152" marR="73152" anchor="ctr">
                    <a:solidFill>
                      <a:srgbClr val="E8EDF5"/>
                    </a:solidFill>
                  </a:tcPr>
                </a:tc>
                <a:tc>
                  <a:txBody>
                    <a:bodyPr wrap="square"/>
                    <a:lstStyle/>
                    <a:p>
                      <a:pPr algn="l">
                        <a:lnSpc>
                          <a:spcPct val="110000"/>
                        </a:lnSpc>
                        <a:spcAft>
                          <a:spcPts val="0"/>
                        </a:spcAft>
                      </a:pPr>
                      <a:r>
                        <a:rPr sz="1500" b="0">
                          <a:solidFill>
                            <a:srgbClr val="1A1A1A"/>
                          </a:solidFill>
                          <a:latin typeface="Microsoft JhengHei"/>
                          <a:ea typeface="Microsoft JhengHei"/>
                        </a:rPr>
                        <a:t>價差偏離形成期標準差 </a:t>
                      </a:r>
                      <a:r>
                        <a:rPr sz="1500" b="1">
                          <a:solidFill>
                            <a:srgbClr val="1A1A1A"/>
                          </a:solidFill>
                          <a:latin typeface="Microsoft JhengHei"/>
                          <a:ea typeface="Microsoft JhengHei"/>
                        </a:rPr>
                        <a:t>2 倍</a:t>
                      </a:r>
                      <a:r>
                        <a:rPr sz="1500" b="0">
                          <a:solidFill>
                            <a:srgbClr val="1A1A1A"/>
                          </a:solidFill>
                          <a:latin typeface="Microsoft JhengHei"/>
                          <a:ea typeface="Microsoft JhengHei"/>
                        </a:rPr>
                        <a:t>時，做多或做空價差</a:t>
                      </a:r>
                    </a:p>
                  </a:txBody>
                  <a:tcPr marT="27432" marB="27432" marL="73152" marR="73152" anchor="ctr">
                    <a:solidFill>
                      <a:srgbClr val="E8EDF5"/>
                    </a:solidFill>
                  </a:tcPr>
                </a:tc>
              </a:tr>
              <a:tr h="365760">
                <a:tc>
                  <a:txBody>
                    <a:bodyPr wrap="square"/>
                    <a:lstStyle/>
                    <a:p>
                      <a:pPr algn="l">
                        <a:lnSpc>
                          <a:spcPct val="110000"/>
                        </a:lnSpc>
                        <a:spcAft>
                          <a:spcPts val="0"/>
                        </a:spcAft>
                      </a:pPr>
                      <a:r>
                        <a:rPr sz="1500" b="0">
                          <a:solidFill>
                            <a:srgbClr val="1A1A1A"/>
                          </a:solidFill>
                          <a:latin typeface="Microsoft JhengHei"/>
                          <a:ea typeface="Microsoft JhengHei"/>
                        </a:rPr>
                        <a:t>什麼時候出場</a:t>
                      </a:r>
                    </a:p>
                  </a:txBody>
                  <a:tcPr marT="27432" marB="27432" marL="73152" marR="73152" anchor="ctr">
                    <a:solidFill>
                      <a:srgbClr val="FFFFFF"/>
                    </a:solidFill>
                  </a:tcPr>
                </a:tc>
                <a:tc>
                  <a:txBody>
                    <a:bodyPr wrap="square"/>
                    <a:lstStyle/>
                    <a:p>
                      <a:pPr algn="l">
                        <a:lnSpc>
                          <a:spcPct val="110000"/>
                        </a:lnSpc>
                        <a:spcAft>
                          <a:spcPts val="0"/>
                        </a:spcAft>
                      </a:pPr>
                      <a:r>
                        <a:rPr sz="1500" b="0">
                          <a:solidFill>
                            <a:srgbClr val="1A1A1A"/>
                          </a:solidFill>
                          <a:latin typeface="Microsoft JhengHei"/>
                          <a:ea typeface="Microsoft JhengHei"/>
                        </a:rPr>
                        <a:t>價差</a:t>
                      </a:r>
                      <a:r>
                        <a:rPr sz="1500" b="1">
                          <a:solidFill>
                            <a:srgbClr val="1A1A1A"/>
                          </a:solidFill>
                          <a:latin typeface="Microsoft JhengHei"/>
                          <a:ea typeface="Microsoft JhengHei"/>
                        </a:rPr>
                        <a:t>回到 0</a:t>
                      </a:r>
                      <a:r>
                        <a:rPr sz="1500" b="0">
                          <a:solidFill>
                            <a:srgbClr val="1A1A1A"/>
                          </a:solidFill>
                          <a:latin typeface="Microsoft JhengHei"/>
                          <a:ea typeface="Microsoft JhengHei"/>
                        </a:rPr>
                        <a:t> 時平倉</a:t>
                      </a:r>
                    </a:p>
                  </a:txBody>
                  <a:tcPr marT="27432" marB="27432" marL="73152" marR="73152" anchor="ctr">
                    <a:solidFill>
                      <a:srgbClr val="FFFFFF"/>
                    </a:solidFill>
                  </a:tcPr>
                </a:tc>
              </a:tr>
              <a:tr h="365760">
                <a:tc>
                  <a:txBody>
                    <a:bodyPr wrap="square"/>
                    <a:lstStyle/>
                    <a:p>
                      <a:pPr algn="l">
                        <a:lnSpc>
                          <a:spcPct val="110000"/>
                        </a:lnSpc>
                        <a:spcAft>
                          <a:spcPts val="0"/>
                        </a:spcAft>
                      </a:pPr>
                      <a:r>
                        <a:rPr sz="1500" b="0">
                          <a:solidFill>
                            <a:srgbClr val="1A1A1A"/>
                          </a:solidFill>
                          <a:latin typeface="Microsoft JhengHei"/>
                          <a:ea typeface="Microsoft JhengHei"/>
                        </a:rPr>
                        <a:t>期末怎麼辦</a:t>
                      </a:r>
                    </a:p>
                  </a:txBody>
                  <a:tcPr marT="27432" marB="27432" marL="73152" marR="73152" anchor="ctr">
                    <a:solidFill>
                      <a:srgbClr val="E8EDF5"/>
                    </a:solidFill>
                  </a:tcPr>
                </a:tc>
                <a:tc>
                  <a:txBody>
                    <a:bodyPr wrap="square"/>
                    <a:lstStyle/>
                    <a:p>
                      <a:pPr algn="l">
                        <a:lnSpc>
                          <a:spcPct val="110000"/>
                        </a:lnSpc>
                        <a:spcAft>
                          <a:spcPts val="0"/>
                        </a:spcAft>
                      </a:pPr>
                      <a:r>
                        <a:rPr sz="1500" b="0">
                          <a:solidFill>
                            <a:srgbClr val="1A1A1A"/>
                          </a:solidFill>
                          <a:latin typeface="Microsoft JhengHei"/>
                          <a:ea typeface="Microsoft JhengHei"/>
                        </a:rPr>
                        <a:t>交易期結束，</a:t>
                      </a:r>
                      <a:r>
                        <a:rPr sz="1500" b="1">
                          <a:solidFill>
                            <a:srgbClr val="1A1A1A"/>
                          </a:solidFill>
                          <a:latin typeface="Microsoft JhengHei"/>
                          <a:ea typeface="Microsoft JhengHei"/>
                        </a:rPr>
                        <a:t>不管回來沒有，一律強制平倉</a:t>
                      </a:r>
                    </a:p>
                  </a:txBody>
                  <a:tcPr marT="27432" marB="27432" marL="73152" marR="73152" anchor="ctr">
                    <a:solidFill>
                      <a:srgbClr val="E8EDF5"/>
                    </a:solidFill>
                  </a:tcPr>
                </a:tc>
              </a:tr>
            </a:tbl>
          </a:graphicData>
        </a:graphic>
      </p:graphicFrame>
      <p:sp>
        <p:nvSpPr>
          <p:cNvPr id="9" name="TextBox 8"/>
          <p:cNvSpPr txBox="1"/>
          <p:nvPr/>
        </p:nvSpPr>
        <p:spPr>
          <a:xfrm>
            <a:off x="640080" y="5120640"/>
            <a:ext cx="10881360" cy="640080"/>
          </a:xfrm>
          <a:prstGeom prst="rect">
            <a:avLst/>
          </a:prstGeom>
          <a:noFill/>
        </p:spPr>
        <p:txBody>
          <a:bodyPr wrap="square" lIns="0" rIns="0" tIns="0" bIns="0" anchor="t">
            <a:spAutoFit/>
          </a:bodyPr>
          <a:lstStyle/>
          <a:p>
            <a:pPr algn="l">
              <a:lnSpc>
                <a:spcPct val="125000"/>
              </a:lnSpc>
              <a:spcAft>
                <a:spcPts val="600"/>
              </a:spcAft>
            </a:pPr>
            <a:r>
              <a:rPr sz="1500" b="0">
                <a:solidFill>
                  <a:srgbClr val="6B7280"/>
                </a:solidFill>
                <a:latin typeface="Microsoft JhengHei"/>
                <a:ea typeface="Microsoft JhengHei"/>
              </a:rPr>
              <a:t>這套規則出自 Gatev、Goetzmann 與 Rouwenhorst（2006，以下簡稱 GGR）。後面我講的「</a:t>
            </a:r>
            <a:r>
              <a:rPr sz="1500" b="1">
                <a:solidFill>
                  <a:srgbClr val="6B7280"/>
                </a:solidFill>
                <a:latin typeface="Microsoft JhengHei"/>
                <a:ea typeface="Microsoft JhengHei"/>
              </a:rPr>
              <a:t>Z-Score 基準</a:t>
            </a:r>
            <a:r>
              <a:rPr sz="1500" b="0">
                <a:solidFill>
                  <a:srgbClr val="6B7280"/>
                </a:solidFill>
                <a:latin typeface="Microsoft JhengHei"/>
                <a:ea typeface="Microsoft JhengHei"/>
              </a:rPr>
              <a:t>」就是它：進場 2.0、出場 0.0，固定不變。</a:t>
            </a:r>
          </a:p>
        </p:txBody>
      </p:sp>
      <p:sp>
        <p:nvSpPr>
          <p:cNvPr id="10" name="TextBox 9"/>
          <p:cNvSpPr txBox="1"/>
          <p:nvPr/>
        </p:nvSpPr>
        <p:spPr>
          <a:xfrm>
            <a:off x="640080" y="6053328"/>
            <a:ext cx="10332720" cy="27432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Gatev, E., Goetzmann, W. N., &amp; Rouwenhorst, K. G. (2006). Pairs trading: Performance of a relative-value arbitrage rule. The Review of Financial Studies, 19(3), 797–827.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第一部分 · 背景　｜　§2.1.1</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為什麼這樣會賺錢？因為它賭的是「相對」價格</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7</a:t>
            </a:r>
          </a:p>
        </p:txBody>
      </p:sp>
      <p:sp>
        <p:nvSpPr>
          <p:cNvPr id="5" name="Rounded Rectangle 4"/>
          <p:cNvSpPr/>
          <p:nvPr/>
        </p:nvSpPr>
        <p:spPr>
          <a:xfrm>
            <a:off x="640080" y="1783080"/>
            <a:ext cx="3474720" cy="25146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0B2A5B"/>
                </a:solidFill>
                <a:latin typeface="Microsoft JhengHei"/>
                <a:ea typeface="Microsoft JhengHei"/>
              </a:rPr>
              <a:t>① 賭相對，不賭絕對</a:t>
            </a:r>
          </a:p>
          <a:p>
            <a:pPr algn="l">
              <a:lnSpc>
                <a:spcPct val="125000"/>
              </a:lnSpc>
              <a:spcAft>
                <a:spcPts val="600"/>
              </a:spcAft>
            </a:pPr>
            <a:r>
              <a:rPr sz="1500" b="0">
                <a:solidFill>
                  <a:srgbClr val="1A1A1A"/>
                </a:solidFill>
                <a:latin typeface="Microsoft JhengHei"/>
                <a:ea typeface="Microsoft JhengHei"/>
              </a:rPr>
              <a:t>不預測任何一檔會漲會跌，只賭「有共同驅動因子的兩檔，相對價格會回到均衡附近」——可以想成一價法則的弱化版。</a:t>
            </a:r>
          </a:p>
        </p:txBody>
      </p:sp>
      <p:sp>
        <p:nvSpPr>
          <p:cNvPr id="6" name="Rounded Rectangle 5"/>
          <p:cNvSpPr/>
          <p:nvPr/>
        </p:nvSpPr>
        <p:spPr>
          <a:xfrm>
            <a:off x="4343400" y="1783080"/>
            <a:ext cx="3474720" cy="25146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0B2A5B"/>
                </a:solidFill>
                <a:latin typeface="Microsoft JhengHei"/>
                <a:ea typeface="Microsoft JhengHei"/>
              </a:rPr>
              <a:t>② 市場中性</a:t>
            </a:r>
          </a:p>
          <a:p>
            <a:pPr algn="l">
              <a:lnSpc>
                <a:spcPct val="125000"/>
              </a:lnSpc>
              <a:spcAft>
                <a:spcPts val="600"/>
              </a:spcAft>
            </a:pPr>
            <a:r>
              <a:rPr sz="1500" b="0">
                <a:solidFill>
                  <a:srgbClr val="1A1A1A"/>
                </a:solidFill>
                <a:latin typeface="Microsoft JhengHei"/>
                <a:ea typeface="Microsoft JhengHei"/>
              </a:rPr>
              <a:t>一多一空、金額相當。GGR 實證它對 Fama-French 三因子的曝險很低，所以報酬很難用既有的風險因子解釋。</a:t>
            </a:r>
          </a:p>
        </p:txBody>
      </p:sp>
      <p:sp>
        <p:nvSpPr>
          <p:cNvPr id="7" name="Rounded Rectangle 6"/>
          <p:cNvSpPr/>
          <p:nvPr/>
        </p:nvSpPr>
        <p:spPr>
          <a:xfrm>
            <a:off x="8046720" y="1783080"/>
            <a:ext cx="3474720" cy="25146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0B2A5B"/>
                </a:solidFill>
                <a:latin typeface="Microsoft JhengHei"/>
                <a:ea typeface="Microsoft JhengHei"/>
              </a:rPr>
              <a:t>③ 不一定要同產業</a:t>
            </a:r>
          </a:p>
          <a:p>
            <a:pPr algn="l">
              <a:lnSpc>
                <a:spcPct val="125000"/>
              </a:lnSpc>
              <a:spcAft>
                <a:spcPts val="600"/>
              </a:spcAft>
            </a:pPr>
            <a:r>
              <a:rPr sz="1500" b="0">
                <a:solidFill>
                  <a:srgbClr val="1A1A1A"/>
                </a:solidFill>
                <a:latin typeface="Microsoft JhengHei"/>
                <a:ea typeface="Microsoft JhengHei"/>
              </a:rPr>
              <a:t>同產業只是共同衝擊的</a:t>
            </a:r>
            <a:r>
              <a:rPr sz="1500" b="1">
                <a:solidFill>
                  <a:srgbClr val="1A1A1A"/>
                </a:solidFill>
                <a:latin typeface="Microsoft JhengHei"/>
                <a:ea typeface="Microsoft JhengHei"/>
              </a:rPr>
              <a:t>充分、而非必要</a:t>
            </a:r>
            <a:r>
              <a:rPr sz="1500" b="0">
                <a:solidFill>
                  <a:srgbClr val="1A1A1A"/>
                </a:solidFill>
                <a:latin typeface="Microsoft JhengHei"/>
                <a:ea typeface="Microsoft JhengHei"/>
              </a:rPr>
              <a:t>條件。跨產業但受同樣總體因子驅動的兩檔，理論上也能配對——這正是後來機器學習分群想挖的東西。</a:t>
            </a:r>
          </a:p>
        </p:txBody>
      </p:sp>
      <p:sp>
        <p:nvSpPr>
          <p:cNvPr id="8" name="TextBox 7"/>
          <p:cNvSpPr txBox="1"/>
          <p:nvPr/>
        </p:nvSpPr>
        <p:spPr>
          <a:xfrm>
            <a:off x="640080" y="4572000"/>
            <a:ext cx="10881360" cy="548640"/>
          </a:xfrm>
          <a:prstGeom prst="rect">
            <a:avLst/>
          </a:prstGeom>
          <a:noFill/>
        </p:spPr>
        <p:txBody>
          <a:bodyPr wrap="square" lIns="0" rIns="0" tIns="0" bIns="0" anchor="t">
            <a:spAutoFit/>
          </a:bodyPr>
          <a:lstStyle/>
          <a:p>
            <a:pPr algn="l">
              <a:lnSpc>
                <a:spcPct val="125000"/>
              </a:lnSpc>
              <a:spcAft>
                <a:spcPts val="600"/>
              </a:spcAft>
            </a:pPr>
            <a:r>
              <a:rPr sz="1500" b="0">
                <a:solidFill>
                  <a:srgbClr val="6B7280"/>
                </a:solidFill>
                <a:latin typeface="Microsoft JhengHei"/>
                <a:ea typeface="Microsoft JhengHei"/>
              </a:rPr>
              <a:t>記住第三點：它是「用機器學習找配對」這條路線的理論依據。</a:t>
            </a:r>
          </a:p>
        </p:txBody>
      </p:sp>
      <p:sp>
        <p:nvSpPr>
          <p:cNvPr id="9" name="TextBox 8"/>
          <p:cNvSpPr txBox="1"/>
          <p:nvPr/>
        </p:nvSpPr>
        <p:spPr>
          <a:xfrm>
            <a:off x="640080" y="6053328"/>
            <a:ext cx="10332720" cy="27432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Gatev, E., Goetzmann, W. N., &amp; Rouwenhorst, K. G. (2006). Pairs trading: Performance of a relative-value arbitrage rule. The Review of Financial Studies, 19(3), 797–827.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第一部分 · 背景　｜　§2.1.3–2.1.4</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問題來了：這招越來越不靈</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8</a:t>
            </a:r>
          </a:p>
        </p:txBody>
      </p:sp>
      <p:sp>
        <p:nvSpPr>
          <p:cNvPr id="5" name="TextBox 4"/>
          <p:cNvSpPr txBox="1"/>
          <p:nvPr/>
        </p:nvSpPr>
        <p:spPr>
          <a:xfrm>
            <a:off x="640080" y="1645920"/>
            <a:ext cx="10881360" cy="731520"/>
          </a:xfrm>
          <a:prstGeom prst="rect">
            <a:avLst/>
          </a:prstGeom>
          <a:noFill/>
        </p:spPr>
        <p:txBody>
          <a:bodyPr wrap="square" lIns="0" rIns="0" tIns="0" bIns="0" anchor="t">
            <a:spAutoFit/>
          </a:bodyPr>
          <a:lstStyle/>
          <a:p>
            <a:pPr algn="l">
              <a:lnSpc>
                <a:spcPct val="125000"/>
              </a:lnSpc>
              <a:spcAft>
                <a:spcPts val="600"/>
              </a:spcAft>
            </a:pPr>
            <a:r>
              <a:rPr sz="1700" b="0">
                <a:solidFill>
                  <a:srgbClr val="1A1A1A"/>
                </a:solidFill>
                <a:latin typeface="Microsoft JhengHei"/>
                <a:ea typeface="Microsoft JhengHei"/>
              </a:rPr>
              <a:t>GGR 在 1962–2002 年報告年化超額報酬最高可達 11%。但後續研究一致發現：</a:t>
            </a:r>
            <a:r>
              <a:rPr sz="1700" b="1">
                <a:solidFill>
                  <a:srgbClr val="1A1A1A"/>
                </a:solidFill>
                <a:latin typeface="Microsoft JhengHei"/>
                <a:ea typeface="Microsoft JhengHei"/>
              </a:rPr>
              <a:t>2000 年代之後大幅衰減</a:t>
            </a:r>
            <a:r>
              <a:rPr sz="1700" b="0">
                <a:solidFill>
                  <a:srgbClr val="1A1A1A"/>
                </a:solidFill>
                <a:latin typeface="Microsoft JhengHei"/>
                <a:ea typeface="Microsoft JhengHei"/>
              </a:rPr>
              <a:t>。</a:t>
            </a:r>
          </a:p>
        </p:txBody>
      </p:sp>
      <p:sp>
        <p:nvSpPr>
          <p:cNvPr id="6" name="Rounded Rectangle 5"/>
          <p:cNvSpPr/>
          <p:nvPr/>
        </p:nvSpPr>
        <p:spPr>
          <a:xfrm>
            <a:off x="640080" y="2423160"/>
            <a:ext cx="3474720" cy="18288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Do &amp; Faff（2010）</a:t>
            </a:r>
          </a:p>
          <a:p>
            <a:pPr algn="l">
              <a:lnSpc>
                <a:spcPct val="125000"/>
              </a:lnSpc>
              <a:spcAft>
                <a:spcPts val="600"/>
              </a:spcAft>
            </a:pPr>
            <a:r>
              <a:rPr sz="1400" b="0">
                <a:solidFill>
                  <a:srgbClr val="1A1A1A"/>
                </a:solidFill>
                <a:latin typeface="Microsoft JhengHei"/>
                <a:ea typeface="Microsoft JhengHei"/>
              </a:rPr>
              <a:t>樣本延伸到 2009 年：獲利從 1990 年代末開始顯著下降，而且不是被某一段異常期間拉下來的。</a:t>
            </a:r>
          </a:p>
        </p:txBody>
      </p:sp>
      <p:sp>
        <p:nvSpPr>
          <p:cNvPr id="7" name="Rounded Rectangle 6"/>
          <p:cNvSpPr/>
          <p:nvPr/>
        </p:nvSpPr>
        <p:spPr>
          <a:xfrm>
            <a:off x="4343400" y="2423160"/>
            <a:ext cx="3474720" cy="18288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Do &amp; Faff（2012）</a:t>
            </a:r>
          </a:p>
          <a:p>
            <a:pPr algn="l">
              <a:lnSpc>
                <a:spcPct val="125000"/>
              </a:lnSpc>
              <a:spcAft>
                <a:spcPts val="600"/>
              </a:spcAft>
            </a:pPr>
            <a:r>
              <a:rPr sz="1400" b="0">
                <a:solidFill>
                  <a:srgbClr val="1A1A1A"/>
                </a:solidFill>
                <a:latin typeface="Microsoft JhengHei"/>
                <a:ea typeface="Microsoft JhengHei"/>
              </a:rPr>
              <a:t>把佣金、買賣價差、市場衝擊算進去（單邊約 30 個基點）之後，多數策略的淨報酬已經</a:t>
            </a:r>
            <a:r>
              <a:rPr sz="1400" b="1">
                <a:solidFill>
                  <a:srgbClr val="1A1A1A"/>
                </a:solidFill>
                <a:latin typeface="Microsoft JhengHei"/>
                <a:ea typeface="Microsoft JhengHei"/>
              </a:rPr>
              <a:t>不顯著</a:t>
            </a:r>
            <a:r>
              <a:rPr sz="1400" b="0">
                <a:solidFill>
                  <a:srgbClr val="1A1A1A"/>
                </a:solidFill>
                <a:latin typeface="Microsoft JhengHei"/>
                <a:ea typeface="Microsoft JhengHei"/>
              </a:rPr>
              <a:t>。</a:t>
            </a:r>
          </a:p>
        </p:txBody>
      </p:sp>
      <p:sp>
        <p:nvSpPr>
          <p:cNvPr id="8" name="Rounded Rectangle 7"/>
          <p:cNvSpPr/>
          <p:nvPr/>
        </p:nvSpPr>
        <p:spPr>
          <a:xfrm>
            <a:off x="8046720" y="2423160"/>
            <a:ext cx="3474720" cy="18288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Krauss（2017）</a:t>
            </a:r>
          </a:p>
          <a:p>
            <a:pPr algn="l">
              <a:lnSpc>
                <a:spcPct val="125000"/>
              </a:lnSpc>
              <a:spcAft>
                <a:spcPts val="600"/>
              </a:spcAft>
            </a:pPr>
            <a:r>
              <a:rPr sz="1400" b="0">
                <a:solidFill>
                  <a:srgbClr val="1A1A1A"/>
                </a:solidFill>
                <a:latin typeface="Microsoft JhengHei"/>
                <a:ea typeface="Microsoft JhengHei"/>
              </a:rPr>
              <a:t>回顧五大類方法：</a:t>
            </a:r>
            <a:r>
              <a:rPr sz="1400" b="1">
                <a:solidFill>
                  <a:srgbClr val="1A1A1A"/>
                </a:solidFill>
                <a:latin typeface="Microsoft JhengHei"/>
                <a:ea typeface="Microsoft JhengHei"/>
              </a:rPr>
              <a:t>方法之間的差異，常常比換一段樣本期間造成的差異還小</a:t>
            </a:r>
            <a:r>
              <a:rPr sz="1400" b="0">
                <a:solidFill>
                  <a:srgbClr val="1A1A1A"/>
                </a:solidFill>
                <a:latin typeface="Microsoft JhengHei"/>
                <a:ea typeface="Microsoft JhengHei"/>
              </a:rPr>
              <a:t>。</a:t>
            </a:r>
          </a:p>
        </p:txBody>
      </p:sp>
      <p:sp>
        <p:nvSpPr>
          <p:cNvPr id="9" name="Rounded Rectangle 8"/>
          <p:cNvSpPr/>
          <p:nvPr/>
        </p:nvSpPr>
        <p:spPr>
          <a:xfrm>
            <a:off x="640080" y="4480560"/>
            <a:ext cx="10881360" cy="11887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而且衰減在大型股上更明顯</a:t>
            </a:r>
          </a:p>
          <a:p>
            <a:pPr algn="l">
              <a:lnSpc>
                <a:spcPct val="125000"/>
              </a:lnSpc>
              <a:spcAft>
                <a:spcPts val="600"/>
              </a:spcAft>
            </a:pPr>
            <a:r>
              <a:rPr sz="1400" b="0">
                <a:solidFill>
                  <a:srgbClr val="1A1A1A"/>
                </a:solidFill>
                <a:latin typeface="Microsoft JhengHei"/>
                <a:ea typeface="Microsoft JhengHei"/>
              </a:rPr>
              <a:t>我的母體正好是 S&amp;P 500 大型股、期間 2000–2025——</a:t>
            </a:r>
            <a:r>
              <a:rPr sz="1400" b="1">
                <a:solidFill>
                  <a:srgbClr val="1A1A1A"/>
                </a:solidFill>
                <a:latin typeface="Microsoft JhengHei"/>
                <a:ea typeface="Microsoft JhengHei"/>
              </a:rPr>
              <a:t>完全落在衰減之後</a:t>
            </a:r>
            <a:r>
              <a:rPr sz="1400" b="0">
                <a:solidFill>
                  <a:srgbClr val="1A1A1A"/>
                </a:solidFill>
                <a:latin typeface="Microsoft JhengHei"/>
                <a:ea typeface="Microsoft JhengHei"/>
              </a:rPr>
              <a:t>。這是刻意的：我問的不是「它以前賺不賺」，而是「學習式交易端能不能在衰減之後重建優勢，以及好處從哪裡來」。</a:t>
            </a:r>
          </a:p>
        </p:txBody>
      </p:sp>
      <p:sp>
        <p:nvSpPr>
          <p:cNvPr id="10" name="TextBox 9"/>
          <p:cNvSpPr txBox="1"/>
          <p:nvPr/>
        </p:nvSpPr>
        <p:spPr>
          <a:xfrm>
            <a:off x="640080" y="5870448"/>
            <a:ext cx="10332720" cy="822959"/>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Do, B., &amp; Faff, R. (2010). Does simple pairs trading still work? Financial Analysts Journal, 66(4), 83–95.</a:t>
            </a:r>
          </a:p>
          <a:p>
            <a:pPr algn="l">
              <a:lnSpc>
                <a:spcPct val="105000"/>
              </a:lnSpc>
              <a:spcAft>
                <a:spcPts val="100"/>
              </a:spcAft>
            </a:pPr>
            <a:r>
              <a:rPr sz="900" b="0">
                <a:solidFill>
                  <a:srgbClr val="6B7280"/>
                </a:solidFill>
                <a:latin typeface="Microsoft JhengHei"/>
                <a:ea typeface="Microsoft JhengHei"/>
              </a:rPr>
              <a:t>Do, B., &amp; Faff, R. (2012). Are pairs trading profits robust to trading costs? Journal of Financial Research, 35(2), 261–287.</a:t>
            </a:r>
          </a:p>
          <a:p>
            <a:pPr algn="l">
              <a:lnSpc>
                <a:spcPct val="105000"/>
              </a:lnSpc>
              <a:spcAft>
                <a:spcPts val="100"/>
              </a:spcAft>
            </a:pPr>
            <a:r>
              <a:rPr sz="900" b="0">
                <a:solidFill>
                  <a:srgbClr val="6B7280"/>
                </a:solidFill>
                <a:latin typeface="Microsoft JhengHei"/>
                <a:ea typeface="Microsoft JhengHei"/>
              </a:rPr>
              <a:t>Krauss, C. (2017). Statistical arbitrage pairs trading strategies: Review and outlook. Journal of Economic Surveys, 31(2), 513–545.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第一部分 · 背景　｜　§2.2.4、§2.3.4</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大家的解法：把機器學習丟進去</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9</a:t>
            </a:r>
          </a:p>
        </p:txBody>
      </p:sp>
      <p:sp>
        <p:nvSpPr>
          <p:cNvPr id="5" name="TextBox 4"/>
          <p:cNvSpPr txBox="1"/>
          <p:nvPr/>
        </p:nvSpPr>
        <p:spPr>
          <a:xfrm>
            <a:off x="640080" y="1645920"/>
            <a:ext cx="10881360" cy="548640"/>
          </a:xfrm>
          <a:prstGeom prst="rect">
            <a:avLst/>
          </a:prstGeom>
          <a:noFill/>
        </p:spPr>
        <p:txBody>
          <a:bodyPr wrap="square" lIns="0" rIns="0" tIns="0" bIns="0" anchor="t">
            <a:spAutoFit/>
          </a:bodyPr>
          <a:lstStyle/>
          <a:p>
            <a:pPr algn="l">
              <a:lnSpc>
                <a:spcPct val="125000"/>
              </a:lnSpc>
              <a:spcAft>
                <a:spcPts val="600"/>
              </a:spcAft>
            </a:pPr>
            <a:r>
              <a:rPr sz="1700" b="0">
                <a:solidFill>
                  <a:srgbClr val="1A1A1A"/>
                </a:solidFill>
                <a:latin typeface="Microsoft JhengHei"/>
                <a:ea typeface="Microsoft JhengHei"/>
              </a:rPr>
              <a:t>配對交易有兩個階段，機器學習也就被用在兩個地方。多數研究只動其中一邊。</a:t>
            </a:r>
          </a:p>
        </p:txBody>
      </p:sp>
      <p:sp>
        <p:nvSpPr>
          <p:cNvPr id="6" name="Rounded Rectangle 5"/>
          <p:cNvSpPr/>
          <p:nvPr/>
        </p:nvSpPr>
        <p:spPr>
          <a:xfrm>
            <a:off x="640080" y="2331720"/>
            <a:ext cx="5257800" cy="23317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0B2A5B"/>
                </a:solidFill>
                <a:latin typeface="Microsoft JhengHei"/>
                <a:ea typeface="Microsoft JhengHei"/>
              </a:rPr>
              <a:t>① 形成期：改良「怎麼找配對」</a:t>
            </a:r>
          </a:p>
          <a:p>
            <a:pPr algn="l">
              <a:lnSpc>
                <a:spcPct val="125000"/>
              </a:lnSpc>
              <a:spcAft>
                <a:spcPts val="600"/>
              </a:spcAft>
            </a:pPr>
            <a:r>
              <a:rPr sz="1500" b="0">
                <a:solidFill>
                  <a:srgbClr val="1A1A1A"/>
                </a:solidFill>
                <a:latin typeface="Microsoft JhengHei"/>
                <a:ea typeface="Microsoft JhengHei"/>
              </a:rPr>
              <a:t>用非監督式分群取代傳統產業分類，去找</a:t>
            </a:r>
            <a:r>
              <a:rPr sz="1500" b="1">
                <a:solidFill>
                  <a:srgbClr val="1A1A1A"/>
                </a:solidFill>
                <a:latin typeface="Microsoft JhengHei"/>
                <a:ea typeface="Microsoft JhengHei"/>
              </a:rPr>
              <a:t>跨產業的隱性關聯配對</a:t>
            </a:r>
            <a:r>
              <a:rPr sz="1500" b="0">
                <a:solidFill>
                  <a:srgbClr val="1A1A1A"/>
                </a:solidFill>
                <a:latin typeface="Microsoft JhengHei"/>
                <a:ea typeface="Microsoft JhengHei"/>
              </a:rPr>
              <a:t>。</a:t>
            </a:r>
          </a:p>
          <a:p>
            <a:pPr algn="l">
              <a:lnSpc>
                <a:spcPct val="125000"/>
              </a:lnSpc>
              <a:spcAft>
                <a:spcPts val="600"/>
              </a:spcAft>
            </a:pPr>
            <a:r>
              <a:rPr sz="1300" b="0">
                <a:solidFill>
                  <a:srgbClr val="6B7280"/>
                </a:solidFill>
                <a:latin typeface="Microsoft JhengHei"/>
                <a:ea typeface="Microsoft JhengHei"/>
              </a:rPr>
              <a:t>代表：Han, He &amp; Toh（2023）、Sarmento &amp; Horta（2020）</a:t>
            </a:r>
          </a:p>
        </p:txBody>
      </p:sp>
      <p:sp>
        <p:nvSpPr>
          <p:cNvPr id="7" name="Rounded Rectangle 6"/>
          <p:cNvSpPr/>
          <p:nvPr/>
        </p:nvSpPr>
        <p:spPr>
          <a:xfrm>
            <a:off x="6263640" y="2331720"/>
            <a:ext cx="5257800" cy="23317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0B2A5B"/>
                </a:solidFill>
                <a:latin typeface="Microsoft JhengHei"/>
                <a:ea typeface="Microsoft JhengHei"/>
              </a:rPr>
              <a:t>② 交易期：改良「什麼時候進出場」</a:t>
            </a:r>
          </a:p>
          <a:p>
            <a:pPr algn="l">
              <a:lnSpc>
                <a:spcPct val="125000"/>
              </a:lnSpc>
              <a:spcAft>
                <a:spcPts val="600"/>
              </a:spcAft>
            </a:pPr>
            <a:r>
              <a:rPr sz="1500" b="0">
                <a:solidFill>
                  <a:srgbClr val="1A1A1A"/>
                </a:solidFill>
                <a:latin typeface="Microsoft JhengHei"/>
                <a:ea typeface="Microsoft JhengHei"/>
              </a:rPr>
              <a:t>用深度強化學習取代固定門檻，讓模型</a:t>
            </a:r>
            <a:r>
              <a:rPr sz="1500" b="1">
                <a:solidFill>
                  <a:srgbClr val="1A1A1A"/>
                </a:solidFill>
                <a:latin typeface="Microsoft JhengHei"/>
                <a:ea typeface="Microsoft JhengHei"/>
              </a:rPr>
              <a:t>自己決定進出場</a:t>
            </a:r>
            <a:r>
              <a:rPr sz="1500" b="0">
                <a:solidFill>
                  <a:srgbClr val="1A1A1A"/>
                </a:solidFill>
                <a:latin typeface="Microsoft JhengHei"/>
                <a:ea typeface="Microsoft JhengHei"/>
              </a:rPr>
              <a:t>與停損邊界。</a:t>
            </a:r>
          </a:p>
          <a:p>
            <a:pPr algn="l">
              <a:lnSpc>
                <a:spcPct val="125000"/>
              </a:lnSpc>
              <a:spcAft>
                <a:spcPts val="600"/>
              </a:spcAft>
            </a:pPr>
            <a:r>
              <a:rPr sz="1300" b="0">
                <a:solidFill>
                  <a:srgbClr val="6B7280"/>
                </a:solidFill>
                <a:latin typeface="Microsoft JhengHei"/>
                <a:ea typeface="Microsoft JhengHei"/>
              </a:rPr>
              <a:t>代表：Kim &amp; Kim（2019）</a:t>
            </a:r>
          </a:p>
        </p:txBody>
      </p:sp>
      <p:sp>
        <p:nvSpPr>
          <p:cNvPr id="8" name="Rounded Rectangle 7"/>
          <p:cNvSpPr/>
          <p:nvPr/>
        </p:nvSpPr>
        <p:spPr>
          <a:xfrm>
            <a:off x="640080" y="4892040"/>
            <a:ext cx="10881360" cy="8686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600"/>
              </a:spcAft>
            </a:pPr>
            <a:r>
              <a:rPr sz="1500" b="0">
                <a:solidFill>
                  <a:srgbClr val="1A1A1A"/>
                </a:solidFill>
                <a:latin typeface="Microsoft JhengHei"/>
                <a:ea typeface="Microsoft JhengHei"/>
              </a:rPr>
              <a:t>我做的是 ②。但我要問的</a:t>
            </a:r>
            <a:r>
              <a:rPr sz="1500" b="1">
                <a:solidFill>
                  <a:srgbClr val="1A1A1A"/>
                </a:solidFill>
                <a:latin typeface="Microsoft JhengHei"/>
                <a:ea typeface="Microsoft JhengHei"/>
              </a:rPr>
              <a:t>不是</a:t>
            </a:r>
            <a:r>
              <a:rPr sz="1500" b="0">
                <a:solidFill>
                  <a:srgbClr val="1A1A1A"/>
                </a:solidFill>
                <a:latin typeface="Microsoft JhengHei"/>
                <a:ea typeface="Microsoft JhengHei"/>
              </a:rPr>
              <a:t>「DRL 有沒有用」——而是一個更前面、文獻還沒有人把它拿出來問的問題。</a:t>
            </a:r>
          </a:p>
        </p:txBody>
      </p:sp>
      <p:sp>
        <p:nvSpPr>
          <p:cNvPr id="9" name="TextBox 8"/>
          <p:cNvSpPr txBox="1"/>
          <p:nvPr/>
        </p:nvSpPr>
        <p:spPr>
          <a:xfrm>
            <a:off x="640080" y="5897880"/>
            <a:ext cx="10332720" cy="822959"/>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Han, C., He, Z., &amp; Toh, A. J. W. (2023). Pairs trading via unsupervised learning. European Journal of Operational Research, 307(2), 929–947.</a:t>
            </a:r>
          </a:p>
          <a:p>
            <a:pPr algn="l">
              <a:lnSpc>
                <a:spcPct val="105000"/>
              </a:lnSpc>
              <a:spcAft>
                <a:spcPts val="100"/>
              </a:spcAft>
            </a:pPr>
            <a:r>
              <a:rPr sz="900" b="0">
                <a:solidFill>
                  <a:srgbClr val="6B7280"/>
                </a:solidFill>
                <a:latin typeface="Microsoft JhengHei"/>
                <a:ea typeface="Microsoft JhengHei"/>
              </a:rPr>
              <a:t>Sarmento, S. M., &amp; Horta, N. (2020). Enhancing a pairs trading strategy with the application of machine learning. Expert Systems with Applications, 158, 113490.</a:t>
            </a:r>
          </a:p>
          <a:p>
            <a:pPr algn="l">
              <a:lnSpc>
                <a:spcPct val="105000"/>
              </a:lnSpc>
              <a:spcAft>
                <a:spcPts val="100"/>
              </a:spcAft>
            </a:pPr>
            <a:r>
              <a:rPr sz="900" b="0">
                <a:solidFill>
                  <a:srgbClr val="6B7280"/>
                </a:solidFill>
                <a:latin typeface="Microsoft JhengHei"/>
                <a:ea typeface="Microsoft JhengHei"/>
              </a:rPr>
              <a:t>Kim, T., &amp; Kim, H. Y. (2019). Optimizing the pairs-trading strategy using deep reinforcement learning with trading and stop-loss boundaries. Complexity, 2019, 3582516.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第一部分 · 背景　｜　§2.4</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有個現象很有趣：AI 的成功案例，幾乎都是日內資料</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10</a:t>
            </a:r>
          </a:p>
        </p:txBody>
      </p:sp>
      <p:graphicFrame>
        <p:nvGraphicFramePr>
          <p:cNvPr id="5" name="Table 4"/>
          <p:cNvGraphicFramePr>
            <a:graphicFrameLocks noGrp="1"/>
          </p:cNvGraphicFramePr>
          <p:nvPr/>
        </p:nvGraphicFramePr>
        <p:xfrm>
          <a:off x="640080" y="1691640"/>
          <a:ext cx="10149840" cy="2084832"/>
        </p:xfrm>
        <a:graphic>
          <a:graphicData uri="http://schemas.openxmlformats.org/drawingml/2006/table">
            <a:tbl>
              <a:tblPr firstRow="1" bandRow="1">
                <a:tableStyleId>{5C22544A-7EE6-4342-B048-85BDC9FD1C3A}</a:tableStyleId>
              </a:tblPr>
              <a:tblGrid>
                <a:gridCol w="2468880"/>
                <a:gridCol w="4206240"/>
                <a:gridCol w="1463040"/>
                <a:gridCol w="2011680"/>
              </a:tblGrid>
              <a:tr h="347472">
                <a:tc>
                  <a:txBody>
                    <a:bodyPr wrap="square"/>
                    <a:lstStyle/>
                    <a:p>
                      <a:pPr algn="l">
                        <a:lnSpc>
                          <a:spcPct val="110000"/>
                        </a:lnSpc>
                        <a:spcAft>
                          <a:spcPts val="0"/>
                        </a:spcAft>
                      </a:pPr>
                      <a:r>
                        <a:rPr sz="1300" b="1">
                          <a:solidFill>
                            <a:srgbClr val="FFFFFF"/>
                          </a:solidFill>
                          <a:latin typeface="Microsoft JhengHei"/>
                          <a:ea typeface="Microsoft JhengHei"/>
                        </a:rPr>
                        <a:t>研究</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方法</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資料頻率</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報告績效</a:t>
                      </a:r>
                    </a:p>
                  </a:txBody>
                  <a:tcPr marT="27432" marB="27432" marL="73152" marR="73152" anchor="ctr">
                    <a:solidFill>
                      <a:srgbClr val="0B2A5B"/>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SAPT（2021）＊</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小波 CNN+LSTM 預測結構性斷裂＋DQN 停損</a:t>
                      </a:r>
                    </a:p>
                  </a:txBody>
                  <a:tcPr marT="27432" marB="27432" marL="73152" marR="73152" anchor="ctr">
                    <a:solidFill>
                      <a:srgbClr val="FFFFFF"/>
                    </a:solidFill>
                  </a:tcPr>
                </a:tc>
                <a:tc>
                  <a:txBody>
                    <a:bodyPr wrap="square"/>
                    <a:lstStyle/>
                    <a:p>
                      <a:pPr algn="l">
                        <a:lnSpc>
                          <a:spcPct val="110000"/>
                        </a:lnSpc>
                        <a:spcAft>
                          <a:spcPts val="0"/>
                        </a:spcAft>
                      </a:pPr>
                      <a:r>
                        <a:rPr sz="1300" b="1">
                          <a:solidFill>
                            <a:srgbClr val="C4553B"/>
                          </a:solidFill>
                          <a:latin typeface="Microsoft JhengHei"/>
                          <a:ea typeface="Microsoft JhengHei"/>
                        </a:rPr>
                        <a:t>分鐘級</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較基準 +456%</a:t>
                      </a:r>
                    </a:p>
                  </a:txBody>
                  <a:tcPr marT="27432" marB="27432" marL="73152" marR="73152" anchor="ctr">
                    <a:solidFill>
                      <a:srgbClr val="FFFFFF"/>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HDRL-Trader（2022）＊</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雙網路（動作＋停損邊界）</a:t>
                      </a:r>
                    </a:p>
                  </a:txBody>
                  <a:tcPr marT="27432" marB="27432" marL="73152" marR="73152" anchor="ctr">
                    <a:solidFill>
                      <a:srgbClr val="E8EDF5"/>
                    </a:solidFill>
                  </a:tcPr>
                </a:tc>
                <a:tc>
                  <a:txBody>
                    <a:bodyPr wrap="square"/>
                    <a:lstStyle/>
                    <a:p>
                      <a:pPr algn="l">
                        <a:lnSpc>
                          <a:spcPct val="110000"/>
                        </a:lnSpc>
                        <a:spcAft>
                          <a:spcPts val="0"/>
                        </a:spcAft>
                      </a:pPr>
                      <a:r>
                        <a:rPr sz="1300" b="1">
                          <a:solidFill>
                            <a:srgbClr val="C4553B"/>
                          </a:solidFill>
                          <a:latin typeface="Microsoft JhengHei"/>
                          <a:ea typeface="Microsoft JhengHei"/>
                        </a:rPr>
                        <a:t>日內</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平均報酬 82.4%</a:t>
                      </a:r>
                    </a:p>
                  </a:txBody>
                  <a:tcPr marT="27432" marB="27432" marL="73152" marR="73152" anchor="ctr">
                    <a:solidFill>
                      <a:srgbClr val="E8EDF5"/>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Sarmento &amp; Horta（2020）</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OPTICS 密度分群</a:t>
                      </a:r>
                    </a:p>
                  </a:txBody>
                  <a:tcPr marT="27432" marB="27432" marL="73152" marR="73152" anchor="ctr">
                    <a:solidFill>
                      <a:srgbClr val="FFFFFF"/>
                    </a:solidFill>
                  </a:tcPr>
                </a:tc>
                <a:tc>
                  <a:txBody>
                    <a:bodyPr wrap="square"/>
                    <a:lstStyle/>
                    <a:p>
                      <a:pPr algn="l">
                        <a:lnSpc>
                          <a:spcPct val="110000"/>
                        </a:lnSpc>
                        <a:spcAft>
                          <a:spcPts val="0"/>
                        </a:spcAft>
                      </a:pPr>
                      <a:r>
                        <a:rPr sz="1300" b="1">
                          <a:solidFill>
                            <a:srgbClr val="C4553B"/>
                          </a:solidFill>
                          <a:latin typeface="Microsoft JhengHei"/>
                          <a:ea typeface="Microsoft JhengHei"/>
                        </a:rPr>
                        <a:t>5 分鐘</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Sharpe 3.79</a:t>
                      </a:r>
                    </a:p>
                  </a:txBody>
                  <a:tcPr marT="27432" marB="27432" marL="73152" marR="73152" anchor="ctr">
                    <a:solidFill>
                      <a:srgbClr val="FFFFFF"/>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Kim &amp; Kim（2019）</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DRL 門檻＋停損</a:t>
                      </a:r>
                    </a:p>
                  </a:txBody>
                  <a:tcPr marT="27432" marB="27432" marL="73152" marR="73152" anchor="ctr">
                    <a:solidFill>
                      <a:srgbClr val="E8EDF5"/>
                    </a:solidFill>
                  </a:tcPr>
                </a:tc>
                <a:tc>
                  <a:txBody>
                    <a:bodyPr wrap="square"/>
                    <a:lstStyle/>
                    <a:p>
                      <a:pPr algn="l">
                        <a:lnSpc>
                          <a:spcPct val="110000"/>
                        </a:lnSpc>
                        <a:spcAft>
                          <a:spcPts val="0"/>
                        </a:spcAft>
                      </a:pPr>
                      <a:r>
                        <a:rPr sz="1300" b="1">
                          <a:solidFill>
                            <a:srgbClr val="C4553B"/>
                          </a:solidFill>
                          <a:latin typeface="Microsoft JhengHei"/>
                          <a:ea typeface="Microsoft JhengHei"/>
                        </a:rPr>
                        <a:t>日內</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優於固定門檻</a:t>
                      </a:r>
                    </a:p>
                  </a:txBody>
                  <a:tcPr marT="27432" marB="27432" marL="73152" marR="73152" anchor="ctr">
                    <a:solidFill>
                      <a:srgbClr val="E8EDF5"/>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Han, He &amp; Toh（2023）</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特徵空間分群（CRSP 全美股、126 個特徵）</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月頻</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年化超額 24.8%</a:t>
                      </a:r>
                    </a:p>
                  </a:txBody>
                  <a:tcPr marT="27432" marB="27432" marL="73152" marR="73152" anchor="ctr">
                    <a:solidFill>
                      <a:srgbClr val="FFFFFF"/>
                    </a:solidFill>
                  </a:tcPr>
                </a:tc>
              </a:tr>
            </a:tbl>
          </a:graphicData>
        </a:graphic>
      </p:graphicFrame>
      <p:sp>
        <p:nvSpPr>
          <p:cNvPr id="6" name="Rounded Rectangle 5"/>
          <p:cNvSpPr/>
          <p:nvPr/>
        </p:nvSpPr>
        <p:spPr>
          <a:xfrm>
            <a:off x="640080" y="3931920"/>
            <a:ext cx="5257800" cy="1874519"/>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兩種讀法，意涵相反</a:t>
            </a:r>
          </a:p>
          <a:p>
            <a:pPr algn="l">
              <a:lnSpc>
                <a:spcPct val="125000"/>
              </a:lnSpc>
              <a:spcAft>
                <a:spcPts val="600"/>
              </a:spcAft>
            </a:pPr>
            <a:r>
              <a:rPr sz="1400" b="0">
                <a:solidFill>
                  <a:srgbClr val="1A1A1A"/>
                </a:solidFill>
                <a:latin typeface="Microsoft JhengHei"/>
                <a:ea typeface="Microsoft JhengHei"/>
              </a:rPr>
              <a:t>① 方法有效，只是</a:t>
            </a:r>
            <a:r>
              <a:rPr sz="1400" b="1">
                <a:solidFill>
                  <a:srgbClr val="1A1A1A"/>
                </a:solidFill>
                <a:latin typeface="Microsoft JhengHei"/>
                <a:ea typeface="Microsoft JhengHei"/>
              </a:rPr>
              <a:t>日頻的訊噪比撐不起它</a:t>
            </a:r>
          </a:p>
          <a:p>
            <a:pPr algn="l">
              <a:lnSpc>
                <a:spcPct val="125000"/>
              </a:lnSpc>
              <a:spcAft>
                <a:spcPts val="600"/>
              </a:spcAft>
            </a:pPr>
            <a:r>
              <a:rPr sz="1400" b="0">
                <a:solidFill>
                  <a:srgbClr val="1A1A1A"/>
                </a:solidFill>
                <a:latin typeface="Microsoft JhengHei"/>
                <a:ea typeface="Microsoft JhengHei"/>
              </a:rPr>
              <a:t>② 績效跟頻率無關，型態來自</a:t>
            </a:r>
            <a:r>
              <a:rPr sz="1400" b="1">
                <a:solidFill>
                  <a:srgbClr val="1A1A1A"/>
                </a:solidFill>
                <a:latin typeface="Microsoft JhengHei"/>
                <a:ea typeface="Microsoft JhengHei"/>
              </a:rPr>
              <a:t>發表選擇</a:t>
            </a:r>
          </a:p>
          <a:p>
            <a:pPr algn="l">
              <a:lnSpc>
                <a:spcPct val="125000"/>
              </a:lnSpc>
              <a:spcAft>
                <a:spcPts val="600"/>
              </a:spcAft>
            </a:pPr>
            <a:r>
              <a:rPr sz="1300" b="0">
                <a:solidFill>
                  <a:srgbClr val="6B7280"/>
                </a:solidFill>
                <a:latin typeface="Microsoft JhengHei"/>
                <a:ea typeface="Microsoft JhengHei"/>
              </a:rPr>
              <a:t>單一研究分不出來；但可以補上缺的那組「日頻對照」。</a:t>
            </a:r>
          </a:p>
        </p:txBody>
      </p:sp>
      <p:sp>
        <p:nvSpPr>
          <p:cNvPr id="7" name="Rounded Rectangle 6"/>
          <p:cNvSpPr/>
          <p:nvPr/>
        </p:nvSpPr>
        <p:spPr>
          <a:xfrm>
            <a:off x="6263640" y="3931920"/>
            <a:ext cx="5257800" cy="1874519"/>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我在日頻上試了兩個構想：都沒成立</a:t>
            </a:r>
          </a:p>
          <a:p>
            <a:pPr algn="l">
              <a:lnSpc>
                <a:spcPct val="125000"/>
              </a:lnSpc>
              <a:spcAft>
                <a:spcPts val="600"/>
              </a:spcAft>
            </a:pPr>
            <a:r>
              <a:rPr sz="1350" b="0">
                <a:solidFill>
                  <a:srgbClr val="1A1A1A"/>
                </a:solidFill>
                <a:latin typeface="Microsoft JhengHei"/>
                <a:ea typeface="Microsoft JhengHei"/>
              </a:rPr>
              <a:t>預測「價差不會回來」：AUC </a:t>
            </a:r>
            <a:r>
              <a:rPr sz="1350" b="1">
                <a:solidFill>
                  <a:srgbClr val="1A1A1A"/>
                </a:solidFill>
                <a:latin typeface="Microsoft JhengHei"/>
                <a:ea typeface="Microsoft JhengHei"/>
              </a:rPr>
              <a:t>0.5286</a:t>
            </a:r>
            <a:r>
              <a:rPr sz="1350" b="0">
                <a:solidFill>
                  <a:srgbClr val="1A1A1A"/>
                </a:solidFill>
                <a:latin typeface="Microsoft JhengHei"/>
                <a:ea typeface="Microsoft JhengHei"/>
              </a:rPr>
              <a:t>，還輸給 SSD 排序本身的 0.5393</a:t>
            </a:r>
          </a:p>
          <a:p>
            <a:pPr algn="l">
              <a:lnSpc>
                <a:spcPct val="125000"/>
              </a:lnSpc>
              <a:spcAft>
                <a:spcPts val="600"/>
              </a:spcAft>
            </a:pPr>
            <a:r>
              <a:rPr sz="1350" b="0">
                <a:solidFill>
                  <a:srgbClr val="1A1A1A"/>
                </a:solidFill>
                <a:latin typeface="Microsoft JhengHei"/>
                <a:ea typeface="Microsoft JhengHei"/>
              </a:rPr>
              <a:t>3／4／5 個標準差停損：</a:t>
            </a:r>
            <a:r>
              <a:rPr sz="1350" b="1">
                <a:solidFill>
                  <a:srgbClr val="1A1A1A"/>
                </a:solidFill>
                <a:latin typeface="Microsoft JhengHei"/>
                <a:ea typeface="Microsoft JhengHei"/>
              </a:rPr>
              <a:t>沒有任何一個</a:t>
            </a:r>
            <a:r>
              <a:rPr sz="1350" b="0">
                <a:solidFill>
                  <a:srgbClr val="1A1A1A"/>
                </a:solidFill>
                <a:latin typeface="Microsoft JhengHei"/>
                <a:ea typeface="Microsoft JhengHei"/>
              </a:rPr>
              <a:t>讓年化轉正（NOGRP-SDP：+1.452% → −0.627%／−0.873%／−0.090%）</a:t>
            </a:r>
          </a:p>
        </p:txBody>
      </p:sp>
      <p:sp>
        <p:nvSpPr>
          <p:cNvPr id="8" name="TextBox 7"/>
          <p:cNvSpPr txBox="1"/>
          <p:nvPr/>
        </p:nvSpPr>
        <p:spPr>
          <a:xfrm>
            <a:off x="640080" y="5943600"/>
            <a:ext cx="10881360" cy="274320"/>
          </a:xfrm>
          <a:prstGeom prst="rect">
            <a:avLst/>
          </a:prstGeom>
          <a:noFill/>
        </p:spPr>
        <p:txBody>
          <a:bodyPr wrap="square" lIns="0" rIns="0" tIns="0" bIns="0" anchor="t">
            <a:spAutoFit/>
          </a:bodyPr>
          <a:lstStyle/>
          <a:p>
            <a:pPr algn="l">
              <a:lnSpc>
                <a:spcPct val="125000"/>
              </a:lnSpc>
              <a:spcAft>
                <a:spcPts val="600"/>
              </a:spcAft>
            </a:pPr>
            <a:r>
              <a:rPr sz="900" b="0">
                <a:solidFill>
                  <a:srgbClr val="6B7280"/>
                </a:solidFill>
                <a:latin typeface="Microsoft JhengHei"/>
                <a:ea typeface="Microsoft JhengHei"/>
              </a:rPr>
              <a:t>＊ SAPT、HDRL-Trader 的完整書目待補（論文 §2.4 已註記）；Sarmento &amp; Horta、Kim &amp; Kim、Han et al. 見參考文獻。</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2A5B"/>
        </a:solidFill>
        <a:effectLst/>
      </p:bgPr>
    </p:bg>
    <p:spTree>
      <p:nvGrpSpPr>
        <p:cNvPr id="1" name=""/>
        <p:cNvGrpSpPr/>
        <p:nvPr/>
      </p:nvGrpSpPr>
      <p:grpSpPr/>
      <p:sp>
        <p:nvSpPr>
          <p:cNvPr id="2" name="TextBox 1"/>
          <p:cNvSpPr txBox="1"/>
          <p:nvPr/>
        </p:nvSpPr>
        <p:spPr>
          <a:xfrm>
            <a:off x="640080" y="502920"/>
            <a:ext cx="10881360" cy="365760"/>
          </a:xfrm>
          <a:prstGeom prst="rect">
            <a:avLst/>
          </a:prstGeom>
          <a:noFill/>
        </p:spPr>
        <p:txBody>
          <a:bodyPr wrap="square" lIns="0" rIns="0" tIns="0" bIns="0" anchor="t">
            <a:spAutoFit/>
          </a:bodyPr>
          <a:lstStyle/>
          <a:p>
            <a:pPr algn="l">
              <a:lnSpc>
                <a:spcPct val="125000"/>
              </a:lnSpc>
              <a:spcAft>
                <a:spcPts val="600"/>
              </a:spcAft>
            </a:pPr>
            <a:r>
              <a:rPr sz="1400" b="1">
                <a:solidFill>
                  <a:srgbClr val="E8EDF5"/>
                </a:solidFill>
                <a:latin typeface="Microsoft JhengHei"/>
                <a:ea typeface="Microsoft JhengHei"/>
              </a:rPr>
              <a:t>第二部分　｜　§1.2–1.3、§2.3.5</a:t>
            </a:r>
          </a:p>
        </p:txBody>
      </p:sp>
      <p:sp>
        <p:nvSpPr>
          <p:cNvPr id="3" name="TextBox 2"/>
          <p:cNvSpPr txBox="1"/>
          <p:nvPr/>
        </p:nvSpPr>
        <p:spPr>
          <a:xfrm>
            <a:off x="640080" y="868680"/>
            <a:ext cx="10881360" cy="822960"/>
          </a:xfrm>
          <a:prstGeom prst="rect">
            <a:avLst/>
          </a:prstGeom>
          <a:noFill/>
        </p:spPr>
        <p:txBody>
          <a:bodyPr wrap="square" lIns="0" rIns="0" tIns="0" bIns="0" anchor="t">
            <a:spAutoFit/>
          </a:bodyPr>
          <a:lstStyle/>
          <a:p>
            <a:pPr algn="l">
              <a:lnSpc>
                <a:spcPct val="125000"/>
              </a:lnSpc>
              <a:spcAft>
                <a:spcPts val="600"/>
              </a:spcAft>
            </a:pPr>
            <a:r>
              <a:rPr sz="3600" b="1">
                <a:solidFill>
                  <a:srgbClr val="FFFFFF"/>
                </a:solidFill>
                <a:latin typeface="Microsoft JhengHei"/>
                <a:ea typeface="Microsoft JhengHei"/>
              </a:rPr>
              <a:t>我想問的問題</a:t>
            </a:r>
          </a:p>
        </p:txBody>
      </p:sp>
      <p:sp>
        <p:nvSpPr>
          <p:cNvPr id="4" name="TextBox 3"/>
          <p:cNvSpPr txBox="1"/>
          <p:nvPr/>
        </p:nvSpPr>
        <p:spPr>
          <a:xfrm>
            <a:off x="640080" y="1691640"/>
            <a:ext cx="10881360" cy="548640"/>
          </a:xfrm>
          <a:prstGeom prst="rect">
            <a:avLst/>
          </a:prstGeom>
          <a:noFill/>
        </p:spPr>
        <p:txBody>
          <a:bodyPr wrap="square" lIns="0" rIns="0" tIns="0" bIns="0" anchor="t">
            <a:spAutoFit/>
          </a:bodyPr>
          <a:lstStyle/>
          <a:p>
            <a:pPr algn="l">
              <a:lnSpc>
                <a:spcPct val="125000"/>
              </a:lnSpc>
              <a:spcAft>
                <a:spcPts val="600"/>
              </a:spcAft>
            </a:pPr>
            <a:r>
              <a:rPr sz="1700" b="0">
                <a:solidFill>
                  <a:srgbClr val="E8EDF5"/>
                </a:solidFill>
                <a:latin typeface="Microsoft JhengHei"/>
                <a:ea typeface="Microsoft JhengHei"/>
              </a:rPr>
              <a:t>文獻裡有一個大家每篇都在做、卻從來沒被拿出來檢驗的決定。</a:t>
            </a:r>
          </a:p>
        </p:txBody>
      </p:sp>
      <p:sp>
        <p:nvSpPr>
          <p:cNvPr id="5" name="TextBox 4"/>
          <p:cNvSpPr txBox="1"/>
          <p:nvPr/>
        </p:nvSpPr>
        <p:spPr>
          <a:xfrm>
            <a:off x="640080" y="260604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1</a:t>
            </a:r>
          </a:p>
        </p:txBody>
      </p:sp>
      <p:sp>
        <p:nvSpPr>
          <p:cNvPr id="6" name="TextBox 5"/>
          <p:cNvSpPr txBox="1"/>
          <p:nvPr/>
        </p:nvSpPr>
        <p:spPr>
          <a:xfrm>
            <a:off x="1463040" y="2642616"/>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背景：配對交易是什麼</a:t>
            </a:r>
          </a:p>
        </p:txBody>
      </p:sp>
      <p:sp>
        <p:nvSpPr>
          <p:cNvPr id="7" name="TextBox 6"/>
          <p:cNvSpPr txBox="1"/>
          <p:nvPr/>
        </p:nvSpPr>
        <p:spPr>
          <a:xfrm>
            <a:off x="7589519" y="269748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§1.1、第二章</a:t>
            </a:r>
          </a:p>
        </p:txBody>
      </p:sp>
      <p:sp>
        <p:nvSpPr>
          <p:cNvPr id="8" name="TextBox 7"/>
          <p:cNvSpPr txBox="1"/>
          <p:nvPr/>
        </p:nvSpPr>
        <p:spPr>
          <a:xfrm>
            <a:off x="9875519" y="269748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8 分鐘</a:t>
            </a:r>
          </a:p>
        </p:txBody>
      </p:sp>
      <p:sp>
        <p:nvSpPr>
          <p:cNvPr id="9" name="TextBox 8"/>
          <p:cNvSpPr txBox="1"/>
          <p:nvPr/>
        </p:nvSpPr>
        <p:spPr>
          <a:xfrm>
            <a:off x="640080" y="3118104"/>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C4553B"/>
                </a:solidFill>
                <a:latin typeface="Microsoft JhengHei"/>
                <a:ea typeface="Microsoft JhengHei"/>
              </a:rPr>
              <a:t>2</a:t>
            </a:r>
          </a:p>
        </p:txBody>
      </p:sp>
      <p:sp>
        <p:nvSpPr>
          <p:cNvPr id="10" name="TextBox 9"/>
          <p:cNvSpPr txBox="1"/>
          <p:nvPr/>
        </p:nvSpPr>
        <p:spPr>
          <a:xfrm>
            <a:off x="1463040" y="3154680"/>
            <a:ext cx="6035040" cy="512064"/>
          </a:xfrm>
          <a:prstGeom prst="rect">
            <a:avLst/>
          </a:prstGeom>
          <a:noFill/>
        </p:spPr>
        <p:txBody>
          <a:bodyPr wrap="square" lIns="0" rIns="0" tIns="0" bIns="0" anchor="t">
            <a:spAutoFit/>
          </a:bodyPr>
          <a:lstStyle/>
          <a:p>
            <a:pPr algn="l">
              <a:lnSpc>
                <a:spcPct val="125000"/>
              </a:lnSpc>
              <a:spcAft>
                <a:spcPts val="600"/>
              </a:spcAft>
            </a:pPr>
            <a:r>
              <a:rPr sz="2000" b="1">
                <a:solidFill>
                  <a:srgbClr val="FFFFFF"/>
                </a:solidFill>
                <a:latin typeface="Microsoft JhengHei"/>
                <a:ea typeface="Microsoft JhengHei"/>
              </a:rPr>
              <a:t>我想問的問題</a:t>
            </a:r>
          </a:p>
        </p:txBody>
      </p:sp>
      <p:sp>
        <p:nvSpPr>
          <p:cNvPr id="11" name="TextBox 10"/>
          <p:cNvSpPr txBox="1"/>
          <p:nvPr/>
        </p:nvSpPr>
        <p:spPr>
          <a:xfrm>
            <a:off x="7589519" y="3209544"/>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FFFFFF"/>
                </a:solidFill>
                <a:latin typeface="Microsoft JhengHei"/>
                <a:ea typeface="Microsoft JhengHei"/>
              </a:rPr>
              <a:t>§1.2–1.3、§2.3.5</a:t>
            </a:r>
          </a:p>
        </p:txBody>
      </p:sp>
      <p:sp>
        <p:nvSpPr>
          <p:cNvPr id="12" name="TextBox 11"/>
          <p:cNvSpPr txBox="1"/>
          <p:nvPr/>
        </p:nvSpPr>
        <p:spPr>
          <a:xfrm>
            <a:off x="9875519" y="3209544"/>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FFFFFF"/>
                </a:solidFill>
                <a:latin typeface="Microsoft JhengHei"/>
                <a:ea typeface="Microsoft JhengHei"/>
              </a:rPr>
              <a:t>約 6 分鐘</a:t>
            </a:r>
          </a:p>
        </p:txBody>
      </p:sp>
      <p:sp>
        <p:nvSpPr>
          <p:cNvPr id="13" name="TextBox 12"/>
          <p:cNvSpPr txBox="1"/>
          <p:nvPr/>
        </p:nvSpPr>
        <p:spPr>
          <a:xfrm>
            <a:off x="640080" y="3630168"/>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3</a:t>
            </a:r>
          </a:p>
        </p:txBody>
      </p:sp>
      <p:sp>
        <p:nvSpPr>
          <p:cNvPr id="14" name="TextBox 13"/>
          <p:cNvSpPr txBox="1"/>
          <p:nvPr/>
        </p:nvSpPr>
        <p:spPr>
          <a:xfrm>
            <a:off x="1463040" y="3666744"/>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我怎麼做</a:t>
            </a:r>
          </a:p>
        </p:txBody>
      </p:sp>
      <p:sp>
        <p:nvSpPr>
          <p:cNvPr id="15" name="TextBox 14"/>
          <p:cNvSpPr txBox="1"/>
          <p:nvPr/>
        </p:nvSpPr>
        <p:spPr>
          <a:xfrm>
            <a:off x="7589519" y="3721608"/>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第三章</a:t>
            </a:r>
          </a:p>
        </p:txBody>
      </p:sp>
      <p:sp>
        <p:nvSpPr>
          <p:cNvPr id="16" name="TextBox 15"/>
          <p:cNvSpPr txBox="1"/>
          <p:nvPr/>
        </p:nvSpPr>
        <p:spPr>
          <a:xfrm>
            <a:off x="9875519" y="3721608"/>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14 分鐘</a:t>
            </a:r>
          </a:p>
        </p:txBody>
      </p:sp>
      <p:sp>
        <p:nvSpPr>
          <p:cNvPr id="17" name="TextBox 16"/>
          <p:cNvSpPr txBox="1"/>
          <p:nvPr/>
        </p:nvSpPr>
        <p:spPr>
          <a:xfrm>
            <a:off x="640080" y="4142232"/>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4</a:t>
            </a:r>
          </a:p>
        </p:txBody>
      </p:sp>
      <p:sp>
        <p:nvSpPr>
          <p:cNvPr id="18" name="TextBox 17"/>
          <p:cNvSpPr txBox="1"/>
          <p:nvPr/>
        </p:nvSpPr>
        <p:spPr>
          <a:xfrm>
            <a:off x="1463040" y="4178808"/>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結果：三段證據</a:t>
            </a:r>
          </a:p>
        </p:txBody>
      </p:sp>
      <p:sp>
        <p:nvSpPr>
          <p:cNvPr id="19" name="TextBox 18"/>
          <p:cNvSpPr txBox="1"/>
          <p:nvPr/>
        </p:nvSpPr>
        <p:spPr>
          <a:xfrm>
            <a:off x="7589519" y="4233672"/>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第四章</a:t>
            </a:r>
          </a:p>
        </p:txBody>
      </p:sp>
      <p:sp>
        <p:nvSpPr>
          <p:cNvPr id="20" name="TextBox 19"/>
          <p:cNvSpPr txBox="1"/>
          <p:nvPr/>
        </p:nvSpPr>
        <p:spPr>
          <a:xfrm>
            <a:off x="9875519" y="4233672"/>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16 分鐘</a:t>
            </a:r>
          </a:p>
        </p:txBody>
      </p:sp>
      <p:sp>
        <p:nvSpPr>
          <p:cNvPr id="21" name="TextBox 20"/>
          <p:cNvSpPr txBox="1"/>
          <p:nvPr/>
        </p:nvSpPr>
        <p:spPr>
          <a:xfrm>
            <a:off x="640080" y="4654296"/>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5</a:t>
            </a:r>
          </a:p>
        </p:txBody>
      </p:sp>
      <p:sp>
        <p:nvSpPr>
          <p:cNvPr id="22" name="TextBox 21"/>
          <p:cNvSpPr txBox="1"/>
          <p:nvPr/>
        </p:nvSpPr>
        <p:spPr>
          <a:xfrm>
            <a:off x="1463040" y="4690872"/>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所以，可以拿來賺錢嗎？</a:t>
            </a:r>
          </a:p>
        </p:txBody>
      </p:sp>
      <p:sp>
        <p:nvSpPr>
          <p:cNvPr id="23" name="TextBox 22"/>
          <p:cNvSpPr txBox="1"/>
          <p:nvPr/>
        </p:nvSpPr>
        <p:spPr>
          <a:xfrm>
            <a:off x="7589519" y="4745736"/>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第五章</a:t>
            </a:r>
          </a:p>
        </p:txBody>
      </p:sp>
      <p:sp>
        <p:nvSpPr>
          <p:cNvPr id="24" name="TextBox 23"/>
          <p:cNvSpPr txBox="1"/>
          <p:nvPr/>
        </p:nvSpPr>
        <p:spPr>
          <a:xfrm>
            <a:off x="9875519" y="4745736"/>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8 分鐘</a:t>
            </a:r>
          </a:p>
        </p:txBody>
      </p:sp>
      <p:sp>
        <p:nvSpPr>
          <p:cNvPr id="25" name="TextBox 24"/>
          <p:cNvSpPr txBox="1"/>
          <p:nvPr/>
        </p:nvSpPr>
        <p:spPr>
          <a:xfrm>
            <a:off x="640080" y="516636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6</a:t>
            </a:r>
          </a:p>
        </p:txBody>
      </p:sp>
      <p:sp>
        <p:nvSpPr>
          <p:cNvPr id="26" name="TextBox 25"/>
          <p:cNvSpPr txBox="1"/>
          <p:nvPr/>
        </p:nvSpPr>
        <p:spPr>
          <a:xfrm>
            <a:off x="1463040" y="5202936"/>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結論</a:t>
            </a:r>
          </a:p>
        </p:txBody>
      </p:sp>
      <p:sp>
        <p:nvSpPr>
          <p:cNvPr id="27" name="TextBox 26"/>
          <p:cNvSpPr txBox="1"/>
          <p:nvPr/>
        </p:nvSpPr>
        <p:spPr>
          <a:xfrm>
            <a:off x="7589519" y="525780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第六章</a:t>
            </a:r>
          </a:p>
        </p:txBody>
      </p:sp>
      <p:sp>
        <p:nvSpPr>
          <p:cNvPr id="28" name="TextBox 27"/>
          <p:cNvSpPr txBox="1"/>
          <p:nvPr/>
        </p:nvSpPr>
        <p:spPr>
          <a:xfrm>
            <a:off x="9875519" y="525780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5 分鐘</a:t>
            </a:r>
          </a:p>
        </p:txBody>
      </p:sp>
      <p:sp>
        <p:nvSpPr>
          <p:cNvPr id="29" name="TextBox 28"/>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E8EDF5"/>
                </a:solidFill>
                <a:latin typeface="Microsoft JhengHei"/>
                <a:ea typeface="Microsoft Jheng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第二部分 · 研究問題　｜　§1.2.1、§2.3.5</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被跳過的問題：到底該讓模型做幾次決定？</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12</a:t>
            </a:r>
          </a:p>
        </p:txBody>
      </p:sp>
      <p:sp>
        <p:nvSpPr>
          <p:cNvPr id="5" name="TextBox 4"/>
          <p:cNvSpPr txBox="1"/>
          <p:nvPr/>
        </p:nvSpPr>
        <p:spPr>
          <a:xfrm>
            <a:off x="640080" y="1645920"/>
            <a:ext cx="10881360" cy="1097280"/>
          </a:xfrm>
          <a:prstGeom prst="rect">
            <a:avLst/>
          </a:prstGeom>
          <a:noFill/>
        </p:spPr>
        <p:txBody>
          <a:bodyPr wrap="square" lIns="0" rIns="0" tIns="0" bIns="0" anchor="t">
            <a:spAutoFit/>
          </a:bodyPr>
          <a:lstStyle/>
          <a:p>
            <a:pPr algn="l">
              <a:lnSpc>
                <a:spcPct val="125000"/>
              </a:lnSpc>
              <a:spcAft>
                <a:spcPts val="1000"/>
              </a:spcAft>
            </a:pPr>
            <a:r>
              <a:rPr sz="1700" b="0">
                <a:solidFill>
                  <a:srgbClr val="1A1A1A"/>
                </a:solidFill>
                <a:latin typeface="Microsoft JhengHei"/>
                <a:ea typeface="Microsoft JhengHei"/>
              </a:rPr>
              <a:t>把 DRL 做配對交易的論文攤開來看，每一篇都得先決定：</a:t>
            </a:r>
            <a:r>
              <a:rPr sz="1700" b="1">
                <a:solidFill>
                  <a:srgbClr val="1A1A1A"/>
                </a:solidFill>
                <a:latin typeface="Microsoft JhengHei"/>
                <a:ea typeface="Microsoft JhengHei"/>
              </a:rPr>
              <a:t>模型每一期可以做幾次決策？</a:t>
            </a:r>
          </a:p>
          <a:p>
            <a:pPr algn="l">
              <a:lnSpc>
                <a:spcPct val="125000"/>
              </a:lnSpc>
              <a:spcAft>
                <a:spcPts val="1000"/>
              </a:spcAft>
            </a:pPr>
            <a:r>
              <a:rPr sz="1700" b="0">
                <a:solidFill>
                  <a:srgbClr val="1A1A1A"/>
                </a:solidFill>
                <a:latin typeface="Microsoft JhengHei"/>
                <a:ea typeface="Microsoft JhengHei"/>
              </a:rPr>
              <a:t>多數研究給了模型「</a:t>
            </a:r>
            <a:r>
              <a:rPr sz="1700" b="1">
                <a:solidFill>
                  <a:srgbClr val="1A1A1A"/>
                </a:solidFill>
                <a:latin typeface="Microsoft JhengHei"/>
                <a:ea typeface="Microsoft JhengHei"/>
              </a:rPr>
              <a:t>每天自由決定持倉</a:t>
            </a:r>
            <a:r>
              <a:rPr sz="1700" b="0">
                <a:solidFill>
                  <a:srgbClr val="1A1A1A"/>
                </a:solidFill>
                <a:latin typeface="Microsoft JhengHei"/>
                <a:ea typeface="Microsoft JhengHei"/>
              </a:rPr>
              <a:t>」的權限——做多價差、做空價差、空手。但沒有一篇解釋為什麼，也沒有人把它單獨拿出來比。</a:t>
            </a:r>
          </a:p>
        </p:txBody>
      </p:sp>
      <p:sp>
        <p:nvSpPr>
          <p:cNvPr id="6" name="Rounded Rectangle 5"/>
          <p:cNvSpPr/>
          <p:nvPr/>
        </p:nvSpPr>
        <p:spPr>
          <a:xfrm>
            <a:off x="640080" y="2926080"/>
            <a:ext cx="10881360" cy="105156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800" b="1">
                <a:solidFill>
                  <a:srgbClr val="FFFFFF"/>
                </a:solidFill>
                <a:latin typeface="Microsoft JhengHei"/>
                <a:ea typeface="Microsoft JhengHei"/>
              </a:rPr>
              <a:t>動作空間（action space）＝模型可以做的決策集合</a:t>
            </a:r>
          </a:p>
          <a:p>
            <a:pPr algn="l">
              <a:lnSpc>
                <a:spcPct val="125000"/>
              </a:lnSpc>
              <a:spcAft>
                <a:spcPts val="600"/>
              </a:spcAft>
            </a:pPr>
            <a:r>
              <a:rPr sz="1500" b="0">
                <a:solidFill>
                  <a:srgbClr val="E8EDF5"/>
                </a:solidFill>
                <a:latin typeface="Microsoft JhengHei"/>
                <a:ea typeface="Microsoft JhengHei"/>
              </a:rPr>
              <a:t>它是每一篇 DRL 論文都必須設定、卻從來沒有被當成實驗變因的設計選擇。</a:t>
            </a:r>
          </a:p>
        </p:txBody>
      </p:sp>
      <p:sp>
        <p:nvSpPr>
          <p:cNvPr id="7" name="TextBox 6"/>
          <p:cNvSpPr txBox="1"/>
          <p:nvPr/>
        </p:nvSpPr>
        <p:spPr>
          <a:xfrm>
            <a:off x="640080" y="4206240"/>
            <a:ext cx="10881360" cy="365760"/>
          </a:xfrm>
          <a:prstGeom prst="rect">
            <a:avLst/>
          </a:prstGeom>
          <a:noFill/>
        </p:spPr>
        <p:txBody>
          <a:bodyPr wrap="square" lIns="0" rIns="0" tIns="0" bIns="0" anchor="t">
            <a:spAutoFit/>
          </a:bodyPr>
          <a:lstStyle/>
          <a:p>
            <a:pPr algn="l">
              <a:lnSpc>
                <a:spcPct val="125000"/>
              </a:lnSpc>
              <a:spcAft>
                <a:spcPts val="600"/>
              </a:spcAft>
            </a:pPr>
            <a:r>
              <a:rPr sz="1600" b="1">
                <a:solidFill>
                  <a:srgbClr val="0B2A5B"/>
                </a:solidFill>
                <a:latin typeface="Microsoft JhengHei"/>
                <a:ea typeface="Microsoft JhengHei"/>
              </a:rPr>
              <a:t>沒有控制這個變因，會發生三件事：</a:t>
            </a:r>
          </a:p>
        </p:txBody>
      </p:sp>
      <p:sp>
        <p:nvSpPr>
          <p:cNvPr id="8" name="Rounded Rectangle 7"/>
          <p:cNvSpPr/>
          <p:nvPr/>
        </p:nvSpPr>
        <p:spPr>
          <a:xfrm>
            <a:off x="640080" y="4617720"/>
            <a:ext cx="3474720" cy="114300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400"/>
              </a:spcAft>
            </a:pPr>
            <a:r>
              <a:rPr sz="1500" b="1">
                <a:solidFill>
                  <a:srgbClr val="C4553B"/>
                </a:solidFill>
                <a:latin typeface="Microsoft JhengHei"/>
                <a:ea typeface="Microsoft JhengHei"/>
              </a:rPr>
              <a:t>失敗時</a:t>
            </a:r>
          </a:p>
          <a:p>
            <a:pPr algn="l">
              <a:lnSpc>
                <a:spcPct val="125000"/>
              </a:lnSpc>
              <a:spcAft>
                <a:spcPts val="600"/>
              </a:spcAft>
            </a:pPr>
            <a:r>
              <a:rPr sz="1400" b="0">
                <a:solidFill>
                  <a:srgbClr val="1A1A1A"/>
                </a:solidFill>
                <a:latin typeface="Microsoft JhengHei"/>
                <a:ea typeface="Microsoft JhengHei"/>
              </a:rPr>
              <a:t>分不清是演算法不好，還是動作空間設計不好</a:t>
            </a:r>
          </a:p>
        </p:txBody>
      </p:sp>
      <p:sp>
        <p:nvSpPr>
          <p:cNvPr id="9" name="Rounded Rectangle 8"/>
          <p:cNvSpPr/>
          <p:nvPr/>
        </p:nvSpPr>
        <p:spPr>
          <a:xfrm>
            <a:off x="4343400" y="4617720"/>
            <a:ext cx="3474720" cy="114300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400"/>
              </a:spcAft>
            </a:pPr>
            <a:r>
              <a:rPr sz="1500" b="1">
                <a:solidFill>
                  <a:srgbClr val="C4553B"/>
                </a:solidFill>
                <a:latin typeface="Microsoft JhengHei"/>
                <a:ea typeface="Microsoft JhengHei"/>
              </a:rPr>
              <a:t>成功時</a:t>
            </a:r>
          </a:p>
          <a:p>
            <a:pPr algn="l">
              <a:lnSpc>
                <a:spcPct val="125000"/>
              </a:lnSpc>
              <a:spcAft>
                <a:spcPts val="600"/>
              </a:spcAft>
            </a:pPr>
            <a:r>
              <a:rPr sz="1400" b="0">
                <a:solidFill>
                  <a:srgbClr val="1A1A1A"/>
                </a:solidFill>
                <a:latin typeface="Microsoft JhengHei"/>
                <a:ea typeface="Microsoft JhengHei"/>
              </a:rPr>
              <a:t>分不清是模型真的「看懂配對」，還是選單的形狀剛好比較好</a:t>
            </a:r>
          </a:p>
        </p:txBody>
      </p:sp>
      <p:sp>
        <p:nvSpPr>
          <p:cNvPr id="10" name="Rounded Rectangle 9"/>
          <p:cNvSpPr/>
          <p:nvPr/>
        </p:nvSpPr>
        <p:spPr>
          <a:xfrm>
            <a:off x="8046720" y="4617720"/>
            <a:ext cx="3474720" cy="114300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400"/>
              </a:spcAft>
            </a:pPr>
            <a:r>
              <a:rPr sz="1500" b="1">
                <a:solidFill>
                  <a:srgbClr val="C4553B"/>
                </a:solidFill>
                <a:latin typeface="Microsoft JhengHei"/>
                <a:ea typeface="Microsoft JhengHei"/>
              </a:rPr>
              <a:t>跨論文比較</a:t>
            </a:r>
          </a:p>
          <a:p>
            <a:pPr algn="l">
              <a:lnSpc>
                <a:spcPct val="125000"/>
              </a:lnSpc>
              <a:spcAft>
                <a:spcPts val="600"/>
              </a:spcAft>
            </a:pPr>
            <a:r>
              <a:rPr sz="1400" b="0">
                <a:solidFill>
                  <a:srgbClr val="1A1A1A"/>
                </a:solidFill>
                <a:latin typeface="Microsoft JhengHei"/>
                <a:ea typeface="Microsoft JhengHei"/>
              </a:rPr>
              <a:t>頻率、母體都不同，取代不了同一條管線裡的消融</a:t>
            </a:r>
          </a:p>
        </p:txBody>
      </p:sp>
      <p:sp>
        <p:nvSpPr>
          <p:cNvPr id="11" name="TextBox 10"/>
          <p:cNvSpPr txBox="1"/>
          <p:nvPr/>
        </p:nvSpPr>
        <p:spPr>
          <a:xfrm>
            <a:off x="640080" y="5943600"/>
            <a:ext cx="10332720" cy="54864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Kim, T., &amp; Kim, H. Y. (2019). Optimizing the pairs-trading strategy using deep reinforcement learning with trading and stop-loss boundaries. Complexity, 2019, 3582516.</a:t>
            </a:r>
          </a:p>
          <a:p>
            <a:pPr algn="l">
              <a:lnSpc>
                <a:spcPct val="105000"/>
              </a:lnSpc>
              <a:spcAft>
                <a:spcPts val="100"/>
              </a:spcAft>
            </a:pPr>
            <a:r>
              <a:rPr sz="900" b="0">
                <a:solidFill>
                  <a:srgbClr val="6B7280"/>
                </a:solidFill>
                <a:latin typeface="Microsoft JhengHei"/>
                <a:ea typeface="Microsoft JhengHei"/>
              </a:rPr>
              <a:t>Sun, Y. (2025). A survey of statistical arbitrage pair trading with machine learning, deep learning, and reinforcement learning methods (Working Papers No. 22/2025). University of Warsaw.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第二部分 · 研究問題　｜　§2.3.5、§3.3.1</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動作空間，說白了就是：每一期可以做幾次決定</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13</a:t>
            </a:r>
          </a:p>
        </p:txBody>
      </p:sp>
      <p:sp>
        <p:nvSpPr>
          <p:cNvPr id="5" name="Rounded Rectangle 4"/>
          <p:cNvSpPr/>
          <p:nvPr/>
        </p:nvSpPr>
        <p:spPr>
          <a:xfrm>
            <a:off x="640080" y="1737360"/>
            <a:ext cx="3474720" cy="306324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6" name="TextBox 5"/>
          <p:cNvSpPr txBox="1"/>
          <p:nvPr/>
        </p:nvSpPr>
        <p:spPr>
          <a:xfrm>
            <a:off x="868680" y="1874519"/>
            <a:ext cx="3017520" cy="868680"/>
          </a:xfrm>
          <a:prstGeom prst="rect">
            <a:avLst/>
          </a:prstGeom>
          <a:noFill/>
        </p:spPr>
        <p:txBody>
          <a:bodyPr wrap="square" lIns="0" rIns="0" tIns="0" bIns="0" anchor="t">
            <a:spAutoFit/>
          </a:bodyPr>
          <a:lstStyle/>
          <a:p>
            <a:pPr algn="l">
              <a:lnSpc>
                <a:spcPct val="125000"/>
              </a:lnSpc>
              <a:spcAft>
                <a:spcPts val="0"/>
              </a:spcAft>
            </a:pPr>
            <a:r>
              <a:rPr sz="4800" b="1">
                <a:solidFill>
                  <a:srgbClr val="0B2A5B"/>
                </a:solidFill>
                <a:latin typeface="Microsoft JhengHei"/>
                <a:ea typeface="Microsoft JhengHei"/>
              </a:rPr>
              <a:t>0</a:t>
            </a:r>
          </a:p>
        </p:txBody>
      </p:sp>
      <p:sp>
        <p:nvSpPr>
          <p:cNvPr id="7" name="TextBox 6"/>
          <p:cNvSpPr txBox="1"/>
          <p:nvPr/>
        </p:nvSpPr>
        <p:spPr>
          <a:xfrm>
            <a:off x="1435607" y="2331720"/>
            <a:ext cx="1097280" cy="36576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次決策／期</a:t>
            </a:r>
          </a:p>
        </p:txBody>
      </p:sp>
      <p:sp>
        <p:nvSpPr>
          <p:cNvPr id="8" name="TextBox 7"/>
          <p:cNvSpPr txBox="1"/>
          <p:nvPr/>
        </p:nvSpPr>
        <p:spPr>
          <a:xfrm>
            <a:off x="868680" y="2834640"/>
            <a:ext cx="3017520" cy="365760"/>
          </a:xfrm>
          <a:prstGeom prst="rect">
            <a:avLst/>
          </a:prstGeom>
          <a:noFill/>
        </p:spPr>
        <p:txBody>
          <a:bodyPr wrap="square" lIns="0" rIns="0" tIns="0" bIns="0" anchor="t">
            <a:spAutoFit/>
          </a:bodyPr>
          <a:lstStyle/>
          <a:p>
            <a:pPr algn="l">
              <a:lnSpc>
                <a:spcPct val="125000"/>
              </a:lnSpc>
              <a:spcAft>
                <a:spcPts val="600"/>
              </a:spcAft>
            </a:pPr>
            <a:r>
              <a:rPr sz="1700" b="1">
                <a:solidFill>
                  <a:srgbClr val="0B2A5B"/>
                </a:solidFill>
                <a:latin typeface="Microsoft JhengHei"/>
                <a:ea typeface="Microsoft JhengHei"/>
              </a:rPr>
              <a:t>固定門檻（不決策）</a:t>
            </a:r>
          </a:p>
        </p:txBody>
      </p:sp>
      <p:sp>
        <p:nvSpPr>
          <p:cNvPr id="9" name="TextBox 8"/>
          <p:cNvSpPr txBox="1"/>
          <p:nvPr/>
        </p:nvSpPr>
        <p:spPr>
          <a:xfrm>
            <a:off x="868680" y="3246120"/>
            <a:ext cx="3017520" cy="1005840"/>
          </a:xfrm>
          <a:prstGeom prst="rect">
            <a:avLst/>
          </a:prstGeom>
          <a:noFill/>
        </p:spPr>
        <p:txBody>
          <a:bodyPr wrap="square" lIns="0" rIns="0" tIns="0" bIns="0" anchor="t">
            <a:spAutoFit/>
          </a:bodyPr>
          <a:lstStyle/>
          <a:p>
            <a:pPr algn="l">
              <a:lnSpc>
                <a:spcPct val="125000"/>
              </a:lnSpc>
              <a:spcAft>
                <a:spcPts val="600"/>
              </a:spcAft>
            </a:pPr>
            <a:r>
              <a:rPr sz="1400" b="0">
                <a:solidFill>
                  <a:srgbClr val="1A1A1A"/>
                </a:solidFill>
                <a:latin typeface="Microsoft JhengHei"/>
                <a:ea typeface="Microsoft JhengHei"/>
              </a:rPr>
              <a:t>進場 2.0、出場 0.0，永遠不變。</a:t>
            </a:r>
          </a:p>
        </p:txBody>
      </p:sp>
      <p:sp>
        <p:nvSpPr>
          <p:cNvPr id="10" name="TextBox 9"/>
          <p:cNvSpPr txBox="1"/>
          <p:nvPr/>
        </p:nvSpPr>
        <p:spPr>
          <a:xfrm>
            <a:off x="868680" y="4343400"/>
            <a:ext cx="3017520" cy="36576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GGR 以來的傳統研究</a:t>
            </a:r>
          </a:p>
        </p:txBody>
      </p:sp>
      <p:sp>
        <p:nvSpPr>
          <p:cNvPr id="11" name="Rounded Rectangle 10"/>
          <p:cNvSpPr/>
          <p:nvPr/>
        </p:nvSpPr>
        <p:spPr>
          <a:xfrm>
            <a:off x="4343400" y="1737360"/>
            <a:ext cx="3474720" cy="306324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2" name="TextBox 11"/>
          <p:cNvSpPr txBox="1"/>
          <p:nvPr/>
        </p:nvSpPr>
        <p:spPr>
          <a:xfrm>
            <a:off x="4572000" y="1874519"/>
            <a:ext cx="3017520" cy="868680"/>
          </a:xfrm>
          <a:prstGeom prst="rect">
            <a:avLst/>
          </a:prstGeom>
          <a:noFill/>
        </p:spPr>
        <p:txBody>
          <a:bodyPr wrap="square" lIns="0" rIns="0" tIns="0" bIns="0" anchor="t">
            <a:spAutoFit/>
          </a:bodyPr>
          <a:lstStyle/>
          <a:p>
            <a:pPr algn="l">
              <a:lnSpc>
                <a:spcPct val="125000"/>
              </a:lnSpc>
              <a:spcAft>
                <a:spcPts val="0"/>
              </a:spcAft>
            </a:pPr>
            <a:r>
              <a:rPr sz="4800" b="1">
                <a:solidFill>
                  <a:srgbClr val="2E5A92"/>
                </a:solidFill>
                <a:latin typeface="Microsoft JhengHei"/>
                <a:ea typeface="Microsoft JhengHei"/>
              </a:rPr>
              <a:t>1</a:t>
            </a:r>
          </a:p>
        </p:txBody>
      </p:sp>
      <p:sp>
        <p:nvSpPr>
          <p:cNvPr id="13" name="TextBox 12"/>
          <p:cNvSpPr txBox="1"/>
          <p:nvPr/>
        </p:nvSpPr>
        <p:spPr>
          <a:xfrm>
            <a:off x="5138928" y="2331720"/>
            <a:ext cx="1097280" cy="36576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次決策／期</a:t>
            </a:r>
          </a:p>
        </p:txBody>
      </p:sp>
      <p:sp>
        <p:nvSpPr>
          <p:cNvPr id="14" name="TextBox 13"/>
          <p:cNvSpPr txBox="1"/>
          <p:nvPr/>
        </p:nvSpPr>
        <p:spPr>
          <a:xfrm>
            <a:off x="4572000" y="2834640"/>
            <a:ext cx="3017520" cy="365760"/>
          </a:xfrm>
          <a:prstGeom prst="rect">
            <a:avLst/>
          </a:prstGeom>
          <a:noFill/>
        </p:spPr>
        <p:txBody>
          <a:bodyPr wrap="square" lIns="0" rIns="0" tIns="0" bIns="0" anchor="t">
            <a:spAutoFit/>
          </a:bodyPr>
          <a:lstStyle/>
          <a:p>
            <a:pPr algn="l">
              <a:lnSpc>
                <a:spcPct val="125000"/>
              </a:lnSpc>
              <a:spcAft>
                <a:spcPts val="600"/>
              </a:spcAft>
            </a:pPr>
            <a:r>
              <a:rPr sz="1700" b="1">
                <a:solidFill>
                  <a:srgbClr val="0B2A5B"/>
                </a:solidFill>
                <a:latin typeface="Microsoft JhengHei"/>
                <a:ea typeface="Microsoft JhengHei"/>
              </a:rPr>
              <a:t>每期選一組門檻</a:t>
            </a:r>
          </a:p>
        </p:txBody>
      </p:sp>
      <p:sp>
        <p:nvSpPr>
          <p:cNvPr id="15" name="TextBox 14"/>
          <p:cNvSpPr txBox="1"/>
          <p:nvPr/>
        </p:nvSpPr>
        <p:spPr>
          <a:xfrm>
            <a:off x="4572000" y="3246120"/>
            <a:ext cx="3017520" cy="1005840"/>
          </a:xfrm>
          <a:prstGeom prst="rect">
            <a:avLst/>
          </a:prstGeom>
          <a:noFill/>
        </p:spPr>
        <p:txBody>
          <a:bodyPr wrap="square" lIns="0" rIns="0" tIns="0" bIns="0" anchor="t">
            <a:spAutoFit/>
          </a:bodyPr>
          <a:lstStyle/>
          <a:p>
            <a:pPr algn="l">
              <a:lnSpc>
                <a:spcPct val="125000"/>
              </a:lnSpc>
              <a:spcAft>
                <a:spcPts val="600"/>
              </a:spcAft>
            </a:pPr>
            <a:r>
              <a:rPr sz="1400" b="0">
                <a:solidFill>
                  <a:srgbClr val="1A1A1A"/>
                </a:solidFill>
                <a:latin typeface="Microsoft JhengHei"/>
                <a:ea typeface="Microsoft JhengHei"/>
              </a:rPr>
              <a:t>每期開始前，從 9 個選項挑 1 個：拒絕交易（SKIP）或 8 組進出場門檻。</a:t>
            </a:r>
          </a:p>
        </p:txBody>
      </p:sp>
      <p:sp>
        <p:nvSpPr>
          <p:cNvPr id="16" name="TextBox 15"/>
          <p:cNvSpPr txBox="1"/>
          <p:nvPr/>
        </p:nvSpPr>
        <p:spPr>
          <a:xfrm>
            <a:off x="4572000" y="4343400"/>
            <a:ext cx="3017520" cy="36576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本研究的 DL-THR</a:t>
            </a:r>
          </a:p>
        </p:txBody>
      </p:sp>
      <p:sp>
        <p:nvSpPr>
          <p:cNvPr id="17" name="Rounded Rectangle 16"/>
          <p:cNvSpPr/>
          <p:nvPr/>
        </p:nvSpPr>
        <p:spPr>
          <a:xfrm>
            <a:off x="8046720" y="1737360"/>
            <a:ext cx="3474720" cy="306324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8" name="TextBox 17"/>
          <p:cNvSpPr txBox="1"/>
          <p:nvPr/>
        </p:nvSpPr>
        <p:spPr>
          <a:xfrm>
            <a:off x="8275320" y="1874519"/>
            <a:ext cx="3017520" cy="868680"/>
          </a:xfrm>
          <a:prstGeom prst="rect">
            <a:avLst/>
          </a:prstGeom>
          <a:noFill/>
        </p:spPr>
        <p:txBody>
          <a:bodyPr wrap="square" lIns="0" rIns="0" tIns="0" bIns="0" anchor="t">
            <a:spAutoFit/>
          </a:bodyPr>
          <a:lstStyle/>
          <a:p>
            <a:pPr algn="l">
              <a:lnSpc>
                <a:spcPct val="125000"/>
              </a:lnSpc>
              <a:spcAft>
                <a:spcPts val="0"/>
              </a:spcAft>
            </a:pPr>
            <a:r>
              <a:rPr sz="4800" b="1">
                <a:solidFill>
                  <a:srgbClr val="C4553B"/>
                </a:solidFill>
                <a:latin typeface="Microsoft JhengHei"/>
                <a:ea typeface="Microsoft JhengHei"/>
              </a:rPr>
              <a:t>126</a:t>
            </a:r>
          </a:p>
        </p:txBody>
      </p:sp>
      <p:sp>
        <p:nvSpPr>
          <p:cNvPr id="19" name="TextBox 18"/>
          <p:cNvSpPr txBox="1"/>
          <p:nvPr/>
        </p:nvSpPr>
        <p:spPr>
          <a:xfrm>
            <a:off x="9692640" y="2331720"/>
            <a:ext cx="1097280" cy="36576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次（最多）</a:t>
            </a:r>
          </a:p>
        </p:txBody>
      </p:sp>
      <p:sp>
        <p:nvSpPr>
          <p:cNvPr id="20" name="TextBox 19"/>
          <p:cNvSpPr txBox="1"/>
          <p:nvPr/>
        </p:nvSpPr>
        <p:spPr>
          <a:xfrm>
            <a:off x="8275320" y="2834640"/>
            <a:ext cx="3017520" cy="365760"/>
          </a:xfrm>
          <a:prstGeom prst="rect">
            <a:avLst/>
          </a:prstGeom>
          <a:noFill/>
        </p:spPr>
        <p:txBody>
          <a:bodyPr wrap="square" lIns="0" rIns="0" tIns="0" bIns="0" anchor="t">
            <a:spAutoFit/>
          </a:bodyPr>
          <a:lstStyle/>
          <a:p>
            <a:pPr algn="l">
              <a:lnSpc>
                <a:spcPct val="125000"/>
              </a:lnSpc>
              <a:spcAft>
                <a:spcPts val="600"/>
              </a:spcAft>
            </a:pPr>
            <a:r>
              <a:rPr sz="1700" b="1">
                <a:solidFill>
                  <a:srgbClr val="0B2A5B"/>
                </a:solidFill>
                <a:latin typeface="Microsoft JhengHei"/>
                <a:ea typeface="Microsoft JhengHei"/>
              </a:rPr>
              <a:t>逐日自由決定持倉</a:t>
            </a:r>
          </a:p>
        </p:txBody>
      </p:sp>
      <p:sp>
        <p:nvSpPr>
          <p:cNvPr id="21" name="TextBox 20"/>
          <p:cNvSpPr txBox="1"/>
          <p:nvPr/>
        </p:nvSpPr>
        <p:spPr>
          <a:xfrm>
            <a:off x="8275320" y="3246120"/>
            <a:ext cx="3017520" cy="1005840"/>
          </a:xfrm>
          <a:prstGeom prst="rect">
            <a:avLst/>
          </a:prstGeom>
          <a:noFill/>
        </p:spPr>
        <p:txBody>
          <a:bodyPr wrap="square" lIns="0" rIns="0" tIns="0" bIns="0" anchor="t">
            <a:spAutoFit/>
          </a:bodyPr>
          <a:lstStyle/>
          <a:p>
            <a:pPr algn="l">
              <a:lnSpc>
                <a:spcPct val="125000"/>
              </a:lnSpc>
              <a:spcAft>
                <a:spcPts val="600"/>
              </a:spcAft>
            </a:pPr>
            <a:r>
              <a:rPr sz="1400" b="0">
                <a:solidFill>
                  <a:srgbClr val="1A1A1A"/>
                </a:solidFill>
                <a:latin typeface="Microsoft JhengHei"/>
                <a:ea typeface="Microsoft JhengHei"/>
              </a:rPr>
              <a:t>每天都在 {做多、做空、空手} 裡選一個。</a:t>
            </a:r>
          </a:p>
        </p:txBody>
      </p:sp>
      <p:sp>
        <p:nvSpPr>
          <p:cNvPr id="22" name="TextBox 21"/>
          <p:cNvSpPr txBox="1"/>
          <p:nvPr/>
        </p:nvSpPr>
        <p:spPr>
          <a:xfrm>
            <a:off x="8275320" y="4343400"/>
            <a:ext cx="3017520" cy="36576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多數 DRL 文獻</a:t>
            </a:r>
          </a:p>
        </p:txBody>
      </p:sp>
      <p:sp>
        <p:nvSpPr>
          <p:cNvPr id="23" name="Rounded Rectangle 22"/>
          <p:cNvSpPr/>
          <p:nvPr/>
        </p:nvSpPr>
        <p:spPr>
          <a:xfrm>
            <a:off x="640080" y="5029200"/>
            <a:ext cx="10881360" cy="7772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600"/>
              </a:spcAft>
            </a:pPr>
            <a:r>
              <a:rPr sz="1500" b="0">
                <a:solidFill>
                  <a:srgbClr val="1A1A1A"/>
                </a:solidFill>
                <a:latin typeface="Microsoft JhengHei"/>
                <a:ea typeface="Microsoft JhengHei"/>
              </a:rPr>
              <a:t>為什麼是 126？交易期就是 126 個交易日。天天決定，一期最多就是 126 次——三者的決策次數</a:t>
            </a:r>
            <a:r>
              <a:rPr sz="1500" b="1">
                <a:solidFill>
                  <a:srgbClr val="1A1A1A"/>
                </a:solidFill>
                <a:latin typeface="Microsoft JhengHei"/>
                <a:ea typeface="Microsoft JhengHei"/>
              </a:rPr>
              <a:t>差了兩個數量級</a:t>
            </a:r>
            <a:r>
              <a:rPr sz="1500" b="0">
                <a:solidFill>
                  <a:srgbClr val="1A1A1A"/>
                </a:solidFill>
                <a:latin typeface="Microsoft JhengHei"/>
                <a:ea typeface="Microsoft JhengHe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第二部分 · 研究問題　｜　§2.3.5、§2.3.6</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直覺說越大越好——但真的是這樣嗎？</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14</a:t>
            </a:r>
          </a:p>
        </p:txBody>
      </p:sp>
      <p:sp>
        <p:nvSpPr>
          <p:cNvPr id="5" name="Rounded Rectangle 4"/>
          <p:cNvSpPr/>
          <p:nvPr/>
        </p:nvSpPr>
        <p:spPr>
          <a:xfrm>
            <a:off x="640080" y="1783080"/>
            <a:ext cx="5257800" cy="25146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800" b="1">
                <a:solidFill>
                  <a:srgbClr val="0B2A5B"/>
                </a:solidFill>
                <a:latin typeface="Microsoft JhengHei"/>
                <a:ea typeface="Microsoft JhengHei"/>
              </a:rPr>
              <a:t>支持「越大越好」</a:t>
            </a:r>
          </a:p>
          <a:p>
            <a:pPr algn="l">
              <a:lnSpc>
                <a:spcPct val="125000"/>
              </a:lnSpc>
              <a:spcAft>
                <a:spcPts val="600"/>
              </a:spcAft>
            </a:pPr>
            <a:r>
              <a:rPr sz="1500" b="0">
                <a:solidFill>
                  <a:srgbClr val="1A1A1A"/>
                </a:solidFill>
                <a:latin typeface="Microsoft JhengHei"/>
                <a:ea typeface="Microsoft JhengHei"/>
              </a:rPr>
              <a:t>天天決定的動作空間，</a:t>
            </a:r>
            <a:r>
              <a:rPr sz="1500" b="1">
                <a:solidFill>
                  <a:srgbClr val="1A1A1A"/>
                </a:solidFill>
                <a:latin typeface="Microsoft JhengHei"/>
                <a:ea typeface="Microsoft JhengHei"/>
              </a:rPr>
              <a:t>表達能力涵蓋</a:t>
            </a:r>
            <a:r>
              <a:rPr sz="1500" b="0">
                <a:solidFill>
                  <a:srgbClr val="1A1A1A"/>
                </a:solidFill>
                <a:latin typeface="Microsoft JhengHei"/>
                <a:ea typeface="Microsoft JhengHei"/>
              </a:rPr>
              <a:t>任何固定門檻規則。</a:t>
            </a:r>
          </a:p>
          <a:p>
            <a:pPr algn="l">
              <a:lnSpc>
                <a:spcPct val="125000"/>
              </a:lnSpc>
              <a:spcAft>
                <a:spcPts val="600"/>
              </a:spcAft>
            </a:pPr>
            <a:r>
              <a:rPr sz="1500" b="0">
                <a:solidFill>
                  <a:srgbClr val="1A1A1A"/>
                </a:solidFill>
                <a:latin typeface="Microsoft JhengHei"/>
                <a:ea typeface="Microsoft JhengHei"/>
              </a:rPr>
              <a:t>理論上它至少不會比較差——大不了模型學出一條固定規則就好。</a:t>
            </a:r>
          </a:p>
        </p:txBody>
      </p:sp>
      <p:sp>
        <p:nvSpPr>
          <p:cNvPr id="6" name="Rounded Rectangle 5"/>
          <p:cNvSpPr/>
          <p:nvPr/>
        </p:nvSpPr>
        <p:spPr>
          <a:xfrm>
            <a:off x="6263640" y="1783080"/>
            <a:ext cx="5257800" cy="25146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800" b="1">
                <a:solidFill>
                  <a:srgbClr val="C4553B"/>
                </a:solidFill>
                <a:latin typeface="Microsoft JhengHei"/>
                <a:ea typeface="Microsoft JhengHei"/>
              </a:rPr>
              <a:t>支持「越大越糟」</a:t>
            </a:r>
          </a:p>
          <a:p>
            <a:pPr algn="l">
              <a:lnSpc>
                <a:spcPct val="125000"/>
              </a:lnSpc>
              <a:spcAft>
                <a:spcPts val="600"/>
              </a:spcAft>
            </a:pPr>
            <a:r>
              <a:rPr sz="1500" b="0">
                <a:solidFill>
                  <a:srgbClr val="1A1A1A"/>
                </a:solidFill>
                <a:latin typeface="Microsoft JhengHei"/>
                <a:ea typeface="Microsoft JhengHei"/>
              </a:rPr>
              <a:t>決策越多次，每次決策依據的訊號越短、</a:t>
            </a:r>
            <a:r>
              <a:rPr sz="1500" b="1">
                <a:solidFill>
                  <a:srgbClr val="1A1A1A"/>
                </a:solidFill>
                <a:latin typeface="Microsoft JhengHei"/>
                <a:ea typeface="Microsoft JhengHei"/>
              </a:rPr>
              <a:t>雜訊佔比越高</a:t>
            </a:r>
            <a:r>
              <a:rPr sz="1500" b="0">
                <a:solidFill>
                  <a:srgbClr val="1A1A1A"/>
                </a:solidFill>
                <a:latin typeface="Microsoft JhengHei"/>
                <a:ea typeface="Microsoft JhengHei"/>
              </a:rPr>
              <a:t>。</a:t>
            </a:r>
          </a:p>
          <a:p>
            <a:pPr algn="l">
              <a:lnSpc>
                <a:spcPct val="125000"/>
              </a:lnSpc>
              <a:spcAft>
                <a:spcPts val="600"/>
              </a:spcAft>
            </a:pPr>
            <a:r>
              <a:rPr sz="1500" b="0">
                <a:solidFill>
                  <a:srgbClr val="1A1A1A"/>
                </a:solidFill>
                <a:latin typeface="Microsoft JhengHei"/>
                <a:ea typeface="Microsoft JhengHei"/>
              </a:rPr>
              <a:t>而且每一次決策，都可能多付一次</a:t>
            </a:r>
            <a:r>
              <a:rPr sz="1500" b="1">
                <a:solidFill>
                  <a:srgbClr val="1A1A1A"/>
                </a:solidFill>
                <a:latin typeface="Microsoft JhengHei"/>
                <a:ea typeface="Microsoft JhengHei"/>
              </a:rPr>
              <a:t>換手成本</a:t>
            </a:r>
            <a:r>
              <a:rPr sz="1500" b="0">
                <a:solidFill>
                  <a:srgbClr val="1A1A1A"/>
                </a:solidFill>
                <a:latin typeface="Microsoft JhengHei"/>
                <a:ea typeface="Microsoft JhengHei"/>
              </a:rPr>
              <a:t>。</a:t>
            </a:r>
          </a:p>
        </p:txBody>
      </p:sp>
      <p:sp>
        <p:nvSpPr>
          <p:cNvPr id="7" name="Rounded Rectangle 6"/>
          <p:cNvSpPr/>
          <p:nvPr/>
        </p:nvSpPr>
        <p:spPr>
          <a:xfrm>
            <a:off x="640080" y="4572000"/>
            <a:ext cx="10881360" cy="114300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146304" bIns="146304" wrap="square"/>
          <a:lstStyle/>
          <a:p>
            <a:pPr algn="l">
              <a:lnSpc>
                <a:spcPct val="125000"/>
              </a:lnSpc>
              <a:spcAft>
                <a:spcPts val="400"/>
              </a:spcAft>
            </a:pPr>
            <a:r>
              <a:rPr sz="2000" b="1">
                <a:solidFill>
                  <a:srgbClr val="FFFFFF"/>
                </a:solidFill>
                <a:latin typeface="Microsoft JhengHei"/>
                <a:ea typeface="Microsoft JhengHei"/>
              </a:rPr>
              <a:t>這個取捨在日頻上往哪邊倒？</a:t>
            </a:r>
          </a:p>
          <a:p>
            <a:pPr algn="l">
              <a:lnSpc>
                <a:spcPct val="125000"/>
              </a:lnSpc>
              <a:spcAft>
                <a:spcPts val="600"/>
              </a:spcAft>
            </a:pPr>
            <a:r>
              <a:rPr sz="1500" b="0">
                <a:solidFill>
                  <a:srgbClr val="E8EDF5"/>
                </a:solidFill>
                <a:latin typeface="Microsoft JhengHei"/>
                <a:ea typeface="Microsoft JhengHei"/>
              </a:rPr>
              <a:t>不需要理論爭辯——可以直接用實驗回答。文獻沒做，因為沒有人把動作空間當成變因。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第二部分 · 研究問題　｜　§1.2.3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所以我問了三個問題</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15</a:t>
            </a:r>
          </a:p>
        </p:txBody>
      </p:sp>
      <p:sp>
        <p:nvSpPr>
          <p:cNvPr id="5" name="TextBox 4"/>
          <p:cNvSpPr txBox="1"/>
          <p:nvPr/>
        </p:nvSpPr>
        <p:spPr>
          <a:xfrm>
            <a:off x="640080" y="1691640"/>
            <a:ext cx="914400" cy="640080"/>
          </a:xfrm>
          <a:prstGeom prst="rect">
            <a:avLst/>
          </a:prstGeom>
          <a:noFill/>
        </p:spPr>
        <p:txBody>
          <a:bodyPr wrap="square" lIns="0" rIns="0" tIns="0" bIns="0" anchor="t">
            <a:spAutoFit/>
          </a:bodyPr>
          <a:lstStyle/>
          <a:p>
            <a:pPr algn="l">
              <a:lnSpc>
                <a:spcPct val="125000"/>
              </a:lnSpc>
              <a:spcAft>
                <a:spcPts val="600"/>
              </a:spcAft>
            </a:pPr>
            <a:r>
              <a:rPr sz="2800" b="1">
                <a:solidFill>
                  <a:srgbClr val="0B2A5B"/>
                </a:solidFill>
                <a:latin typeface="Microsoft JhengHei"/>
                <a:ea typeface="Microsoft JhengHei"/>
              </a:rPr>
              <a:t>Q1</a:t>
            </a:r>
          </a:p>
        </p:txBody>
      </p:sp>
      <p:sp>
        <p:nvSpPr>
          <p:cNvPr id="6" name="TextBox 5"/>
          <p:cNvSpPr txBox="1"/>
          <p:nvPr/>
        </p:nvSpPr>
        <p:spPr>
          <a:xfrm>
            <a:off x="1691640" y="1709928"/>
            <a:ext cx="7589520" cy="1097280"/>
          </a:xfrm>
          <a:prstGeom prst="rect">
            <a:avLst/>
          </a:prstGeom>
          <a:noFill/>
        </p:spPr>
        <p:txBody>
          <a:bodyPr wrap="square" lIns="0" rIns="0" tIns="0" bIns="0" anchor="t">
            <a:spAutoFit/>
          </a:bodyPr>
          <a:lstStyle/>
          <a:p>
            <a:pPr algn="l">
              <a:lnSpc>
                <a:spcPct val="125000"/>
              </a:lnSpc>
              <a:spcAft>
                <a:spcPts val="400"/>
              </a:spcAft>
            </a:pPr>
            <a:r>
              <a:rPr sz="1800" b="1">
                <a:solidFill>
                  <a:srgbClr val="0B2A5B"/>
                </a:solidFill>
                <a:latin typeface="Microsoft JhengHei"/>
                <a:ea typeface="Microsoft JhengHei"/>
              </a:rPr>
              <a:t>動作空間是不是關鍵？</a:t>
            </a:r>
          </a:p>
          <a:p>
            <a:pPr algn="l">
              <a:lnSpc>
                <a:spcPct val="125000"/>
              </a:lnSpc>
              <a:spcAft>
                <a:spcPts val="600"/>
              </a:spcAft>
            </a:pPr>
            <a:r>
              <a:rPr sz="1450" b="0">
                <a:solidFill>
                  <a:srgbClr val="1A1A1A"/>
                </a:solidFill>
                <a:latin typeface="Microsoft JhengHei"/>
                <a:ea typeface="Microsoft JhengHei"/>
              </a:rPr>
              <a:t>其他一切都一樣，只把每期決策次數從 0、1 放大到 126——會不會系統性地過度交易、績效變差？</a:t>
            </a:r>
          </a:p>
        </p:txBody>
      </p:sp>
      <p:sp>
        <p:nvSpPr>
          <p:cNvPr id="7" name="Rounded Rectangle 6"/>
          <p:cNvSpPr/>
          <p:nvPr/>
        </p:nvSpPr>
        <p:spPr>
          <a:xfrm>
            <a:off x="9555480" y="1801368"/>
            <a:ext cx="1965960" cy="4114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lnSpc>
                <a:spcPct val="125000"/>
              </a:lnSpc>
              <a:spcAft>
                <a:spcPts val="600"/>
              </a:spcAft>
            </a:pPr>
            <a:r>
              <a:rPr sz="1200" b="1">
                <a:solidFill>
                  <a:srgbClr val="0B2A5B"/>
                </a:solidFill>
                <a:latin typeface="Microsoft JhengHei"/>
                <a:ea typeface="Microsoft JhengHei"/>
              </a:rPr>
              <a:t>完整預先登記</a:t>
            </a:r>
          </a:p>
        </p:txBody>
      </p:sp>
      <p:sp>
        <p:nvSpPr>
          <p:cNvPr id="8" name="TextBox 7"/>
          <p:cNvSpPr txBox="1"/>
          <p:nvPr/>
        </p:nvSpPr>
        <p:spPr>
          <a:xfrm>
            <a:off x="640080" y="2953512"/>
            <a:ext cx="914400" cy="640080"/>
          </a:xfrm>
          <a:prstGeom prst="rect">
            <a:avLst/>
          </a:prstGeom>
          <a:noFill/>
        </p:spPr>
        <p:txBody>
          <a:bodyPr wrap="square" lIns="0" rIns="0" tIns="0" bIns="0" anchor="t">
            <a:spAutoFit/>
          </a:bodyPr>
          <a:lstStyle/>
          <a:p>
            <a:pPr algn="l">
              <a:lnSpc>
                <a:spcPct val="125000"/>
              </a:lnSpc>
              <a:spcAft>
                <a:spcPts val="600"/>
              </a:spcAft>
            </a:pPr>
            <a:r>
              <a:rPr sz="2800" b="1">
                <a:solidFill>
                  <a:srgbClr val="0B2A5B"/>
                </a:solidFill>
                <a:latin typeface="Microsoft JhengHei"/>
                <a:ea typeface="Microsoft JhengHei"/>
              </a:rPr>
              <a:t>Q2</a:t>
            </a:r>
          </a:p>
        </p:txBody>
      </p:sp>
      <p:sp>
        <p:nvSpPr>
          <p:cNvPr id="9" name="TextBox 8"/>
          <p:cNvSpPr txBox="1"/>
          <p:nvPr/>
        </p:nvSpPr>
        <p:spPr>
          <a:xfrm>
            <a:off x="1691640" y="2971800"/>
            <a:ext cx="7589520" cy="1097280"/>
          </a:xfrm>
          <a:prstGeom prst="rect">
            <a:avLst/>
          </a:prstGeom>
          <a:noFill/>
        </p:spPr>
        <p:txBody>
          <a:bodyPr wrap="square" lIns="0" rIns="0" tIns="0" bIns="0" anchor="t">
            <a:spAutoFit/>
          </a:bodyPr>
          <a:lstStyle/>
          <a:p>
            <a:pPr algn="l">
              <a:lnSpc>
                <a:spcPct val="125000"/>
              </a:lnSpc>
              <a:spcAft>
                <a:spcPts val="400"/>
              </a:spcAft>
            </a:pPr>
            <a:r>
              <a:rPr sz="1800" b="1">
                <a:solidFill>
                  <a:srgbClr val="0B2A5B"/>
                </a:solidFill>
                <a:latin typeface="Microsoft JhengHei"/>
                <a:ea typeface="Microsoft JhengHei"/>
              </a:rPr>
              <a:t>縮小之後，模型還剩什麼能力？</a:t>
            </a:r>
          </a:p>
          <a:p>
            <a:pPr algn="l">
              <a:lnSpc>
                <a:spcPct val="125000"/>
              </a:lnSpc>
              <a:spcAft>
                <a:spcPts val="600"/>
              </a:spcAft>
            </a:pPr>
            <a:r>
              <a:rPr sz="1450" b="0">
                <a:solidFill>
                  <a:srgbClr val="1A1A1A"/>
                </a:solidFill>
                <a:latin typeface="Microsoft JhengHei"/>
                <a:ea typeface="Microsoft JhengHei"/>
              </a:rPr>
              <a:t>每期只選一次門檻時，模型能不能看出「這組配對該用哪個門檻」——也就是贏過一個完全不看配對的常數？</a:t>
            </a:r>
          </a:p>
        </p:txBody>
      </p:sp>
      <p:sp>
        <p:nvSpPr>
          <p:cNvPr id="10" name="Rounded Rectangle 9"/>
          <p:cNvSpPr/>
          <p:nvPr/>
        </p:nvSpPr>
        <p:spPr>
          <a:xfrm>
            <a:off x="9555480" y="3063240"/>
            <a:ext cx="1965960" cy="4114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lnSpc>
                <a:spcPct val="125000"/>
              </a:lnSpc>
              <a:spcAft>
                <a:spcPts val="600"/>
              </a:spcAft>
            </a:pPr>
            <a:r>
              <a:rPr sz="1200" b="1">
                <a:solidFill>
                  <a:srgbClr val="0B2A5B"/>
                </a:solidFill>
                <a:latin typeface="Microsoft JhengHei"/>
                <a:ea typeface="Microsoft JhengHei"/>
              </a:rPr>
              <a:t>跑前定稿</a:t>
            </a:r>
          </a:p>
        </p:txBody>
      </p:sp>
      <p:sp>
        <p:nvSpPr>
          <p:cNvPr id="11" name="TextBox 10"/>
          <p:cNvSpPr txBox="1"/>
          <p:nvPr/>
        </p:nvSpPr>
        <p:spPr>
          <a:xfrm>
            <a:off x="640080" y="4215383"/>
            <a:ext cx="914400" cy="640080"/>
          </a:xfrm>
          <a:prstGeom prst="rect">
            <a:avLst/>
          </a:prstGeom>
          <a:noFill/>
        </p:spPr>
        <p:txBody>
          <a:bodyPr wrap="square" lIns="0" rIns="0" tIns="0" bIns="0" anchor="t">
            <a:spAutoFit/>
          </a:bodyPr>
          <a:lstStyle/>
          <a:p>
            <a:pPr algn="l">
              <a:lnSpc>
                <a:spcPct val="125000"/>
              </a:lnSpc>
              <a:spcAft>
                <a:spcPts val="600"/>
              </a:spcAft>
            </a:pPr>
            <a:r>
              <a:rPr sz="2800" b="1">
                <a:solidFill>
                  <a:srgbClr val="0B2A5B"/>
                </a:solidFill>
                <a:latin typeface="Microsoft JhengHei"/>
                <a:ea typeface="Microsoft JhengHei"/>
              </a:rPr>
              <a:t>Q3</a:t>
            </a:r>
          </a:p>
        </p:txBody>
      </p:sp>
      <p:sp>
        <p:nvSpPr>
          <p:cNvPr id="12" name="TextBox 11"/>
          <p:cNvSpPr txBox="1"/>
          <p:nvPr/>
        </p:nvSpPr>
        <p:spPr>
          <a:xfrm>
            <a:off x="1691640" y="4233671"/>
            <a:ext cx="7589520" cy="1097280"/>
          </a:xfrm>
          <a:prstGeom prst="rect">
            <a:avLst/>
          </a:prstGeom>
          <a:noFill/>
        </p:spPr>
        <p:txBody>
          <a:bodyPr wrap="square" lIns="0" rIns="0" tIns="0" bIns="0" anchor="t">
            <a:spAutoFit/>
          </a:bodyPr>
          <a:lstStyle/>
          <a:p>
            <a:pPr algn="l">
              <a:lnSpc>
                <a:spcPct val="125000"/>
              </a:lnSpc>
              <a:spcAft>
                <a:spcPts val="400"/>
              </a:spcAft>
            </a:pPr>
            <a:r>
              <a:rPr sz="1800" b="1">
                <a:solidFill>
                  <a:srgbClr val="0B2A5B"/>
                </a:solidFill>
                <a:latin typeface="Microsoft JhengHei"/>
                <a:ea typeface="Microsoft JhengHei"/>
              </a:rPr>
              <a:t>跟固定門檻比有沒有用？界線在哪？</a:t>
            </a:r>
          </a:p>
          <a:p>
            <a:pPr algn="l">
              <a:lnSpc>
                <a:spcPct val="125000"/>
              </a:lnSpc>
              <a:spcAft>
                <a:spcPts val="600"/>
              </a:spcAft>
            </a:pPr>
            <a:r>
              <a:rPr sz="1450" b="0">
                <a:solidFill>
                  <a:srgbClr val="1A1A1A"/>
                </a:solidFill>
                <a:latin typeface="Microsoft JhengHei"/>
                <a:ea typeface="Microsoft JhengHei"/>
              </a:rPr>
              <a:t>門檻選擇相對固定門檻是否穩定較好；這個好處在哪種報酬口徑下成立、哪種口徑下不能說可以交易？</a:t>
            </a:r>
          </a:p>
        </p:txBody>
      </p:sp>
      <p:sp>
        <p:nvSpPr>
          <p:cNvPr id="13" name="Rounded Rectangle 12"/>
          <p:cNvSpPr/>
          <p:nvPr/>
        </p:nvSpPr>
        <p:spPr>
          <a:xfrm>
            <a:off x="9555480" y="4325112"/>
            <a:ext cx="1965960" cy="4114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lnSpc>
                <a:spcPct val="125000"/>
              </a:lnSpc>
              <a:spcAft>
                <a:spcPts val="600"/>
              </a:spcAft>
            </a:pPr>
            <a:r>
              <a:rPr sz="1200" b="1">
                <a:solidFill>
                  <a:srgbClr val="0B2A5B"/>
                </a:solidFill>
                <a:latin typeface="Microsoft JhengHei"/>
                <a:ea typeface="Microsoft JhengHei"/>
              </a:rPr>
              <a:t>分析時判準</a:t>
            </a:r>
          </a:p>
        </p:txBody>
      </p:sp>
      <p:sp>
        <p:nvSpPr>
          <p:cNvPr id="14" name="TextBox 13"/>
          <p:cNvSpPr txBox="1"/>
          <p:nvPr/>
        </p:nvSpPr>
        <p:spPr>
          <a:xfrm>
            <a:off x="640080" y="5532120"/>
            <a:ext cx="10881360" cy="457200"/>
          </a:xfrm>
          <a:prstGeom prst="rect">
            <a:avLst/>
          </a:prstGeom>
          <a:noFill/>
        </p:spPr>
        <p:txBody>
          <a:bodyPr wrap="square" lIns="0" rIns="0" tIns="0" bIns="0" anchor="t">
            <a:spAutoFit/>
          </a:bodyPr>
          <a:lstStyle/>
          <a:p>
            <a:pPr algn="l">
              <a:lnSpc>
                <a:spcPct val="125000"/>
              </a:lnSpc>
              <a:spcAft>
                <a:spcPts val="600"/>
              </a:spcAft>
            </a:pPr>
            <a:r>
              <a:rPr sz="1500" b="0">
                <a:solidFill>
                  <a:srgbClr val="6B7280"/>
                </a:solidFill>
                <a:latin typeface="Microsoft JhengHei"/>
                <a:ea typeface="Microsoft JhengHei"/>
              </a:rPr>
              <a:t>右邊標的是每一題的</a:t>
            </a:r>
            <a:r>
              <a:rPr sz="1500" b="1">
                <a:solidFill>
                  <a:srgbClr val="6B7280"/>
                </a:solidFill>
                <a:latin typeface="Microsoft JhengHei"/>
                <a:ea typeface="Microsoft JhengHei"/>
              </a:rPr>
              <a:t>證據等級</a:t>
            </a:r>
            <a:r>
              <a:rPr sz="1500" b="0">
                <a:solidFill>
                  <a:srgbClr val="6B7280"/>
                </a:solidFill>
                <a:latin typeface="Microsoft JhengHei"/>
                <a:ea typeface="Microsoft JhengHei"/>
              </a:rPr>
              <a:t>——我會分開報告，不把它們混在一起。</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第二部分 · 研究問題　｜　§1.3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先講清楚：我主張什麼，不主張什麼</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16</a:t>
            </a:r>
          </a:p>
        </p:txBody>
      </p:sp>
      <p:sp>
        <p:nvSpPr>
          <p:cNvPr id="5" name="Rounded Rectangle 4"/>
          <p:cNvSpPr/>
          <p:nvPr/>
        </p:nvSpPr>
        <p:spPr>
          <a:xfrm>
            <a:off x="640080" y="1737360"/>
            <a:ext cx="5257800" cy="23317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0B2A5B"/>
                </a:solidFill>
                <a:latin typeface="Microsoft JhengHei"/>
                <a:ea typeface="Microsoft JhengHei"/>
              </a:rPr>
              <a:t>我會檢驗的</a:t>
            </a:r>
          </a:p>
          <a:p>
            <a:pPr algn="l">
              <a:lnSpc>
                <a:spcPct val="125000"/>
              </a:lnSpc>
              <a:spcAft>
                <a:spcPts val="600"/>
              </a:spcAft>
            </a:pPr>
            <a:r>
              <a:rPr sz="1450" b="1">
                <a:solidFill>
                  <a:srgbClr val="1A1A1A"/>
                </a:solidFill>
                <a:latin typeface="Microsoft JhengHei"/>
                <a:ea typeface="Microsoft JhengHei"/>
              </a:rPr>
              <a:t>動作空間</a:t>
            </a:r>
            <a:r>
              <a:rPr sz="1450" b="0">
                <a:solidFill>
                  <a:srgbClr val="1A1A1A"/>
                </a:solidFill>
                <a:latin typeface="Microsoft JhengHei"/>
                <a:ea typeface="Microsoft JhengHei"/>
              </a:rPr>
              <a:t>的設計，對學習式配對交易端的影響</a:t>
            </a:r>
          </a:p>
          <a:p>
            <a:pPr algn="l">
              <a:lnSpc>
                <a:spcPct val="125000"/>
              </a:lnSpc>
              <a:spcAft>
                <a:spcPts val="600"/>
              </a:spcAft>
            </a:pPr>
            <a:r>
              <a:rPr sz="1450" b="0">
                <a:solidFill>
                  <a:srgbClr val="1A1A1A"/>
                </a:solidFill>
                <a:latin typeface="Microsoft JhengHei"/>
                <a:ea typeface="Microsoft JhengHei"/>
              </a:rPr>
              <a:t>三段證據：動作空間消融 → 逐對學門檻 vs 最佳常數 → 門檻選擇 vs 固定門檻</a:t>
            </a:r>
          </a:p>
          <a:p>
            <a:pPr algn="l">
              <a:lnSpc>
                <a:spcPct val="125000"/>
              </a:lnSpc>
              <a:spcAft>
                <a:spcPts val="600"/>
              </a:spcAft>
            </a:pPr>
            <a:r>
              <a:rPr sz="1450" b="0">
                <a:solidFill>
                  <a:srgbClr val="1A1A1A"/>
                </a:solidFill>
                <a:latin typeface="Microsoft JhengHei"/>
                <a:ea typeface="Microsoft JhengHei"/>
              </a:rPr>
              <a:t>共同原則：</a:t>
            </a:r>
            <a:r>
              <a:rPr sz="1450" b="1">
                <a:solidFill>
                  <a:srgbClr val="1A1A1A"/>
                </a:solidFill>
                <a:latin typeface="Microsoft JhengHei"/>
                <a:ea typeface="Microsoft JhengHei"/>
              </a:rPr>
              <a:t>任兩條被比較的策略，只差一個地方</a:t>
            </a:r>
          </a:p>
        </p:txBody>
      </p:sp>
      <p:sp>
        <p:nvSpPr>
          <p:cNvPr id="6" name="Rounded Rectangle 5"/>
          <p:cNvSpPr/>
          <p:nvPr/>
        </p:nvSpPr>
        <p:spPr>
          <a:xfrm>
            <a:off x="6263640" y="1737360"/>
            <a:ext cx="5257800" cy="23317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C4553B"/>
                </a:solidFill>
                <a:latin typeface="Microsoft JhengHei"/>
                <a:ea typeface="Microsoft JhengHei"/>
              </a:rPr>
              <a:t>我不主張的</a:t>
            </a:r>
          </a:p>
          <a:p>
            <a:pPr algn="l">
              <a:lnSpc>
                <a:spcPct val="125000"/>
              </a:lnSpc>
              <a:spcAft>
                <a:spcPts val="600"/>
              </a:spcAft>
            </a:pPr>
            <a:r>
              <a:rPr sz="1450" b="0">
                <a:solidFill>
                  <a:srgbClr val="1A1A1A"/>
                </a:solidFill>
                <a:latin typeface="Microsoft JhengHei"/>
                <a:ea typeface="Microsoft JhengHei"/>
              </a:rPr>
              <a:t>✘ 這個交易端</a:t>
            </a:r>
            <a:r>
              <a:rPr sz="1450" b="1">
                <a:solidFill>
                  <a:srgbClr val="1A1A1A"/>
                </a:solidFill>
                <a:latin typeface="Microsoft JhengHei"/>
                <a:ea typeface="Microsoft JhengHei"/>
              </a:rPr>
              <a:t>可以實際獲利</a:t>
            </a:r>
          </a:p>
          <a:p>
            <a:pPr algn="l">
              <a:lnSpc>
                <a:spcPct val="125000"/>
              </a:lnSpc>
              <a:spcAft>
                <a:spcPts val="600"/>
              </a:spcAft>
            </a:pPr>
            <a:r>
              <a:rPr sz="1450" b="0">
                <a:solidFill>
                  <a:srgbClr val="1A1A1A"/>
                </a:solidFill>
                <a:latin typeface="Microsoft JhengHei"/>
                <a:ea typeface="Microsoft JhengHei"/>
              </a:rPr>
              <a:t>✘ 資料驅動分群</a:t>
            </a:r>
            <a:r>
              <a:rPr sz="1450" b="1">
                <a:solidFill>
                  <a:srgbClr val="1A1A1A"/>
                </a:solidFill>
                <a:latin typeface="Microsoft JhengHei"/>
                <a:ea typeface="Microsoft JhengHei"/>
              </a:rPr>
              <a:t>優於</a:t>
            </a:r>
            <a:r>
              <a:rPr sz="1450" b="0">
                <a:solidFill>
                  <a:srgbClr val="1A1A1A"/>
                </a:solidFill>
                <a:latin typeface="Microsoft JhengHei"/>
                <a:ea typeface="Microsoft JhengHei"/>
              </a:rPr>
              <a:t>產業分組（在我的資料條件下沒被支持，只做描述）</a:t>
            </a:r>
          </a:p>
          <a:p>
            <a:pPr algn="l">
              <a:lnSpc>
                <a:spcPct val="125000"/>
              </a:lnSpc>
              <a:spcAft>
                <a:spcPts val="600"/>
              </a:spcAft>
            </a:pPr>
            <a:r>
              <a:rPr sz="1450" b="0">
                <a:solidFill>
                  <a:srgbClr val="1A1A1A"/>
                </a:solidFill>
                <a:latin typeface="Microsoft JhengHei"/>
                <a:ea typeface="Microsoft JhengHei"/>
              </a:rPr>
              <a:t>✘ 任何關於</a:t>
            </a:r>
            <a:r>
              <a:rPr sz="1450" b="1">
                <a:solidFill>
                  <a:srgbClr val="1A1A1A"/>
                </a:solidFill>
                <a:latin typeface="Microsoft JhengHei"/>
                <a:ea typeface="Microsoft JhengHei"/>
              </a:rPr>
              <a:t>日內頻率</a:t>
            </a:r>
            <a:r>
              <a:rPr sz="1450" b="0">
                <a:solidFill>
                  <a:srgbClr val="1A1A1A"/>
                </a:solidFill>
                <a:latin typeface="Microsoft JhengHei"/>
                <a:ea typeface="Microsoft JhengHei"/>
              </a:rPr>
              <a:t>的結論</a:t>
            </a:r>
          </a:p>
        </p:txBody>
      </p:sp>
      <p:sp>
        <p:nvSpPr>
          <p:cNvPr id="7" name="TextBox 6"/>
          <p:cNvSpPr txBox="1"/>
          <p:nvPr/>
        </p:nvSpPr>
        <p:spPr>
          <a:xfrm>
            <a:off x="640080" y="4297680"/>
            <a:ext cx="10881360" cy="365760"/>
          </a:xfrm>
          <a:prstGeom prst="rect">
            <a:avLst/>
          </a:prstGeom>
          <a:noFill/>
        </p:spPr>
        <p:txBody>
          <a:bodyPr wrap="square" lIns="0" rIns="0" tIns="0" bIns="0" anchor="t">
            <a:spAutoFit/>
          </a:bodyPr>
          <a:lstStyle/>
          <a:p>
            <a:pPr algn="l">
              <a:lnSpc>
                <a:spcPct val="125000"/>
              </a:lnSpc>
              <a:spcAft>
                <a:spcPts val="600"/>
              </a:spcAft>
            </a:pPr>
            <a:r>
              <a:rPr sz="1600" b="1">
                <a:solidFill>
                  <a:srgbClr val="0B2A5B"/>
                </a:solidFill>
                <a:latin typeface="Microsoft JhengHei"/>
                <a:ea typeface="Microsoft JhengHei"/>
              </a:rPr>
              <a:t>另外給自己三個方法上的要求：</a:t>
            </a:r>
          </a:p>
        </p:txBody>
      </p:sp>
      <p:sp>
        <p:nvSpPr>
          <p:cNvPr id="8" name="Rounded Rectangle 7"/>
          <p:cNvSpPr/>
          <p:nvPr/>
        </p:nvSpPr>
        <p:spPr>
          <a:xfrm>
            <a:off x="640080" y="4709160"/>
            <a:ext cx="3474720" cy="109728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400"/>
              </a:spcAft>
            </a:pPr>
            <a:r>
              <a:rPr sz="1500" b="1">
                <a:solidFill>
                  <a:srgbClr val="0B2A5B"/>
                </a:solidFill>
                <a:latin typeface="Microsoft JhengHei"/>
                <a:ea typeface="Microsoft JhengHei"/>
              </a:rPr>
              <a:t>推論基礎要對</a:t>
            </a:r>
          </a:p>
          <a:p>
            <a:pPr algn="l">
              <a:lnSpc>
                <a:spcPct val="125000"/>
              </a:lnSpc>
              <a:spcAft>
                <a:spcPts val="600"/>
              </a:spcAft>
            </a:pPr>
            <a:r>
              <a:rPr sz="1300" b="0">
                <a:solidFill>
                  <a:srgbClr val="1A1A1A"/>
                </a:solidFill>
                <a:latin typeface="Microsoft JhengHei"/>
                <a:ea typeface="Microsoft JhengHei"/>
              </a:rPr>
              <a:t>不拿各自網格的最佳值比較；一律用全網格等權組合，檢定同時報 p 值與信賴區間</a:t>
            </a:r>
          </a:p>
        </p:txBody>
      </p:sp>
      <p:sp>
        <p:nvSpPr>
          <p:cNvPr id="9" name="Rounded Rectangle 8"/>
          <p:cNvSpPr/>
          <p:nvPr/>
        </p:nvSpPr>
        <p:spPr>
          <a:xfrm>
            <a:off x="4343400" y="4709160"/>
            <a:ext cx="3474720" cy="109728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400"/>
              </a:spcAft>
            </a:pPr>
            <a:r>
              <a:rPr sz="1500" b="1">
                <a:solidFill>
                  <a:srgbClr val="0B2A5B"/>
                </a:solidFill>
                <a:latin typeface="Microsoft JhengHei"/>
                <a:ea typeface="Microsoft JhengHei"/>
              </a:rPr>
              <a:t>判準先於資料</a:t>
            </a:r>
          </a:p>
          <a:p>
            <a:pPr algn="l">
              <a:lnSpc>
                <a:spcPct val="125000"/>
              </a:lnSpc>
              <a:spcAft>
                <a:spcPts val="600"/>
              </a:spcAft>
            </a:pPr>
            <a:r>
              <a:rPr sz="1300" b="0">
                <a:solidFill>
                  <a:srgbClr val="1A1A1A"/>
                </a:solidFill>
                <a:latin typeface="Microsoft JhengHei"/>
                <a:ea typeface="Microsoft JhengHei"/>
              </a:rPr>
              <a:t>消融的假說、門檻、核對程序，在回測開跑前就提交版本庫</a:t>
            </a:r>
          </a:p>
        </p:txBody>
      </p:sp>
      <p:sp>
        <p:nvSpPr>
          <p:cNvPr id="10" name="Rounded Rectangle 9"/>
          <p:cNvSpPr/>
          <p:nvPr/>
        </p:nvSpPr>
        <p:spPr>
          <a:xfrm>
            <a:off x="8046720" y="4709160"/>
            <a:ext cx="3474720" cy="109728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400"/>
              </a:spcAft>
            </a:pPr>
            <a:r>
              <a:rPr sz="1500" b="1">
                <a:solidFill>
                  <a:srgbClr val="0B2A5B"/>
                </a:solidFill>
                <a:latin typeface="Microsoft JhengHei"/>
                <a:ea typeface="Microsoft JhengHei"/>
              </a:rPr>
              <a:t>限制要量化揭露</a:t>
            </a:r>
          </a:p>
          <a:p>
            <a:pPr algn="l">
              <a:lnSpc>
                <a:spcPct val="125000"/>
              </a:lnSpc>
              <a:spcAft>
                <a:spcPts val="600"/>
              </a:spcAft>
            </a:pPr>
            <a:r>
              <a:rPr sz="1300" b="0">
                <a:solidFill>
                  <a:srgbClr val="1A1A1A"/>
                </a:solidFill>
                <a:latin typeface="Microsoft JhengHei"/>
                <a:ea typeface="Microsoft JhengHei"/>
              </a:rPr>
              <a:t>存活者偏誤、覆蓋率、成本年代，以及開發中發現的實作錯誤，都用數字交代</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2A5B"/>
        </a:solidFill>
        <a:effectLst/>
      </p:bgPr>
    </p:bg>
    <p:spTree>
      <p:nvGrpSpPr>
        <p:cNvPr id="1" name=""/>
        <p:cNvGrpSpPr/>
        <p:nvPr/>
      </p:nvGrpSpPr>
      <p:grpSpPr/>
      <p:sp>
        <p:nvSpPr>
          <p:cNvPr id="2" name="TextBox 1"/>
          <p:cNvSpPr txBox="1"/>
          <p:nvPr/>
        </p:nvSpPr>
        <p:spPr>
          <a:xfrm>
            <a:off x="640080" y="502920"/>
            <a:ext cx="10881360" cy="365760"/>
          </a:xfrm>
          <a:prstGeom prst="rect">
            <a:avLst/>
          </a:prstGeom>
          <a:noFill/>
        </p:spPr>
        <p:txBody>
          <a:bodyPr wrap="square" lIns="0" rIns="0" tIns="0" bIns="0" anchor="t">
            <a:spAutoFit/>
          </a:bodyPr>
          <a:lstStyle/>
          <a:p>
            <a:pPr algn="l">
              <a:lnSpc>
                <a:spcPct val="125000"/>
              </a:lnSpc>
              <a:spcAft>
                <a:spcPts val="600"/>
              </a:spcAft>
            </a:pPr>
            <a:r>
              <a:rPr sz="1400" b="1">
                <a:solidFill>
                  <a:srgbClr val="E8EDF5"/>
                </a:solidFill>
                <a:latin typeface="Microsoft JhengHei"/>
                <a:ea typeface="Microsoft JhengHei"/>
              </a:rPr>
              <a:t>第三部分　｜　第三章</a:t>
            </a:r>
          </a:p>
        </p:txBody>
      </p:sp>
      <p:sp>
        <p:nvSpPr>
          <p:cNvPr id="3" name="TextBox 2"/>
          <p:cNvSpPr txBox="1"/>
          <p:nvPr/>
        </p:nvSpPr>
        <p:spPr>
          <a:xfrm>
            <a:off x="640080" y="868680"/>
            <a:ext cx="10881360" cy="822960"/>
          </a:xfrm>
          <a:prstGeom prst="rect">
            <a:avLst/>
          </a:prstGeom>
          <a:noFill/>
        </p:spPr>
        <p:txBody>
          <a:bodyPr wrap="square" lIns="0" rIns="0" tIns="0" bIns="0" anchor="t">
            <a:spAutoFit/>
          </a:bodyPr>
          <a:lstStyle/>
          <a:p>
            <a:pPr algn="l">
              <a:lnSpc>
                <a:spcPct val="125000"/>
              </a:lnSpc>
              <a:spcAft>
                <a:spcPts val="600"/>
              </a:spcAft>
            </a:pPr>
            <a:r>
              <a:rPr sz="3600" b="1">
                <a:solidFill>
                  <a:srgbClr val="FFFFFF"/>
                </a:solidFill>
                <a:latin typeface="Microsoft JhengHei"/>
                <a:ea typeface="Microsoft JhengHei"/>
              </a:rPr>
              <a:t>我怎麼做</a:t>
            </a:r>
          </a:p>
        </p:txBody>
      </p:sp>
      <p:sp>
        <p:nvSpPr>
          <p:cNvPr id="4" name="TextBox 3"/>
          <p:cNvSpPr txBox="1"/>
          <p:nvPr/>
        </p:nvSpPr>
        <p:spPr>
          <a:xfrm>
            <a:off x="640080" y="1691640"/>
            <a:ext cx="10881360" cy="548640"/>
          </a:xfrm>
          <a:prstGeom prst="rect">
            <a:avLst/>
          </a:prstGeom>
          <a:noFill/>
        </p:spPr>
        <p:txBody>
          <a:bodyPr wrap="square" lIns="0" rIns="0" tIns="0" bIns="0" anchor="t">
            <a:spAutoFit/>
          </a:bodyPr>
          <a:lstStyle/>
          <a:p>
            <a:pPr algn="l">
              <a:lnSpc>
                <a:spcPct val="125000"/>
              </a:lnSpc>
              <a:spcAft>
                <a:spcPts val="600"/>
              </a:spcAft>
            </a:pPr>
            <a:r>
              <a:rPr sz="1700" b="0">
                <a:solidFill>
                  <a:srgbClr val="E8EDF5"/>
                </a:solidFill>
                <a:latin typeface="Microsoft JhengHei"/>
                <a:ea typeface="Microsoft JhengHei"/>
              </a:rPr>
              <a:t>把問題變成一個「任兩條策略只差一個地方」的實驗。</a:t>
            </a:r>
          </a:p>
        </p:txBody>
      </p:sp>
      <p:sp>
        <p:nvSpPr>
          <p:cNvPr id="5" name="TextBox 4"/>
          <p:cNvSpPr txBox="1"/>
          <p:nvPr/>
        </p:nvSpPr>
        <p:spPr>
          <a:xfrm>
            <a:off x="640080" y="260604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1</a:t>
            </a:r>
          </a:p>
        </p:txBody>
      </p:sp>
      <p:sp>
        <p:nvSpPr>
          <p:cNvPr id="6" name="TextBox 5"/>
          <p:cNvSpPr txBox="1"/>
          <p:nvPr/>
        </p:nvSpPr>
        <p:spPr>
          <a:xfrm>
            <a:off x="1463040" y="2642616"/>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背景：配對交易是什麼</a:t>
            </a:r>
          </a:p>
        </p:txBody>
      </p:sp>
      <p:sp>
        <p:nvSpPr>
          <p:cNvPr id="7" name="TextBox 6"/>
          <p:cNvSpPr txBox="1"/>
          <p:nvPr/>
        </p:nvSpPr>
        <p:spPr>
          <a:xfrm>
            <a:off x="7589519" y="269748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§1.1、第二章</a:t>
            </a:r>
          </a:p>
        </p:txBody>
      </p:sp>
      <p:sp>
        <p:nvSpPr>
          <p:cNvPr id="8" name="TextBox 7"/>
          <p:cNvSpPr txBox="1"/>
          <p:nvPr/>
        </p:nvSpPr>
        <p:spPr>
          <a:xfrm>
            <a:off x="9875519" y="269748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8 分鐘</a:t>
            </a:r>
          </a:p>
        </p:txBody>
      </p:sp>
      <p:sp>
        <p:nvSpPr>
          <p:cNvPr id="9" name="TextBox 8"/>
          <p:cNvSpPr txBox="1"/>
          <p:nvPr/>
        </p:nvSpPr>
        <p:spPr>
          <a:xfrm>
            <a:off x="640080" y="3118104"/>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2</a:t>
            </a:r>
          </a:p>
        </p:txBody>
      </p:sp>
      <p:sp>
        <p:nvSpPr>
          <p:cNvPr id="10" name="TextBox 9"/>
          <p:cNvSpPr txBox="1"/>
          <p:nvPr/>
        </p:nvSpPr>
        <p:spPr>
          <a:xfrm>
            <a:off x="1463040" y="3154680"/>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我想問的問題</a:t>
            </a:r>
          </a:p>
        </p:txBody>
      </p:sp>
      <p:sp>
        <p:nvSpPr>
          <p:cNvPr id="11" name="TextBox 10"/>
          <p:cNvSpPr txBox="1"/>
          <p:nvPr/>
        </p:nvSpPr>
        <p:spPr>
          <a:xfrm>
            <a:off x="7589519" y="3209544"/>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§1.2–1.3、§2.3.5</a:t>
            </a:r>
          </a:p>
        </p:txBody>
      </p:sp>
      <p:sp>
        <p:nvSpPr>
          <p:cNvPr id="12" name="TextBox 11"/>
          <p:cNvSpPr txBox="1"/>
          <p:nvPr/>
        </p:nvSpPr>
        <p:spPr>
          <a:xfrm>
            <a:off x="9875519" y="3209544"/>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6 分鐘</a:t>
            </a:r>
          </a:p>
        </p:txBody>
      </p:sp>
      <p:sp>
        <p:nvSpPr>
          <p:cNvPr id="13" name="TextBox 12"/>
          <p:cNvSpPr txBox="1"/>
          <p:nvPr/>
        </p:nvSpPr>
        <p:spPr>
          <a:xfrm>
            <a:off x="640080" y="3630168"/>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C4553B"/>
                </a:solidFill>
                <a:latin typeface="Microsoft JhengHei"/>
                <a:ea typeface="Microsoft JhengHei"/>
              </a:rPr>
              <a:t>3</a:t>
            </a:r>
          </a:p>
        </p:txBody>
      </p:sp>
      <p:sp>
        <p:nvSpPr>
          <p:cNvPr id="14" name="TextBox 13"/>
          <p:cNvSpPr txBox="1"/>
          <p:nvPr/>
        </p:nvSpPr>
        <p:spPr>
          <a:xfrm>
            <a:off x="1463040" y="3666744"/>
            <a:ext cx="6035040" cy="512064"/>
          </a:xfrm>
          <a:prstGeom prst="rect">
            <a:avLst/>
          </a:prstGeom>
          <a:noFill/>
        </p:spPr>
        <p:txBody>
          <a:bodyPr wrap="square" lIns="0" rIns="0" tIns="0" bIns="0" anchor="t">
            <a:spAutoFit/>
          </a:bodyPr>
          <a:lstStyle/>
          <a:p>
            <a:pPr algn="l">
              <a:lnSpc>
                <a:spcPct val="125000"/>
              </a:lnSpc>
              <a:spcAft>
                <a:spcPts val="600"/>
              </a:spcAft>
            </a:pPr>
            <a:r>
              <a:rPr sz="2000" b="1">
                <a:solidFill>
                  <a:srgbClr val="FFFFFF"/>
                </a:solidFill>
                <a:latin typeface="Microsoft JhengHei"/>
                <a:ea typeface="Microsoft JhengHei"/>
              </a:rPr>
              <a:t>我怎麼做</a:t>
            </a:r>
          </a:p>
        </p:txBody>
      </p:sp>
      <p:sp>
        <p:nvSpPr>
          <p:cNvPr id="15" name="TextBox 14"/>
          <p:cNvSpPr txBox="1"/>
          <p:nvPr/>
        </p:nvSpPr>
        <p:spPr>
          <a:xfrm>
            <a:off x="7589519" y="3721608"/>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FFFFFF"/>
                </a:solidFill>
                <a:latin typeface="Microsoft JhengHei"/>
                <a:ea typeface="Microsoft JhengHei"/>
              </a:rPr>
              <a:t>第三章</a:t>
            </a:r>
          </a:p>
        </p:txBody>
      </p:sp>
      <p:sp>
        <p:nvSpPr>
          <p:cNvPr id="16" name="TextBox 15"/>
          <p:cNvSpPr txBox="1"/>
          <p:nvPr/>
        </p:nvSpPr>
        <p:spPr>
          <a:xfrm>
            <a:off x="9875519" y="3721608"/>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FFFFFF"/>
                </a:solidFill>
                <a:latin typeface="Microsoft JhengHei"/>
                <a:ea typeface="Microsoft JhengHei"/>
              </a:rPr>
              <a:t>約 14 分鐘</a:t>
            </a:r>
          </a:p>
        </p:txBody>
      </p:sp>
      <p:sp>
        <p:nvSpPr>
          <p:cNvPr id="17" name="TextBox 16"/>
          <p:cNvSpPr txBox="1"/>
          <p:nvPr/>
        </p:nvSpPr>
        <p:spPr>
          <a:xfrm>
            <a:off x="640080" y="4142232"/>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4</a:t>
            </a:r>
          </a:p>
        </p:txBody>
      </p:sp>
      <p:sp>
        <p:nvSpPr>
          <p:cNvPr id="18" name="TextBox 17"/>
          <p:cNvSpPr txBox="1"/>
          <p:nvPr/>
        </p:nvSpPr>
        <p:spPr>
          <a:xfrm>
            <a:off x="1463040" y="4178808"/>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結果：三段證據</a:t>
            </a:r>
          </a:p>
        </p:txBody>
      </p:sp>
      <p:sp>
        <p:nvSpPr>
          <p:cNvPr id="19" name="TextBox 18"/>
          <p:cNvSpPr txBox="1"/>
          <p:nvPr/>
        </p:nvSpPr>
        <p:spPr>
          <a:xfrm>
            <a:off x="7589519" y="4233672"/>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第四章</a:t>
            </a:r>
          </a:p>
        </p:txBody>
      </p:sp>
      <p:sp>
        <p:nvSpPr>
          <p:cNvPr id="20" name="TextBox 19"/>
          <p:cNvSpPr txBox="1"/>
          <p:nvPr/>
        </p:nvSpPr>
        <p:spPr>
          <a:xfrm>
            <a:off x="9875519" y="4233672"/>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16 分鐘</a:t>
            </a:r>
          </a:p>
        </p:txBody>
      </p:sp>
      <p:sp>
        <p:nvSpPr>
          <p:cNvPr id="21" name="TextBox 20"/>
          <p:cNvSpPr txBox="1"/>
          <p:nvPr/>
        </p:nvSpPr>
        <p:spPr>
          <a:xfrm>
            <a:off x="640080" y="4654296"/>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5</a:t>
            </a:r>
          </a:p>
        </p:txBody>
      </p:sp>
      <p:sp>
        <p:nvSpPr>
          <p:cNvPr id="22" name="TextBox 21"/>
          <p:cNvSpPr txBox="1"/>
          <p:nvPr/>
        </p:nvSpPr>
        <p:spPr>
          <a:xfrm>
            <a:off x="1463040" y="4690872"/>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所以，可以拿來賺錢嗎？</a:t>
            </a:r>
          </a:p>
        </p:txBody>
      </p:sp>
      <p:sp>
        <p:nvSpPr>
          <p:cNvPr id="23" name="TextBox 22"/>
          <p:cNvSpPr txBox="1"/>
          <p:nvPr/>
        </p:nvSpPr>
        <p:spPr>
          <a:xfrm>
            <a:off x="7589519" y="4745736"/>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第五章</a:t>
            </a:r>
          </a:p>
        </p:txBody>
      </p:sp>
      <p:sp>
        <p:nvSpPr>
          <p:cNvPr id="24" name="TextBox 23"/>
          <p:cNvSpPr txBox="1"/>
          <p:nvPr/>
        </p:nvSpPr>
        <p:spPr>
          <a:xfrm>
            <a:off x="9875519" y="4745736"/>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8 分鐘</a:t>
            </a:r>
          </a:p>
        </p:txBody>
      </p:sp>
      <p:sp>
        <p:nvSpPr>
          <p:cNvPr id="25" name="TextBox 24"/>
          <p:cNvSpPr txBox="1"/>
          <p:nvPr/>
        </p:nvSpPr>
        <p:spPr>
          <a:xfrm>
            <a:off x="640080" y="516636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6</a:t>
            </a:r>
          </a:p>
        </p:txBody>
      </p:sp>
      <p:sp>
        <p:nvSpPr>
          <p:cNvPr id="26" name="TextBox 25"/>
          <p:cNvSpPr txBox="1"/>
          <p:nvPr/>
        </p:nvSpPr>
        <p:spPr>
          <a:xfrm>
            <a:off x="1463040" y="5202936"/>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結論</a:t>
            </a:r>
          </a:p>
        </p:txBody>
      </p:sp>
      <p:sp>
        <p:nvSpPr>
          <p:cNvPr id="27" name="TextBox 26"/>
          <p:cNvSpPr txBox="1"/>
          <p:nvPr/>
        </p:nvSpPr>
        <p:spPr>
          <a:xfrm>
            <a:off x="7589519" y="525780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第六章</a:t>
            </a:r>
          </a:p>
        </p:txBody>
      </p:sp>
      <p:sp>
        <p:nvSpPr>
          <p:cNvPr id="28" name="TextBox 27"/>
          <p:cNvSpPr txBox="1"/>
          <p:nvPr/>
        </p:nvSpPr>
        <p:spPr>
          <a:xfrm>
            <a:off x="9875519" y="525780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5 分鐘</a:t>
            </a:r>
          </a:p>
        </p:txBody>
      </p:sp>
      <p:sp>
        <p:nvSpPr>
          <p:cNvPr id="29" name="TextBox 28"/>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E8EDF5"/>
                </a:solidFill>
                <a:latin typeface="Microsoft JhengHei"/>
                <a:ea typeface="Microsoft Jheng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§1.3、§3.2.1</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整套系統長這樣</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18</a:t>
            </a:r>
          </a:p>
        </p:txBody>
      </p:sp>
      <p:sp>
        <p:nvSpPr>
          <p:cNvPr id="5" name="Rounded Rectangle 4"/>
          <p:cNvSpPr/>
          <p:nvPr/>
        </p:nvSpPr>
        <p:spPr>
          <a:xfrm>
            <a:off x="640080" y="1828800"/>
            <a:ext cx="2331720" cy="1874519"/>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FFFFFF"/>
                </a:solidFill>
                <a:latin typeface="Microsoft JhengHei"/>
                <a:ea typeface="Microsoft JhengHei"/>
              </a:rPr>
              <a:t>資料</a:t>
            </a:r>
          </a:p>
          <a:p>
            <a:pPr algn="l">
              <a:lnSpc>
                <a:spcPct val="125000"/>
              </a:lnSpc>
              <a:spcAft>
                <a:spcPts val="300"/>
              </a:spcAft>
            </a:pPr>
            <a:r>
              <a:rPr sz="1350" b="0">
                <a:solidFill>
                  <a:srgbClr val="FFFFFF"/>
                </a:solidFill>
                <a:latin typeface="Microsoft JhengHei"/>
                <a:ea typeface="Microsoft JhengHei"/>
              </a:rPr>
              <a:t>S&amp;P 500 成分股</a:t>
            </a:r>
          </a:p>
          <a:p>
            <a:pPr algn="l">
              <a:lnSpc>
                <a:spcPct val="125000"/>
              </a:lnSpc>
              <a:spcAft>
                <a:spcPts val="300"/>
              </a:spcAft>
            </a:pPr>
            <a:r>
              <a:rPr sz="1350" b="0">
                <a:solidFill>
                  <a:srgbClr val="FFFFFF"/>
                </a:solidFill>
                <a:latin typeface="Microsoft JhengHei"/>
                <a:ea typeface="Microsoft JhengHei"/>
              </a:rPr>
              <a:t>2000–2025 日頻</a:t>
            </a:r>
          </a:p>
          <a:p>
            <a:pPr algn="l">
              <a:lnSpc>
                <a:spcPct val="125000"/>
              </a:lnSpc>
              <a:spcAft>
                <a:spcPts val="300"/>
              </a:spcAft>
            </a:pPr>
            <a:r>
              <a:rPr sz="1350" b="0">
                <a:solidFill>
                  <a:srgbClr val="FFFFFF"/>
                </a:solidFill>
                <a:latin typeface="Microsoft JhengHei"/>
                <a:ea typeface="Microsoft JhengHei"/>
              </a:rPr>
              <a:t>只用當時看得到的資訊</a:t>
            </a:r>
          </a:p>
        </p:txBody>
      </p:sp>
      <p:sp>
        <p:nvSpPr>
          <p:cNvPr id="6" name="Rounded Rectangle 5"/>
          <p:cNvSpPr/>
          <p:nvPr/>
        </p:nvSpPr>
        <p:spPr>
          <a:xfrm>
            <a:off x="3246120" y="1828800"/>
            <a:ext cx="2880360" cy="1874519"/>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FFFFFF"/>
                </a:solidFill>
                <a:latin typeface="Microsoft JhengHei"/>
                <a:ea typeface="Microsoft JhengHei"/>
              </a:rPr>
              <a:t>形成期：挑配對</a:t>
            </a:r>
          </a:p>
          <a:p>
            <a:pPr algn="l">
              <a:lnSpc>
                <a:spcPct val="125000"/>
              </a:lnSpc>
              <a:spcAft>
                <a:spcPts val="300"/>
              </a:spcAft>
            </a:pPr>
            <a:r>
              <a:rPr sz="1350" b="0">
                <a:solidFill>
                  <a:srgbClr val="FFFFFF"/>
                </a:solidFill>
                <a:latin typeface="Microsoft JhengHei"/>
                <a:ea typeface="Microsoft JhengHei"/>
              </a:rPr>
              <a:t>四層：特徵 → 分組 → 篩選 → 排序</a:t>
            </a:r>
          </a:p>
          <a:p>
            <a:pPr algn="l">
              <a:lnSpc>
                <a:spcPct val="125000"/>
              </a:lnSpc>
              <a:spcAft>
                <a:spcPts val="300"/>
              </a:spcAft>
            </a:pPr>
            <a:r>
              <a:rPr sz="1350" b="0">
                <a:solidFill>
                  <a:srgbClr val="FFFFFF"/>
                </a:solidFill>
                <a:latin typeface="Microsoft JhengHei"/>
                <a:ea typeface="Microsoft JhengHei"/>
              </a:rPr>
              <a:t>產出 </a:t>
            </a:r>
            <a:r>
              <a:rPr sz="1350" b="1">
                <a:solidFill>
                  <a:srgbClr val="FFFFFF"/>
                </a:solidFill>
                <a:latin typeface="Microsoft JhengHei"/>
                <a:ea typeface="Microsoft JhengHei"/>
              </a:rPr>
              <a:t>5 個配對來源</a:t>
            </a:r>
          </a:p>
        </p:txBody>
      </p:sp>
      <p:sp>
        <p:nvSpPr>
          <p:cNvPr id="7" name="Rounded Rectangle 6"/>
          <p:cNvSpPr/>
          <p:nvPr/>
        </p:nvSpPr>
        <p:spPr>
          <a:xfrm>
            <a:off x="6400800" y="1828800"/>
            <a:ext cx="2514600" cy="1874519"/>
          </a:xfrm>
          <a:prstGeom prst="roundRect">
            <a:avLst>
              <a:gd name="adj" fmla="val 6000"/>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FFFFFF"/>
                </a:solidFill>
                <a:latin typeface="Microsoft JhengHei"/>
                <a:ea typeface="Microsoft JhengHei"/>
              </a:rPr>
              <a:t>交易端：何時進出</a:t>
            </a:r>
          </a:p>
          <a:p>
            <a:pPr algn="l">
              <a:lnSpc>
                <a:spcPct val="125000"/>
              </a:lnSpc>
              <a:spcAft>
                <a:spcPts val="300"/>
              </a:spcAft>
            </a:pPr>
            <a:r>
              <a:rPr sz="1350" b="0">
                <a:solidFill>
                  <a:srgbClr val="FFFFFF"/>
                </a:solidFill>
                <a:latin typeface="Microsoft JhengHei"/>
                <a:ea typeface="Microsoft JhengHei"/>
              </a:rPr>
              <a:t>三種動作空間</a:t>
            </a:r>
          </a:p>
          <a:p>
            <a:pPr algn="l">
              <a:lnSpc>
                <a:spcPct val="125000"/>
              </a:lnSpc>
              <a:spcAft>
                <a:spcPts val="300"/>
              </a:spcAft>
            </a:pPr>
            <a:r>
              <a:rPr sz="1350" b="0">
                <a:solidFill>
                  <a:srgbClr val="FFFFFF"/>
                </a:solidFill>
                <a:latin typeface="Microsoft JhengHei"/>
                <a:ea typeface="Microsoft JhengHei"/>
              </a:rPr>
              <a:t>每期決策：</a:t>
            </a:r>
          </a:p>
          <a:p>
            <a:pPr algn="l">
              <a:lnSpc>
                <a:spcPct val="125000"/>
              </a:lnSpc>
              <a:spcAft>
                <a:spcPts val="300"/>
              </a:spcAft>
            </a:pPr>
            <a:r>
              <a:rPr sz="1350" b="0">
                <a:solidFill>
                  <a:srgbClr val="FFFFFF"/>
                </a:solidFill>
                <a:latin typeface="Microsoft JhengHei"/>
                <a:ea typeface="Microsoft JhengHei"/>
              </a:rPr>
              <a:t>0／1／≤126 次</a:t>
            </a:r>
          </a:p>
        </p:txBody>
      </p:sp>
      <p:sp>
        <p:nvSpPr>
          <p:cNvPr id="8" name="Rounded Rectangle 7"/>
          <p:cNvSpPr/>
          <p:nvPr/>
        </p:nvSpPr>
        <p:spPr>
          <a:xfrm>
            <a:off x="9189720" y="1828800"/>
            <a:ext cx="2331720" cy="1874519"/>
          </a:xfrm>
          <a:prstGeom prst="roundRect">
            <a:avLst>
              <a:gd name="adj" fmla="val 6000"/>
            </a:avLst>
          </a:prstGeom>
          <a:solidFill>
            <a:srgbClr val="2E5A92"/>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FFFFFF"/>
                </a:solidFill>
                <a:latin typeface="Microsoft JhengHei"/>
                <a:ea typeface="Microsoft JhengHei"/>
              </a:rPr>
              <a:t>評估</a:t>
            </a:r>
          </a:p>
          <a:p>
            <a:pPr algn="l">
              <a:lnSpc>
                <a:spcPct val="125000"/>
              </a:lnSpc>
              <a:spcAft>
                <a:spcPts val="300"/>
              </a:spcAft>
            </a:pPr>
            <a:r>
              <a:rPr sz="1350" b="0">
                <a:solidFill>
                  <a:srgbClr val="FFFFFF"/>
                </a:solidFill>
                <a:latin typeface="Microsoft JhengHei"/>
                <a:ea typeface="Microsoft JhengHei"/>
              </a:rPr>
              <a:t>逐日報酬差＋區塊拔靴</a:t>
            </a:r>
          </a:p>
          <a:p>
            <a:pPr algn="l">
              <a:lnSpc>
                <a:spcPct val="125000"/>
              </a:lnSpc>
              <a:spcAft>
                <a:spcPts val="300"/>
              </a:spcAft>
            </a:pPr>
            <a:r>
              <a:rPr sz="1350" b="0">
                <a:solidFill>
                  <a:srgbClr val="FFFFFF"/>
                </a:solidFill>
                <a:latin typeface="Microsoft JhengHei"/>
                <a:ea typeface="Microsoft JhengHei"/>
              </a:rPr>
              <a:t>全網格等權口徑</a:t>
            </a:r>
          </a:p>
          <a:p>
            <a:pPr algn="l">
              <a:lnSpc>
                <a:spcPct val="125000"/>
              </a:lnSpc>
              <a:spcAft>
                <a:spcPts val="300"/>
              </a:spcAft>
            </a:pPr>
            <a:r>
              <a:rPr sz="1350" b="0">
                <a:solidFill>
                  <a:srgbClr val="FFFFFF"/>
                </a:solidFill>
                <a:latin typeface="Microsoft JhengHei"/>
                <a:ea typeface="Microsoft JhengHei"/>
              </a:rPr>
              <a:t>消融預先登記</a:t>
            </a:r>
          </a:p>
        </p:txBody>
      </p:sp>
      <p:cxnSp>
        <p:nvCxnSpPr>
          <p:cNvPr id="9" name="Connector 8"/>
          <p:cNvCxnSpPr/>
          <p:nvPr/>
        </p:nvCxnSpPr>
        <p:spPr>
          <a:xfrm>
            <a:off x="2990088" y="2766060"/>
            <a:ext cx="237744"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144768" y="2766060"/>
            <a:ext cx="237744"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933688" y="2766060"/>
            <a:ext cx="237744"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46120" y="3813048"/>
            <a:ext cx="2880360" cy="548640"/>
          </a:xfrm>
          <a:prstGeom prst="rect">
            <a:avLst/>
          </a:prstGeom>
          <a:noFill/>
        </p:spPr>
        <p:txBody>
          <a:bodyPr wrap="square" lIns="0" rIns="0" tIns="0" bIns="0" anchor="t">
            <a:spAutoFit/>
          </a:bodyPr>
          <a:lstStyle/>
          <a:p>
            <a:pPr algn="l">
              <a:lnSpc>
                <a:spcPct val="125000"/>
              </a:lnSpc>
              <a:spcAft>
                <a:spcPts val="600"/>
              </a:spcAft>
            </a:pPr>
            <a:r>
              <a:rPr sz="1300" b="1">
                <a:solidFill>
                  <a:srgbClr val="0B2A5B"/>
                </a:solidFill>
                <a:latin typeface="Microsoft JhengHei"/>
                <a:ea typeface="Microsoft JhengHei"/>
              </a:rPr>
              <a:t>五個來源只在「分組」這一層不同</a:t>
            </a:r>
          </a:p>
        </p:txBody>
      </p:sp>
      <p:sp>
        <p:nvSpPr>
          <p:cNvPr id="13" name="TextBox 12"/>
          <p:cNvSpPr txBox="1"/>
          <p:nvPr/>
        </p:nvSpPr>
        <p:spPr>
          <a:xfrm>
            <a:off x="6400800" y="3813048"/>
            <a:ext cx="2514600" cy="548640"/>
          </a:xfrm>
          <a:prstGeom prst="rect">
            <a:avLst/>
          </a:prstGeom>
          <a:noFill/>
        </p:spPr>
        <p:txBody>
          <a:bodyPr wrap="square" lIns="0" rIns="0" tIns="0" bIns="0" anchor="t">
            <a:spAutoFit/>
          </a:bodyPr>
          <a:lstStyle/>
          <a:p>
            <a:pPr algn="l">
              <a:lnSpc>
                <a:spcPct val="125000"/>
              </a:lnSpc>
              <a:spcAft>
                <a:spcPts val="600"/>
              </a:spcAft>
            </a:pPr>
            <a:r>
              <a:rPr sz="1300" b="1">
                <a:solidFill>
                  <a:srgbClr val="C4553B"/>
                </a:solidFill>
                <a:latin typeface="Microsoft JhengHei"/>
                <a:ea typeface="Microsoft JhengHei"/>
              </a:rPr>
              <a:t>同一批配對，只換交易端</a:t>
            </a:r>
          </a:p>
        </p:txBody>
      </p:sp>
      <p:sp>
        <p:nvSpPr>
          <p:cNvPr id="14" name="Rounded Rectangle 13"/>
          <p:cNvSpPr/>
          <p:nvPr/>
        </p:nvSpPr>
        <p:spPr>
          <a:xfrm>
            <a:off x="640080" y="4526280"/>
            <a:ext cx="10881360" cy="12801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設計原則：任兩條被比較的策略，只差一個地方</a:t>
            </a:r>
          </a:p>
          <a:p>
            <a:pPr algn="l">
              <a:lnSpc>
                <a:spcPct val="125000"/>
              </a:lnSpc>
              <a:spcAft>
                <a:spcPts val="600"/>
              </a:spcAft>
            </a:pPr>
            <a:r>
              <a:rPr sz="1400" b="0">
                <a:solidFill>
                  <a:srgbClr val="1A1A1A"/>
                </a:solidFill>
                <a:latin typeface="Microsoft JhengHei"/>
                <a:ea typeface="Microsoft JhengHei"/>
              </a:rPr>
              <a:t>這不是寫在方法章的口號，而是</a:t>
            </a:r>
            <a:r>
              <a:rPr sz="1400" b="1">
                <a:solidFill>
                  <a:srgbClr val="1A1A1A"/>
                </a:solidFill>
                <a:latin typeface="Microsoft JhengHei"/>
                <a:ea typeface="Microsoft JhengHei"/>
              </a:rPr>
              <a:t>寫進程式架構的性質</a:t>
            </a:r>
            <a:r>
              <a:rPr sz="1400" b="0">
                <a:solidFill>
                  <a:srgbClr val="1A1A1A"/>
                </a:solidFill>
                <a:latin typeface="Microsoft JhengHei"/>
                <a:ea typeface="Microsoft JhengHei"/>
              </a:rPr>
              <a:t>：各層用標準化介面銜接，任何交易端都能在同一批配對上原樣重跑——這正是動作空間消融能做的前提。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§3.1.1–3.1.2、§3.1.4</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資料：S&amp;P 500、25 年，而且不偷看未來</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19</a:t>
            </a:r>
          </a:p>
        </p:txBody>
      </p:sp>
      <p:sp>
        <p:nvSpPr>
          <p:cNvPr id="5" name="TextBox 4"/>
          <p:cNvSpPr txBox="1"/>
          <p:nvPr/>
        </p:nvSpPr>
        <p:spPr>
          <a:xfrm>
            <a:off x="640080" y="1691640"/>
            <a:ext cx="2560320" cy="566928"/>
          </a:xfrm>
          <a:prstGeom prst="rect">
            <a:avLst/>
          </a:prstGeom>
          <a:noFill/>
        </p:spPr>
        <p:txBody>
          <a:bodyPr wrap="square" lIns="0" rIns="0" tIns="0" bIns="0" anchor="t">
            <a:spAutoFit/>
          </a:bodyPr>
          <a:lstStyle/>
          <a:p>
            <a:pPr algn="l">
              <a:lnSpc>
                <a:spcPct val="125000"/>
              </a:lnSpc>
              <a:spcAft>
                <a:spcPts val="0"/>
              </a:spcAft>
            </a:pPr>
            <a:r>
              <a:rPr sz="3400" b="1">
                <a:solidFill>
                  <a:srgbClr val="0B2A5B"/>
                </a:solidFill>
                <a:latin typeface="Microsoft JhengHei"/>
                <a:ea typeface="Microsoft JhengHei"/>
              </a:rPr>
              <a:t>6,287</a:t>
            </a:r>
          </a:p>
        </p:txBody>
      </p:sp>
      <p:sp>
        <p:nvSpPr>
          <p:cNvPr id="6" name="TextBox 5"/>
          <p:cNvSpPr txBox="1"/>
          <p:nvPr/>
        </p:nvSpPr>
        <p:spPr>
          <a:xfrm>
            <a:off x="640080" y="2295144"/>
            <a:ext cx="2560320" cy="457200"/>
          </a:xfrm>
          <a:prstGeom prst="rect">
            <a:avLst/>
          </a:prstGeom>
          <a:noFill/>
        </p:spPr>
        <p:txBody>
          <a:bodyPr wrap="square" lIns="0" rIns="0" tIns="0" bIns="0" anchor="t">
            <a:spAutoFit/>
          </a:bodyPr>
          <a:lstStyle/>
          <a:p>
            <a:pPr algn="l">
              <a:lnSpc>
                <a:spcPct val="125000"/>
              </a:lnSpc>
              <a:spcAft>
                <a:spcPts val="0"/>
              </a:spcAft>
            </a:pPr>
            <a:r>
              <a:rPr sz="1300" b="0">
                <a:solidFill>
                  <a:srgbClr val="6B7280"/>
                </a:solidFill>
                <a:latin typeface="Microsoft JhengHei"/>
                <a:ea typeface="Microsoft JhengHei"/>
              </a:rPr>
              <a:t>可交易日（2001-01-02 起）</a:t>
            </a:r>
          </a:p>
        </p:txBody>
      </p:sp>
      <p:sp>
        <p:nvSpPr>
          <p:cNvPr id="7" name="TextBox 6"/>
          <p:cNvSpPr txBox="1"/>
          <p:nvPr/>
        </p:nvSpPr>
        <p:spPr>
          <a:xfrm>
            <a:off x="3383280" y="1691640"/>
            <a:ext cx="2560320" cy="566928"/>
          </a:xfrm>
          <a:prstGeom prst="rect">
            <a:avLst/>
          </a:prstGeom>
          <a:noFill/>
        </p:spPr>
        <p:txBody>
          <a:bodyPr wrap="square" lIns="0" rIns="0" tIns="0" bIns="0" anchor="t">
            <a:spAutoFit/>
          </a:bodyPr>
          <a:lstStyle/>
          <a:p>
            <a:pPr algn="l">
              <a:lnSpc>
                <a:spcPct val="125000"/>
              </a:lnSpc>
              <a:spcAft>
                <a:spcPts val="0"/>
              </a:spcAft>
            </a:pPr>
            <a:r>
              <a:rPr sz="3400" b="1">
                <a:solidFill>
                  <a:srgbClr val="0B2A5B"/>
                </a:solidFill>
                <a:latin typeface="Microsoft JhengHei"/>
                <a:ea typeface="Microsoft JhengHei"/>
              </a:rPr>
              <a:t>843</a:t>
            </a:r>
          </a:p>
        </p:txBody>
      </p:sp>
      <p:sp>
        <p:nvSpPr>
          <p:cNvPr id="8" name="TextBox 7"/>
          <p:cNvSpPr txBox="1"/>
          <p:nvPr/>
        </p:nvSpPr>
        <p:spPr>
          <a:xfrm>
            <a:off x="3383280" y="2295144"/>
            <a:ext cx="2560320" cy="457200"/>
          </a:xfrm>
          <a:prstGeom prst="rect">
            <a:avLst/>
          </a:prstGeom>
          <a:noFill/>
        </p:spPr>
        <p:txBody>
          <a:bodyPr wrap="square" lIns="0" rIns="0" tIns="0" bIns="0" anchor="t">
            <a:spAutoFit/>
          </a:bodyPr>
          <a:lstStyle/>
          <a:p>
            <a:pPr algn="l">
              <a:lnSpc>
                <a:spcPct val="125000"/>
              </a:lnSpc>
              <a:spcAft>
                <a:spcPts val="0"/>
              </a:spcAft>
            </a:pPr>
            <a:r>
              <a:rPr sz="1300" b="0">
                <a:solidFill>
                  <a:srgbClr val="6B7280"/>
                </a:solidFill>
                <a:latin typeface="Microsoft JhengHei"/>
                <a:ea typeface="Microsoft JhengHei"/>
              </a:rPr>
              <a:t>曾經是成分股的標的</a:t>
            </a:r>
          </a:p>
        </p:txBody>
      </p:sp>
      <p:sp>
        <p:nvSpPr>
          <p:cNvPr id="9" name="TextBox 8"/>
          <p:cNvSpPr txBox="1"/>
          <p:nvPr/>
        </p:nvSpPr>
        <p:spPr>
          <a:xfrm>
            <a:off x="6126480" y="1691640"/>
            <a:ext cx="2560320" cy="566928"/>
          </a:xfrm>
          <a:prstGeom prst="rect">
            <a:avLst/>
          </a:prstGeom>
          <a:noFill/>
        </p:spPr>
        <p:txBody>
          <a:bodyPr wrap="square" lIns="0" rIns="0" tIns="0" bIns="0" anchor="t">
            <a:spAutoFit/>
          </a:bodyPr>
          <a:lstStyle/>
          <a:p>
            <a:pPr algn="l">
              <a:lnSpc>
                <a:spcPct val="125000"/>
              </a:lnSpc>
              <a:spcAft>
                <a:spcPts val="0"/>
              </a:spcAft>
            </a:pPr>
            <a:r>
              <a:rPr sz="3400" b="1">
                <a:solidFill>
                  <a:srgbClr val="0B2A5B"/>
                </a:solidFill>
                <a:latin typeface="Microsoft JhengHei"/>
                <a:ea typeface="Microsoft JhengHei"/>
              </a:rPr>
              <a:t>411</a:t>
            </a:r>
          </a:p>
        </p:txBody>
      </p:sp>
      <p:sp>
        <p:nvSpPr>
          <p:cNvPr id="10" name="TextBox 9"/>
          <p:cNvSpPr txBox="1"/>
          <p:nvPr/>
        </p:nvSpPr>
        <p:spPr>
          <a:xfrm>
            <a:off x="6126480" y="2295144"/>
            <a:ext cx="2560320" cy="457200"/>
          </a:xfrm>
          <a:prstGeom prst="rect">
            <a:avLst/>
          </a:prstGeom>
          <a:noFill/>
        </p:spPr>
        <p:txBody>
          <a:bodyPr wrap="square" lIns="0" rIns="0" tIns="0" bIns="0" anchor="t">
            <a:spAutoFit/>
          </a:bodyPr>
          <a:lstStyle/>
          <a:p>
            <a:pPr algn="l">
              <a:lnSpc>
                <a:spcPct val="125000"/>
              </a:lnSpc>
              <a:spcAft>
                <a:spcPts val="0"/>
              </a:spcAft>
            </a:pPr>
            <a:r>
              <a:rPr sz="1300" b="0">
                <a:solidFill>
                  <a:srgbClr val="6B7280"/>
                </a:solidFill>
                <a:latin typeface="Microsoft JhengHei"/>
                <a:ea typeface="Microsoft JhengHei"/>
              </a:rPr>
              <a:t>每期成分股（中位數）</a:t>
            </a:r>
          </a:p>
        </p:txBody>
      </p:sp>
      <p:sp>
        <p:nvSpPr>
          <p:cNvPr id="11" name="TextBox 10"/>
          <p:cNvSpPr txBox="1"/>
          <p:nvPr/>
        </p:nvSpPr>
        <p:spPr>
          <a:xfrm>
            <a:off x="8869680" y="1691640"/>
            <a:ext cx="2560320" cy="566928"/>
          </a:xfrm>
          <a:prstGeom prst="rect">
            <a:avLst/>
          </a:prstGeom>
          <a:noFill/>
        </p:spPr>
        <p:txBody>
          <a:bodyPr wrap="square" lIns="0" rIns="0" tIns="0" bIns="0" anchor="t">
            <a:spAutoFit/>
          </a:bodyPr>
          <a:lstStyle/>
          <a:p>
            <a:pPr algn="l">
              <a:lnSpc>
                <a:spcPct val="125000"/>
              </a:lnSpc>
              <a:spcAft>
                <a:spcPts val="0"/>
              </a:spcAft>
            </a:pPr>
            <a:r>
              <a:rPr sz="3400" b="1">
                <a:solidFill>
                  <a:srgbClr val="0B2A5B"/>
                </a:solidFill>
                <a:latin typeface="Microsoft JhengHei"/>
                <a:ea typeface="Microsoft JhengHei"/>
              </a:rPr>
              <a:t>0.58%</a:t>
            </a:r>
          </a:p>
        </p:txBody>
      </p:sp>
      <p:sp>
        <p:nvSpPr>
          <p:cNvPr id="12" name="TextBox 11"/>
          <p:cNvSpPr txBox="1"/>
          <p:nvPr/>
        </p:nvSpPr>
        <p:spPr>
          <a:xfrm>
            <a:off x="8869680" y="2295144"/>
            <a:ext cx="2560320" cy="457200"/>
          </a:xfrm>
          <a:prstGeom prst="rect">
            <a:avLst/>
          </a:prstGeom>
          <a:noFill/>
        </p:spPr>
        <p:txBody>
          <a:bodyPr wrap="square" lIns="0" rIns="0" tIns="0" bIns="0" anchor="t">
            <a:spAutoFit/>
          </a:bodyPr>
          <a:lstStyle/>
          <a:p>
            <a:pPr algn="l">
              <a:lnSpc>
                <a:spcPct val="125000"/>
              </a:lnSpc>
              <a:spcAft>
                <a:spcPts val="0"/>
              </a:spcAft>
            </a:pPr>
            <a:r>
              <a:rPr sz="1300" b="0">
                <a:solidFill>
                  <a:srgbClr val="6B7280"/>
                </a:solidFill>
                <a:latin typeface="Microsoft JhengHei"/>
                <a:ea typeface="Microsoft JhengHei"/>
              </a:rPr>
              <a:t>往返交易成本</a:t>
            </a:r>
          </a:p>
        </p:txBody>
      </p:sp>
      <p:sp>
        <p:nvSpPr>
          <p:cNvPr id="13" name="TextBox 12"/>
          <p:cNvSpPr txBox="1"/>
          <p:nvPr/>
        </p:nvSpPr>
        <p:spPr>
          <a:xfrm>
            <a:off x="640080" y="2926080"/>
            <a:ext cx="10881360" cy="365760"/>
          </a:xfrm>
          <a:prstGeom prst="rect">
            <a:avLst/>
          </a:prstGeom>
          <a:noFill/>
        </p:spPr>
        <p:txBody>
          <a:bodyPr wrap="square" lIns="0" rIns="0" tIns="0" bIns="0" anchor="t">
            <a:spAutoFit/>
          </a:bodyPr>
          <a:lstStyle/>
          <a:p>
            <a:pPr algn="l">
              <a:lnSpc>
                <a:spcPct val="125000"/>
              </a:lnSpc>
              <a:spcAft>
                <a:spcPts val="600"/>
              </a:spcAft>
            </a:pPr>
            <a:r>
              <a:rPr sz="1600" b="1">
                <a:solidFill>
                  <a:srgbClr val="0B2A5B"/>
                </a:solidFill>
                <a:latin typeface="Microsoft JhengHei"/>
                <a:ea typeface="Microsoft JhengHei"/>
              </a:rPr>
              <a:t>三道時點控制（point-in-time）：</a:t>
            </a:r>
          </a:p>
        </p:txBody>
      </p:sp>
      <p:sp>
        <p:nvSpPr>
          <p:cNvPr id="14" name="Rounded Rectangle 13"/>
          <p:cNvSpPr/>
          <p:nvPr/>
        </p:nvSpPr>
        <p:spPr>
          <a:xfrm>
            <a:off x="640080" y="3310128"/>
            <a:ext cx="3474720" cy="178308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400"/>
              </a:spcAft>
            </a:pPr>
            <a:r>
              <a:rPr sz="1500" b="1">
                <a:solidFill>
                  <a:srgbClr val="0B2A5B"/>
                </a:solidFill>
                <a:latin typeface="Microsoft JhengHei"/>
                <a:ea typeface="Microsoft JhengHei"/>
              </a:rPr>
              <a:t>成分股</a:t>
            </a:r>
          </a:p>
          <a:p>
            <a:pPr algn="l">
              <a:lnSpc>
                <a:spcPct val="125000"/>
              </a:lnSpc>
              <a:spcAft>
                <a:spcPts val="600"/>
              </a:spcAft>
            </a:pPr>
            <a:r>
              <a:rPr sz="1300" b="0">
                <a:solidFill>
                  <a:srgbClr val="1A1A1A"/>
                </a:solidFill>
                <a:latin typeface="Microsoft JhengHei"/>
                <a:ea typeface="Microsoft JhengHei"/>
              </a:rPr>
              <a:t>每期只取</a:t>
            </a:r>
            <a:r>
              <a:rPr sz="1300" b="1">
                <a:solidFill>
                  <a:srgbClr val="1A1A1A"/>
                </a:solidFill>
                <a:latin typeface="Microsoft JhengHei"/>
                <a:ea typeface="Microsoft JhengHei"/>
              </a:rPr>
              <a:t>當時真的在指數裡</a:t>
            </a:r>
            <a:r>
              <a:rPr sz="1300" b="0">
                <a:solidFill>
                  <a:srgbClr val="1A1A1A"/>
                </a:solidFill>
                <a:latin typeface="Microsoft JhengHei"/>
                <a:ea typeface="Microsoft JhengHei"/>
              </a:rPr>
              <a:t>的股票。866 段成員期間中 363 段有剔除日，它們在被剔除前都正常參與配對 → 避免存活者偏誤</a:t>
            </a:r>
          </a:p>
        </p:txBody>
      </p:sp>
      <p:sp>
        <p:nvSpPr>
          <p:cNvPr id="15" name="Rounded Rectangle 14"/>
          <p:cNvSpPr/>
          <p:nvPr/>
        </p:nvSpPr>
        <p:spPr>
          <a:xfrm>
            <a:off x="4343400" y="3310128"/>
            <a:ext cx="3474720" cy="178308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400"/>
              </a:spcAft>
            </a:pPr>
            <a:r>
              <a:rPr sz="1500" b="1">
                <a:solidFill>
                  <a:srgbClr val="0B2A5B"/>
                </a:solidFill>
                <a:latin typeface="Microsoft JhengHei"/>
                <a:ea typeface="Microsoft JhengHei"/>
              </a:rPr>
              <a:t>基本面</a:t>
            </a:r>
          </a:p>
          <a:p>
            <a:pPr algn="l">
              <a:lnSpc>
                <a:spcPct val="125000"/>
              </a:lnSpc>
              <a:spcAft>
                <a:spcPts val="600"/>
              </a:spcAft>
            </a:pPr>
            <a:r>
              <a:rPr sz="1300" b="0">
                <a:solidFill>
                  <a:srgbClr val="1A1A1A"/>
                </a:solidFill>
                <a:latin typeface="Microsoft JhengHei"/>
                <a:ea typeface="Microsoft JhengHei"/>
              </a:rPr>
              <a:t>只取</a:t>
            </a:r>
            <a:r>
              <a:rPr sz="1300" b="1">
                <a:solidFill>
                  <a:srgbClr val="1A1A1A"/>
                </a:solidFill>
                <a:latin typeface="Microsoft JhengHei"/>
                <a:ea typeface="Microsoft JhengHei"/>
              </a:rPr>
              <a:t>不晚於形成期結束日</a:t>
            </a:r>
            <a:r>
              <a:rPr sz="1300" b="0">
                <a:solidFill>
                  <a:srgbClr val="1A1A1A"/>
                </a:solidFill>
                <a:latin typeface="Microsoft JhengHei"/>
                <a:ea typeface="Microsoft JhengHei"/>
              </a:rPr>
              <a:t>的最近一筆月頻快照</a:t>
            </a:r>
          </a:p>
        </p:txBody>
      </p:sp>
      <p:sp>
        <p:nvSpPr>
          <p:cNvPr id="16" name="Rounded Rectangle 15"/>
          <p:cNvSpPr/>
          <p:nvPr/>
        </p:nvSpPr>
        <p:spPr>
          <a:xfrm>
            <a:off x="8046720" y="3310128"/>
            <a:ext cx="3474720" cy="178308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400"/>
              </a:spcAft>
            </a:pPr>
            <a:r>
              <a:rPr sz="1500" b="1">
                <a:solidFill>
                  <a:srgbClr val="0B2A5B"/>
                </a:solidFill>
                <a:latin typeface="Microsoft JhengHei"/>
                <a:ea typeface="Microsoft JhengHei"/>
              </a:rPr>
              <a:t>特徵</a:t>
            </a:r>
          </a:p>
          <a:p>
            <a:pPr algn="l">
              <a:lnSpc>
                <a:spcPct val="125000"/>
              </a:lnSpc>
              <a:spcAft>
                <a:spcPts val="600"/>
              </a:spcAft>
            </a:pPr>
            <a:r>
              <a:rPr sz="1300" b="0">
                <a:solidFill>
                  <a:srgbClr val="1A1A1A"/>
                </a:solidFill>
                <a:latin typeface="Microsoft JhengHei"/>
                <a:ea typeface="Microsoft JhengHei"/>
              </a:rPr>
              <a:t>只用</a:t>
            </a:r>
            <a:r>
              <a:rPr sz="1300" b="1">
                <a:solidFill>
                  <a:srgbClr val="1A1A1A"/>
                </a:solidFill>
                <a:latin typeface="Microsoft JhengHei"/>
                <a:ea typeface="Microsoft JhengHei"/>
              </a:rPr>
              <a:t>形成期窗內</a:t>
            </a:r>
            <a:r>
              <a:rPr sz="1300" b="0">
                <a:solidFill>
                  <a:srgbClr val="1A1A1A"/>
                </a:solidFill>
                <a:latin typeface="Microsoft JhengHei"/>
                <a:ea typeface="Microsoft JhengHei"/>
              </a:rPr>
              <a:t>的資料；交易期價格不參與任何估計</a:t>
            </a:r>
          </a:p>
        </p:txBody>
      </p:sp>
      <p:sp>
        <p:nvSpPr>
          <p:cNvPr id="17" name="TextBox 16"/>
          <p:cNvSpPr txBox="1"/>
          <p:nvPr/>
        </p:nvSpPr>
        <p:spPr>
          <a:xfrm>
            <a:off x="640080" y="5230368"/>
            <a:ext cx="10881360" cy="731520"/>
          </a:xfrm>
          <a:prstGeom prst="rect">
            <a:avLst/>
          </a:prstGeom>
          <a:noFill/>
        </p:spPr>
        <p:txBody>
          <a:bodyPr wrap="square" lIns="0" rIns="0" tIns="0" bIns="0" anchor="t">
            <a:spAutoFit/>
          </a:bodyPr>
          <a:lstStyle/>
          <a:p>
            <a:pPr algn="l">
              <a:lnSpc>
                <a:spcPct val="125000"/>
              </a:lnSpc>
              <a:spcAft>
                <a:spcPts val="400"/>
              </a:spcAft>
            </a:pPr>
            <a:r>
              <a:rPr sz="1400" b="0">
                <a:solidFill>
                  <a:srgbClr val="1A1A1A"/>
                </a:solidFill>
                <a:latin typeface="Microsoft JhengHei"/>
                <a:ea typeface="Microsoft JhengHei"/>
              </a:rPr>
              <a:t>價格：Tiingo 含息還原價。成本：單邊 0.29%（Do &amp; Faff, 2012），樣本期較早、偏保守。</a:t>
            </a:r>
          </a:p>
          <a:p>
            <a:pPr algn="l">
              <a:lnSpc>
                <a:spcPct val="125000"/>
              </a:lnSpc>
              <a:spcAft>
                <a:spcPts val="400"/>
              </a:spcAft>
            </a:pPr>
            <a:r>
              <a:rPr sz="1400" b="0">
                <a:solidFill>
                  <a:srgbClr val="6B7280"/>
                </a:solidFill>
                <a:latin typeface="Microsoft JhengHei"/>
                <a:ea typeface="Microsoft JhengHei"/>
              </a:rPr>
              <a:t>限制先講：基本面在 2000–2008 年完全沒有資料（覆蓋率 0%），這段期間基本面特徵是常數。</a:t>
            </a:r>
          </a:p>
        </p:txBody>
      </p:sp>
      <p:sp>
        <p:nvSpPr>
          <p:cNvPr id="18" name="TextBox 17"/>
          <p:cNvSpPr txBox="1"/>
          <p:nvPr/>
        </p:nvSpPr>
        <p:spPr>
          <a:xfrm>
            <a:off x="640080" y="6126480"/>
            <a:ext cx="10332720" cy="27432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Do, B., &amp; Faff, R. (2012). Are pairs trading profits robust to trading costs? Journal of Financial Research, 35(2), 261–287.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§3.1.3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滾動回測：任何一天，都有 6 個交易期同時在跑</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20</a:t>
            </a:r>
          </a:p>
        </p:txBody>
      </p:sp>
      <p:graphicFrame>
        <p:nvGraphicFramePr>
          <p:cNvPr id="5" name="Table 4"/>
          <p:cNvGraphicFramePr>
            <a:graphicFrameLocks noGrp="1"/>
          </p:cNvGraphicFramePr>
          <p:nvPr/>
        </p:nvGraphicFramePr>
        <p:xfrm>
          <a:off x="640080" y="1691640"/>
          <a:ext cx="4846320" cy="2304288"/>
        </p:xfrm>
        <a:graphic>
          <a:graphicData uri="http://schemas.openxmlformats.org/drawingml/2006/table">
            <a:tbl>
              <a:tblPr firstRow="1" bandRow="1">
                <a:tableStyleId>{5C22544A-7EE6-4342-B048-85BDC9FD1C3A}</a:tableStyleId>
              </a:tblPr>
              <a:tblGrid>
                <a:gridCol w="2194560"/>
                <a:gridCol w="2651760"/>
              </a:tblGrid>
              <a:tr h="384048">
                <a:tc>
                  <a:txBody>
                    <a:bodyPr wrap="square"/>
                    <a:lstStyle/>
                    <a:p>
                      <a:pPr algn="l">
                        <a:lnSpc>
                          <a:spcPct val="110000"/>
                        </a:lnSpc>
                        <a:spcAft>
                          <a:spcPts val="0"/>
                        </a:spcAft>
                      </a:pPr>
                      <a:r>
                        <a:rPr sz="1500" b="1">
                          <a:solidFill>
                            <a:srgbClr val="FFFFFF"/>
                          </a:solidFill>
                          <a:latin typeface="Microsoft JhengHei"/>
                          <a:ea typeface="Microsoft JhengHei"/>
                        </a:rPr>
                        <a:t>參數</a:t>
                      </a:r>
                    </a:p>
                  </a:txBody>
                  <a:tcPr marT="27432" marB="27432" marL="73152" marR="73152" anchor="ctr">
                    <a:solidFill>
                      <a:srgbClr val="0B2A5B"/>
                    </a:solidFill>
                  </a:tcPr>
                </a:tc>
                <a:tc>
                  <a:txBody>
                    <a:bodyPr wrap="square"/>
                    <a:lstStyle/>
                    <a:p>
                      <a:pPr algn="l">
                        <a:lnSpc>
                          <a:spcPct val="110000"/>
                        </a:lnSpc>
                        <a:spcAft>
                          <a:spcPts val="0"/>
                        </a:spcAft>
                      </a:pPr>
                      <a:r>
                        <a:rPr sz="1500" b="1">
                          <a:solidFill>
                            <a:srgbClr val="FFFFFF"/>
                          </a:solidFill>
                          <a:latin typeface="Microsoft JhengHei"/>
                          <a:ea typeface="Microsoft JhengHei"/>
                        </a:rPr>
                        <a:t>設定</a:t>
                      </a:r>
                    </a:p>
                  </a:txBody>
                  <a:tcPr marT="27432" marB="27432" marL="73152" marR="73152" anchor="ctr">
                    <a:solidFill>
                      <a:srgbClr val="0B2A5B"/>
                    </a:solidFill>
                  </a:tcPr>
                </a:tc>
              </a:tr>
              <a:tr h="384048">
                <a:tc>
                  <a:txBody>
                    <a:bodyPr wrap="square"/>
                    <a:lstStyle/>
                    <a:p>
                      <a:pPr algn="l">
                        <a:lnSpc>
                          <a:spcPct val="110000"/>
                        </a:lnSpc>
                        <a:spcAft>
                          <a:spcPts val="0"/>
                        </a:spcAft>
                      </a:pPr>
                      <a:r>
                        <a:rPr sz="1500" b="0">
                          <a:solidFill>
                            <a:srgbClr val="1A1A1A"/>
                          </a:solidFill>
                          <a:latin typeface="Microsoft JhengHei"/>
                          <a:ea typeface="Microsoft JhengHei"/>
                        </a:rPr>
                        <a:t>形成期</a:t>
                      </a:r>
                    </a:p>
                  </a:txBody>
                  <a:tcPr marT="27432" marB="27432" marL="73152" marR="73152" anchor="ctr">
                    <a:solidFill>
                      <a:srgbClr val="FFFFFF"/>
                    </a:solidFill>
                  </a:tcPr>
                </a:tc>
                <a:tc>
                  <a:txBody>
                    <a:bodyPr wrap="square"/>
                    <a:lstStyle/>
                    <a:p>
                      <a:pPr algn="l">
                        <a:lnSpc>
                          <a:spcPct val="110000"/>
                        </a:lnSpc>
                        <a:spcAft>
                          <a:spcPts val="0"/>
                        </a:spcAft>
                      </a:pPr>
                      <a:r>
                        <a:rPr sz="1500" b="0">
                          <a:solidFill>
                            <a:srgbClr val="1A1A1A"/>
                          </a:solidFill>
                          <a:latin typeface="Microsoft JhengHei"/>
                          <a:ea typeface="Microsoft JhengHei"/>
                        </a:rPr>
                        <a:t>252 個交易日</a:t>
                      </a:r>
                    </a:p>
                  </a:txBody>
                  <a:tcPr marT="27432" marB="27432" marL="73152" marR="73152" anchor="ctr">
                    <a:solidFill>
                      <a:srgbClr val="FFFFFF"/>
                    </a:solidFill>
                  </a:tcPr>
                </a:tc>
              </a:tr>
              <a:tr h="384048">
                <a:tc>
                  <a:txBody>
                    <a:bodyPr wrap="square"/>
                    <a:lstStyle/>
                    <a:p>
                      <a:pPr algn="l">
                        <a:lnSpc>
                          <a:spcPct val="110000"/>
                        </a:lnSpc>
                        <a:spcAft>
                          <a:spcPts val="0"/>
                        </a:spcAft>
                      </a:pPr>
                      <a:r>
                        <a:rPr sz="1500" b="0">
                          <a:solidFill>
                            <a:srgbClr val="1A1A1A"/>
                          </a:solidFill>
                          <a:latin typeface="Microsoft JhengHei"/>
                          <a:ea typeface="Microsoft JhengHei"/>
                        </a:rPr>
                        <a:t>交易期</a:t>
                      </a:r>
                    </a:p>
                  </a:txBody>
                  <a:tcPr marT="27432" marB="27432" marL="73152" marR="73152" anchor="ctr">
                    <a:solidFill>
                      <a:srgbClr val="E8EDF5"/>
                    </a:solidFill>
                  </a:tcPr>
                </a:tc>
                <a:tc>
                  <a:txBody>
                    <a:bodyPr wrap="square"/>
                    <a:lstStyle/>
                    <a:p>
                      <a:pPr algn="l">
                        <a:lnSpc>
                          <a:spcPct val="110000"/>
                        </a:lnSpc>
                        <a:spcAft>
                          <a:spcPts val="0"/>
                        </a:spcAft>
                      </a:pPr>
                      <a:r>
                        <a:rPr sz="1500" b="0">
                          <a:solidFill>
                            <a:srgbClr val="1A1A1A"/>
                          </a:solidFill>
                          <a:latin typeface="Microsoft JhengHei"/>
                          <a:ea typeface="Microsoft JhengHei"/>
                        </a:rPr>
                        <a:t>126 個交易日</a:t>
                      </a:r>
                    </a:p>
                  </a:txBody>
                  <a:tcPr marT="27432" marB="27432" marL="73152" marR="73152" anchor="ctr">
                    <a:solidFill>
                      <a:srgbClr val="E8EDF5"/>
                    </a:solidFill>
                  </a:tcPr>
                </a:tc>
              </a:tr>
              <a:tr h="384048">
                <a:tc>
                  <a:txBody>
                    <a:bodyPr wrap="square"/>
                    <a:lstStyle/>
                    <a:p>
                      <a:pPr algn="l">
                        <a:lnSpc>
                          <a:spcPct val="110000"/>
                        </a:lnSpc>
                        <a:spcAft>
                          <a:spcPts val="0"/>
                        </a:spcAft>
                      </a:pPr>
                      <a:r>
                        <a:rPr sz="1500" b="0">
                          <a:solidFill>
                            <a:srgbClr val="1A1A1A"/>
                          </a:solidFill>
                          <a:latin typeface="Microsoft JhengHei"/>
                          <a:ea typeface="Microsoft JhengHei"/>
                        </a:rPr>
                        <a:t>滾動步長</a:t>
                      </a:r>
                    </a:p>
                  </a:txBody>
                  <a:tcPr marT="27432" marB="27432" marL="73152" marR="73152" anchor="ctr">
                    <a:solidFill>
                      <a:srgbClr val="FFFFFF"/>
                    </a:solidFill>
                  </a:tcPr>
                </a:tc>
                <a:tc>
                  <a:txBody>
                    <a:bodyPr wrap="square"/>
                    <a:lstStyle/>
                    <a:p>
                      <a:pPr algn="l">
                        <a:lnSpc>
                          <a:spcPct val="110000"/>
                        </a:lnSpc>
                        <a:spcAft>
                          <a:spcPts val="0"/>
                        </a:spcAft>
                      </a:pPr>
                      <a:r>
                        <a:rPr sz="1500" b="0">
                          <a:solidFill>
                            <a:srgbClr val="1A1A1A"/>
                          </a:solidFill>
                          <a:latin typeface="Microsoft JhengHei"/>
                          <a:ea typeface="Microsoft JhengHei"/>
                        </a:rPr>
                        <a:t>21 個交易日（約一個月）</a:t>
                      </a:r>
                    </a:p>
                  </a:txBody>
                  <a:tcPr marT="27432" marB="27432" marL="73152" marR="73152" anchor="ctr">
                    <a:solidFill>
                      <a:srgbClr val="FFFFFF"/>
                    </a:solidFill>
                  </a:tcPr>
                </a:tc>
              </a:tr>
              <a:tr h="384048">
                <a:tc>
                  <a:txBody>
                    <a:bodyPr wrap="square"/>
                    <a:lstStyle/>
                    <a:p>
                      <a:pPr algn="l">
                        <a:lnSpc>
                          <a:spcPct val="110000"/>
                        </a:lnSpc>
                        <a:spcAft>
                          <a:spcPts val="0"/>
                        </a:spcAft>
                      </a:pPr>
                      <a:r>
                        <a:rPr sz="1500" b="0">
                          <a:solidFill>
                            <a:srgbClr val="1A1A1A"/>
                          </a:solidFill>
                          <a:latin typeface="Microsoft JhengHei"/>
                          <a:ea typeface="Microsoft JhengHei"/>
                        </a:rPr>
                        <a:t>同時重疊期數</a:t>
                      </a:r>
                    </a:p>
                  </a:txBody>
                  <a:tcPr marT="27432" marB="27432" marL="73152" marR="73152" anchor="ctr">
                    <a:solidFill>
                      <a:srgbClr val="E8EDF5"/>
                    </a:solidFill>
                  </a:tcPr>
                </a:tc>
                <a:tc>
                  <a:txBody>
                    <a:bodyPr wrap="square"/>
                    <a:lstStyle/>
                    <a:p>
                      <a:pPr algn="l">
                        <a:lnSpc>
                          <a:spcPct val="110000"/>
                        </a:lnSpc>
                        <a:spcAft>
                          <a:spcPts val="0"/>
                        </a:spcAft>
                      </a:pPr>
                      <a:r>
                        <a:rPr sz="1500" b="1">
                          <a:solidFill>
                            <a:srgbClr val="1A1A1A"/>
                          </a:solidFill>
                          <a:latin typeface="Microsoft JhengHei"/>
                          <a:ea typeface="Microsoft JhengHei"/>
                        </a:rPr>
                        <a:t>6</a:t>
                      </a:r>
                      <a:r>
                        <a:rPr sz="1500" b="0">
                          <a:solidFill>
                            <a:srgbClr val="1A1A1A"/>
                          </a:solidFill>
                          <a:latin typeface="Microsoft JhengHei"/>
                          <a:ea typeface="Microsoft JhengHei"/>
                        </a:rPr>
                        <a:t>（＝126 ÷ 21）</a:t>
                      </a:r>
                    </a:p>
                  </a:txBody>
                  <a:tcPr marT="27432" marB="27432" marL="73152" marR="73152" anchor="ctr">
                    <a:solidFill>
                      <a:srgbClr val="E8EDF5"/>
                    </a:solidFill>
                  </a:tcPr>
                </a:tc>
              </a:tr>
              <a:tr h="384048">
                <a:tc>
                  <a:txBody>
                    <a:bodyPr wrap="square"/>
                    <a:lstStyle/>
                    <a:p>
                      <a:pPr algn="l">
                        <a:lnSpc>
                          <a:spcPct val="110000"/>
                        </a:lnSpc>
                        <a:spcAft>
                          <a:spcPts val="0"/>
                        </a:spcAft>
                      </a:pPr>
                      <a:r>
                        <a:rPr sz="1500" b="0">
                          <a:solidFill>
                            <a:srgbClr val="1A1A1A"/>
                          </a:solidFill>
                          <a:latin typeface="Microsoft JhengHei"/>
                          <a:ea typeface="Microsoft JhengHei"/>
                        </a:rPr>
                        <a:t>滾動期數</a:t>
                      </a:r>
                    </a:p>
                  </a:txBody>
                  <a:tcPr marT="27432" marB="27432" marL="73152" marR="73152" anchor="ctr">
                    <a:solidFill>
                      <a:srgbClr val="FFFFFF"/>
                    </a:solidFill>
                  </a:tcPr>
                </a:tc>
                <a:tc>
                  <a:txBody>
                    <a:bodyPr wrap="square"/>
                    <a:lstStyle/>
                    <a:p>
                      <a:pPr algn="l">
                        <a:lnSpc>
                          <a:spcPct val="110000"/>
                        </a:lnSpc>
                        <a:spcAft>
                          <a:spcPts val="0"/>
                        </a:spcAft>
                      </a:pPr>
                      <a:r>
                        <a:rPr sz="1500" b="0">
                          <a:solidFill>
                            <a:srgbClr val="1A1A1A"/>
                          </a:solidFill>
                          <a:latin typeface="Microsoft JhengHei"/>
                          <a:ea typeface="Microsoft JhengHei"/>
                        </a:rPr>
                        <a:t>295 期</a:t>
                      </a:r>
                    </a:p>
                  </a:txBody>
                  <a:tcPr marT="27432" marB="27432" marL="73152" marR="73152" anchor="ctr">
                    <a:solidFill>
                      <a:srgbClr val="FFFFFF"/>
                    </a:solidFill>
                  </a:tcPr>
                </a:tc>
              </a:tr>
            </a:tbl>
          </a:graphicData>
        </a:graphic>
      </p:graphicFrame>
      <p:sp>
        <p:nvSpPr>
          <p:cNvPr id="6" name="TextBox 5"/>
          <p:cNvSpPr txBox="1"/>
          <p:nvPr/>
        </p:nvSpPr>
        <p:spPr>
          <a:xfrm>
            <a:off x="5989320" y="1737360"/>
            <a:ext cx="5486400" cy="274320"/>
          </a:xfrm>
          <a:prstGeom prst="rect">
            <a:avLst/>
          </a:prstGeom>
          <a:noFill/>
        </p:spPr>
        <p:txBody>
          <a:bodyPr wrap="square" lIns="0" rIns="0" tIns="0" bIns="0" anchor="t">
            <a:spAutoFit/>
          </a:bodyPr>
          <a:lstStyle/>
          <a:p>
            <a:pPr algn="l">
              <a:lnSpc>
                <a:spcPct val="125000"/>
              </a:lnSpc>
              <a:spcAft>
                <a:spcPts val="600"/>
              </a:spcAft>
            </a:pPr>
            <a:r>
              <a:rPr sz="1200" b="1">
                <a:solidFill>
                  <a:srgbClr val="0B2A5B"/>
                </a:solidFill>
                <a:latin typeface="Microsoft JhengHei"/>
                <a:ea typeface="Microsoft JhengHei"/>
              </a:rPr>
              <a:t>示意：每 21 天開一個新的交易期</a:t>
            </a:r>
          </a:p>
        </p:txBody>
      </p:sp>
      <p:sp>
        <p:nvSpPr>
          <p:cNvPr id="7" name="Rectangle 6"/>
          <p:cNvSpPr/>
          <p:nvPr/>
        </p:nvSpPr>
        <p:spPr>
          <a:xfrm>
            <a:off x="5989320" y="2148840"/>
            <a:ext cx="1266092" cy="237744"/>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8" name="Rectangle 7"/>
          <p:cNvSpPr/>
          <p:nvPr/>
        </p:nvSpPr>
        <p:spPr>
          <a:xfrm>
            <a:off x="7255412" y="2148840"/>
            <a:ext cx="2110153" cy="237744"/>
          </a:xfrm>
          <a:prstGeom prst="rect">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9" name="Rectangle 8"/>
          <p:cNvSpPr/>
          <p:nvPr/>
        </p:nvSpPr>
        <p:spPr>
          <a:xfrm>
            <a:off x="6341012" y="2496312"/>
            <a:ext cx="1266092" cy="237744"/>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0" name="Rectangle 9"/>
          <p:cNvSpPr/>
          <p:nvPr/>
        </p:nvSpPr>
        <p:spPr>
          <a:xfrm>
            <a:off x="7607104" y="2496312"/>
            <a:ext cx="2110153" cy="237744"/>
          </a:xfrm>
          <a:prstGeom prst="rect">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1" name="Rectangle 10"/>
          <p:cNvSpPr/>
          <p:nvPr/>
        </p:nvSpPr>
        <p:spPr>
          <a:xfrm>
            <a:off x="6692704" y="2843784"/>
            <a:ext cx="1266092" cy="237744"/>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2" name="Rectangle 11"/>
          <p:cNvSpPr/>
          <p:nvPr/>
        </p:nvSpPr>
        <p:spPr>
          <a:xfrm>
            <a:off x="7958796" y="2843784"/>
            <a:ext cx="2110153" cy="237744"/>
          </a:xfrm>
          <a:prstGeom prst="rect">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3" name="Rectangle 12"/>
          <p:cNvSpPr/>
          <p:nvPr/>
        </p:nvSpPr>
        <p:spPr>
          <a:xfrm>
            <a:off x="7044396" y="3191256"/>
            <a:ext cx="1266092" cy="237744"/>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4" name="Rectangle 13"/>
          <p:cNvSpPr/>
          <p:nvPr/>
        </p:nvSpPr>
        <p:spPr>
          <a:xfrm>
            <a:off x="8310489" y="3191256"/>
            <a:ext cx="2110153" cy="237744"/>
          </a:xfrm>
          <a:prstGeom prst="rect">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5" name="Rectangle 14"/>
          <p:cNvSpPr/>
          <p:nvPr/>
        </p:nvSpPr>
        <p:spPr>
          <a:xfrm>
            <a:off x="7396089" y="3538728"/>
            <a:ext cx="1266092" cy="237744"/>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6" name="Rectangle 15"/>
          <p:cNvSpPr/>
          <p:nvPr/>
        </p:nvSpPr>
        <p:spPr>
          <a:xfrm>
            <a:off x="8662181" y="3538728"/>
            <a:ext cx="2110153" cy="237744"/>
          </a:xfrm>
          <a:prstGeom prst="rect">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7" name="Rectangle 16"/>
          <p:cNvSpPr/>
          <p:nvPr/>
        </p:nvSpPr>
        <p:spPr>
          <a:xfrm>
            <a:off x="7747781" y="3886200"/>
            <a:ext cx="1266092" cy="237744"/>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8" name="Rectangle 17"/>
          <p:cNvSpPr/>
          <p:nvPr/>
        </p:nvSpPr>
        <p:spPr>
          <a:xfrm>
            <a:off x="9013873" y="3886200"/>
            <a:ext cx="2110153" cy="237744"/>
          </a:xfrm>
          <a:prstGeom prst="rect">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19" name="Rectangle 18"/>
          <p:cNvSpPr/>
          <p:nvPr/>
        </p:nvSpPr>
        <p:spPr>
          <a:xfrm>
            <a:off x="8099473" y="4233672"/>
            <a:ext cx="1266092" cy="237744"/>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sp>
        <p:nvSpPr>
          <p:cNvPr id="20" name="Rectangle 19"/>
          <p:cNvSpPr/>
          <p:nvPr/>
        </p:nvSpPr>
        <p:spPr>
          <a:xfrm>
            <a:off x="9365566" y="4233672"/>
            <a:ext cx="2110153" cy="237744"/>
          </a:xfrm>
          <a:prstGeom prst="rect">
            <a:avLst/>
          </a:prstGeom>
          <a:solidFill>
            <a:srgbClr val="E7B2A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a:lstStyle/>
          <a:p>
            <a:pPr algn="ctr"/>
          </a:p>
        </p:txBody>
      </p:sp>
      <p:cxnSp>
        <p:nvCxnSpPr>
          <p:cNvPr id="21" name="Connector 20"/>
          <p:cNvCxnSpPr/>
          <p:nvPr/>
        </p:nvCxnSpPr>
        <p:spPr>
          <a:xfrm>
            <a:off x="9181346" y="2057400"/>
            <a:ext cx="0" cy="2523744"/>
          </a:xfrm>
          <a:prstGeom prst="line">
            <a:avLst/>
          </a:prstGeom>
          <a:ln w="19050">
            <a:solidFill>
              <a:srgbClr val="0B2A5B"/>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89320" y="4709160"/>
            <a:ext cx="5486400" cy="548640"/>
          </a:xfrm>
          <a:prstGeom prst="rect">
            <a:avLst/>
          </a:prstGeom>
          <a:noFill/>
        </p:spPr>
        <p:txBody>
          <a:bodyPr wrap="square" lIns="0" rIns="0" tIns="0" bIns="0" anchor="t">
            <a:spAutoFit/>
          </a:bodyPr>
          <a:lstStyle/>
          <a:p>
            <a:pPr algn="l">
              <a:lnSpc>
                <a:spcPct val="125000"/>
              </a:lnSpc>
              <a:spcAft>
                <a:spcPts val="200"/>
              </a:spcAft>
            </a:pPr>
            <a:r>
              <a:rPr sz="1200" b="0">
                <a:solidFill>
                  <a:srgbClr val="6B7280"/>
                </a:solidFill>
                <a:latin typeface="Microsoft JhengHei"/>
                <a:ea typeface="Microsoft JhengHei"/>
              </a:rPr>
              <a:t>灰：形成期（壓縮顯示）　紅：交易期</a:t>
            </a:r>
          </a:p>
          <a:p>
            <a:pPr algn="l">
              <a:lnSpc>
                <a:spcPct val="125000"/>
              </a:lnSpc>
              <a:spcAft>
                <a:spcPts val="200"/>
              </a:spcAft>
            </a:pPr>
            <a:r>
              <a:rPr sz="1200" b="0">
                <a:solidFill>
                  <a:srgbClr val="6B7280"/>
                </a:solidFill>
                <a:latin typeface="Microsoft JhengHei"/>
                <a:ea typeface="Microsoft JhengHei"/>
              </a:rPr>
              <a:t>虛線那一天，有 6 個交易期同時持倉；第 7 期要等第 1 期結束才開始</a:t>
            </a:r>
          </a:p>
        </p:txBody>
      </p:sp>
      <p:sp>
        <p:nvSpPr>
          <p:cNvPr id="23" name="Rounded Rectangle 22"/>
          <p:cNvSpPr/>
          <p:nvPr/>
        </p:nvSpPr>
        <p:spPr>
          <a:xfrm>
            <a:off x="640080" y="4297680"/>
            <a:ext cx="4846320" cy="14630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這個設計帶來兩個後果</a:t>
            </a:r>
          </a:p>
          <a:p>
            <a:pPr algn="l">
              <a:lnSpc>
                <a:spcPct val="125000"/>
              </a:lnSpc>
              <a:spcAft>
                <a:spcPts val="600"/>
              </a:spcAft>
            </a:pPr>
            <a:r>
              <a:rPr sz="1400" b="0">
                <a:solidFill>
                  <a:srgbClr val="1A1A1A"/>
                </a:solidFill>
                <a:latin typeface="Microsoft JhengHei"/>
                <a:ea typeface="Microsoft JhengHei"/>
              </a:rPr>
              <a:t>① 逐期報酬有</a:t>
            </a:r>
            <a:r>
              <a:rPr sz="1400" b="1">
                <a:solidFill>
                  <a:srgbClr val="1A1A1A"/>
                </a:solidFill>
                <a:latin typeface="Microsoft JhengHei"/>
                <a:ea typeface="Microsoft JhengHei"/>
              </a:rPr>
              <a:t>結構性自相關</a:t>
            </a:r>
            <a:r>
              <a:rPr sz="1400" b="0">
                <a:solidFill>
                  <a:srgbClr val="1A1A1A"/>
                </a:solidFill>
                <a:latin typeface="Microsoft JhengHei"/>
                <a:ea typeface="Microsoft JhengHei"/>
              </a:rPr>
              <a:t> → 統計檢定要用區塊拔靴</a:t>
            </a:r>
          </a:p>
          <a:p>
            <a:pPr algn="l">
              <a:lnSpc>
                <a:spcPct val="125000"/>
              </a:lnSpc>
              <a:spcAft>
                <a:spcPts val="600"/>
              </a:spcAft>
            </a:pPr>
            <a:r>
              <a:rPr sz="1400" b="0">
                <a:solidFill>
                  <a:srgbClr val="1A1A1A"/>
                </a:solidFill>
                <a:latin typeface="Microsoft JhengHei"/>
                <a:ea typeface="Microsoft JhengHei"/>
              </a:rPr>
              <a:t>② 交易期 126 天 → 天天決定的動作空間，一期最多 </a:t>
            </a:r>
            <a:r>
              <a:rPr sz="1400" b="1">
                <a:solidFill>
                  <a:srgbClr val="1A1A1A"/>
                </a:solidFill>
                <a:latin typeface="Microsoft JhengHei"/>
                <a:ea typeface="Microsoft JhengHei"/>
              </a:rPr>
              <a:t>126 次</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§3.2.1</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形成期拆成四層，每一層都可以單獨換掉</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21</a:t>
            </a:r>
          </a:p>
        </p:txBody>
      </p:sp>
      <p:sp>
        <p:nvSpPr>
          <p:cNvPr id="5" name="Rounded Rectangle 4"/>
          <p:cNvSpPr/>
          <p:nvPr/>
        </p:nvSpPr>
        <p:spPr>
          <a:xfrm>
            <a:off x="640080" y="1783080"/>
            <a:ext cx="2514600" cy="224028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FFFFFF"/>
                </a:solidFill>
                <a:latin typeface="Microsoft JhengHei"/>
                <a:ea typeface="Microsoft JhengHei"/>
              </a:rPr>
              <a:t>1　特徵萃取</a:t>
            </a:r>
          </a:p>
          <a:p>
            <a:pPr algn="l">
              <a:lnSpc>
                <a:spcPct val="125000"/>
              </a:lnSpc>
              <a:spcAft>
                <a:spcPts val="200"/>
              </a:spcAft>
            </a:pPr>
            <a:r>
              <a:rPr sz="1350" b="0">
                <a:solidFill>
                  <a:srgbClr val="FFFFFF"/>
                </a:solidFill>
                <a:latin typeface="Microsoft JhengHei"/>
                <a:ea typeface="Microsoft JhengHei"/>
              </a:rPr>
              <a:t>19 維</a:t>
            </a:r>
          </a:p>
          <a:p>
            <a:pPr algn="l">
              <a:lnSpc>
                <a:spcPct val="125000"/>
              </a:lnSpc>
              <a:spcAft>
                <a:spcPts val="200"/>
              </a:spcAft>
            </a:pPr>
            <a:r>
              <a:rPr sz="1350" b="0">
                <a:solidFill>
                  <a:srgbClr val="FFFFFF"/>
                </a:solidFill>
                <a:latin typeface="Microsoft JhengHei"/>
                <a:ea typeface="Microsoft JhengHei"/>
              </a:rPr>
              <a:t>報酬 PCA 5 維</a:t>
            </a:r>
          </a:p>
          <a:p>
            <a:pPr algn="l">
              <a:lnSpc>
                <a:spcPct val="125000"/>
              </a:lnSpc>
              <a:spcAft>
                <a:spcPts val="200"/>
              </a:spcAft>
            </a:pPr>
            <a:r>
              <a:rPr sz="1350" b="0">
                <a:solidFill>
                  <a:srgbClr val="FFFFFF"/>
                </a:solidFill>
                <a:latin typeface="Microsoft JhengHei"/>
                <a:ea typeface="Microsoft JhengHei"/>
              </a:rPr>
              <a:t>市值、盈餘殖利率</a:t>
            </a:r>
          </a:p>
          <a:p>
            <a:pPr algn="l">
              <a:lnSpc>
                <a:spcPct val="125000"/>
              </a:lnSpc>
              <a:spcAft>
                <a:spcPts val="200"/>
              </a:spcAft>
            </a:pPr>
            <a:r>
              <a:rPr sz="1350" b="0">
                <a:solidFill>
                  <a:srgbClr val="FFFFFF"/>
                </a:solidFill>
                <a:latin typeface="Microsoft JhengHei"/>
                <a:ea typeface="Microsoft JhengHei"/>
              </a:rPr>
              <a:t>GICS one-hot</a:t>
            </a:r>
          </a:p>
        </p:txBody>
      </p:sp>
      <p:cxnSp>
        <p:nvCxnSpPr>
          <p:cNvPr id="6" name="Connector 5"/>
          <p:cNvCxnSpPr/>
          <p:nvPr/>
        </p:nvCxnSpPr>
        <p:spPr>
          <a:xfrm>
            <a:off x="3172968" y="2898648"/>
            <a:ext cx="23774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29000" y="1783080"/>
            <a:ext cx="2514600" cy="2240280"/>
          </a:xfrm>
          <a:prstGeom prst="roundRect">
            <a:avLst>
              <a:gd name="adj" fmla="val 6000"/>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FFFFFF"/>
                </a:solidFill>
                <a:latin typeface="Microsoft JhengHei"/>
                <a:ea typeface="Microsoft JhengHei"/>
              </a:rPr>
              <a:t>2　分組</a:t>
            </a:r>
          </a:p>
          <a:p>
            <a:pPr algn="l">
              <a:lnSpc>
                <a:spcPct val="125000"/>
              </a:lnSpc>
              <a:spcAft>
                <a:spcPts val="200"/>
              </a:spcAft>
            </a:pPr>
            <a:r>
              <a:rPr sz="1350" b="0">
                <a:solidFill>
                  <a:srgbClr val="FFFFFF"/>
                </a:solidFill>
                <a:latin typeface="Microsoft JhengHei"/>
                <a:ea typeface="Microsoft JhengHei"/>
              </a:rPr>
              <a:t>5 個配對來源</a:t>
            </a:r>
          </a:p>
          <a:p>
            <a:pPr algn="l">
              <a:lnSpc>
                <a:spcPct val="125000"/>
              </a:lnSpc>
              <a:spcAft>
                <a:spcPts val="200"/>
              </a:spcAft>
            </a:pPr>
            <a:r>
              <a:rPr sz="1350" b="0">
                <a:solidFill>
                  <a:srgbClr val="FFFFFF"/>
                </a:solidFill>
                <a:latin typeface="Microsoft JhengHei"/>
                <a:ea typeface="Microsoft JhengHei"/>
              </a:rPr>
              <a:t>不分組／GICS</a:t>
            </a:r>
          </a:p>
          <a:p>
            <a:pPr algn="l">
              <a:lnSpc>
                <a:spcPct val="125000"/>
              </a:lnSpc>
              <a:spcAft>
                <a:spcPts val="200"/>
              </a:spcAft>
            </a:pPr>
            <a:r>
              <a:rPr sz="1350" b="0">
                <a:solidFill>
                  <a:srgbClr val="FFFFFF"/>
                </a:solidFill>
                <a:latin typeface="Microsoft JhengHei"/>
                <a:ea typeface="Microsoft JhengHei"/>
              </a:rPr>
              <a:t>HDBSCAN</a:t>
            </a:r>
          </a:p>
          <a:p>
            <a:pPr algn="l">
              <a:lnSpc>
                <a:spcPct val="125000"/>
              </a:lnSpc>
              <a:spcAft>
                <a:spcPts val="200"/>
              </a:spcAft>
            </a:pPr>
            <a:r>
              <a:rPr sz="1350" b="0">
                <a:solidFill>
                  <a:srgbClr val="FFFFFF"/>
                </a:solidFill>
                <a:latin typeface="Microsoft JhengHei"/>
                <a:ea typeface="Microsoft JhengHei"/>
              </a:rPr>
              <a:t>Agglomerative／K-means</a:t>
            </a:r>
          </a:p>
        </p:txBody>
      </p:sp>
      <p:cxnSp>
        <p:nvCxnSpPr>
          <p:cNvPr id="8" name="Connector 7"/>
          <p:cNvCxnSpPr/>
          <p:nvPr/>
        </p:nvCxnSpPr>
        <p:spPr>
          <a:xfrm>
            <a:off x="5961888" y="2898648"/>
            <a:ext cx="23774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17920" y="1783080"/>
            <a:ext cx="2514600" cy="224028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FFFFFF"/>
                </a:solidFill>
                <a:latin typeface="Microsoft JhengHei"/>
                <a:ea typeface="Microsoft JhengHei"/>
              </a:rPr>
              <a:t>3　統計篩選</a:t>
            </a:r>
          </a:p>
          <a:p>
            <a:pPr algn="l">
              <a:lnSpc>
                <a:spcPct val="125000"/>
              </a:lnSpc>
              <a:spcAft>
                <a:spcPts val="200"/>
              </a:spcAft>
            </a:pPr>
            <a:r>
              <a:rPr sz="1350" b="0">
                <a:solidFill>
                  <a:srgbClr val="FFFFFF"/>
                </a:solidFill>
                <a:latin typeface="Microsoft JhengHei"/>
                <a:ea typeface="Microsoft JhengHei"/>
              </a:rPr>
              <a:t>Engle-Granger 共整合</a:t>
            </a:r>
          </a:p>
          <a:p>
            <a:pPr algn="l">
              <a:lnSpc>
                <a:spcPct val="125000"/>
              </a:lnSpc>
              <a:spcAft>
                <a:spcPts val="200"/>
              </a:spcAft>
            </a:pPr>
            <a:r>
              <a:rPr sz="1350" b="0">
                <a:solidFill>
                  <a:srgbClr val="FFFFFF"/>
                </a:solidFill>
                <a:latin typeface="Microsoft JhengHei"/>
                <a:ea typeface="Microsoft JhengHei"/>
              </a:rPr>
              <a:t>ADF 殘差檢定</a:t>
            </a:r>
          </a:p>
          <a:p>
            <a:pPr algn="l">
              <a:lnSpc>
                <a:spcPct val="125000"/>
              </a:lnSpc>
              <a:spcAft>
                <a:spcPts val="200"/>
              </a:spcAft>
            </a:pPr>
            <a:r>
              <a:rPr sz="1350" b="0">
                <a:solidFill>
                  <a:srgbClr val="FFFFFF"/>
                </a:solidFill>
                <a:latin typeface="Microsoft JhengHei"/>
                <a:ea typeface="Microsoft JhengHei"/>
              </a:rPr>
              <a:t>MacKinnon 臨界值</a:t>
            </a:r>
          </a:p>
        </p:txBody>
      </p:sp>
      <p:cxnSp>
        <p:nvCxnSpPr>
          <p:cNvPr id="10" name="Connector 9"/>
          <p:cNvCxnSpPr/>
          <p:nvPr/>
        </p:nvCxnSpPr>
        <p:spPr>
          <a:xfrm>
            <a:off x="8750808" y="2898648"/>
            <a:ext cx="237744"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006840" y="1783080"/>
            <a:ext cx="2514600" cy="224028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FFFFFF"/>
                </a:solidFill>
                <a:latin typeface="Microsoft JhengHei"/>
                <a:ea typeface="Microsoft JhengHei"/>
              </a:rPr>
              <a:t>4　群內排序</a:t>
            </a:r>
          </a:p>
          <a:p>
            <a:pPr algn="l">
              <a:lnSpc>
                <a:spcPct val="125000"/>
              </a:lnSpc>
              <a:spcAft>
                <a:spcPts val="200"/>
              </a:spcAft>
            </a:pPr>
            <a:r>
              <a:rPr sz="1350" b="0">
                <a:solidFill>
                  <a:srgbClr val="FFFFFF"/>
                </a:solidFill>
                <a:latin typeface="Microsoft JhengHei"/>
                <a:ea typeface="Microsoft JhengHei"/>
              </a:rPr>
              <a:t>SSD／DTW／SDP</a:t>
            </a:r>
          </a:p>
          <a:p>
            <a:pPr algn="l">
              <a:lnSpc>
                <a:spcPct val="125000"/>
              </a:lnSpc>
              <a:spcAft>
                <a:spcPts val="200"/>
              </a:spcAft>
            </a:pPr>
            <a:r>
              <a:rPr sz="1350" b="0">
                <a:solidFill>
                  <a:srgbClr val="FFFFFF"/>
                </a:solidFill>
                <a:latin typeface="Microsoft JhengHei"/>
                <a:ea typeface="Microsoft JhengHei"/>
              </a:rPr>
              <a:t>取距離最小的</a:t>
            </a:r>
          </a:p>
          <a:p>
            <a:pPr algn="l">
              <a:lnSpc>
                <a:spcPct val="125000"/>
              </a:lnSpc>
              <a:spcAft>
                <a:spcPts val="200"/>
              </a:spcAft>
            </a:pPr>
            <a:r>
              <a:rPr sz="1350" b="0">
                <a:solidFill>
                  <a:srgbClr val="FFFFFF"/>
                </a:solidFill>
                <a:latin typeface="Microsoft JhengHei"/>
                <a:ea typeface="Microsoft JhengHei"/>
              </a:rPr>
              <a:t>前 N 組</a:t>
            </a:r>
          </a:p>
        </p:txBody>
      </p:sp>
      <p:sp>
        <p:nvSpPr>
          <p:cNvPr id="12" name="Rounded Rectangle 11"/>
          <p:cNvSpPr/>
          <p:nvPr/>
        </p:nvSpPr>
        <p:spPr>
          <a:xfrm>
            <a:off x="640080" y="4297680"/>
            <a:ext cx="5257800" cy="14630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為什麼篩選要放在排序前面？</a:t>
            </a:r>
          </a:p>
          <a:p>
            <a:pPr algn="l">
              <a:lnSpc>
                <a:spcPct val="125000"/>
              </a:lnSpc>
              <a:spcAft>
                <a:spcPts val="600"/>
              </a:spcAft>
            </a:pPr>
            <a:r>
              <a:rPr sz="1400" b="0">
                <a:solidFill>
                  <a:srgbClr val="1A1A1A"/>
                </a:solidFill>
                <a:latin typeface="Microsoft JhengHei"/>
                <a:ea typeface="Microsoft JhengHei"/>
              </a:rPr>
              <a:t>先篩選，才能讓</a:t>
            </a:r>
            <a:r>
              <a:rPr sz="1400" b="1">
                <a:solidFill>
                  <a:srgbClr val="1A1A1A"/>
                </a:solidFill>
                <a:latin typeface="Microsoft JhengHei"/>
                <a:ea typeface="Microsoft JhengHei"/>
              </a:rPr>
              <a:t>組內每一組候選配對都被檢定</a:t>
            </a:r>
            <a:r>
              <a:rPr sz="1400" b="0">
                <a:solidFill>
                  <a:srgbClr val="1A1A1A"/>
                </a:solidFill>
                <a:latin typeface="Microsoft JhengHei"/>
                <a:ea typeface="Microsoft JhengHei"/>
              </a:rPr>
              <a:t>。如果先排序再截斷，距離整體偏大的組可能一組都輪不到。所以我不設候選截斷。</a:t>
            </a:r>
          </a:p>
        </p:txBody>
      </p:sp>
      <p:sp>
        <p:nvSpPr>
          <p:cNvPr id="13" name="Rounded Rectangle 12"/>
          <p:cNvSpPr/>
          <p:nvPr/>
        </p:nvSpPr>
        <p:spPr>
          <a:xfrm>
            <a:off x="6263640" y="4297680"/>
            <a:ext cx="5257800" cy="14630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五個來源只在第 2 層不同</a:t>
            </a:r>
          </a:p>
          <a:p>
            <a:pPr algn="l">
              <a:lnSpc>
                <a:spcPct val="125000"/>
              </a:lnSpc>
              <a:spcAft>
                <a:spcPts val="600"/>
              </a:spcAft>
            </a:pPr>
            <a:r>
              <a:rPr sz="1400" b="0">
                <a:solidFill>
                  <a:srgbClr val="1A1A1A"/>
                </a:solidFill>
                <a:latin typeface="Microsoft JhengHei"/>
                <a:ea typeface="Microsoft JhengHei"/>
              </a:rPr>
              <a:t>其餘三層完全相同 → 任兩個來源之間</a:t>
            </a:r>
            <a:r>
              <a:rPr sz="1400" b="1">
                <a:solidFill>
                  <a:srgbClr val="1A1A1A"/>
                </a:solidFill>
                <a:latin typeface="Microsoft JhengHei"/>
                <a:ea typeface="Microsoft JhengHei"/>
              </a:rPr>
              <a:t>只有一個變因</a:t>
            </a:r>
            <a:r>
              <a:rPr sz="1400" b="0">
                <a:solidFill>
                  <a:srgbClr val="1A1A1A"/>
                </a:solidFill>
                <a:latin typeface="Microsoft JhengHei"/>
                <a:ea typeface="Microsoft JhengHei"/>
              </a:rPr>
              <a:t>。交易端也一樣：同一批配對，只換交易端。</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§3.2.2–3.2.3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五個配對來源：差別只在「怎麼分組」</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22</a:t>
            </a:r>
          </a:p>
        </p:txBody>
      </p:sp>
      <p:sp>
        <p:nvSpPr>
          <p:cNvPr id="5" name="TextBox 4"/>
          <p:cNvSpPr txBox="1"/>
          <p:nvPr/>
        </p:nvSpPr>
        <p:spPr>
          <a:xfrm>
            <a:off x="640080" y="1645920"/>
            <a:ext cx="4937760" cy="320040"/>
          </a:xfrm>
          <a:prstGeom prst="rect">
            <a:avLst/>
          </a:prstGeom>
          <a:noFill/>
        </p:spPr>
        <p:txBody>
          <a:bodyPr wrap="square" lIns="0" rIns="0" tIns="0" bIns="0" anchor="t">
            <a:spAutoFit/>
          </a:bodyPr>
          <a:lstStyle/>
          <a:p>
            <a:pPr algn="l">
              <a:lnSpc>
                <a:spcPct val="125000"/>
              </a:lnSpc>
              <a:spcAft>
                <a:spcPts val="600"/>
              </a:spcAft>
            </a:pPr>
            <a:r>
              <a:rPr sz="1500" b="1">
                <a:solidFill>
                  <a:srgbClr val="0B2A5B"/>
                </a:solidFill>
                <a:latin typeface="Microsoft JhengHei"/>
                <a:ea typeface="Microsoft JhengHei"/>
              </a:rPr>
              <a:t>特徵層：19 維（各區塊獨立標準化）</a:t>
            </a:r>
          </a:p>
        </p:txBody>
      </p:sp>
      <p:graphicFrame>
        <p:nvGraphicFramePr>
          <p:cNvPr id="6" name="Table 5"/>
          <p:cNvGraphicFramePr>
            <a:graphicFrameLocks noGrp="1"/>
          </p:cNvGraphicFramePr>
          <p:nvPr/>
        </p:nvGraphicFramePr>
        <p:xfrm>
          <a:off x="640080" y="2011680"/>
          <a:ext cx="4983480" cy="1463040"/>
        </p:xfrm>
        <a:graphic>
          <a:graphicData uri="http://schemas.openxmlformats.org/drawingml/2006/table">
            <a:tbl>
              <a:tblPr firstRow="1" bandRow="1">
                <a:tableStyleId>{5C22544A-7EE6-4342-B048-85BDC9FD1C3A}</a:tableStyleId>
              </a:tblPr>
              <a:tblGrid>
                <a:gridCol w="2148840"/>
                <a:gridCol w="731520"/>
                <a:gridCol w="2103120"/>
              </a:tblGrid>
              <a:tr h="365760">
                <a:tc>
                  <a:txBody>
                    <a:bodyPr wrap="square"/>
                    <a:lstStyle/>
                    <a:p>
                      <a:pPr algn="l">
                        <a:lnSpc>
                          <a:spcPct val="110000"/>
                        </a:lnSpc>
                        <a:spcAft>
                          <a:spcPts val="0"/>
                        </a:spcAft>
                      </a:pPr>
                      <a:r>
                        <a:rPr sz="1400" b="1">
                          <a:solidFill>
                            <a:srgbClr val="FFFFFF"/>
                          </a:solidFill>
                          <a:latin typeface="Microsoft JhengHei"/>
                          <a:ea typeface="Microsoft JhengHei"/>
                        </a:rPr>
                        <a:t>區塊</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維度</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距離貢獻</a:t>
                      </a:r>
                    </a:p>
                  </a:txBody>
                  <a:tcPr marT="27432" marB="27432" marL="73152" marR="73152" anchor="ctr">
                    <a:solidFill>
                      <a:srgbClr val="0B2A5B"/>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報酬 PCA 載荷</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5</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約 63%</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市值、盈餘殖利率</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2</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約 25%</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GICS 產業 one-hot</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12</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約 11%</a:t>
                      </a:r>
                    </a:p>
                  </a:txBody>
                  <a:tcPr marT="27432" marB="27432" marL="73152" marR="73152" anchor="ctr">
                    <a:solidFill>
                      <a:srgbClr val="FFFFFF"/>
                    </a:solidFill>
                  </a:tcPr>
                </a:tc>
              </a:tr>
            </a:tbl>
          </a:graphicData>
        </a:graphic>
      </p:graphicFrame>
      <p:sp>
        <p:nvSpPr>
          <p:cNvPr id="7" name="TextBox 6"/>
          <p:cNvSpPr txBox="1"/>
          <p:nvPr/>
        </p:nvSpPr>
        <p:spPr>
          <a:xfrm>
            <a:off x="640080" y="3611880"/>
            <a:ext cx="4983480" cy="1463040"/>
          </a:xfrm>
          <a:prstGeom prst="rect">
            <a:avLst/>
          </a:prstGeom>
          <a:noFill/>
        </p:spPr>
        <p:txBody>
          <a:bodyPr wrap="square" lIns="0" rIns="0" tIns="0" bIns="0" anchor="t">
            <a:spAutoFit/>
          </a:bodyPr>
          <a:lstStyle/>
          <a:p>
            <a:pPr algn="l">
              <a:lnSpc>
                <a:spcPct val="125000"/>
              </a:lnSpc>
              <a:spcAft>
                <a:spcPts val="600"/>
              </a:spcAft>
            </a:pPr>
            <a:r>
              <a:rPr sz="1350" b="0">
                <a:solidFill>
                  <a:srgbClr val="1A1A1A"/>
                </a:solidFill>
                <a:latin typeface="Microsoft JhengHei"/>
                <a:ea typeface="Microsoft JhengHei"/>
              </a:rPr>
              <a:t>PCA 載荷的想法來自 Avellaneda &amp; Lee（2010）：個股在共同風險因子上的曝險，就是它的「經濟位置」。</a:t>
            </a:r>
          </a:p>
          <a:p>
            <a:pPr algn="l">
              <a:lnSpc>
                <a:spcPct val="125000"/>
              </a:lnSpc>
              <a:spcAft>
                <a:spcPts val="600"/>
              </a:spcAft>
            </a:pPr>
            <a:r>
              <a:rPr sz="1350" b="0">
                <a:solidFill>
                  <a:srgbClr val="6B7280"/>
                </a:solidFill>
                <a:latin typeface="Microsoft JhengHei"/>
                <a:ea typeface="Microsoft JhengHei"/>
              </a:rPr>
              <a:t>缺值用全域中位數插補——不用產業中位數，因為那等於偷偷再寫一次產業標籤。</a:t>
            </a:r>
          </a:p>
        </p:txBody>
      </p:sp>
      <p:sp>
        <p:nvSpPr>
          <p:cNvPr id="8" name="TextBox 7"/>
          <p:cNvSpPr txBox="1"/>
          <p:nvPr/>
        </p:nvSpPr>
        <p:spPr>
          <a:xfrm>
            <a:off x="5989320" y="1645920"/>
            <a:ext cx="5486400" cy="320040"/>
          </a:xfrm>
          <a:prstGeom prst="rect">
            <a:avLst/>
          </a:prstGeom>
          <a:noFill/>
        </p:spPr>
        <p:txBody>
          <a:bodyPr wrap="square" lIns="0" rIns="0" tIns="0" bIns="0" anchor="t">
            <a:spAutoFit/>
          </a:bodyPr>
          <a:lstStyle/>
          <a:p>
            <a:pPr algn="l">
              <a:lnSpc>
                <a:spcPct val="125000"/>
              </a:lnSpc>
              <a:spcAft>
                <a:spcPts val="600"/>
              </a:spcAft>
            </a:pPr>
            <a:r>
              <a:rPr sz="1500" b="1">
                <a:solidFill>
                  <a:srgbClr val="0B2A5B"/>
                </a:solidFill>
                <a:latin typeface="Microsoft JhengHei"/>
                <a:ea typeface="Microsoft JhengHei"/>
              </a:rPr>
              <a:t>分組層：五個配對來源（每期中位 411 檔）</a:t>
            </a:r>
          </a:p>
        </p:txBody>
      </p:sp>
      <p:graphicFrame>
        <p:nvGraphicFramePr>
          <p:cNvPr id="9" name="Table 8"/>
          <p:cNvGraphicFramePr>
            <a:graphicFrameLocks noGrp="1"/>
          </p:cNvGraphicFramePr>
          <p:nvPr/>
        </p:nvGraphicFramePr>
        <p:xfrm>
          <a:off x="5989320" y="2011680"/>
          <a:ext cx="5486400" cy="2194560"/>
        </p:xfrm>
        <a:graphic>
          <a:graphicData uri="http://schemas.openxmlformats.org/drawingml/2006/table">
            <a:tbl>
              <a:tblPr firstRow="1" bandRow="1">
                <a:tableStyleId>{5C22544A-7EE6-4342-B048-85BDC9FD1C3A}</a:tableStyleId>
              </a:tblPr>
              <a:tblGrid>
                <a:gridCol w="2011680"/>
                <a:gridCol w="1234440"/>
                <a:gridCol w="1005840"/>
                <a:gridCol w="1234440"/>
              </a:tblGrid>
              <a:tr h="365760">
                <a:tc>
                  <a:txBody>
                    <a:bodyPr wrap="square"/>
                    <a:lstStyle/>
                    <a:p>
                      <a:pPr algn="l">
                        <a:lnSpc>
                          <a:spcPct val="110000"/>
                        </a:lnSpc>
                        <a:spcAft>
                          <a:spcPts val="0"/>
                        </a:spcAft>
                      </a:pPr>
                      <a:r>
                        <a:rPr sz="1400" b="1">
                          <a:solidFill>
                            <a:srgbClr val="FFFFFF"/>
                          </a:solidFill>
                          <a:latin typeface="Microsoft JhengHei"/>
                          <a:ea typeface="Microsoft JhengHei"/>
                        </a:rPr>
                        <a:t>來源</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排除標的</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群數</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群大小</a:t>
                      </a:r>
                    </a:p>
                  </a:txBody>
                  <a:tcPr marT="27432" marB="27432" marL="73152" marR="73152" anchor="ctr">
                    <a:solidFill>
                      <a:srgbClr val="0B2A5B"/>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不分組</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1</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GICS 產業</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15.1%</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13</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22</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HDBSCAN</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26.4%</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14</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14</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Agglomerative</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35.3%</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27</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8</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K-means</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42.0%</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36</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6</a:t>
                      </a:r>
                    </a:p>
                  </a:txBody>
                  <a:tcPr marT="27432" marB="27432" marL="73152" marR="73152" anchor="ctr">
                    <a:solidFill>
                      <a:srgbClr val="FFFFFF"/>
                    </a:solidFill>
                  </a:tcPr>
                </a:tc>
              </a:tr>
            </a:tbl>
          </a:graphicData>
        </a:graphic>
      </p:graphicFrame>
      <p:sp>
        <p:nvSpPr>
          <p:cNvPr id="10" name="TextBox 9"/>
          <p:cNvSpPr txBox="1"/>
          <p:nvPr/>
        </p:nvSpPr>
        <p:spPr>
          <a:xfrm>
            <a:off x="5989320" y="4343400"/>
            <a:ext cx="5532120" cy="1097280"/>
          </a:xfrm>
          <a:prstGeom prst="rect">
            <a:avLst/>
          </a:prstGeom>
          <a:noFill/>
        </p:spPr>
        <p:txBody>
          <a:bodyPr wrap="square" lIns="0" rIns="0" tIns="0" bIns="0" anchor="t">
            <a:spAutoFit/>
          </a:bodyPr>
          <a:lstStyle/>
          <a:p>
            <a:pPr algn="l">
              <a:lnSpc>
                <a:spcPct val="125000"/>
              </a:lnSpc>
              <a:spcAft>
                <a:spcPts val="600"/>
              </a:spcAft>
            </a:pPr>
            <a:r>
              <a:rPr sz="1350" b="0">
                <a:solidFill>
                  <a:srgbClr val="1A1A1A"/>
                </a:solidFill>
                <a:latin typeface="Microsoft JhengHei"/>
                <a:ea typeface="Microsoft JhengHei"/>
              </a:rPr>
              <a:t>分群模型</a:t>
            </a:r>
            <a:r>
              <a:rPr sz="1350" b="1">
                <a:solidFill>
                  <a:srgbClr val="1A1A1A"/>
                </a:solidFill>
                <a:latin typeface="Microsoft JhengHei"/>
                <a:ea typeface="Microsoft JhengHei"/>
              </a:rPr>
              <a:t>每期重新配適</a:t>
            </a:r>
            <a:r>
              <a:rPr sz="1350" b="0">
                <a:solidFill>
                  <a:srgbClr val="1A1A1A"/>
                </a:solidFill>
                <a:latin typeface="Microsoft JhengHei"/>
                <a:ea typeface="Microsoft JhengHei"/>
              </a:rPr>
              <a:t>，共 295 次——不然 2005 年的配對會被 2020 年的價格影響。</a:t>
            </a:r>
          </a:p>
          <a:p>
            <a:pPr algn="l">
              <a:lnSpc>
                <a:spcPct val="125000"/>
              </a:lnSpc>
              <a:spcAft>
                <a:spcPts val="600"/>
              </a:spcAft>
            </a:pPr>
            <a:r>
              <a:rPr sz="1350" b="0">
                <a:solidFill>
                  <a:srgbClr val="1A1A1A"/>
                </a:solidFill>
                <a:latin typeface="Microsoft JhengHei"/>
                <a:ea typeface="Microsoft JhengHei"/>
              </a:rPr>
              <a:t>「不分組」是零點：用來區分「不同的限制方式」和「限制本身」。</a:t>
            </a:r>
          </a:p>
        </p:txBody>
      </p:sp>
      <p:sp>
        <p:nvSpPr>
          <p:cNvPr id="11" name="TextBox 10"/>
          <p:cNvSpPr txBox="1"/>
          <p:nvPr/>
        </p:nvSpPr>
        <p:spPr>
          <a:xfrm>
            <a:off x="640080" y="5806440"/>
            <a:ext cx="10332720" cy="54864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Avellaneda, M., &amp; Lee, J.-H. (2010). Statistical arbitrage in the U.S. equities market. Quantitative Finance, 10(7), 761–782.</a:t>
            </a:r>
          </a:p>
          <a:p>
            <a:pPr algn="l">
              <a:lnSpc>
                <a:spcPct val="105000"/>
              </a:lnSpc>
              <a:spcAft>
                <a:spcPts val="100"/>
              </a:spcAft>
            </a:pPr>
            <a:r>
              <a:rPr sz="900" b="0">
                <a:solidFill>
                  <a:srgbClr val="6B7280"/>
                </a:solidFill>
                <a:latin typeface="Microsoft JhengHei"/>
                <a:ea typeface="Microsoft JhengHei"/>
              </a:rPr>
              <a:t>Campello, R. J. G. B., Moulavi, D., Zimek, A., &amp; Sander, J. (2015). Hierarchical density estimates for data clustering, visualization, and outlier detection. ACM Transactions on Knowledge Discovery from Data, 10(1), Article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§3.2.6</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篩選：一個臨界值用錯，通過率會從 9.5% 灌到 77%</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23</a:t>
            </a:r>
          </a:p>
        </p:txBody>
      </p:sp>
      <p:sp>
        <p:nvSpPr>
          <p:cNvPr id="5" name="TextBox 4"/>
          <p:cNvSpPr txBox="1"/>
          <p:nvPr/>
        </p:nvSpPr>
        <p:spPr>
          <a:xfrm>
            <a:off x="640080" y="1645920"/>
            <a:ext cx="10881360" cy="822960"/>
          </a:xfrm>
          <a:prstGeom prst="rect">
            <a:avLst/>
          </a:prstGeom>
          <a:noFill/>
        </p:spPr>
        <p:txBody>
          <a:bodyPr wrap="square" lIns="0" rIns="0" tIns="0" bIns="0" anchor="t">
            <a:spAutoFit/>
          </a:bodyPr>
          <a:lstStyle/>
          <a:p>
            <a:pPr algn="l">
              <a:lnSpc>
                <a:spcPct val="125000"/>
              </a:lnSpc>
              <a:spcAft>
                <a:spcPts val="600"/>
              </a:spcAft>
            </a:pPr>
            <a:r>
              <a:rPr sz="1600" b="0">
                <a:solidFill>
                  <a:srgbClr val="1A1A1A"/>
                </a:solidFill>
                <a:latin typeface="Microsoft JhengHei"/>
                <a:ea typeface="Microsoft JhengHei"/>
              </a:rPr>
              <a:t>對組內</a:t>
            </a:r>
            <a:r>
              <a:rPr sz="1600" b="1">
                <a:solidFill>
                  <a:srgbClr val="1A1A1A"/>
                </a:solidFill>
                <a:latin typeface="Microsoft JhengHei"/>
                <a:ea typeface="Microsoft JhengHei"/>
              </a:rPr>
              <a:t>每一組</a:t>
            </a:r>
            <a:r>
              <a:rPr sz="1600" b="0">
                <a:solidFill>
                  <a:srgbClr val="1A1A1A"/>
                </a:solidFill>
                <a:latin typeface="Microsoft JhengHei"/>
                <a:ea typeface="Microsoft JhengHei"/>
              </a:rPr>
              <a:t>候選配對做 Engle-Granger 兩步檢定：先迴歸估對沖比例，再對殘差做 ADF 檢定，p &lt; 0.05 才通過</a:t>
            </a:r>
          </a:p>
        </p:txBody>
      </p:sp>
      <p:sp>
        <p:nvSpPr>
          <p:cNvPr id="6" name="TextBox 5"/>
          <p:cNvSpPr txBox="1"/>
          <p:nvPr/>
        </p:nvSpPr>
        <p:spPr>
          <a:xfrm>
            <a:off x="640080" y="2514600"/>
            <a:ext cx="2560320" cy="566928"/>
          </a:xfrm>
          <a:prstGeom prst="rect">
            <a:avLst/>
          </a:prstGeom>
          <a:noFill/>
        </p:spPr>
        <p:txBody>
          <a:bodyPr wrap="square" lIns="0" rIns="0" tIns="0" bIns="0" anchor="t">
            <a:spAutoFit/>
          </a:bodyPr>
          <a:lstStyle/>
          <a:p>
            <a:pPr algn="l">
              <a:lnSpc>
                <a:spcPct val="125000"/>
              </a:lnSpc>
              <a:spcAft>
                <a:spcPts val="0"/>
              </a:spcAft>
            </a:pPr>
            <a:r>
              <a:rPr sz="4000" b="1">
                <a:solidFill>
                  <a:srgbClr val="C4553B"/>
                </a:solidFill>
                <a:latin typeface="Microsoft JhengHei"/>
                <a:ea typeface="Microsoft JhengHei"/>
              </a:rPr>
              <a:t>77%</a:t>
            </a:r>
          </a:p>
        </p:txBody>
      </p:sp>
      <p:sp>
        <p:nvSpPr>
          <p:cNvPr id="7" name="TextBox 6"/>
          <p:cNvSpPr txBox="1"/>
          <p:nvPr/>
        </p:nvSpPr>
        <p:spPr>
          <a:xfrm>
            <a:off x="640080" y="3118104"/>
            <a:ext cx="2560320" cy="457200"/>
          </a:xfrm>
          <a:prstGeom prst="rect">
            <a:avLst/>
          </a:prstGeom>
          <a:noFill/>
        </p:spPr>
        <p:txBody>
          <a:bodyPr wrap="square" lIns="0" rIns="0" tIns="0" bIns="0" anchor="t">
            <a:spAutoFit/>
          </a:bodyPr>
          <a:lstStyle/>
          <a:p>
            <a:pPr algn="l">
              <a:lnSpc>
                <a:spcPct val="125000"/>
              </a:lnSpc>
              <a:spcAft>
                <a:spcPts val="0"/>
              </a:spcAft>
            </a:pPr>
            <a:r>
              <a:rPr sz="1300" b="0">
                <a:solidFill>
                  <a:srgbClr val="6B7280"/>
                </a:solidFill>
                <a:latin typeface="Microsoft JhengHei"/>
                <a:ea typeface="Microsoft JhengHei"/>
              </a:rPr>
              <a:t>用錯的臨界值（Dickey-Fuller）</a:t>
            </a:r>
          </a:p>
        </p:txBody>
      </p:sp>
      <p:sp>
        <p:nvSpPr>
          <p:cNvPr id="8" name="TextBox 7"/>
          <p:cNvSpPr txBox="1"/>
          <p:nvPr/>
        </p:nvSpPr>
        <p:spPr>
          <a:xfrm>
            <a:off x="3429000" y="2514600"/>
            <a:ext cx="2560320" cy="566928"/>
          </a:xfrm>
          <a:prstGeom prst="rect">
            <a:avLst/>
          </a:prstGeom>
          <a:noFill/>
        </p:spPr>
        <p:txBody>
          <a:bodyPr wrap="square" lIns="0" rIns="0" tIns="0" bIns="0" anchor="t">
            <a:spAutoFit/>
          </a:bodyPr>
          <a:lstStyle/>
          <a:p>
            <a:pPr algn="l">
              <a:lnSpc>
                <a:spcPct val="125000"/>
              </a:lnSpc>
              <a:spcAft>
                <a:spcPts val="0"/>
              </a:spcAft>
            </a:pPr>
            <a:r>
              <a:rPr sz="4000" b="1">
                <a:solidFill>
                  <a:srgbClr val="0B2A5B"/>
                </a:solidFill>
                <a:latin typeface="Microsoft JhengHei"/>
                <a:ea typeface="Microsoft JhengHei"/>
              </a:rPr>
              <a:t>9.5%</a:t>
            </a:r>
          </a:p>
        </p:txBody>
      </p:sp>
      <p:sp>
        <p:nvSpPr>
          <p:cNvPr id="9" name="TextBox 8"/>
          <p:cNvSpPr txBox="1"/>
          <p:nvPr/>
        </p:nvSpPr>
        <p:spPr>
          <a:xfrm>
            <a:off x="3429000" y="3118104"/>
            <a:ext cx="2560320" cy="457200"/>
          </a:xfrm>
          <a:prstGeom prst="rect">
            <a:avLst/>
          </a:prstGeom>
          <a:noFill/>
        </p:spPr>
        <p:txBody>
          <a:bodyPr wrap="square" lIns="0" rIns="0" tIns="0" bIns="0" anchor="t">
            <a:spAutoFit/>
          </a:bodyPr>
          <a:lstStyle/>
          <a:p>
            <a:pPr algn="l">
              <a:lnSpc>
                <a:spcPct val="125000"/>
              </a:lnSpc>
              <a:spcAft>
                <a:spcPts val="0"/>
              </a:spcAft>
            </a:pPr>
            <a:r>
              <a:rPr sz="1300" b="0">
                <a:solidFill>
                  <a:srgbClr val="6B7280"/>
                </a:solidFill>
                <a:latin typeface="Microsoft JhengHei"/>
                <a:ea typeface="Microsoft JhengHei"/>
              </a:rPr>
              <a:t>正確的臨界值（MacKinnon）</a:t>
            </a:r>
          </a:p>
        </p:txBody>
      </p:sp>
      <p:sp>
        <p:nvSpPr>
          <p:cNvPr id="10" name="Rounded Rectangle 9"/>
          <p:cNvSpPr/>
          <p:nvPr/>
        </p:nvSpPr>
        <p:spPr>
          <a:xfrm>
            <a:off x="6263640" y="2377440"/>
            <a:ext cx="5257800" cy="19659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為什麼 DF 臨界值是錯的？</a:t>
            </a:r>
          </a:p>
          <a:p>
            <a:pPr algn="l">
              <a:lnSpc>
                <a:spcPct val="125000"/>
              </a:lnSpc>
              <a:spcAft>
                <a:spcPts val="600"/>
              </a:spcAft>
            </a:pPr>
            <a:r>
              <a:rPr sz="1350" b="0">
                <a:solidFill>
                  <a:srgbClr val="1A1A1A"/>
                </a:solidFill>
                <a:latin typeface="Microsoft JhengHei"/>
                <a:ea typeface="Microsoft JhengHei"/>
              </a:rPr>
              <a:t>DF 分布描述的是</a:t>
            </a:r>
            <a:r>
              <a:rPr sz="1350" b="1">
                <a:solidFill>
                  <a:srgbClr val="1A1A1A"/>
                </a:solidFill>
                <a:latin typeface="Microsoft JhengHei"/>
                <a:ea typeface="Microsoft JhengHei"/>
              </a:rPr>
              <a:t>觀測到的</a:t>
            </a:r>
            <a:r>
              <a:rPr sz="1350" b="0">
                <a:solidFill>
                  <a:srgbClr val="1A1A1A"/>
                </a:solidFill>
                <a:latin typeface="Microsoft JhengHei"/>
                <a:ea typeface="Microsoft JhengHei"/>
              </a:rPr>
              <a:t>序列；但這裡受檢的是</a:t>
            </a:r>
            <a:r>
              <a:rPr sz="1350" b="1">
                <a:solidFill>
                  <a:srgbClr val="1A1A1A"/>
                </a:solidFill>
                <a:latin typeface="Microsoft JhengHei"/>
                <a:ea typeface="Microsoft JhengHei"/>
              </a:rPr>
              <a:t>估計出來的</a:t>
            </a:r>
            <a:r>
              <a:rPr sz="1350" b="0">
                <a:solidFill>
                  <a:srgbClr val="1A1A1A"/>
                </a:solidFill>
                <a:latin typeface="Microsoft JhengHei"/>
                <a:ea typeface="Microsoft JhengHei"/>
              </a:rPr>
              <a:t>殘差——OLS 已經先把它的變異壓到最小，虛無分布會更偏負。</a:t>
            </a:r>
          </a:p>
          <a:p>
            <a:pPr algn="l">
              <a:lnSpc>
                <a:spcPct val="125000"/>
              </a:lnSpc>
              <a:spcAft>
                <a:spcPts val="600"/>
              </a:spcAft>
            </a:pPr>
            <a:r>
              <a:rPr sz="1350" b="0">
                <a:solidFill>
                  <a:srgbClr val="1A1A1A"/>
                </a:solidFill>
                <a:latin typeface="Microsoft JhengHei"/>
                <a:ea typeface="Microsoft JhengHei"/>
              </a:rPr>
              <a:t>一個名目 5% 的檢定，不可能拒絕 77% 的虛無假設。</a:t>
            </a:r>
          </a:p>
        </p:txBody>
      </p:sp>
      <p:sp>
        <p:nvSpPr>
          <p:cNvPr id="11" name="Rounded Rectangle 10"/>
          <p:cNvSpPr/>
          <p:nvPr/>
        </p:nvSpPr>
        <p:spPr>
          <a:xfrm>
            <a:off x="640080" y="4526280"/>
            <a:ext cx="10881360" cy="12344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另外兩道附加檢定（出自 Sarmento &amp; Horta, 2020），我拿掉了</a:t>
            </a:r>
          </a:p>
          <a:p>
            <a:pPr algn="l">
              <a:lnSpc>
                <a:spcPct val="125000"/>
              </a:lnSpc>
              <a:spcAft>
                <a:spcPts val="600"/>
              </a:spcAft>
            </a:pPr>
            <a:r>
              <a:rPr sz="1350" b="1">
                <a:solidFill>
                  <a:srgbClr val="1A1A1A"/>
                </a:solidFill>
                <a:latin typeface="Microsoft JhengHei"/>
                <a:ea typeface="Microsoft JhengHei"/>
              </a:rPr>
              <a:t>OU 半衰期</a:t>
            </a:r>
            <a:r>
              <a:rPr sz="1350" b="0">
                <a:solidFill>
                  <a:srgbClr val="1A1A1A"/>
                </a:solidFill>
                <a:latin typeface="Microsoft JhengHei"/>
                <a:ea typeface="Microsoft JhengHei"/>
              </a:rPr>
              <a:t>：通過 ADF 的殘差有 99.8% 本來就落在 1–42 天，只淘汰 0.2%，沒有鑑別力。　</a:t>
            </a:r>
            <a:r>
              <a:rPr sz="1350" b="1">
                <a:solidFill>
                  <a:srgbClr val="1A1A1A"/>
                </a:solidFill>
                <a:latin typeface="Microsoft JhengHei"/>
                <a:ea typeface="Microsoft JhengHei"/>
              </a:rPr>
              <a:t>Hurst 指數</a:t>
            </a:r>
            <a:r>
              <a:rPr sz="1350" b="0">
                <a:solidFill>
                  <a:srgbClr val="1A1A1A"/>
                </a:solidFill>
                <a:latin typeface="Microsoft JhengHei"/>
                <a:ea typeface="Microsoft JhengHei"/>
              </a:rPr>
              <a:t>：前一版實作把 R/S 用在水準值而不是增量上，量錯了對象。→ 篩選層只留下唯一有正確虛無分布的那一道。</a:t>
            </a:r>
          </a:p>
        </p:txBody>
      </p:sp>
      <p:sp>
        <p:nvSpPr>
          <p:cNvPr id="12" name="TextBox 11"/>
          <p:cNvSpPr txBox="1"/>
          <p:nvPr/>
        </p:nvSpPr>
        <p:spPr>
          <a:xfrm>
            <a:off x="640080" y="5852160"/>
            <a:ext cx="10332720" cy="109728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Engle, R. F., &amp; Granger, C. W. J. (1987). Co-integration and error correction: Representation, estimation, and testing. Econometrica, 55(2), 251–276.</a:t>
            </a:r>
          </a:p>
          <a:p>
            <a:pPr algn="l">
              <a:lnSpc>
                <a:spcPct val="105000"/>
              </a:lnSpc>
              <a:spcAft>
                <a:spcPts val="100"/>
              </a:spcAft>
            </a:pPr>
            <a:r>
              <a:rPr sz="900" b="0">
                <a:solidFill>
                  <a:srgbClr val="6B7280"/>
                </a:solidFill>
                <a:latin typeface="Microsoft JhengHei"/>
                <a:ea typeface="Microsoft JhengHei"/>
              </a:rPr>
              <a:t>MacKinnon, J. G. (2010). Critical values for cointegration tests (Queen's Economics Department Working Paper No. 1227). Queen's University.</a:t>
            </a:r>
          </a:p>
          <a:p>
            <a:pPr algn="l">
              <a:lnSpc>
                <a:spcPct val="105000"/>
              </a:lnSpc>
              <a:spcAft>
                <a:spcPts val="100"/>
              </a:spcAft>
            </a:pPr>
            <a:r>
              <a:rPr sz="900" b="0">
                <a:solidFill>
                  <a:srgbClr val="6B7280"/>
                </a:solidFill>
                <a:latin typeface="Microsoft JhengHei"/>
                <a:ea typeface="Microsoft JhengHei"/>
              </a:rPr>
              <a:t>Phillips, P. C. B., &amp; Ouliaris, S. (1990). Asymptotic properties of residual based tests for cointegration. Econometrica, 58(1), 165–193.</a:t>
            </a:r>
          </a:p>
          <a:p>
            <a:pPr algn="l">
              <a:lnSpc>
                <a:spcPct val="105000"/>
              </a:lnSpc>
              <a:spcAft>
                <a:spcPts val="100"/>
              </a:spcAft>
            </a:pPr>
            <a:r>
              <a:rPr sz="900" b="0">
                <a:solidFill>
                  <a:srgbClr val="6B7280"/>
                </a:solidFill>
                <a:latin typeface="Microsoft JhengHei"/>
                <a:ea typeface="Microsoft JhengHei"/>
              </a:rPr>
              <a:t>Sarmento, S. M., &amp; Horta, N. (2020). Enhancing a pairs trading strategy with the application of machine learning. Expert Systems with Applications, 158, 113490.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§3.2.5</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排序：用三種「距離」找最像的配對</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24</a:t>
            </a:r>
          </a:p>
        </p:txBody>
      </p:sp>
      <p:sp>
        <p:nvSpPr>
          <p:cNvPr id="5" name="Rounded Rectangle 4"/>
          <p:cNvSpPr/>
          <p:nvPr/>
        </p:nvSpPr>
        <p:spPr>
          <a:xfrm>
            <a:off x="640080" y="1783080"/>
            <a:ext cx="3474720" cy="27432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SSD　平方差總和</a:t>
            </a:r>
          </a:p>
          <a:p>
            <a:pPr algn="l">
              <a:lnSpc>
                <a:spcPct val="125000"/>
              </a:lnSpc>
              <a:spcAft>
                <a:spcPts val="600"/>
              </a:spcAft>
            </a:pPr>
            <a:r>
              <a:rPr sz="1400" b="0">
                <a:solidFill>
                  <a:srgbClr val="1A1A1A"/>
                </a:solidFill>
                <a:latin typeface="Microsoft JhengHei"/>
                <a:ea typeface="Microsoft JhengHei"/>
              </a:rPr>
              <a:t>兩條標準化對數價格的平方差加總。</a:t>
            </a:r>
          </a:p>
          <a:p>
            <a:pPr algn="l">
              <a:lnSpc>
                <a:spcPct val="125000"/>
              </a:lnSpc>
              <a:spcAft>
                <a:spcPts val="600"/>
              </a:spcAft>
            </a:pPr>
            <a:r>
              <a:rPr sz="1400" b="0">
                <a:solidFill>
                  <a:srgbClr val="1A1A1A"/>
                </a:solidFill>
                <a:latin typeface="Microsoft JhengHei"/>
                <a:ea typeface="Microsoft JhengHei"/>
              </a:rPr>
              <a:t>衡量的是</a:t>
            </a:r>
            <a:r>
              <a:rPr sz="1400" b="1">
                <a:solidFill>
                  <a:srgbClr val="1A1A1A"/>
                </a:solidFill>
                <a:latin typeface="Microsoft JhengHei"/>
                <a:ea typeface="Microsoft JhengHei"/>
              </a:rPr>
              <a:t>走勢形狀</a:t>
            </a:r>
            <a:r>
              <a:rPr sz="1400" b="0">
                <a:solidFill>
                  <a:srgbClr val="1A1A1A"/>
                </a:solidFill>
                <a:latin typeface="Microsoft JhengHei"/>
                <a:ea typeface="Microsoft JhengHei"/>
              </a:rPr>
              <a:t>像不像（對波動率不變）。</a:t>
            </a:r>
          </a:p>
        </p:txBody>
      </p:sp>
      <p:sp>
        <p:nvSpPr>
          <p:cNvPr id="6" name="Rounded Rectangle 5"/>
          <p:cNvSpPr/>
          <p:nvPr/>
        </p:nvSpPr>
        <p:spPr>
          <a:xfrm>
            <a:off x="4343400" y="1783080"/>
            <a:ext cx="3474720" cy="27432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DTW　動態時間校正</a:t>
            </a:r>
          </a:p>
          <a:p>
            <a:pPr algn="l">
              <a:lnSpc>
                <a:spcPct val="125000"/>
              </a:lnSpc>
              <a:spcAft>
                <a:spcPts val="600"/>
              </a:spcAft>
            </a:pPr>
            <a:r>
              <a:rPr sz="1400" b="0">
                <a:solidFill>
                  <a:srgbClr val="1A1A1A"/>
                </a:solidFill>
                <a:latin typeface="Microsoft JhengHei"/>
                <a:ea typeface="Microsoft JhengHei"/>
              </a:rPr>
              <a:t>允許時間軸局部伸縮再對齊（Sakoe-Chiba 帶寬 15 天）。</a:t>
            </a:r>
          </a:p>
          <a:p>
            <a:pPr algn="l">
              <a:lnSpc>
                <a:spcPct val="125000"/>
              </a:lnSpc>
              <a:spcAft>
                <a:spcPts val="600"/>
              </a:spcAft>
            </a:pPr>
            <a:r>
              <a:rPr sz="1400" b="0">
                <a:solidFill>
                  <a:srgbClr val="6B7280"/>
                </a:solidFill>
                <a:latin typeface="Microsoft JhengHei"/>
                <a:ea typeface="Microsoft JhengHei"/>
              </a:rPr>
              <a:t>但配對交易要的是「同時」回歸，扭曲 15 天才對得上的兩條，未必真的會回歸。</a:t>
            </a:r>
          </a:p>
        </p:txBody>
      </p:sp>
      <p:sp>
        <p:nvSpPr>
          <p:cNvPr id="7" name="Rounded Rectangle 6"/>
          <p:cNvSpPr/>
          <p:nvPr/>
        </p:nvSpPr>
        <p:spPr>
          <a:xfrm>
            <a:off x="8046720" y="1783080"/>
            <a:ext cx="3474720" cy="27432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SDP　標準化等權合成</a:t>
            </a:r>
          </a:p>
          <a:p>
            <a:pPr algn="l">
              <a:lnSpc>
                <a:spcPct val="125000"/>
              </a:lnSpc>
              <a:spcAft>
                <a:spcPts val="600"/>
              </a:spcAft>
            </a:pPr>
            <a:r>
              <a:rPr sz="1400" b="0">
                <a:solidFill>
                  <a:srgbClr val="1A1A1A"/>
                </a:solidFill>
                <a:latin typeface="Microsoft JhengHei"/>
                <a:ea typeface="Microsoft JhengHei"/>
              </a:rPr>
              <a:t>z(SSD) ＋ z(DTW)。</a:t>
            </a:r>
          </a:p>
          <a:p>
            <a:pPr algn="l">
              <a:lnSpc>
                <a:spcPct val="125000"/>
              </a:lnSpc>
              <a:spcAft>
                <a:spcPts val="600"/>
              </a:spcAft>
            </a:pPr>
            <a:r>
              <a:rPr sz="1400" b="0">
                <a:solidFill>
                  <a:srgbClr val="1A1A1A"/>
                </a:solidFill>
                <a:latin typeface="Microsoft JhengHei"/>
                <a:ea typeface="Microsoft JhengHei"/>
              </a:rPr>
              <a:t>原本實作成「取第一主成分」——但 2×2 相關矩陣的主成分方向</a:t>
            </a:r>
            <a:r>
              <a:rPr sz="1400" b="1">
                <a:solidFill>
                  <a:srgbClr val="1A1A1A"/>
                </a:solidFill>
                <a:latin typeface="Microsoft JhengHei"/>
                <a:ea typeface="Microsoft JhengHei"/>
              </a:rPr>
              <a:t>恆為 45 度</a:t>
            </a:r>
            <a:r>
              <a:rPr sz="1400" b="0">
                <a:solidFill>
                  <a:srgbClr val="1A1A1A"/>
                </a:solidFill>
                <a:latin typeface="Microsoft JhengHei"/>
                <a:ea typeface="Microsoft JhengHei"/>
              </a:rPr>
              <a:t>，跟相關係數無關，所以它其實就是等權相加。</a:t>
            </a:r>
          </a:p>
        </p:txBody>
      </p:sp>
      <p:sp>
        <p:nvSpPr>
          <p:cNvPr id="8" name="TextBox 7"/>
          <p:cNvSpPr txBox="1"/>
          <p:nvPr/>
        </p:nvSpPr>
        <p:spPr>
          <a:xfrm>
            <a:off x="640080" y="4800600"/>
            <a:ext cx="10881360" cy="822960"/>
          </a:xfrm>
          <a:prstGeom prst="rect">
            <a:avLst/>
          </a:prstGeom>
          <a:noFill/>
        </p:spPr>
        <p:txBody>
          <a:bodyPr wrap="square" lIns="0" rIns="0" tIns="0" bIns="0" anchor="t">
            <a:spAutoFit/>
          </a:bodyPr>
          <a:lstStyle/>
          <a:p>
            <a:pPr algn="l">
              <a:lnSpc>
                <a:spcPct val="125000"/>
              </a:lnSpc>
              <a:spcAft>
                <a:spcPts val="600"/>
              </a:spcAft>
            </a:pPr>
            <a:r>
              <a:rPr sz="1450" b="0">
                <a:solidFill>
                  <a:srgbClr val="1A1A1A"/>
                </a:solidFill>
                <a:latin typeface="Microsoft JhengHei"/>
                <a:ea typeface="Microsoft JhengHei"/>
              </a:rPr>
              <a:t>三種準則都建立在</a:t>
            </a:r>
            <a:r>
              <a:rPr sz="1450" b="1">
                <a:solidFill>
                  <a:srgbClr val="1A1A1A"/>
                </a:solidFill>
                <a:latin typeface="Microsoft JhengHei"/>
                <a:ea typeface="Microsoft JhengHei"/>
              </a:rPr>
              <a:t>形成期內標準化的對數價格</a:t>
            </a:r>
            <a:r>
              <a:rPr sz="1450" b="0">
                <a:solidFill>
                  <a:srgbClr val="1A1A1A"/>
                </a:solidFill>
                <a:latin typeface="Microsoft JhengHei"/>
                <a:ea typeface="Microsoft JhengHei"/>
              </a:rPr>
              <a:t>上，跟交易端的價差計算放在同一個空間。</a:t>
            </a:r>
          </a:p>
          <a:p>
            <a:pPr algn="l">
              <a:lnSpc>
                <a:spcPct val="125000"/>
              </a:lnSpc>
              <a:spcAft>
                <a:spcPts val="600"/>
              </a:spcAft>
            </a:pPr>
            <a:r>
              <a:rPr sz="1450" b="0">
                <a:solidFill>
                  <a:srgbClr val="6B7280"/>
                </a:solidFill>
                <a:latin typeface="Microsoft JhengHei"/>
                <a:ea typeface="Microsoft JhengHei"/>
              </a:rPr>
              <a:t>所以後面寫「GICS-SSD」「GICS-SDP」，指的就是「GICS 分組 × SSD 排序」這種組合。</a:t>
            </a:r>
          </a:p>
        </p:txBody>
      </p:sp>
      <p:sp>
        <p:nvSpPr>
          <p:cNvPr id="9" name="TextBox 8"/>
          <p:cNvSpPr txBox="1"/>
          <p:nvPr/>
        </p:nvSpPr>
        <p:spPr>
          <a:xfrm>
            <a:off x="640080" y="6053328"/>
            <a:ext cx="10332720" cy="27432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Sakoe, H., &amp; Chiba, S. (1978). Dynamic programming algorithm optimization for spoken word recognition. IEEE Transactions on Acoustics, Speech, and Signal Processing, ASSP-26(1), 43–49.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§3.3.2–3.3.3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核心實驗：五條臂，只差在動作空間</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25</a:t>
            </a:r>
          </a:p>
        </p:txBody>
      </p:sp>
      <p:graphicFrame>
        <p:nvGraphicFramePr>
          <p:cNvPr id="5" name="Table 4"/>
          <p:cNvGraphicFramePr>
            <a:graphicFrameLocks noGrp="1"/>
          </p:cNvGraphicFramePr>
          <p:nvPr/>
        </p:nvGraphicFramePr>
        <p:xfrm>
          <a:off x="640080" y="1691640"/>
          <a:ext cx="6583680" cy="2194560"/>
        </p:xfrm>
        <a:graphic>
          <a:graphicData uri="http://schemas.openxmlformats.org/drawingml/2006/table">
            <a:tbl>
              <a:tblPr firstRow="1" bandRow="1">
                <a:tableStyleId>{5C22544A-7EE6-4342-B048-85BDC9FD1C3A}</a:tableStyleId>
              </a:tblPr>
              <a:tblGrid>
                <a:gridCol w="2514600"/>
                <a:gridCol w="1920240"/>
                <a:gridCol w="1097280"/>
                <a:gridCol w="1051560"/>
              </a:tblGrid>
              <a:tr h="365760">
                <a:tc>
                  <a:txBody>
                    <a:bodyPr wrap="square"/>
                    <a:lstStyle/>
                    <a:p>
                      <a:pPr algn="l">
                        <a:lnSpc>
                          <a:spcPct val="110000"/>
                        </a:lnSpc>
                        <a:spcAft>
                          <a:spcPts val="0"/>
                        </a:spcAft>
                      </a:pPr>
                      <a:r>
                        <a:rPr sz="1400" b="1">
                          <a:solidFill>
                            <a:srgbClr val="FFFFFF"/>
                          </a:solidFill>
                          <a:latin typeface="Microsoft JhengHei"/>
                          <a:ea typeface="Microsoft JhengHei"/>
                        </a:rPr>
                        <a:t>臂</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動作空間</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每期決策</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角色</a:t>
                      </a:r>
                    </a:p>
                  </a:txBody>
                  <a:tcPr marT="27432" marB="27432" marL="73152" marR="73152" anchor="ctr">
                    <a:solidFill>
                      <a:srgbClr val="0B2A5B"/>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Z-Score</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固定門檻</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基準</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DL-THR（v4）</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每期選一組門檻</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1</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基準</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v1　LSTM-DQN</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逐日自由持倉</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 126</a:t>
                      </a:r>
                    </a:p>
                  </a:txBody>
                  <a:tcPr marT="27432" marB="27432" marL="73152" marR="73152" anchor="ctr">
                    <a:solidFill>
                      <a:srgbClr val="FFFFFF"/>
                    </a:solidFill>
                  </a:tcPr>
                </a:tc>
                <a:tc>
                  <a:txBody>
                    <a:bodyPr wrap="square"/>
                    <a:lstStyle/>
                    <a:p>
                      <a:pPr algn="l">
                        <a:lnSpc>
                          <a:spcPct val="110000"/>
                        </a:lnSpc>
                        <a:spcAft>
                          <a:spcPts val="0"/>
                        </a:spcAft>
                      </a:pPr>
                      <a:r>
                        <a:rPr sz="1400" b="1">
                          <a:solidFill>
                            <a:srgbClr val="C4553B"/>
                          </a:solidFill>
                          <a:latin typeface="Microsoft JhengHei"/>
                          <a:ea typeface="Microsoft JhengHei"/>
                        </a:rPr>
                        <a:t>處理組</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v2　v1 修復版</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逐日自由持倉</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 126</a:t>
                      </a:r>
                    </a:p>
                  </a:txBody>
                  <a:tcPr marT="27432" marB="27432" marL="73152" marR="73152" anchor="ctr">
                    <a:solidFill>
                      <a:srgbClr val="E8EDF5"/>
                    </a:solidFill>
                  </a:tcPr>
                </a:tc>
                <a:tc>
                  <a:txBody>
                    <a:bodyPr wrap="square"/>
                    <a:lstStyle/>
                    <a:p>
                      <a:pPr algn="l">
                        <a:lnSpc>
                          <a:spcPct val="110000"/>
                        </a:lnSpc>
                        <a:spcAft>
                          <a:spcPts val="0"/>
                        </a:spcAft>
                      </a:pPr>
                      <a:r>
                        <a:rPr sz="1400" b="1">
                          <a:solidFill>
                            <a:srgbClr val="C4553B"/>
                          </a:solidFill>
                          <a:latin typeface="Microsoft JhengHei"/>
                          <a:ea typeface="Microsoft JhengHei"/>
                        </a:rPr>
                        <a:t>處理組</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v3　FQI 批次擬合 Q</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逐日自由持倉</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 126</a:t>
                      </a:r>
                    </a:p>
                  </a:txBody>
                  <a:tcPr marT="27432" marB="27432" marL="73152" marR="73152" anchor="ctr">
                    <a:solidFill>
                      <a:srgbClr val="FFFFFF"/>
                    </a:solidFill>
                  </a:tcPr>
                </a:tc>
                <a:tc>
                  <a:txBody>
                    <a:bodyPr wrap="square"/>
                    <a:lstStyle/>
                    <a:p>
                      <a:pPr algn="l">
                        <a:lnSpc>
                          <a:spcPct val="110000"/>
                        </a:lnSpc>
                        <a:spcAft>
                          <a:spcPts val="0"/>
                        </a:spcAft>
                      </a:pPr>
                      <a:r>
                        <a:rPr sz="1400" b="1">
                          <a:solidFill>
                            <a:srgbClr val="C4553B"/>
                          </a:solidFill>
                          <a:latin typeface="Microsoft JhengHei"/>
                          <a:ea typeface="Microsoft JhengHei"/>
                        </a:rPr>
                        <a:t>處理組</a:t>
                      </a:r>
                    </a:p>
                  </a:txBody>
                  <a:tcPr marT="27432" marB="27432" marL="73152" marR="73152" anchor="ctr">
                    <a:solidFill>
                      <a:srgbClr val="FFFFFF"/>
                    </a:solidFill>
                  </a:tcPr>
                </a:tc>
              </a:tr>
            </a:tbl>
          </a:graphicData>
        </a:graphic>
      </p:graphicFrame>
      <p:sp>
        <p:nvSpPr>
          <p:cNvPr id="6" name="Rounded Rectangle 5"/>
          <p:cNvSpPr/>
          <p:nvPr/>
        </p:nvSpPr>
        <p:spPr>
          <a:xfrm>
            <a:off x="7498079" y="1691640"/>
            <a:ext cx="4023360" cy="21945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五臂完全相同的部分</a:t>
            </a:r>
          </a:p>
          <a:p>
            <a:pPr algn="l">
              <a:lnSpc>
                <a:spcPct val="125000"/>
              </a:lnSpc>
              <a:spcAft>
                <a:spcPts val="600"/>
              </a:spcAft>
            </a:pPr>
            <a:r>
              <a:rPr sz="1350" b="0">
                <a:solidFill>
                  <a:srgbClr val="1A1A1A"/>
                </a:solidFill>
                <a:latin typeface="Microsoft JhengHei"/>
                <a:ea typeface="Microsoft JhengHei"/>
              </a:rPr>
              <a:t>配對來源　GICS-SDP（同一批配對）</a:t>
            </a:r>
          </a:p>
          <a:p>
            <a:pPr algn="l">
              <a:lnSpc>
                <a:spcPct val="125000"/>
              </a:lnSpc>
              <a:spcAft>
                <a:spcPts val="600"/>
              </a:spcAft>
            </a:pPr>
            <a:r>
              <a:rPr sz="1350" b="0">
                <a:solidFill>
                  <a:srgbClr val="1A1A1A"/>
                </a:solidFill>
                <a:latin typeface="Microsoft JhengHei"/>
                <a:ea typeface="Microsoft JhengHei"/>
              </a:rPr>
              <a:t>網格格點　Top1／停損 0%</a:t>
            </a:r>
          </a:p>
          <a:p>
            <a:pPr algn="l">
              <a:lnSpc>
                <a:spcPct val="125000"/>
              </a:lnSpc>
              <a:spcAft>
                <a:spcPts val="600"/>
              </a:spcAft>
            </a:pPr>
            <a:r>
              <a:rPr sz="1350" b="0">
                <a:solidFill>
                  <a:srgbClr val="1A1A1A"/>
                </a:solidFill>
                <a:latin typeface="Microsoft JhengHei"/>
                <a:ea typeface="Microsoft JhengHei"/>
              </a:rPr>
              <a:t>對沖口徑　dollar</a:t>
            </a:r>
          </a:p>
          <a:p>
            <a:pPr algn="l">
              <a:lnSpc>
                <a:spcPct val="125000"/>
              </a:lnSpc>
              <a:spcAft>
                <a:spcPts val="600"/>
              </a:spcAft>
            </a:pPr>
            <a:r>
              <a:rPr sz="1350" b="0">
                <a:solidFill>
                  <a:srgbClr val="1A1A1A"/>
                </a:solidFill>
                <a:latin typeface="Microsoft JhengHei"/>
                <a:ea typeface="Microsoft JhengHei"/>
              </a:rPr>
              <a:t>訓練預算　一律 150 episodes</a:t>
            </a:r>
          </a:p>
          <a:p>
            <a:pPr algn="l">
              <a:lnSpc>
                <a:spcPct val="125000"/>
              </a:lnSpc>
              <a:spcAft>
                <a:spcPts val="600"/>
              </a:spcAft>
            </a:pPr>
            <a:r>
              <a:rPr sz="1350" b="0">
                <a:solidFill>
                  <a:srgbClr val="1A1A1A"/>
                </a:solidFill>
                <a:latin typeface="Microsoft JhengHei"/>
                <a:ea typeface="Microsoft JhengHei"/>
              </a:rPr>
              <a:t>期間　2009-07 ～ 2018-12</a:t>
            </a:r>
          </a:p>
        </p:txBody>
      </p:sp>
      <p:sp>
        <p:nvSpPr>
          <p:cNvPr id="7" name="Rounded Rectangle 6"/>
          <p:cNvSpPr/>
          <p:nvPr/>
        </p:nvSpPr>
        <p:spPr>
          <a:xfrm>
            <a:off x="640080" y="4069080"/>
            <a:ext cx="6583680" cy="18288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為什麼訓練預算不能砍？</a:t>
            </a:r>
          </a:p>
          <a:p>
            <a:pPr algn="l">
              <a:lnSpc>
                <a:spcPct val="125000"/>
              </a:lnSpc>
              <a:spcAft>
                <a:spcPts val="600"/>
              </a:spcAft>
            </a:pPr>
            <a:r>
              <a:rPr sz="1350" b="0">
                <a:solidFill>
                  <a:srgbClr val="1A1A1A"/>
                </a:solidFill>
                <a:latin typeface="Microsoft JhengHei"/>
                <a:ea typeface="Microsoft JhengHei"/>
              </a:rPr>
              <a:t>一旦下修，「它表現差是因為</a:t>
            </a:r>
            <a:r>
              <a:rPr sz="1350" b="1">
                <a:solidFill>
                  <a:srgbClr val="1A1A1A"/>
                </a:solidFill>
                <a:latin typeface="Microsoft JhengHei"/>
                <a:ea typeface="Microsoft JhengHei"/>
              </a:rPr>
              <a:t>訓練不夠</a:t>
            </a:r>
            <a:r>
              <a:rPr sz="1350" b="0">
                <a:solidFill>
                  <a:srgbClr val="1A1A1A"/>
                </a:solidFill>
                <a:latin typeface="Microsoft JhengHei"/>
                <a:ea typeface="Microsoft JhengHei"/>
              </a:rPr>
              <a:t>」就會變成我排除不了的替代解釋。代價是單臂要跑約 3 天（v1 每期中位約 70 分鐘）。</a:t>
            </a:r>
          </a:p>
          <a:p>
            <a:pPr algn="l">
              <a:lnSpc>
                <a:spcPct val="125000"/>
              </a:lnSpc>
              <a:spcAft>
                <a:spcPts val="600"/>
              </a:spcAft>
            </a:pPr>
            <a:r>
              <a:rPr sz="1250" b="0">
                <a:solidFill>
                  <a:srgbClr val="6B7280"/>
                </a:solidFill>
                <a:latin typeface="Microsoft JhengHei"/>
                <a:ea typeface="Microsoft JhengHei"/>
              </a:rPr>
              <a:t>三代的來歷：開發時先後做了三代，全部輸給固定門檻；但當時不是跑在同一批配對上，明細也在資料庫重建時遺失——所以我把它重做成一個受控消融。</a:t>
            </a:r>
          </a:p>
        </p:txBody>
      </p:sp>
      <p:sp>
        <p:nvSpPr>
          <p:cNvPr id="8" name="Rounded Rectangle 7"/>
          <p:cNvSpPr/>
          <p:nvPr/>
        </p:nvSpPr>
        <p:spPr>
          <a:xfrm>
            <a:off x="7498079" y="4069080"/>
            <a:ext cx="4023360" cy="18288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五臂共同期：108 期</a:t>
            </a:r>
          </a:p>
          <a:p>
            <a:pPr algn="l">
              <a:lnSpc>
                <a:spcPct val="125000"/>
              </a:lnSpc>
              <a:spcAft>
                <a:spcPts val="600"/>
              </a:spcAft>
            </a:pPr>
            <a:r>
              <a:rPr sz="1300" b="0">
                <a:solidFill>
                  <a:srgbClr val="1A1A1A"/>
                </a:solidFill>
                <a:latin typeface="Microsoft JhengHei"/>
                <a:ea typeface="Microsoft JhengHei"/>
              </a:rPr>
              <a:t>只有 v1 需要形成期的價格切片，左緣 12 期只有它算不了。處置：</a:t>
            </a:r>
            <a:r>
              <a:rPr sz="1300" b="1">
                <a:solidFill>
                  <a:srgbClr val="1A1A1A"/>
                </a:solidFill>
                <a:latin typeface="Microsoft JhengHei"/>
                <a:ea typeface="Microsoft JhengHei"/>
              </a:rPr>
              <a:t>取五臂交集</a:t>
            </a:r>
            <a:r>
              <a:rPr sz="1300" b="0">
                <a:solidFill>
                  <a:srgbClr val="1A1A1A"/>
                </a:solidFill>
                <a:latin typeface="Microsoft JhengHei"/>
                <a:ea typeface="Microsoft JhengHei"/>
              </a:rPr>
              <a:t>——這個不對稱在執行前就寫進預先登記。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§3.3.4–3.3.5、§3.6.3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判準先寫好才跑，而且要能證明「真的有跑」</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26</a:t>
            </a:r>
          </a:p>
        </p:txBody>
      </p:sp>
      <p:sp>
        <p:nvSpPr>
          <p:cNvPr id="5" name="TextBox 4"/>
          <p:cNvSpPr txBox="1"/>
          <p:nvPr/>
        </p:nvSpPr>
        <p:spPr>
          <a:xfrm>
            <a:off x="640080" y="1691640"/>
            <a:ext cx="1463040" cy="457200"/>
          </a:xfrm>
          <a:prstGeom prst="rect">
            <a:avLst/>
          </a:prstGeom>
          <a:noFill/>
        </p:spPr>
        <p:txBody>
          <a:bodyPr wrap="square" lIns="0" rIns="0" tIns="0" bIns="0" anchor="t">
            <a:spAutoFit/>
          </a:bodyPr>
          <a:lstStyle/>
          <a:p>
            <a:pPr algn="l">
              <a:lnSpc>
                <a:spcPct val="125000"/>
              </a:lnSpc>
              <a:spcAft>
                <a:spcPts val="600"/>
              </a:spcAft>
            </a:pPr>
            <a:r>
              <a:rPr sz="1600" b="1">
                <a:solidFill>
                  <a:srgbClr val="0B2A5B"/>
                </a:solidFill>
                <a:latin typeface="Microsoft JhengHei"/>
                <a:ea typeface="Microsoft JhengHei"/>
              </a:rPr>
              <a:t>H1　主要</a:t>
            </a:r>
          </a:p>
        </p:txBody>
      </p:sp>
      <p:sp>
        <p:nvSpPr>
          <p:cNvPr id="6" name="TextBox 5"/>
          <p:cNvSpPr txBox="1"/>
          <p:nvPr/>
        </p:nvSpPr>
        <p:spPr>
          <a:xfrm>
            <a:off x="2240280" y="1691640"/>
            <a:ext cx="5760720" cy="914400"/>
          </a:xfrm>
          <a:prstGeom prst="rect">
            <a:avLst/>
          </a:prstGeom>
          <a:noFill/>
        </p:spPr>
        <p:txBody>
          <a:bodyPr wrap="square" lIns="0" rIns="0" tIns="0" bIns="0" anchor="t">
            <a:spAutoFit/>
          </a:bodyPr>
          <a:lstStyle/>
          <a:p>
            <a:pPr algn="l">
              <a:lnSpc>
                <a:spcPct val="125000"/>
              </a:lnSpc>
              <a:spcAft>
                <a:spcPts val="400"/>
              </a:spcAft>
            </a:pPr>
            <a:r>
              <a:rPr sz="1500" b="0">
                <a:solidFill>
                  <a:srgbClr val="1A1A1A"/>
                </a:solidFill>
                <a:latin typeface="Microsoft JhengHei"/>
                <a:ea typeface="Microsoft JhengHei"/>
              </a:rPr>
              <a:t>逐日自由持倉的</a:t>
            </a:r>
            <a:r>
              <a:rPr sz="1500" b="1">
                <a:solidFill>
                  <a:srgbClr val="1A1A1A"/>
                </a:solidFill>
                <a:latin typeface="Microsoft JhengHei"/>
                <a:ea typeface="Microsoft JhengHei"/>
              </a:rPr>
              <a:t>換手率</a:t>
            </a:r>
            <a:r>
              <a:rPr sz="1500" b="0">
                <a:solidFill>
                  <a:srgbClr val="1A1A1A"/>
                </a:solidFill>
                <a:latin typeface="Microsoft JhengHei"/>
                <a:ea typeface="Microsoft JhengHei"/>
              </a:rPr>
              <a:t>顯著高於門檻選擇與固定門檻</a:t>
            </a:r>
          </a:p>
          <a:p>
            <a:pPr algn="l">
              <a:lnSpc>
                <a:spcPct val="125000"/>
              </a:lnSpc>
              <a:spcAft>
                <a:spcPts val="400"/>
              </a:spcAft>
            </a:pPr>
            <a:r>
              <a:rPr sz="1250" b="0">
                <a:solidFill>
                  <a:srgbClr val="6B7280"/>
                </a:solidFill>
                <a:latin typeface="Microsoft JhengHei"/>
                <a:ea typeface="Microsoft JhengHei"/>
              </a:rPr>
              <a:t>達標：總進場比值 ≥ 2.0 </a:t>
            </a:r>
            <a:r>
              <a:rPr sz="1250" b="1">
                <a:solidFill>
                  <a:srgbClr val="6B7280"/>
                </a:solidFill>
                <a:latin typeface="Microsoft JhengHei"/>
                <a:ea typeface="Microsoft JhengHei"/>
              </a:rPr>
              <a:t>且</a:t>
            </a:r>
            <a:r>
              <a:rPr sz="1250" b="0">
                <a:solidFill>
                  <a:srgbClr val="6B7280"/>
                </a:solidFill>
                <a:latin typeface="Microsoft JhengHei"/>
                <a:ea typeface="Microsoft JhengHei"/>
              </a:rPr>
              <a:t> BH 校正 p &lt; 0.05，且要</a:t>
            </a:r>
            <a:r>
              <a:rPr sz="1250" b="1">
                <a:solidFill>
                  <a:srgbClr val="6B7280"/>
                </a:solidFill>
                <a:latin typeface="Microsoft JhengHei"/>
                <a:ea typeface="Microsoft JhengHei"/>
              </a:rPr>
              <a:t>同時贏過兩個基準</a:t>
            </a:r>
            <a:r>
              <a:rPr sz="1250" b="0">
                <a:solidFill>
                  <a:srgbClr val="6B7280"/>
                </a:solidFill>
                <a:latin typeface="Microsoft JhengHei"/>
                <a:ea typeface="Microsoft JhengHei"/>
              </a:rPr>
              <a:t>；三條臂中至少 2 條</a:t>
            </a:r>
          </a:p>
        </p:txBody>
      </p:sp>
      <p:sp>
        <p:nvSpPr>
          <p:cNvPr id="7" name="TextBox 6"/>
          <p:cNvSpPr txBox="1"/>
          <p:nvPr/>
        </p:nvSpPr>
        <p:spPr>
          <a:xfrm>
            <a:off x="640080" y="2606040"/>
            <a:ext cx="1463040" cy="457200"/>
          </a:xfrm>
          <a:prstGeom prst="rect">
            <a:avLst/>
          </a:prstGeom>
          <a:noFill/>
        </p:spPr>
        <p:txBody>
          <a:bodyPr wrap="square" lIns="0" rIns="0" tIns="0" bIns="0" anchor="t">
            <a:spAutoFit/>
          </a:bodyPr>
          <a:lstStyle/>
          <a:p>
            <a:pPr algn="l">
              <a:lnSpc>
                <a:spcPct val="125000"/>
              </a:lnSpc>
              <a:spcAft>
                <a:spcPts val="600"/>
              </a:spcAft>
            </a:pPr>
            <a:r>
              <a:rPr sz="1600" b="1">
                <a:solidFill>
                  <a:srgbClr val="0B2A5B"/>
                </a:solidFill>
                <a:latin typeface="Microsoft JhengHei"/>
                <a:ea typeface="Microsoft JhengHei"/>
              </a:rPr>
              <a:t>H2　次要</a:t>
            </a:r>
          </a:p>
        </p:txBody>
      </p:sp>
      <p:sp>
        <p:nvSpPr>
          <p:cNvPr id="8" name="TextBox 7"/>
          <p:cNvSpPr txBox="1"/>
          <p:nvPr/>
        </p:nvSpPr>
        <p:spPr>
          <a:xfrm>
            <a:off x="2240280" y="2606040"/>
            <a:ext cx="5760720" cy="914400"/>
          </a:xfrm>
          <a:prstGeom prst="rect">
            <a:avLst/>
          </a:prstGeom>
          <a:noFill/>
        </p:spPr>
        <p:txBody>
          <a:bodyPr wrap="square" lIns="0" rIns="0" tIns="0" bIns="0" anchor="t">
            <a:spAutoFit/>
          </a:bodyPr>
          <a:lstStyle/>
          <a:p>
            <a:pPr algn="l">
              <a:lnSpc>
                <a:spcPct val="125000"/>
              </a:lnSpc>
              <a:spcAft>
                <a:spcPts val="400"/>
              </a:spcAft>
            </a:pPr>
            <a:r>
              <a:rPr sz="1500" b="0">
                <a:solidFill>
                  <a:srgbClr val="1A1A1A"/>
                </a:solidFill>
                <a:latin typeface="Microsoft JhengHei"/>
                <a:ea typeface="Microsoft JhengHei"/>
              </a:rPr>
              <a:t>逐日自由持倉的 Sharpe </a:t>
            </a:r>
            <a:r>
              <a:rPr sz="1500" b="1">
                <a:solidFill>
                  <a:srgbClr val="1A1A1A"/>
                </a:solidFill>
                <a:latin typeface="Microsoft JhengHei"/>
                <a:ea typeface="Microsoft JhengHei"/>
              </a:rPr>
              <a:t>不高於</a:t>
            </a:r>
            <a:r>
              <a:rPr sz="1500" b="0">
                <a:solidFill>
                  <a:srgbClr val="1A1A1A"/>
                </a:solidFill>
                <a:latin typeface="Microsoft JhengHei"/>
                <a:ea typeface="Microsoft JhengHei"/>
              </a:rPr>
              <a:t>門檻選擇</a:t>
            </a:r>
          </a:p>
        </p:txBody>
      </p:sp>
      <p:sp>
        <p:nvSpPr>
          <p:cNvPr id="9" name="TextBox 8"/>
          <p:cNvSpPr txBox="1"/>
          <p:nvPr/>
        </p:nvSpPr>
        <p:spPr>
          <a:xfrm>
            <a:off x="640080" y="3264408"/>
            <a:ext cx="1463040" cy="457200"/>
          </a:xfrm>
          <a:prstGeom prst="rect">
            <a:avLst/>
          </a:prstGeom>
          <a:noFill/>
        </p:spPr>
        <p:txBody>
          <a:bodyPr wrap="square" lIns="0" rIns="0" tIns="0" bIns="0" anchor="t">
            <a:spAutoFit/>
          </a:bodyPr>
          <a:lstStyle/>
          <a:p>
            <a:pPr algn="l">
              <a:lnSpc>
                <a:spcPct val="125000"/>
              </a:lnSpc>
              <a:spcAft>
                <a:spcPts val="600"/>
              </a:spcAft>
            </a:pPr>
            <a:r>
              <a:rPr sz="1600" b="1">
                <a:solidFill>
                  <a:srgbClr val="0B2A5B"/>
                </a:solidFill>
                <a:latin typeface="Microsoft JhengHei"/>
                <a:ea typeface="Microsoft JhengHei"/>
              </a:rPr>
              <a:t>H3　機制</a:t>
            </a:r>
          </a:p>
        </p:txBody>
      </p:sp>
      <p:sp>
        <p:nvSpPr>
          <p:cNvPr id="10" name="TextBox 9"/>
          <p:cNvSpPr txBox="1"/>
          <p:nvPr/>
        </p:nvSpPr>
        <p:spPr>
          <a:xfrm>
            <a:off x="2240280" y="3264408"/>
            <a:ext cx="5760720" cy="914400"/>
          </a:xfrm>
          <a:prstGeom prst="rect">
            <a:avLst/>
          </a:prstGeom>
          <a:noFill/>
        </p:spPr>
        <p:txBody>
          <a:bodyPr wrap="square" lIns="0" rIns="0" tIns="0" bIns="0" anchor="t">
            <a:spAutoFit/>
          </a:bodyPr>
          <a:lstStyle/>
          <a:p>
            <a:pPr algn="l">
              <a:lnSpc>
                <a:spcPct val="125000"/>
              </a:lnSpc>
              <a:spcAft>
                <a:spcPts val="400"/>
              </a:spcAft>
            </a:pPr>
            <a:r>
              <a:rPr sz="1500" b="0">
                <a:solidFill>
                  <a:srgbClr val="1A1A1A"/>
                </a:solidFill>
                <a:latin typeface="Microsoft JhengHei"/>
                <a:ea typeface="Microsoft JhengHei"/>
              </a:rPr>
              <a:t>它的績效劣勢</a:t>
            </a:r>
            <a:r>
              <a:rPr sz="1500" b="1">
                <a:solidFill>
                  <a:srgbClr val="1A1A1A"/>
                </a:solidFill>
                <a:latin typeface="Microsoft JhengHei"/>
                <a:ea typeface="Microsoft JhengHei"/>
              </a:rPr>
              <a:t>主要由換手成本造成</a:t>
            </a:r>
          </a:p>
          <a:p>
            <a:pPr algn="l">
              <a:lnSpc>
                <a:spcPct val="125000"/>
              </a:lnSpc>
              <a:spcAft>
                <a:spcPts val="400"/>
              </a:spcAft>
            </a:pPr>
            <a:r>
              <a:rPr sz="1250" b="0">
                <a:solidFill>
                  <a:srgbClr val="6B7280"/>
                </a:solidFill>
                <a:latin typeface="Microsoft JhengHei"/>
                <a:ea typeface="Microsoft JhengHei"/>
              </a:rPr>
              <a:t>判準：零成本重算後，差距縮小 ≥ 50%</a:t>
            </a:r>
          </a:p>
        </p:txBody>
      </p:sp>
      <p:sp>
        <p:nvSpPr>
          <p:cNvPr id="11" name="Rounded Rectangle 10"/>
          <p:cNvSpPr/>
          <p:nvPr/>
        </p:nvSpPr>
        <p:spPr>
          <a:xfrm>
            <a:off x="8183879" y="1691640"/>
            <a:ext cx="3337560" cy="23774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H3 的用意</a:t>
            </a:r>
          </a:p>
          <a:p>
            <a:pPr algn="l">
              <a:lnSpc>
                <a:spcPct val="125000"/>
              </a:lnSpc>
              <a:spcAft>
                <a:spcPts val="600"/>
              </a:spcAft>
            </a:pPr>
            <a:r>
              <a:rPr sz="1350" b="0">
                <a:solidFill>
                  <a:srgbClr val="1A1A1A"/>
                </a:solidFill>
                <a:latin typeface="Microsoft JhengHei"/>
                <a:ea typeface="Microsoft JhengHei"/>
              </a:rPr>
              <a:t>把「</a:t>
            </a:r>
            <a:r>
              <a:rPr sz="1350" b="1">
                <a:solidFill>
                  <a:srgbClr val="1A1A1A"/>
                </a:solidFill>
                <a:latin typeface="Microsoft JhengHei"/>
                <a:ea typeface="Microsoft JhengHei"/>
              </a:rPr>
              <a:t>過度交易</a:t>
            </a:r>
            <a:r>
              <a:rPr sz="1350" b="0">
                <a:solidFill>
                  <a:srgbClr val="1A1A1A"/>
                </a:solidFill>
                <a:latin typeface="Microsoft JhengHei"/>
                <a:ea typeface="Microsoft JhengHei"/>
              </a:rPr>
              <a:t>」跟「</a:t>
            </a:r>
            <a:r>
              <a:rPr sz="1350" b="1">
                <a:solidFill>
                  <a:srgbClr val="1A1A1A"/>
                </a:solidFill>
                <a:latin typeface="Microsoft JhengHei"/>
                <a:ea typeface="Microsoft JhengHei"/>
              </a:rPr>
              <a:t>因成本而虧損</a:t>
            </a:r>
            <a:r>
              <a:rPr sz="1350" b="0">
                <a:solidFill>
                  <a:srgbClr val="1A1A1A"/>
                </a:solidFill>
                <a:latin typeface="Microsoft JhengHei"/>
                <a:ea typeface="Microsoft JhengHei"/>
              </a:rPr>
              <a:t>」拆開：前者是動作空間的性質，後者是它的後果。</a:t>
            </a:r>
          </a:p>
          <a:p>
            <a:pPr algn="l">
              <a:lnSpc>
                <a:spcPct val="125000"/>
              </a:lnSpc>
              <a:spcAft>
                <a:spcPts val="600"/>
              </a:spcAft>
            </a:pPr>
            <a:r>
              <a:rPr sz="1350" b="0">
                <a:solidFill>
                  <a:srgbClr val="1A1A1A"/>
                </a:solidFill>
                <a:latin typeface="Microsoft JhengHei"/>
                <a:ea typeface="Microsoft JhengHei"/>
              </a:rPr>
              <a:t>只量到後者，就沒有說到動作空間。</a:t>
            </a:r>
          </a:p>
        </p:txBody>
      </p:sp>
      <p:sp>
        <p:nvSpPr>
          <p:cNvPr id="12" name="Rounded Rectangle 11"/>
          <p:cNvSpPr/>
          <p:nvPr/>
        </p:nvSpPr>
        <p:spPr>
          <a:xfrm>
            <a:off x="640080" y="4297680"/>
            <a:ext cx="10881360" cy="14630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「回報成功」不等於「真的跑成功」——所以另設七項核對</a:t>
            </a:r>
          </a:p>
          <a:p>
            <a:pPr algn="l">
              <a:lnSpc>
                <a:spcPct val="125000"/>
              </a:lnSpc>
              <a:spcAft>
                <a:spcPts val="600"/>
              </a:spcAft>
            </a:pPr>
            <a:r>
              <a:rPr sz="1350" b="0">
                <a:solidFill>
                  <a:srgbClr val="1A1A1A"/>
                </a:solidFill>
                <a:latin typeface="Microsoft JhengHei"/>
                <a:ea typeface="Microsoft JhengHei"/>
              </a:rPr>
              <a:t>開發中曾兩度出現「程式回報成功、實際零有效模擬」。所以七項核對任一項不過，就視為執行失敗、不准拿輸出做分析：每期列數完整、五臂應算期一致、共同期數下限、</a:t>
            </a:r>
            <a:r>
              <a:rPr sz="1350" b="1">
                <a:solidFill>
                  <a:srgbClr val="1A1A1A"/>
                </a:solidFill>
                <a:latin typeface="Microsoft JhengHei"/>
                <a:ea typeface="Microsoft JhengHei"/>
              </a:rPr>
              <a:t>逐期耗時（確認模型真的在訓練）</a:t>
            </a:r>
            <a:r>
              <a:rPr sz="1350" b="0">
                <a:solidFill>
                  <a:srgbClr val="1A1A1A"/>
                </a:solidFill>
                <a:latin typeface="Microsoft JhengHei"/>
                <a:ea typeface="Microsoft JhengHei"/>
              </a:rPr>
              <a:t>、對沖口徑、命名無測試後綴、中段無缺期。</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§3.4.1–3.4.3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我的交易端 DL-THR：每一期只做一次選擇</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27</a:t>
            </a:r>
          </a:p>
        </p:txBody>
      </p:sp>
      <p:sp>
        <p:nvSpPr>
          <p:cNvPr id="5" name="TextBox 4"/>
          <p:cNvSpPr txBox="1"/>
          <p:nvPr/>
        </p:nvSpPr>
        <p:spPr>
          <a:xfrm>
            <a:off x="640080" y="1645920"/>
            <a:ext cx="5760720" cy="320040"/>
          </a:xfrm>
          <a:prstGeom prst="rect">
            <a:avLst/>
          </a:prstGeom>
          <a:noFill/>
        </p:spPr>
        <p:txBody>
          <a:bodyPr wrap="square" lIns="0" rIns="0" tIns="0" bIns="0" anchor="t">
            <a:spAutoFit/>
          </a:bodyPr>
          <a:lstStyle/>
          <a:p>
            <a:pPr algn="l">
              <a:lnSpc>
                <a:spcPct val="125000"/>
              </a:lnSpc>
              <a:spcAft>
                <a:spcPts val="600"/>
              </a:spcAft>
            </a:pPr>
            <a:r>
              <a:rPr sz="1500" b="1">
                <a:solidFill>
                  <a:srgbClr val="0B2A5B"/>
                </a:solidFill>
                <a:latin typeface="Microsoft JhengHei"/>
                <a:ea typeface="Microsoft JhengHei"/>
              </a:rPr>
              <a:t>動作選單：9 個選項</a:t>
            </a:r>
          </a:p>
        </p:txBody>
      </p:sp>
      <p:sp>
        <p:nvSpPr>
          <p:cNvPr id="6" name="TextBox 5"/>
          <p:cNvSpPr txBox="1"/>
          <p:nvPr/>
        </p:nvSpPr>
        <p:spPr>
          <a:xfrm>
            <a:off x="640080" y="1965960"/>
            <a:ext cx="1097280" cy="274320"/>
          </a:xfrm>
          <a:prstGeom prst="rect">
            <a:avLst/>
          </a:prstGeom>
          <a:noFill/>
        </p:spPr>
        <p:txBody>
          <a:bodyPr wrap="square" lIns="0" rIns="0" tIns="0" bIns="0" anchor="t">
            <a:spAutoFit/>
          </a:bodyPr>
          <a:lstStyle/>
          <a:p>
            <a:pPr algn="l">
              <a:lnSpc>
                <a:spcPct val="125000"/>
              </a:lnSpc>
              <a:spcAft>
                <a:spcPts val="600"/>
              </a:spcAft>
            </a:pPr>
            <a:r>
              <a:rPr sz="1100" b="0">
                <a:solidFill>
                  <a:srgbClr val="6B7280"/>
                </a:solidFill>
                <a:latin typeface="Microsoft JhengHei"/>
                <a:ea typeface="Microsoft JhengHei"/>
              </a:rPr>
              <a:t>出場＼進場</a:t>
            </a:r>
          </a:p>
        </p:txBody>
      </p:sp>
      <p:sp>
        <p:nvSpPr>
          <p:cNvPr id="7" name="TextBox 6"/>
          <p:cNvSpPr txBox="1"/>
          <p:nvPr/>
        </p:nvSpPr>
        <p:spPr>
          <a:xfrm>
            <a:off x="1783080" y="1965960"/>
            <a:ext cx="1005840" cy="274320"/>
          </a:xfrm>
          <a:prstGeom prst="rect">
            <a:avLst/>
          </a:prstGeom>
          <a:noFill/>
        </p:spPr>
        <p:txBody>
          <a:bodyPr wrap="square" lIns="0" rIns="0" tIns="0" bIns="0" anchor="t">
            <a:spAutoFit/>
          </a:bodyPr>
          <a:lstStyle/>
          <a:p>
            <a:pPr algn="ctr">
              <a:lnSpc>
                <a:spcPct val="125000"/>
              </a:lnSpc>
              <a:spcAft>
                <a:spcPts val="600"/>
              </a:spcAft>
            </a:pPr>
            <a:r>
              <a:rPr sz="1300" b="1">
                <a:solidFill>
                  <a:srgbClr val="0B2A5B"/>
                </a:solidFill>
                <a:latin typeface="Microsoft JhengHei"/>
                <a:ea typeface="Microsoft JhengHei"/>
              </a:rPr>
              <a:t>1.5</a:t>
            </a:r>
          </a:p>
        </p:txBody>
      </p:sp>
      <p:sp>
        <p:nvSpPr>
          <p:cNvPr id="8" name="TextBox 7"/>
          <p:cNvSpPr txBox="1"/>
          <p:nvPr/>
        </p:nvSpPr>
        <p:spPr>
          <a:xfrm>
            <a:off x="2788920" y="1965960"/>
            <a:ext cx="1005840" cy="274320"/>
          </a:xfrm>
          <a:prstGeom prst="rect">
            <a:avLst/>
          </a:prstGeom>
          <a:noFill/>
        </p:spPr>
        <p:txBody>
          <a:bodyPr wrap="square" lIns="0" rIns="0" tIns="0" bIns="0" anchor="t">
            <a:spAutoFit/>
          </a:bodyPr>
          <a:lstStyle/>
          <a:p>
            <a:pPr algn="ctr">
              <a:lnSpc>
                <a:spcPct val="125000"/>
              </a:lnSpc>
              <a:spcAft>
                <a:spcPts val="600"/>
              </a:spcAft>
            </a:pPr>
            <a:r>
              <a:rPr sz="1300" b="1">
                <a:solidFill>
                  <a:srgbClr val="0B2A5B"/>
                </a:solidFill>
                <a:latin typeface="Microsoft JhengHei"/>
                <a:ea typeface="Microsoft JhengHei"/>
              </a:rPr>
              <a:t>2.0</a:t>
            </a:r>
          </a:p>
        </p:txBody>
      </p:sp>
      <p:sp>
        <p:nvSpPr>
          <p:cNvPr id="9" name="TextBox 8"/>
          <p:cNvSpPr txBox="1"/>
          <p:nvPr/>
        </p:nvSpPr>
        <p:spPr>
          <a:xfrm>
            <a:off x="3794760" y="1965960"/>
            <a:ext cx="1005840" cy="274320"/>
          </a:xfrm>
          <a:prstGeom prst="rect">
            <a:avLst/>
          </a:prstGeom>
          <a:noFill/>
        </p:spPr>
        <p:txBody>
          <a:bodyPr wrap="square" lIns="0" rIns="0" tIns="0" bIns="0" anchor="t">
            <a:spAutoFit/>
          </a:bodyPr>
          <a:lstStyle/>
          <a:p>
            <a:pPr algn="ctr">
              <a:lnSpc>
                <a:spcPct val="125000"/>
              </a:lnSpc>
              <a:spcAft>
                <a:spcPts val="600"/>
              </a:spcAft>
            </a:pPr>
            <a:r>
              <a:rPr sz="1300" b="1">
                <a:solidFill>
                  <a:srgbClr val="0B2A5B"/>
                </a:solidFill>
                <a:latin typeface="Microsoft JhengHei"/>
                <a:ea typeface="Microsoft JhengHei"/>
              </a:rPr>
              <a:t>2.5</a:t>
            </a:r>
          </a:p>
        </p:txBody>
      </p:sp>
      <p:sp>
        <p:nvSpPr>
          <p:cNvPr id="10" name="TextBox 9"/>
          <p:cNvSpPr txBox="1"/>
          <p:nvPr/>
        </p:nvSpPr>
        <p:spPr>
          <a:xfrm>
            <a:off x="4800600" y="1965960"/>
            <a:ext cx="1005840" cy="274320"/>
          </a:xfrm>
          <a:prstGeom prst="rect">
            <a:avLst/>
          </a:prstGeom>
          <a:noFill/>
        </p:spPr>
        <p:txBody>
          <a:bodyPr wrap="square" lIns="0" rIns="0" tIns="0" bIns="0" anchor="t">
            <a:spAutoFit/>
          </a:bodyPr>
          <a:lstStyle/>
          <a:p>
            <a:pPr algn="ctr">
              <a:lnSpc>
                <a:spcPct val="125000"/>
              </a:lnSpc>
              <a:spcAft>
                <a:spcPts val="600"/>
              </a:spcAft>
            </a:pPr>
            <a:r>
              <a:rPr sz="1300" b="1">
                <a:solidFill>
                  <a:srgbClr val="0B2A5B"/>
                </a:solidFill>
                <a:latin typeface="Microsoft JhengHei"/>
                <a:ea typeface="Microsoft JhengHei"/>
              </a:rPr>
              <a:t>3.0</a:t>
            </a:r>
          </a:p>
        </p:txBody>
      </p:sp>
      <p:sp>
        <p:nvSpPr>
          <p:cNvPr id="11" name="TextBox 10"/>
          <p:cNvSpPr txBox="1"/>
          <p:nvPr/>
        </p:nvSpPr>
        <p:spPr>
          <a:xfrm>
            <a:off x="640080" y="2478024"/>
            <a:ext cx="1005840" cy="274320"/>
          </a:xfrm>
          <a:prstGeom prst="rect">
            <a:avLst/>
          </a:prstGeom>
          <a:noFill/>
        </p:spPr>
        <p:txBody>
          <a:bodyPr wrap="square" lIns="0" rIns="0" tIns="0" bIns="0" anchor="t">
            <a:spAutoFit/>
          </a:bodyPr>
          <a:lstStyle/>
          <a:p>
            <a:pPr algn="ctr">
              <a:lnSpc>
                <a:spcPct val="125000"/>
              </a:lnSpc>
              <a:spcAft>
                <a:spcPts val="600"/>
              </a:spcAft>
            </a:pPr>
            <a:r>
              <a:rPr sz="1300" b="1">
                <a:solidFill>
                  <a:srgbClr val="0B2A5B"/>
                </a:solidFill>
                <a:latin typeface="Microsoft JhengHei"/>
                <a:ea typeface="Microsoft JhengHei"/>
              </a:rPr>
              <a:t>0.0</a:t>
            </a:r>
          </a:p>
        </p:txBody>
      </p:sp>
      <p:sp>
        <p:nvSpPr>
          <p:cNvPr id="12" name="Rounded Rectangle 11"/>
          <p:cNvSpPr/>
          <p:nvPr/>
        </p:nvSpPr>
        <p:spPr>
          <a:xfrm>
            <a:off x="1819656" y="2368296"/>
            <a:ext cx="932688" cy="493776"/>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25000"/>
              </a:lnSpc>
              <a:spcAft>
                <a:spcPts val="600"/>
              </a:spcAft>
            </a:pPr>
            <a:r>
              <a:rPr sz="1200" b="0">
                <a:solidFill>
                  <a:srgbClr val="1A1A1A"/>
                </a:solidFill>
                <a:latin typeface="Microsoft JhengHei"/>
                <a:ea typeface="Microsoft JhengHei"/>
              </a:rPr>
              <a:t>(1.5, 0.0)</a:t>
            </a:r>
          </a:p>
        </p:txBody>
      </p:sp>
      <p:sp>
        <p:nvSpPr>
          <p:cNvPr id="13" name="Rounded Rectangle 12"/>
          <p:cNvSpPr/>
          <p:nvPr/>
        </p:nvSpPr>
        <p:spPr>
          <a:xfrm>
            <a:off x="2825496" y="2368296"/>
            <a:ext cx="932688" cy="493776"/>
          </a:xfrm>
          <a:prstGeom prst="roundRect">
            <a:avLst>
              <a:gd name="adj" fmla="val 6000"/>
            </a:avLst>
          </a:prstGeom>
          <a:solidFill>
            <a:srgbClr val="C4553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25000"/>
              </a:lnSpc>
              <a:spcAft>
                <a:spcPts val="600"/>
              </a:spcAft>
            </a:pPr>
            <a:r>
              <a:rPr sz="1200" b="1">
                <a:solidFill>
                  <a:srgbClr val="FFFFFF"/>
                </a:solidFill>
                <a:latin typeface="Microsoft JhengHei"/>
                <a:ea typeface="Microsoft JhengHei"/>
              </a:rPr>
              <a:t>(2.0, 0.0)</a:t>
            </a:r>
          </a:p>
        </p:txBody>
      </p:sp>
      <p:sp>
        <p:nvSpPr>
          <p:cNvPr id="14" name="Rounded Rectangle 13"/>
          <p:cNvSpPr/>
          <p:nvPr/>
        </p:nvSpPr>
        <p:spPr>
          <a:xfrm>
            <a:off x="3831336" y="2368296"/>
            <a:ext cx="932688" cy="493776"/>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25000"/>
              </a:lnSpc>
              <a:spcAft>
                <a:spcPts val="600"/>
              </a:spcAft>
            </a:pPr>
            <a:r>
              <a:rPr sz="1200" b="0">
                <a:solidFill>
                  <a:srgbClr val="1A1A1A"/>
                </a:solidFill>
                <a:latin typeface="Microsoft JhengHei"/>
                <a:ea typeface="Microsoft JhengHei"/>
              </a:rPr>
              <a:t>(2.5, 0.0)</a:t>
            </a:r>
          </a:p>
        </p:txBody>
      </p:sp>
      <p:sp>
        <p:nvSpPr>
          <p:cNvPr id="15" name="Rounded Rectangle 14"/>
          <p:cNvSpPr/>
          <p:nvPr/>
        </p:nvSpPr>
        <p:spPr>
          <a:xfrm>
            <a:off x="4837176" y="2368296"/>
            <a:ext cx="932688" cy="493776"/>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25000"/>
              </a:lnSpc>
              <a:spcAft>
                <a:spcPts val="600"/>
              </a:spcAft>
            </a:pPr>
            <a:r>
              <a:rPr sz="1200" b="0">
                <a:solidFill>
                  <a:srgbClr val="1A1A1A"/>
                </a:solidFill>
                <a:latin typeface="Microsoft JhengHei"/>
                <a:ea typeface="Microsoft JhengHei"/>
              </a:rPr>
              <a:t>(3.0, 0.0)</a:t>
            </a:r>
          </a:p>
        </p:txBody>
      </p:sp>
      <p:sp>
        <p:nvSpPr>
          <p:cNvPr id="16" name="TextBox 15"/>
          <p:cNvSpPr txBox="1"/>
          <p:nvPr/>
        </p:nvSpPr>
        <p:spPr>
          <a:xfrm>
            <a:off x="640080" y="3044952"/>
            <a:ext cx="1005840" cy="274320"/>
          </a:xfrm>
          <a:prstGeom prst="rect">
            <a:avLst/>
          </a:prstGeom>
          <a:noFill/>
        </p:spPr>
        <p:txBody>
          <a:bodyPr wrap="square" lIns="0" rIns="0" tIns="0" bIns="0" anchor="t">
            <a:spAutoFit/>
          </a:bodyPr>
          <a:lstStyle/>
          <a:p>
            <a:pPr algn="ctr">
              <a:lnSpc>
                <a:spcPct val="125000"/>
              </a:lnSpc>
              <a:spcAft>
                <a:spcPts val="600"/>
              </a:spcAft>
            </a:pPr>
            <a:r>
              <a:rPr sz="1300" b="1">
                <a:solidFill>
                  <a:srgbClr val="0B2A5B"/>
                </a:solidFill>
                <a:latin typeface="Microsoft JhengHei"/>
                <a:ea typeface="Microsoft JhengHei"/>
              </a:rPr>
              <a:t>0.5</a:t>
            </a:r>
          </a:p>
        </p:txBody>
      </p:sp>
      <p:sp>
        <p:nvSpPr>
          <p:cNvPr id="17" name="Rounded Rectangle 16"/>
          <p:cNvSpPr/>
          <p:nvPr/>
        </p:nvSpPr>
        <p:spPr>
          <a:xfrm>
            <a:off x="1819656" y="2935224"/>
            <a:ext cx="932688" cy="493776"/>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25000"/>
              </a:lnSpc>
              <a:spcAft>
                <a:spcPts val="600"/>
              </a:spcAft>
            </a:pPr>
            <a:r>
              <a:rPr sz="1200" b="0">
                <a:solidFill>
                  <a:srgbClr val="1A1A1A"/>
                </a:solidFill>
                <a:latin typeface="Microsoft JhengHei"/>
                <a:ea typeface="Microsoft JhengHei"/>
              </a:rPr>
              <a:t>(1.5, 0.5)</a:t>
            </a:r>
          </a:p>
        </p:txBody>
      </p:sp>
      <p:sp>
        <p:nvSpPr>
          <p:cNvPr id="18" name="Rounded Rectangle 17"/>
          <p:cNvSpPr/>
          <p:nvPr/>
        </p:nvSpPr>
        <p:spPr>
          <a:xfrm>
            <a:off x="2825496" y="2935224"/>
            <a:ext cx="932688" cy="493776"/>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25000"/>
              </a:lnSpc>
              <a:spcAft>
                <a:spcPts val="600"/>
              </a:spcAft>
            </a:pPr>
            <a:r>
              <a:rPr sz="1200" b="0">
                <a:solidFill>
                  <a:srgbClr val="1A1A1A"/>
                </a:solidFill>
                <a:latin typeface="Microsoft JhengHei"/>
                <a:ea typeface="Microsoft JhengHei"/>
              </a:rPr>
              <a:t>(2.0, 0.5)</a:t>
            </a:r>
          </a:p>
        </p:txBody>
      </p:sp>
      <p:sp>
        <p:nvSpPr>
          <p:cNvPr id="19" name="Rounded Rectangle 18"/>
          <p:cNvSpPr/>
          <p:nvPr/>
        </p:nvSpPr>
        <p:spPr>
          <a:xfrm>
            <a:off x="3831336" y="2935224"/>
            <a:ext cx="932688" cy="493776"/>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25000"/>
              </a:lnSpc>
              <a:spcAft>
                <a:spcPts val="600"/>
              </a:spcAft>
            </a:pPr>
            <a:r>
              <a:rPr sz="1200" b="0">
                <a:solidFill>
                  <a:srgbClr val="1A1A1A"/>
                </a:solidFill>
                <a:latin typeface="Microsoft JhengHei"/>
                <a:ea typeface="Microsoft JhengHei"/>
              </a:rPr>
              <a:t>(2.5, 0.5)</a:t>
            </a:r>
          </a:p>
        </p:txBody>
      </p:sp>
      <p:sp>
        <p:nvSpPr>
          <p:cNvPr id="20" name="Rounded Rectangle 19"/>
          <p:cNvSpPr/>
          <p:nvPr/>
        </p:nvSpPr>
        <p:spPr>
          <a:xfrm>
            <a:off x="4837176" y="2935224"/>
            <a:ext cx="932688" cy="493776"/>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25000"/>
              </a:lnSpc>
              <a:spcAft>
                <a:spcPts val="600"/>
              </a:spcAft>
            </a:pPr>
            <a:r>
              <a:rPr sz="1200" b="0">
                <a:solidFill>
                  <a:srgbClr val="1A1A1A"/>
                </a:solidFill>
                <a:latin typeface="Microsoft JhengHei"/>
                <a:ea typeface="Microsoft JhengHei"/>
              </a:rPr>
              <a:t>(3.0, 0.5)</a:t>
            </a:r>
          </a:p>
        </p:txBody>
      </p:sp>
      <p:sp>
        <p:nvSpPr>
          <p:cNvPr id="21" name="Rounded Rectangle 20"/>
          <p:cNvSpPr/>
          <p:nvPr/>
        </p:nvSpPr>
        <p:spPr>
          <a:xfrm>
            <a:off x="1783080" y="3575304"/>
            <a:ext cx="3986784" cy="45720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25000"/>
              </a:lnSpc>
              <a:spcAft>
                <a:spcPts val="600"/>
              </a:spcAft>
            </a:pPr>
            <a:r>
              <a:rPr sz="1300" b="1">
                <a:solidFill>
                  <a:srgbClr val="FFFFFF"/>
                </a:solidFill>
                <a:latin typeface="Microsoft JhengHei"/>
                <a:ea typeface="Microsoft JhengHei"/>
              </a:rPr>
              <a:t>SKIP：這一期不交易</a:t>
            </a:r>
          </a:p>
        </p:txBody>
      </p:sp>
      <p:sp>
        <p:nvSpPr>
          <p:cNvPr id="22" name="TextBox 21"/>
          <p:cNvSpPr txBox="1"/>
          <p:nvPr/>
        </p:nvSpPr>
        <p:spPr>
          <a:xfrm>
            <a:off x="640080" y="4197096"/>
            <a:ext cx="5760720" cy="54864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紅色那格 (2.0, 0.0) 就是 Z-Score 基準——選單一定包含它。</a:t>
            </a:r>
          </a:p>
        </p:txBody>
      </p:sp>
      <p:sp>
        <p:nvSpPr>
          <p:cNvPr id="23" name="TextBox 22"/>
          <p:cNvSpPr txBox="1"/>
          <p:nvPr/>
        </p:nvSpPr>
        <p:spPr>
          <a:xfrm>
            <a:off x="6263640" y="1645920"/>
            <a:ext cx="5303520" cy="320040"/>
          </a:xfrm>
          <a:prstGeom prst="rect">
            <a:avLst/>
          </a:prstGeom>
          <a:noFill/>
        </p:spPr>
        <p:txBody>
          <a:bodyPr wrap="square" lIns="0" rIns="0" tIns="0" bIns="0" anchor="t">
            <a:spAutoFit/>
          </a:bodyPr>
          <a:lstStyle/>
          <a:p>
            <a:pPr algn="l">
              <a:lnSpc>
                <a:spcPct val="125000"/>
              </a:lnSpc>
              <a:spcAft>
                <a:spcPts val="600"/>
              </a:spcAft>
            </a:pPr>
            <a:r>
              <a:rPr sz="1500" b="1">
                <a:solidFill>
                  <a:srgbClr val="0B2A5B"/>
                </a:solidFill>
                <a:latin typeface="Microsoft JhengHei"/>
                <a:ea typeface="Microsoft JhengHei"/>
              </a:rPr>
              <a:t>狀態：12 維形成期特徵（交易期開始前就算好）</a:t>
            </a:r>
          </a:p>
        </p:txBody>
      </p:sp>
      <p:graphicFrame>
        <p:nvGraphicFramePr>
          <p:cNvPr id="24" name="Table 23"/>
          <p:cNvGraphicFramePr>
            <a:graphicFrameLocks noGrp="1"/>
          </p:cNvGraphicFramePr>
          <p:nvPr/>
        </p:nvGraphicFramePr>
        <p:xfrm>
          <a:off x="6263640" y="2011680"/>
          <a:ext cx="5257800" cy="2414016"/>
        </p:xfrm>
        <a:graphic>
          <a:graphicData uri="http://schemas.openxmlformats.org/drawingml/2006/table">
            <a:tbl>
              <a:tblPr firstRow="1" bandRow="1">
                <a:tableStyleId>{5C22544A-7EE6-4342-B048-85BDC9FD1C3A}</a:tableStyleId>
              </a:tblPr>
              <a:tblGrid>
                <a:gridCol w="1600200"/>
                <a:gridCol w="3657600"/>
              </a:tblGrid>
              <a:tr h="402336">
                <a:tc>
                  <a:txBody>
                    <a:bodyPr wrap="square"/>
                    <a:lstStyle/>
                    <a:p>
                      <a:pPr algn="l">
                        <a:lnSpc>
                          <a:spcPct val="110000"/>
                        </a:lnSpc>
                        <a:spcAft>
                          <a:spcPts val="0"/>
                        </a:spcAft>
                      </a:pPr>
                      <a:r>
                        <a:rPr sz="1300" b="1">
                          <a:solidFill>
                            <a:srgbClr val="FFFFFF"/>
                          </a:solidFill>
                          <a:latin typeface="Microsoft JhengHei"/>
                          <a:ea typeface="Microsoft JhengHei"/>
                        </a:rPr>
                        <a:t>類別</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特徵</a:t>
                      </a:r>
                    </a:p>
                  </a:txBody>
                  <a:tcPr marT="27432" marB="27432" marL="73152" marR="73152" anchor="ctr">
                    <a:solidFill>
                      <a:srgbClr val="0B2A5B"/>
                    </a:solidFill>
                  </a:tcPr>
                </a:tc>
              </a:tr>
              <a:tr h="402336">
                <a:tc>
                  <a:txBody>
                    <a:bodyPr wrap="square"/>
                    <a:lstStyle/>
                    <a:p>
                      <a:pPr algn="l">
                        <a:lnSpc>
                          <a:spcPct val="110000"/>
                        </a:lnSpc>
                        <a:spcAft>
                          <a:spcPts val="0"/>
                        </a:spcAft>
                      </a:pPr>
                      <a:r>
                        <a:rPr sz="1300" b="0">
                          <a:solidFill>
                            <a:srgbClr val="1A1A1A"/>
                          </a:solidFill>
                          <a:latin typeface="Microsoft JhengHei"/>
                          <a:ea typeface="Microsoft JhengHei"/>
                        </a:rPr>
                        <a:t>偏離狀態</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期末 z、期末 |z|</a:t>
                      </a:r>
                    </a:p>
                  </a:txBody>
                  <a:tcPr marT="27432" marB="27432" marL="73152" marR="73152" anchor="ctr">
                    <a:solidFill>
                      <a:srgbClr val="FFFFFF"/>
                    </a:solidFill>
                  </a:tcPr>
                </a:tc>
              </a:tr>
              <a:tr h="402336">
                <a:tc>
                  <a:txBody>
                    <a:bodyPr wrap="square"/>
                    <a:lstStyle/>
                    <a:p>
                      <a:pPr algn="l">
                        <a:lnSpc>
                          <a:spcPct val="110000"/>
                        </a:lnSpc>
                        <a:spcAft>
                          <a:spcPts val="0"/>
                        </a:spcAft>
                      </a:pPr>
                      <a:r>
                        <a:rPr sz="1300" b="0">
                          <a:solidFill>
                            <a:srgbClr val="1A1A1A"/>
                          </a:solidFill>
                          <a:latin typeface="Microsoft JhengHei"/>
                          <a:ea typeface="Microsoft JhengHei"/>
                        </a:rPr>
                        <a:t>回歸品質</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零穿越頻率、OU 半衰期（對數）</a:t>
                      </a:r>
                    </a:p>
                  </a:txBody>
                  <a:tcPr marT="27432" marB="27432" marL="73152" marR="73152" anchor="ctr">
                    <a:solidFill>
                      <a:srgbClr val="E8EDF5"/>
                    </a:solidFill>
                  </a:tcPr>
                </a:tc>
              </a:tr>
              <a:tr h="402336">
                <a:tc>
                  <a:txBody>
                    <a:bodyPr wrap="square"/>
                    <a:lstStyle/>
                    <a:p>
                      <a:pPr algn="l">
                        <a:lnSpc>
                          <a:spcPct val="110000"/>
                        </a:lnSpc>
                        <a:spcAft>
                          <a:spcPts val="0"/>
                        </a:spcAft>
                      </a:pPr>
                      <a:r>
                        <a:rPr sz="1300" b="0">
                          <a:solidFill>
                            <a:srgbClr val="1A1A1A"/>
                          </a:solidFill>
                          <a:latin typeface="Microsoft JhengHei"/>
                          <a:ea typeface="Microsoft JhengHei"/>
                        </a:rPr>
                        <a:t>近期狀態</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近 21 日 z 波動相對全期、近 21 日 z 趨勢</a:t>
                      </a:r>
                    </a:p>
                  </a:txBody>
                  <a:tcPr marT="27432" marB="27432" marL="73152" marR="73152" anchor="ctr">
                    <a:solidFill>
                      <a:srgbClr val="FFFFFF"/>
                    </a:solidFill>
                  </a:tcPr>
                </a:tc>
              </a:tr>
              <a:tr h="402336">
                <a:tc>
                  <a:txBody>
                    <a:bodyPr wrap="square"/>
                    <a:lstStyle/>
                    <a:p>
                      <a:pPr algn="l">
                        <a:lnSpc>
                          <a:spcPct val="110000"/>
                        </a:lnSpc>
                        <a:spcAft>
                          <a:spcPts val="0"/>
                        </a:spcAft>
                      </a:pPr>
                      <a:r>
                        <a:rPr sz="1300" b="0">
                          <a:solidFill>
                            <a:srgbClr val="1A1A1A"/>
                          </a:solidFill>
                          <a:latin typeface="Microsoft JhengHei"/>
                          <a:ea typeface="Microsoft JhengHei"/>
                        </a:rPr>
                        <a:t>配對性質</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報酬相關、波動比、對沖比例偏離 1 的幅度</a:t>
                      </a:r>
                    </a:p>
                  </a:txBody>
                  <a:tcPr marT="27432" marB="27432" marL="73152" marR="73152" anchor="ctr">
                    <a:solidFill>
                      <a:srgbClr val="E8EDF5"/>
                    </a:solidFill>
                  </a:tcPr>
                </a:tc>
              </a:tr>
              <a:tr h="402336">
                <a:tc>
                  <a:txBody>
                    <a:bodyPr wrap="square"/>
                    <a:lstStyle/>
                    <a:p>
                      <a:pPr algn="l">
                        <a:lnSpc>
                          <a:spcPct val="110000"/>
                        </a:lnSpc>
                        <a:spcAft>
                          <a:spcPts val="0"/>
                        </a:spcAft>
                      </a:pPr>
                      <a:r>
                        <a:rPr sz="1300" b="0">
                          <a:solidFill>
                            <a:srgbClr val="1A1A1A"/>
                          </a:solidFill>
                          <a:latin typeface="Microsoft JhengHei"/>
                          <a:ea typeface="Microsoft JhengHei"/>
                        </a:rPr>
                        <a:t>可交易性</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價差振幅、|z|&gt;2 佔比、最大 |z|</a:t>
                      </a:r>
                    </a:p>
                  </a:txBody>
                  <a:tcPr marT="27432" marB="27432" marL="73152" marR="73152" anchor="ctr">
                    <a:solidFill>
                      <a:srgbClr val="FFFFFF"/>
                    </a:solidFill>
                  </a:tcPr>
                </a:tc>
              </a:tr>
            </a:tbl>
          </a:graphicData>
        </a:graphic>
      </p:graphicFrame>
      <p:sp>
        <p:nvSpPr>
          <p:cNvPr id="25" name="TextBox 24"/>
          <p:cNvSpPr txBox="1"/>
          <p:nvPr/>
        </p:nvSpPr>
        <p:spPr>
          <a:xfrm>
            <a:off x="6263640" y="4526280"/>
            <a:ext cx="5257800" cy="822960"/>
          </a:xfrm>
          <a:prstGeom prst="rect">
            <a:avLst/>
          </a:prstGeom>
          <a:noFill/>
        </p:spPr>
        <p:txBody>
          <a:bodyPr wrap="square" lIns="0" rIns="0" tIns="0" bIns="0" anchor="t">
            <a:spAutoFit/>
          </a:bodyPr>
          <a:lstStyle/>
          <a:p>
            <a:pPr algn="l">
              <a:lnSpc>
                <a:spcPct val="125000"/>
              </a:lnSpc>
              <a:spcAft>
                <a:spcPts val="600"/>
              </a:spcAft>
            </a:pPr>
            <a:r>
              <a:rPr sz="1350" b="0">
                <a:solidFill>
                  <a:srgbClr val="6B7280"/>
                </a:solidFill>
                <a:latin typeface="Microsoft JhengHei"/>
                <a:ea typeface="Microsoft JhengHei"/>
              </a:rPr>
              <a:t>網路：MLP（12 → 64 → 9 個動作的報酬），均方誤差，每期增量訓練 40 epoch。</a:t>
            </a:r>
          </a:p>
        </p:txBody>
      </p:sp>
      <p:sp>
        <p:nvSpPr>
          <p:cNvPr id="26" name="TextBox 25"/>
          <p:cNvSpPr txBox="1"/>
          <p:nvPr/>
        </p:nvSpPr>
        <p:spPr>
          <a:xfrm>
            <a:off x="640080" y="6053328"/>
            <a:ext cx="10332720" cy="27432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Kim, T., &amp; Kim, H. Y. (2019). Optimizing the pairs-trading strategy using deep reinforcement learning with trading and stop-loss boundaries. Complexity, 2019, 3582516.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§3.4.4–3.4.5</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要說清楚：DL-THR 其實不是強化學習</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28</a:t>
            </a:r>
          </a:p>
        </p:txBody>
      </p:sp>
      <p:sp>
        <p:nvSpPr>
          <p:cNvPr id="5" name="Rounded Rectangle 4"/>
          <p:cNvSpPr/>
          <p:nvPr/>
        </p:nvSpPr>
        <p:spPr>
          <a:xfrm>
            <a:off x="640080" y="1737360"/>
            <a:ext cx="5257800" cy="25146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C4553B"/>
                </a:solidFill>
                <a:latin typeface="Microsoft JhengHei"/>
                <a:ea typeface="Microsoft JhengHei"/>
              </a:rPr>
              <a:t>為什麼不是 RL？</a:t>
            </a:r>
          </a:p>
          <a:p>
            <a:pPr algn="l">
              <a:lnSpc>
                <a:spcPct val="125000"/>
              </a:lnSpc>
              <a:spcAft>
                <a:spcPts val="600"/>
              </a:spcAft>
            </a:pPr>
            <a:r>
              <a:rPr sz="1450" b="0">
                <a:solidFill>
                  <a:srgbClr val="1A1A1A"/>
                </a:solidFill>
                <a:latin typeface="Microsoft JhengHei"/>
                <a:ea typeface="Microsoft JhengHei"/>
              </a:rPr>
              <a:t>9 個動作的報酬</a:t>
            </a:r>
            <a:r>
              <a:rPr sz="1450" b="1">
                <a:solidFill>
                  <a:srgbClr val="1A1A1A"/>
                </a:solidFill>
                <a:latin typeface="Microsoft JhengHei"/>
                <a:ea typeface="Microsoft JhengHei"/>
              </a:rPr>
              <a:t>全部可以反事實回算</a:t>
            </a:r>
            <a:r>
              <a:rPr sz="1450" b="0">
                <a:solidFill>
                  <a:srgbClr val="1A1A1A"/>
                </a:solidFill>
                <a:latin typeface="Microsoft JhengHei"/>
                <a:ea typeface="Microsoft JhengHei"/>
              </a:rPr>
              <a:t>——拿該期價格把 9 組門檻各模擬一次就知道。</a:t>
            </a:r>
          </a:p>
          <a:p>
            <a:pPr algn="l">
              <a:lnSpc>
                <a:spcPct val="125000"/>
              </a:lnSpc>
              <a:spcAft>
                <a:spcPts val="600"/>
              </a:spcAft>
            </a:pPr>
            <a:r>
              <a:rPr sz="1450" b="0">
                <a:solidFill>
                  <a:srgbClr val="1A1A1A"/>
                </a:solidFill>
                <a:latin typeface="Microsoft JhengHei"/>
                <a:ea typeface="Microsoft JhengHei"/>
              </a:rPr>
              <a:t>每個動作的報酬都看得到，就</a:t>
            </a:r>
            <a:r>
              <a:rPr sz="1450" b="1">
                <a:solidFill>
                  <a:srgbClr val="1A1A1A"/>
                </a:solidFill>
                <a:latin typeface="Microsoft JhengHei"/>
                <a:ea typeface="Microsoft JhengHei"/>
              </a:rPr>
              <a:t>沒有探索與利用的取捨</a:t>
            </a:r>
            <a:r>
              <a:rPr sz="1450" b="0">
                <a:solidFill>
                  <a:srgbClr val="1A1A1A"/>
                </a:solidFill>
                <a:latin typeface="Microsoft JhengHei"/>
                <a:ea typeface="Microsoft JhengHei"/>
              </a:rPr>
              <a:t>。</a:t>
            </a:r>
          </a:p>
          <a:p>
            <a:pPr algn="l">
              <a:lnSpc>
                <a:spcPct val="125000"/>
              </a:lnSpc>
              <a:spcAft>
                <a:spcPts val="600"/>
              </a:spcAft>
            </a:pPr>
            <a:r>
              <a:rPr sz="1450" b="0">
                <a:solidFill>
                  <a:srgbClr val="1A1A1A"/>
                </a:solidFill>
                <a:latin typeface="Microsoft JhengHei"/>
                <a:ea typeface="Microsoft JhengHei"/>
              </a:rPr>
              <a:t>這是</a:t>
            </a:r>
            <a:r>
              <a:rPr sz="1450" b="1">
                <a:solidFill>
                  <a:srgbClr val="1A1A1A"/>
                </a:solidFill>
                <a:latin typeface="Microsoft JhengHei"/>
                <a:ea typeface="Microsoft JhengHei"/>
              </a:rPr>
              <a:t>全資訊監督回歸</a:t>
            </a:r>
            <a:r>
              <a:rPr sz="1450" b="0">
                <a:solidFill>
                  <a:srgbClr val="1A1A1A"/>
                </a:solidFill>
                <a:latin typeface="Microsoft JhengHei"/>
                <a:ea typeface="Microsoft JhengHei"/>
              </a:rPr>
              <a:t>，不是部分回饋的強化學習。</a:t>
            </a:r>
          </a:p>
        </p:txBody>
      </p:sp>
      <p:sp>
        <p:nvSpPr>
          <p:cNvPr id="6" name="Rounded Rectangle 5"/>
          <p:cNvSpPr/>
          <p:nvPr/>
        </p:nvSpPr>
        <p:spPr>
          <a:xfrm>
            <a:off x="6263640" y="1737360"/>
            <a:ext cx="5257800" cy="25146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0B2A5B"/>
                </a:solidFill>
                <a:latin typeface="Microsoft JhengHei"/>
                <a:ea typeface="Microsoft JhengHei"/>
              </a:rPr>
              <a:t>三項結構性保證</a:t>
            </a:r>
          </a:p>
          <a:p>
            <a:pPr algn="l">
              <a:lnSpc>
                <a:spcPct val="125000"/>
              </a:lnSpc>
              <a:spcAft>
                <a:spcPts val="600"/>
              </a:spcAft>
            </a:pPr>
            <a:r>
              <a:rPr sz="1450" b="0">
                <a:solidFill>
                  <a:srgbClr val="1A1A1A"/>
                </a:solidFill>
                <a:latin typeface="Microsoft JhengHei"/>
                <a:ea typeface="Microsoft JhengHei"/>
              </a:rPr>
              <a:t>① 選單包含 (2.0, 0.0) → 策略空間</a:t>
            </a:r>
            <a:r>
              <a:rPr sz="1450" b="1">
                <a:solidFill>
                  <a:srgbClr val="1A1A1A"/>
                </a:solidFill>
                <a:latin typeface="Microsoft JhengHei"/>
                <a:ea typeface="Microsoft JhengHei"/>
              </a:rPr>
              <a:t>必然涵蓋</a:t>
            </a:r>
            <a:r>
              <a:rPr sz="1450" b="0">
                <a:solidFill>
                  <a:srgbClr val="1A1A1A"/>
                </a:solidFill>
                <a:latin typeface="Microsoft JhengHei"/>
                <a:ea typeface="Microsoft JhengHei"/>
              </a:rPr>
              <a:t> Z-Score</a:t>
            </a:r>
          </a:p>
          <a:p>
            <a:pPr algn="l">
              <a:lnSpc>
                <a:spcPct val="125000"/>
              </a:lnSpc>
              <a:spcAft>
                <a:spcPts val="600"/>
              </a:spcAft>
            </a:pPr>
            <a:r>
              <a:rPr sz="1450" b="0">
                <a:solidFill>
                  <a:srgbClr val="1A1A1A"/>
                </a:solidFill>
                <a:latin typeface="Microsoft JhengHei"/>
                <a:ea typeface="Microsoft JhengHei"/>
              </a:rPr>
              <a:t>② 訓練樣本少於 200 筆 → 自動用基準動作</a:t>
            </a:r>
          </a:p>
          <a:p>
            <a:pPr algn="l">
              <a:lnSpc>
                <a:spcPct val="125000"/>
              </a:lnSpc>
              <a:spcAft>
                <a:spcPts val="600"/>
              </a:spcAft>
            </a:pPr>
            <a:r>
              <a:rPr sz="1450" b="0">
                <a:solidFill>
                  <a:srgbClr val="1A1A1A"/>
                </a:solidFill>
                <a:latin typeface="Microsoft JhengHei"/>
                <a:ea typeface="Microsoft JhengHei"/>
              </a:rPr>
              <a:t>③ SKIP 讓它可以</a:t>
            </a:r>
            <a:r>
              <a:rPr sz="1450" b="1">
                <a:solidFill>
                  <a:srgbClr val="1A1A1A"/>
                </a:solidFill>
                <a:latin typeface="Microsoft JhengHei"/>
                <a:ea typeface="Microsoft JhengHei"/>
              </a:rPr>
              <a:t>拒絕交易</a:t>
            </a:r>
            <a:r>
              <a:rPr sz="1450" b="0">
                <a:solidFill>
                  <a:srgbClr val="1A1A1A"/>
                </a:solidFill>
                <a:latin typeface="Microsoft JhengHei"/>
                <a:ea typeface="Microsoft JhengHei"/>
              </a:rPr>
              <a:t>——這是固定規則沒有的選擇性</a:t>
            </a:r>
          </a:p>
        </p:txBody>
      </p:sp>
      <p:sp>
        <p:nvSpPr>
          <p:cNvPr id="7" name="Rounded Rectangle 6"/>
          <p:cNvSpPr/>
          <p:nvPr/>
        </p:nvSpPr>
        <p:spPr>
          <a:xfrm>
            <a:off x="640080" y="4480560"/>
            <a:ext cx="6766560" cy="12801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前視偏誤的防範：walk-forward 增量訓練</a:t>
            </a:r>
          </a:p>
          <a:p>
            <a:pPr algn="l">
              <a:lnSpc>
                <a:spcPct val="125000"/>
              </a:lnSpc>
              <a:spcAft>
                <a:spcPts val="600"/>
              </a:spcAft>
            </a:pPr>
            <a:r>
              <a:rPr sz="1350" b="0">
                <a:solidFill>
                  <a:srgbClr val="1A1A1A"/>
                </a:solidFill>
                <a:latin typeface="Microsoft JhengHei"/>
                <a:ea typeface="Microsoft JhengHei"/>
              </a:rPr>
              <a:t>第 k 期的決策，只用「</a:t>
            </a:r>
            <a:r>
              <a:rPr sz="1350" b="1">
                <a:solidFill>
                  <a:srgbClr val="1A1A1A"/>
                </a:solidFill>
                <a:latin typeface="Microsoft JhengHei"/>
                <a:ea typeface="Microsoft JhengHei"/>
              </a:rPr>
              <a:t>交易期在第 k 期開始前就已經結束</a:t>
            </a:r>
            <a:r>
              <a:rPr sz="1350" b="0">
                <a:solidFill>
                  <a:srgbClr val="1A1A1A"/>
                </a:solidFill>
                <a:latin typeface="Microsoft JhengHei"/>
                <a:ea typeface="Microsoft JhengHei"/>
              </a:rPr>
              <a:t>」的樣本訓練。網路沒固定種子 → 另做</a:t>
            </a:r>
            <a:r>
              <a:rPr sz="1350" b="1">
                <a:solidFill>
                  <a:srgbClr val="1A1A1A"/>
                </a:solidFill>
                <a:latin typeface="Microsoft JhengHei"/>
                <a:ea typeface="Microsoft JhengHei"/>
              </a:rPr>
              <a:t>五輪獨立重訓</a:t>
            </a:r>
            <a:r>
              <a:rPr sz="1350" b="0">
                <a:solidFill>
                  <a:srgbClr val="1A1A1A"/>
                </a:solidFill>
                <a:latin typeface="Microsoft JhengHei"/>
                <a:ea typeface="Microsoft JhengHei"/>
              </a:rPr>
              <a:t>，以中位數與全距報告。</a:t>
            </a:r>
          </a:p>
        </p:txBody>
      </p:sp>
      <p:sp>
        <p:nvSpPr>
          <p:cNvPr id="8" name="TextBox 7"/>
          <p:cNvSpPr txBox="1"/>
          <p:nvPr/>
        </p:nvSpPr>
        <p:spPr>
          <a:xfrm>
            <a:off x="7635240" y="4617720"/>
            <a:ext cx="3886200" cy="109728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程式碼與資料庫還叫它「DRL」，是歷史命名；論文依學習問題的性質，一律稱 DL-THR。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§3.5</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那真正的強化學習版本呢？我也做了一個</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29</a:t>
            </a:r>
          </a:p>
        </p:txBody>
      </p:sp>
      <p:graphicFrame>
        <p:nvGraphicFramePr>
          <p:cNvPr id="5" name="Table 4"/>
          <p:cNvGraphicFramePr>
            <a:graphicFrameLocks noGrp="1"/>
          </p:cNvGraphicFramePr>
          <p:nvPr/>
        </p:nvGraphicFramePr>
        <p:xfrm>
          <a:off x="640080" y="1874519"/>
          <a:ext cx="10881360" cy="2048256"/>
        </p:xfrm>
        <a:graphic>
          <a:graphicData uri="http://schemas.openxmlformats.org/drawingml/2006/table">
            <a:tbl>
              <a:tblPr firstRow="1" bandRow="1">
                <a:tableStyleId>{5C22544A-7EE6-4342-B048-85BDC9FD1C3A}</a:tableStyleId>
              </a:tblPr>
              <a:tblGrid>
                <a:gridCol w="2926080"/>
                <a:gridCol w="3566160"/>
                <a:gridCol w="4389120"/>
              </a:tblGrid>
              <a:tr h="512064">
                <a:tc>
                  <a:txBody>
                    <a:bodyPr wrap="square"/>
                    <a:lstStyle/>
                    <a:p>
                      <a:pPr algn="l">
                        <a:lnSpc>
                          <a:spcPct val="110000"/>
                        </a:lnSpc>
                        <a:spcAft>
                          <a:spcPts val="0"/>
                        </a:spcAft>
                      </a:pPr>
                    </a:p>
                  </a:txBody>
                  <a:tcPr marT="27432" marB="27432" marL="73152" marR="73152" anchor="ctr">
                    <a:solidFill>
                      <a:srgbClr val="0B2A5B"/>
                    </a:solidFill>
                  </a:tcPr>
                </a:tc>
                <a:tc>
                  <a:txBody>
                    <a:bodyPr wrap="square"/>
                    <a:lstStyle/>
                    <a:p>
                      <a:pPr algn="l">
                        <a:lnSpc>
                          <a:spcPct val="110000"/>
                        </a:lnSpc>
                        <a:spcAft>
                          <a:spcPts val="0"/>
                        </a:spcAft>
                      </a:pPr>
                      <a:r>
                        <a:rPr sz="1600" b="1">
                          <a:solidFill>
                            <a:srgbClr val="FFFFFF"/>
                          </a:solidFill>
                          <a:latin typeface="Microsoft JhengHei"/>
                          <a:ea typeface="Microsoft JhengHei"/>
                        </a:rPr>
                        <a:t>DL-THR（全資訊）</a:t>
                      </a:r>
                    </a:p>
                  </a:txBody>
                  <a:tcPr marT="27432" marB="27432" marL="73152" marR="73152" anchor="ctr">
                    <a:solidFill>
                      <a:srgbClr val="0B2A5B"/>
                    </a:solidFill>
                  </a:tcPr>
                </a:tc>
                <a:tc>
                  <a:txBody>
                    <a:bodyPr wrap="square"/>
                    <a:lstStyle/>
                    <a:p>
                      <a:pPr algn="l">
                        <a:lnSpc>
                          <a:spcPct val="110000"/>
                        </a:lnSpc>
                        <a:spcAft>
                          <a:spcPts val="0"/>
                        </a:spcAft>
                      </a:pPr>
                      <a:r>
                        <a:rPr sz="1600" b="1">
                          <a:solidFill>
                            <a:srgbClr val="FFFFFF"/>
                          </a:solidFill>
                          <a:latin typeface="Microsoft JhengHei"/>
                          <a:ea typeface="Microsoft JhengHei"/>
                        </a:rPr>
                        <a:t>RL-THR（部分回饋）</a:t>
                      </a:r>
                    </a:p>
                  </a:txBody>
                  <a:tcPr marT="27432" marB="27432" marL="73152" marR="73152" anchor="ctr">
                    <a:solidFill>
                      <a:srgbClr val="0B2A5B"/>
                    </a:solidFill>
                  </a:tcPr>
                </a:tc>
              </a:tr>
              <a:tr h="512064">
                <a:tc>
                  <a:txBody>
                    <a:bodyPr wrap="square"/>
                    <a:lstStyle/>
                    <a:p>
                      <a:pPr algn="l">
                        <a:lnSpc>
                          <a:spcPct val="110000"/>
                        </a:lnSpc>
                        <a:spcAft>
                          <a:spcPts val="0"/>
                        </a:spcAft>
                      </a:pPr>
                      <a:r>
                        <a:rPr sz="1600" b="0">
                          <a:solidFill>
                            <a:srgbClr val="1A1A1A"/>
                          </a:solidFill>
                          <a:latin typeface="Microsoft JhengHei"/>
                          <a:ea typeface="Microsoft JhengHei"/>
                        </a:rPr>
                        <a:t>看得到的報酬</a:t>
                      </a:r>
                    </a:p>
                  </a:txBody>
                  <a:tcPr marT="27432" marB="27432" marL="73152" marR="73152" anchor="ctr">
                    <a:solidFill>
                      <a:srgbClr val="FFFFFF"/>
                    </a:solidFill>
                  </a:tcPr>
                </a:tc>
                <a:tc>
                  <a:txBody>
                    <a:bodyPr wrap="square"/>
                    <a:lstStyle/>
                    <a:p>
                      <a:pPr algn="l">
                        <a:lnSpc>
                          <a:spcPct val="110000"/>
                        </a:lnSpc>
                        <a:spcAft>
                          <a:spcPts val="0"/>
                        </a:spcAft>
                      </a:pPr>
                      <a:r>
                        <a:rPr sz="1600" b="0">
                          <a:solidFill>
                            <a:srgbClr val="1A1A1A"/>
                          </a:solidFill>
                          <a:latin typeface="Microsoft JhengHei"/>
                          <a:ea typeface="Microsoft JhengHei"/>
                        </a:rPr>
                        <a:t>全部 9 個動作</a:t>
                      </a:r>
                    </a:p>
                  </a:txBody>
                  <a:tcPr marT="27432" marB="27432" marL="73152" marR="73152" anchor="ctr">
                    <a:solidFill>
                      <a:srgbClr val="FFFFFF"/>
                    </a:solidFill>
                  </a:tcPr>
                </a:tc>
                <a:tc>
                  <a:txBody>
                    <a:bodyPr wrap="square"/>
                    <a:lstStyle/>
                    <a:p>
                      <a:pPr algn="l">
                        <a:lnSpc>
                          <a:spcPct val="110000"/>
                        </a:lnSpc>
                        <a:spcAft>
                          <a:spcPts val="0"/>
                        </a:spcAft>
                      </a:pPr>
                      <a:r>
                        <a:rPr sz="1600" b="1">
                          <a:solidFill>
                            <a:srgbClr val="1A1A1A"/>
                          </a:solidFill>
                          <a:latin typeface="Microsoft JhengHei"/>
                          <a:ea typeface="Microsoft JhengHei"/>
                        </a:rPr>
                        <a:t>只有實際選中的那一個</a:t>
                      </a:r>
                    </a:p>
                  </a:txBody>
                  <a:tcPr marT="27432" marB="27432" marL="73152" marR="73152" anchor="ctr">
                    <a:solidFill>
                      <a:srgbClr val="FFFFFF"/>
                    </a:solidFill>
                  </a:tcPr>
                </a:tc>
              </a:tr>
              <a:tr h="512064">
                <a:tc>
                  <a:txBody>
                    <a:bodyPr wrap="square"/>
                    <a:lstStyle/>
                    <a:p>
                      <a:pPr algn="l">
                        <a:lnSpc>
                          <a:spcPct val="110000"/>
                        </a:lnSpc>
                        <a:spcAft>
                          <a:spcPts val="0"/>
                        </a:spcAft>
                      </a:pPr>
                      <a:r>
                        <a:rPr sz="1600" b="0">
                          <a:solidFill>
                            <a:srgbClr val="1A1A1A"/>
                          </a:solidFill>
                          <a:latin typeface="Microsoft JhengHei"/>
                          <a:ea typeface="Microsoft JhengHei"/>
                        </a:rPr>
                        <a:t>探索</a:t>
                      </a:r>
                    </a:p>
                  </a:txBody>
                  <a:tcPr marT="27432" marB="27432" marL="73152" marR="73152" anchor="ctr">
                    <a:solidFill>
                      <a:srgbClr val="E8EDF5"/>
                    </a:solidFill>
                  </a:tcPr>
                </a:tc>
                <a:tc>
                  <a:txBody>
                    <a:bodyPr wrap="square"/>
                    <a:lstStyle/>
                    <a:p>
                      <a:pPr algn="l">
                        <a:lnSpc>
                          <a:spcPct val="110000"/>
                        </a:lnSpc>
                        <a:spcAft>
                          <a:spcPts val="0"/>
                        </a:spcAft>
                      </a:pPr>
                      <a:r>
                        <a:rPr sz="1600" b="0">
                          <a:solidFill>
                            <a:srgbClr val="1A1A1A"/>
                          </a:solidFill>
                          <a:latin typeface="Microsoft JhengHei"/>
                          <a:ea typeface="Microsoft JhengHei"/>
                        </a:rPr>
                        <a:t>不需要</a:t>
                      </a:r>
                    </a:p>
                  </a:txBody>
                  <a:tcPr marT="27432" marB="27432" marL="73152" marR="73152" anchor="ctr">
                    <a:solidFill>
                      <a:srgbClr val="E8EDF5"/>
                    </a:solidFill>
                  </a:tcPr>
                </a:tc>
                <a:tc>
                  <a:txBody>
                    <a:bodyPr wrap="square"/>
                    <a:lstStyle/>
                    <a:p>
                      <a:pPr algn="l">
                        <a:lnSpc>
                          <a:spcPct val="110000"/>
                        </a:lnSpc>
                        <a:spcAft>
                          <a:spcPts val="0"/>
                        </a:spcAft>
                      </a:pPr>
                      <a:r>
                        <a:rPr sz="1600" b="0">
                          <a:solidFill>
                            <a:srgbClr val="1A1A1A"/>
                          </a:solidFill>
                          <a:latin typeface="Microsoft JhengHei"/>
                          <a:ea typeface="Microsoft JhengHei"/>
                        </a:rPr>
                        <a:t>ε-greedy</a:t>
                      </a:r>
                    </a:p>
                  </a:txBody>
                  <a:tcPr marT="27432" marB="27432" marL="73152" marR="73152" anchor="ctr">
                    <a:solidFill>
                      <a:srgbClr val="E8EDF5"/>
                    </a:solidFill>
                  </a:tcPr>
                </a:tc>
              </a:tr>
              <a:tr h="512064">
                <a:tc>
                  <a:txBody>
                    <a:bodyPr wrap="square"/>
                    <a:lstStyle/>
                    <a:p>
                      <a:pPr algn="l">
                        <a:lnSpc>
                          <a:spcPct val="110000"/>
                        </a:lnSpc>
                        <a:spcAft>
                          <a:spcPts val="0"/>
                        </a:spcAft>
                      </a:pPr>
                      <a:r>
                        <a:rPr sz="1600" b="0">
                          <a:solidFill>
                            <a:srgbClr val="1A1A1A"/>
                          </a:solidFill>
                          <a:latin typeface="Microsoft JhengHei"/>
                          <a:ea typeface="Microsoft JhengHei"/>
                        </a:rPr>
                        <a:t>其餘設定</a:t>
                      </a:r>
                    </a:p>
                  </a:txBody>
                  <a:tcPr marT="27432" marB="27432" marL="73152" marR="73152" anchor="ctr">
                    <a:solidFill>
                      <a:srgbClr val="FFFFFF"/>
                    </a:solidFill>
                  </a:tcPr>
                </a:tc>
                <a:tc>
                  <a:txBody>
                    <a:bodyPr wrap="square"/>
                    <a:lstStyle/>
                    <a:p>
                      <a:pPr algn="l">
                        <a:lnSpc>
                          <a:spcPct val="110000"/>
                        </a:lnSpc>
                        <a:spcAft>
                          <a:spcPts val="0"/>
                        </a:spcAft>
                      </a:pPr>
                      <a:r>
                        <a:rPr sz="1600" b="0">
                          <a:solidFill>
                            <a:srgbClr val="1A1A1A"/>
                          </a:solidFill>
                          <a:latin typeface="Microsoft JhengHei"/>
                          <a:ea typeface="Microsoft JhengHei"/>
                        </a:rPr>
                        <a:t>—</a:t>
                      </a:r>
                    </a:p>
                  </a:txBody>
                  <a:tcPr marT="27432" marB="27432" marL="73152" marR="73152" anchor="ctr">
                    <a:solidFill>
                      <a:srgbClr val="FFFFFF"/>
                    </a:solidFill>
                  </a:tcPr>
                </a:tc>
                <a:tc>
                  <a:txBody>
                    <a:bodyPr wrap="square"/>
                    <a:lstStyle/>
                    <a:p>
                      <a:pPr algn="l">
                        <a:lnSpc>
                          <a:spcPct val="110000"/>
                        </a:lnSpc>
                        <a:spcAft>
                          <a:spcPts val="0"/>
                        </a:spcAft>
                      </a:pPr>
                      <a:r>
                        <a:rPr sz="1600" b="1">
                          <a:solidFill>
                            <a:srgbClr val="1A1A1A"/>
                          </a:solidFill>
                          <a:latin typeface="Microsoft JhengHei"/>
                          <a:ea typeface="Microsoft JhengHei"/>
                        </a:rPr>
                        <a:t>逐位元相同</a:t>
                      </a:r>
                      <a:r>
                        <a:rPr sz="1600" b="0">
                          <a:solidFill>
                            <a:srgbClr val="1A1A1A"/>
                          </a:solidFill>
                          <a:latin typeface="Microsoft JhengHei"/>
                          <a:ea typeface="Microsoft JhengHei"/>
                        </a:rPr>
                        <a:t>（狀態、選單、網路、訓練排程）</a:t>
                      </a:r>
                    </a:p>
                  </a:txBody>
                  <a:tcPr marT="27432" marB="27432" marL="73152" marR="73152" anchor="ctr">
                    <a:solidFill>
                      <a:srgbClr val="FFFFFF"/>
                    </a:solidFill>
                  </a:tcPr>
                </a:tc>
              </a:tr>
            </a:tbl>
          </a:graphicData>
        </a:graphic>
      </p:graphicFrame>
      <p:sp>
        <p:nvSpPr>
          <p:cNvPr id="6" name="Rounded Rectangle 5"/>
          <p:cNvSpPr/>
          <p:nvPr/>
        </p:nvSpPr>
        <p:spPr>
          <a:xfrm>
            <a:off x="640080" y="4160520"/>
            <a:ext cx="10881360" cy="15087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兩者唯一的差別：看不看得到「沒選的動作」的報酬</a:t>
            </a:r>
          </a:p>
          <a:p>
            <a:pPr algn="l">
              <a:lnSpc>
                <a:spcPct val="125000"/>
              </a:lnSpc>
              <a:spcAft>
                <a:spcPts val="600"/>
              </a:spcAft>
            </a:pPr>
            <a:r>
              <a:rPr sz="1450" b="0">
                <a:solidFill>
                  <a:srgbClr val="1A1A1A"/>
                </a:solidFill>
                <a:latin typeface="Microsoft JhengHei"/>
                <a:ea typeface="Microsoft JhengHei"/>
              </a:rPr>
              <a:t>所以兩者的差額，就是</a:t>
            </a:r>
            <a:r>
              <a:rPr sz="1450" b="1">
                <a:solidFill>
                  <a:srgbClr val="1A1A1A"/>
                </a:solidFill>
                <a:latin typeface="Microsoft JhengHei"/>
                <a:ea typeface="Microsoft JhengHei"/>
              </a:rPr>
              <a:t>反事實標籤的價值</a:t>
            </a:r>
            <a:r>
              <a:rPr sz="1450" b="0">
                <a:solidFill>
                  <a:srgbClr val="1A1A1A"/>
                </a:solidFill>
                <a:latin typeface="Microsoft JhengHei"/>
                <a:ea typeface="Microsoft JhengHei"/>
              </a:rPr>
              <a:t>。直覺上全資訊應該比較好——每次決策給 9 筆標籤而不是 1 筆。</a:t>
            </a:r>
          </a:p>
          <a:p>
            <a:pPr algn="l">
              <a:lnSpc>
                <a:spcPct val="125000"/>
              </a:lnSpc>
              <a:spcAft>
                <a:spcPts val="600"/>
              </a:spcAft>
            </a:pPr>
            <a:r>
              <a:rPr sz="1450" b="0">
                <a:solidFill>
                  <a:srgbClr val="1A1A1A"/>
                </a:solidFill>
                <a:latin typeface="Microsoft JhengHei"/>
                <a:ea typeface="Microsoft JhengHei"/>
              </a:rPr>
              <a:t>這是一個</a:t>
            </a:r>
            <a:r>
              <a:rPr sz="1450" b="1">
                <a:solidFill>
                  <a:srgbClr val="1A1A1A"/>
                </a:solidFill>
                <a:latin typeface="Microsoft JhengHei"/>
                <a:ea typeface="Microsoft JhengHei"/>
              </a:rPr>
              <a:t>待檢驗的預期</a:t>
            </a:r>
            <a:r>
              <a:rPr sz="1450" b="0">
                <a:solidFill>
                  <a:srgbClr val="1A1A1A"/>
                </a:solidFill>
                <a:latin typeface="Microsoft JhengHei"/>
                <a:ea typeface="Microsoft JhengHei"/>
              </a:rPr>
              <a:t>，不是既定事實。結果在第四部分揭曉。</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§3.6.1–3.6.6</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統計上我特別小心的三件事</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30</a:t>
            </a:r>
          </a:p>
        </p:txBody>
      </p:sp>
      <p:sp>
        <p:nvSpPr>
          <p:cNvPr id="5" name="Rounded Rectangle 4"/>
          <p:cNvSpPr/>
          <p:nvPr/>
        </p:nvSpPr>
        <p:spPr>
          <a:xfrm>
            <a:off x="640080" y="1737360"/>
            <a:ext cx="3474720" cy="29260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① 抽樣單位取「時間」</a:t>
            </a:r>
          </a:p>
          <a:p>
            <a:pPr algn="l">
              <a:lnSpc>
                <a:spcPct val="125000"/>
              </a:lnSpc>
              <a:spcAft>
                <a:spcPts val="600"/>
              </a:spcAft>
            </a:pPr>
            <a:r>
              <a:rPr sz="1350" b="0">
                <a:solidFill>
                  <a:srgbClr val="1A1A1A"/>
                </a:solidFill>
                <a:latin typeface="Microsoft JhengHei"/>
                <a:ea typeface="Microsoft JhengHei"/>
              </a:rPr>
              <a:t>把 15 個參數配置當 15 個觀測是</a:t>
            </a:r>
            <a:r>
              <a:rPr sz="1350" b="1">
                <a:solidFill>
                  <a:srgbClr val="1A1A1A"/>
                </a:solidFill>
                <a:latin typeface="Microsoft JhengHei"/>
                <a:ea typeface="Microsoft JhengHei"/>
              </a:rPr>
              <a:t>偽重複</a:t>
            </a:r>
            <a:r>
              <a:rPr sz="1350" b="0">
                <a:solidFill>
                  <a:srgbClr val="1A1A1A"/>
                </a:solidFill>
                <a:latin typeface="Microsoft JhengHei"/>
                <a:ea typeface="Microsoft JhengHei"/>
              </a:rPr>
              <a:t>：它們共用同一份資料、同一段期間、同一批配對。</a:t>
            </a:r>
          </a:p>
          <a:p>
            <a:pPr algn="l">
              <a:lnSpc>
                <a:spcPct val="125000"/>
              </a:lnSpc>
              <a:spcAft>
                <a:spcPts val="600"/>
              </a:spcAft>
            </a:pPr>
            <a:r>
              <a:rPr sz="1350" b="0">
                <a:solidFill>
                  <a:srgbClr val="1A1A1A"/>
                </a:solidFill>
                <a:latin typeface="Microsoft JhengHei"/>
                <a:ea typeface="Microsoft JhengHei"/>
              </a:rPr>
              <a:t>有效樣本數接近</a:t>
            </a:r>
            <a:r>
              <a:rPr sz="1350" b="1">
                <a:solidFill>
                  <a:srgbClr val="1A1A1A"/>
                </a:solidFill>
                <a:latin typeface="Microsoft JhengHei"/>
                <a:ea typeface="Microsoft JhengHei"/>
              </a:rPr>
              <a:t>一條回測路徑</a:t>
            </a:r>
            <a:r>
              <a:rPr sz="1350" b="0">
                <a:solidFill>
                  <a:srgbClr val="1A1A1A"/>
                </a:solidFill>
                <a:latin typeface="Microsoft JhengHei"/>
                <a:ea typeface="Microsoft JhengHei"/>
              </a:rPr>
              <a:t>，不是 15。</a:t>
            </a:r>
          </a:p>
        </p:txBody>
      </p:sp>
      <p:sp>
        <p:nvSpPr>
          <p:cNvPr id="6" name="Rounded Rectangle 5"/>
          <p:cNvSpPr/>
          <p:nvPr/>
        </p:nvSpPr>
        <p:spPr>
          <a:xfrm>
            <a:off x="4343400" y="1737360"/>
            <a:ext cx="3474720" cy="29260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② 主檢定：循環區塊拔靴</a:t>
            </a:r>
          </a:p>
          <a:p>
            <a:pPr algn="l">
              <a:lnSpc>
                <a:spcPct val="125000"/>
              </a:lnSpc>
              <a:spcAft>
                <a:spcPts val="600"/>
              </a:spcAft>
            </a:pPr>
            <a:r>
              <a:rPr sz="1350" b="0">
                <a:solidFill>
                  <a:srgbClr val="1A1A1A"/>
                </a:solidFill>
                <a:latin typeface="Microsoft JhengHei"/>
                <a:ea typeface="Microsoft JhengHei"/>
              </a:rPr>
              <a:t>逐日報酬差、重抽 10,000 次。區塊長度 126 天（一個完整交易期），因為 6 期重疊會自相關。</a:t>
            </a:r>
          </a:p>
          <a:p>
            <a:pPr algn="l">
              <a:lnSpc>
                <a:spcPct val="125000"/>
              </a:lnSpc>
              <a:spcAft>
                <a:spcPts val="600"/>
              </a:spcAft>
            </a:pPr>
            <a:r>
              <a:rPr sz="1350" b="0">
                <a:solidFill>
                  <a:srgbClr val="1A1A1A"/>
                </a:solidFill>
                <a:latin typeface="Microsoft JhengHei"/>
                <a:ea typeface="Microsoft JhengHei"/>
              </a:rPr>
              <a:t>沒持倉的日子報酬記 </a:t>
            </a:r>
            <a:r>
              <a:rPr sz="1350" b="1">
                <a:solidFill>
                  <a:srgbClr val="1A1A1A"/>
                </a:solidFill>
                <a:latin typeface="Microsoft JhengHei"/>
                <a:ea typeface="Microsoft JhengHei"/>
              </a:rPr>
              <a:t>0</a:t>
            </a:r>
            <a:r>
              <a:rPr sz="1350" b="0">
                <a:solidFill>
                  <a:srgbClr val="1A1A1A"/>
                </a:solidFill>
                <a:latin typeface="Microsoft JhengHei"/>
                <a:ea typeface="Microsoft JhengHei"/>
              </a:rPr>
              <a:t>，不是遺漏值。</a:t>
            </a:r>
          </a:p>
        </p:txBody>
      </p:sp>
      <p:sp>
        <p:nvSpPr>
          <p:cNvPr id="7" name="Rounded Rectangle 6"/>
          <p:cNvSpPr/>
          <p:nvPr/>
        </p:nvSpPr>
        <p:spPr>
          <a:xfrm>
            <a:off x="8046720" y="1737360"/>
            <a:ext cx="3474720" cy="29260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③ 報告口徑：全網格等權</a:t>
            </a:r>
          </a:p>
          <a:p>
            <a:pPr algn="l">
              <a:lnSpc>
                <a:spcPct val="125000"/>
              </a:lnSpc>
              <a:spcAft>
                <a:spcPts val="600"/>
              </a:spcAft>
            </a:pPr>
            <a:r>
              <a:rPr sz="1350" b="0">
                <a:solidFill>
                  <a:srgbClr val="1A1A1A"/>
                </a:solidFill>
                <a:latin typeface="Microsoft JhengHei"/>
                <a:ea typeface="Microsoft JhengHei"/>
              </a:rPr>
              <a:t>一切績效主張都用 15 個配置的</a:t>
            </a:r>
            <a:r>
              <a:rPr sz="1350" b="1">
                <a:solidFill>
                  <a:srgbClr val="1A1A1A"/>
                </a:solidFill>
                <a:latin typeface="Microsoft JhengHei"/>
                <a:ea typeface="Microsoft JhengHei"/>
              </a:rPr>
              <a:t>等權組合</a:t>
            </a:r>
            <a:r>
              <a:rPr sz="1350" b="0">
                <a:solidFill>
                  <a:srgbClr val="1A1A1A"/>
                </a:solidFill>
                <a:latin typeface="Microsoft JhengHei"/>
                <a:ea typeface="Microsoft JhengHei"/>
              </a:rPr>
              <a:t>。</a:t>
            </a:r>
          </a:p>
          <a:p>
            <a:pPr algn="l">
              <a:lnSpc>
                <a:spcPct val="125000"/>
              </a:lnSpc>
              <a:spcAft>
                <a:spcPts val="600"/>
              </a:spcAft>
            </a:pPr>
            <a:r>
              <a:rPr sz="1350" b="0">
                <a:solidFill>
                  <a:srgbClr val="1A1A1A"/>
                </a:solidFill>
                <a:latin typeface="Microsoft JhengHei"/>
                <a:ea typeface="Microsoft JhengHei"/>
              </a:rPr>
              <a:t>等權組合沒有東西可挑，</a:t>
            </a:r>
            <a:r>
              <a:rPr sz="1350" b="1">
                <a:solidFill>
                  <a:srgbClr val="1A1A1A"/>
                </a:solidFill>
                <a:latin typeface="Microsoft JhengHei"/>
                <a:ea typeface="Microsoft JhengHei"/>
              </a:rPr>
              <a:t>選擇偏誤從源頭消失</a:t>
            </a:r>
            <a:r>
              <a:rPr sz="1350" b="0">
                <a:solidFill>
                  <a:srgbClr val="1A1A1A"/>
                </a:solidFill>
                <a:latin typeface="Microsoft JhengHei"/>
                <a:ea typeface="Microsoft JhengHei"/>
              </a:rPr>
              <a:t>。代價是數字比較難看——這是誠實的代價。</a:t>
            </a:r>
          </a:p>
        </p:txBody>
      </p:sp>
      <p:sp>
        <p:nvSpPr>
          <p:cNvPr id="8" name="TextBox 7"/>
          <p:cNvSpPr txBox="1"/>
          <p:nvPr/>
        </p:nvSpPr>
        <p:spPr>
          <a:xfrm>
            <a:off x="640080" y="4892040"/>
            <a:ext cx="10881360" cy="822960"/>
          </a:xfrm>
          <a:prstGeom prst="rect">
            <a:avLst/>
          </a:prstGeom>
          <a:noFill/>
        </p:spPr>
        <p:txBody>
          <a:bodyPr wrap="square" lIns="0" rIns="0" tIns="0" bIns="0" anchor="t">
            <a:spAutoFit/>
          </a:bodyPr>
          <a:lstStyle/>
          <a:p>
            <a:pPr algn="l">
              <a:lnSpc>
                <a:spcPct val="125000"/>
              </a:lnSpc>
              <a:spcAft>
                <a:spcPts val="600"/>
              </a:spcAft>
            </a:pPr>
            <a:r>
              <a:rPr sz="1400" b="0">
                <a:solidFill>
                  <a:srgbClr val="1A1A1A"/>
                </a:solidFill>
                <a:latin typeface="Microsoft JhengHei"/>
                <a:ea typeface="Microsoft JhengHei"/>
              </a:rPr>
              <a:t>多重比較用 </a:t>
            </a:r>
            <a:r>
              <a:rPr sz="1400" b="1">
                <a:solidFill>
                  <a:srgbClr val="1A1A1A"/>
                </a:solidFill>
                <a:latin typeface="Microsoft JhengHei"/>
                <a:ea typeface="Microsoft JhengHei"/>
              </a:rPr>
              <a:t>BH-FDR</a:t>
            </a:r>
            <a:r>
              <a:rPr sz="1400" b="0">
                <a:solidFill>
                  <a:srgbClr val="1A1A1A"/>
                </a:solidFill>
                <a:latin typeface="Microsoft JhengHei"/>
                <a:ea typeface="Microsoft JhengHei"/>
              </a:rPr>
              <a:t> 校正；另外全程並行算 Newey-West HAC 當對照，方向與量級一致。</a:t>
            </a:r>
          </a:p>
          <a:p>
            <a:pPr algn="l">
              <a:lnSpc>
                <a:spcPct val="125000"/>
              </a:lnSpc>
              <a:spcAft>
                <a:spcPts val="600"/>
              </a:spcAft>
            </a:pPr>
            <a:r>
              <a:rPr sz="1400" b="0">
                <a:solidFill>
                  <a:srgbClr val="6B7280"/>
                </a:solidFill>
                <a:latin typeface="Microsoft JhengHei"/>
                <a:ea typeface="Microsoft JhengHei"/>
              </a:rPr>
              <a:t>「不顯著」要看信賴區間寬度：兩端都小 → 效果不重要；兩端都大 → 檢定力不足，資料分不出來。</a:t>
            </a:r>
          </a:p>
        </p:txBody>
      </p:sp>
      <p:sp>
        <p:nvSpPr>
          <p:cNvPr id="9" name="TextBox 8"/>
          <p:cNvSpPr txBox="1"/>
          <p:nvPr/>
        </p:nvSpPr>
        <p:spPr>
          <a:xfrm>
            <a:off x="640080" y="5760720"/>
            <a:ext cx="10332720" cy="109728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Hurlbert, S. H. (1984). Pseudoreplication and the design of ecological field experiments. Ecological Monographs, 54(2), 187–211.</a:t>
            </a:r>
          </a:p>
          <a:p>
            <a:pPr algn="l">
              <a:lnSpc>
                <a:spcPct val="105000"/>
              </a:lnSpc>
              <a:spcAft>
                <a:spcPts val="100"/>
              </a:spcAft>
            </a:pPr>
            <a:r>
              <a:rPr sz="900" b="0">
                <a:solidFill>
                  <a:srgbClr val="6B7280"/>
                </a:solidFill>
                <a:latin typeface="Microsoft JhengHei"/>
                <a:ea typeface="Microsoft JhengHei"/>
              </a:rPr>
              <a:t>Künsch, H. R. (1989). The jackknife and the bootstrap for general stationary observations. The Annals of Statistics, 17(3), 1217–1241.</a:t>
            </a:r>
          </a:p>
          <a:p>
            <a:pPr algn="l">
              <a:lnSpc>
                <a:spcPct val="105000"/>
              </a:lnSpc>
              <a:spcAft>
                <a:spcPts val="100"/>
              </a:spcAft>
            </a:pPr>
            <a:r>
              <a:rPr sz="900" b="0">
                <a:solidFill>
                  <a:srgbClr val="6B7280"/>
                </a:solidFill>
                <a:latin typeface="Microsoft JhengHei"/>
                <a:ea typeface="Microsoft JhengHei"/>
              </a:rPr>
              <a:t>Politis, D. N., &amp; Romano, J. P. (1992). A circular block-resampling procedure for stationary data. In R. LePage &amp; L. Billard (Eds.), Exploring the limits of bootstrap (pp. 263–270). Wiley.</a:t>
            </a:r>
          </a:p>
          <a:p>
            <a:pPr algn="l">
              <a:lnSpc>
                <a:spcPct val="105000"/>
              </a:lnSpc>
              <a:spcAft>
                <a:spcPts val="100"/>
              </a:spcAft>
            </a:pPr>
            <a:r>
              <a:rPr sz="900" b="0">
                <a:solidFill>
                  <a:srgbClr val="6B7280"/>
                </a:solidFill>
                <a:latin typeface="Microsoft JhengHei"/>
                <a:ea typeface="Microsoft JhengHei"/>
              </a:rPr>
              <a:t>Benjamini, Y., &amp; Hochberg, Y. (1995). Controlling the false discovery rate: A practical and powerful approach to multiple testing. Journal of the Royal Statistical Society: Series B, 57(1), 289–300.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第三部分 · 方法　｜　§3.6.6–3.6.7</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年化報酬有三種算法，證據也分三個等級</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31</a:t>
            </a:r>
          </a:p>
        </p:txBody>
      </p:sp>
      <p:graphicFrame>
        <p:nvGraphicFramePr>
          <p:cNvPr id="5" name="Table 4"/>
          <p:cNvGraphicFramePr>
            <a:graphicFrameLocks noGrp="1"/>
          </p:cNvGraphicFramePr>
          <p:nvPr/>
        </p:nvGraphicFramePr>
        <p:xfrm>
          <a:off x="640080" y="1737360"/>
          <a:ext cx="9418320" cy="1609344"/>
        </p:xfrm>
        <a:graphic>
          <a:graphicData uri="http://schemas.openxmlformats.org/drawingml/2006/table">
            <a:tbl>
              <a:tblPr firstRow="1" bandRow="1">
                <a:tableStyleId>{5C22544A-7EE6-4342-B048-85BDC9FD1C3A}</a:tableStyleId>
              </a:tblPr>
              <a:tblGrid>
                <a:gridCol w="2103120"/>
                <a:gridCol w="4572000"/>
                <a:gridCol w="2743200"/>
              </a:tblGrid>
              <a:tr h="402336">
                <a:tc>
                  <a:txBody>
                    <a:bodyPr wrap="square"/>
                    <a:lstStyle/>
                    <a:p>
                      <a:pPr algn="l">
                        <a:lnSpc>
                          <a:spcPct val="110000"/>
                        </a:lnSpc>
                        <a:spcAft>
                          <a:spcPts val="0"/>
                        </a:spcAft>
                      </a:pPr>
                      <a:r>
                        <a:rPr sz="1400" b="1">
                          <a:solidFill>
                            <a:srgbClr val="FFFFFF"/>
                          </a:solidFill>
                          <a:latin typeface="Microsoft JhengHei"/>
                          <a:ea typeface="Microsoft JhengHei"/>
                        </a:rPr>
                        <a:t>報酬口徑</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定義</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什麼時候用</a:t>
                      </a:r>
                    </a:p>
                  </a:txBody>
                  <a:tcPr marT="27432" marB="27432" marL="73152" marR="73152" anchor="ctr">
                    <a:solidFill>
                      <a:srgbClr val="0B2A5B"/>
                    </a:solidFill>
                  </a:tcPr>
                </a:tc>
              </a:tr>
              <a:tr h="402336">
                <a:tc>
                  <a:txBody>
                    <a:bodyPr wrap="square"/>
                    <a:lstStyle/>
                    <a:p>
                      <a:pPr algn="l">
                        <a:lnSpc>
                          <a:spcPct val="110000"/>
                        </a:lnSpc>
                        <a:spcAft>
                          <a:spcPts val="0"/>
                        </a:spcAft>
                      </a:pPr>
                      <a:r>
                        <a:rPr sz="1400" b="0">
                          <a:solidFill>
                            <a:srgbClr val="1A1A1A"/>
                          </a:solidFill>
                          <a:latin typeface="Microsoft JhengHei"/>
                          <a:ea typeface="Microsoft JhengHei"/>
                        </a:rPr>
                        <a:t>帳面年化</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總資本，</a:t>
                      </a:r>
                      <a:r>
                        <a:rPr sz="1400" b="1">
                          <a:solidFill>
                            <a:srgbClr val="1A1A1A"/>
                          </a:solidFill>
                          <a:latin typeface="Microsoft JhengHei"/>
                          <a:ea typeface="Microsoft JhengHei"/>
                        </a:rPr>
                        <a:t>閒置現金計 0%</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本文預設，最保守</a:t>
                      </a:r>
                    </a:p>
                  </a:txBody>
                  <a:tcPr marT="27432" marB="27432" marL="73152" marR="73152" anchor="ctr">
                    <a:solidFill>
                      <a:srgbClr val="FFFFFF"/>
                    </a:solidFill>
                  </a:tcPr>
                </a:tc>
              </a:tr>
              <a:tr h="402336">
                <a:tc>
                  <a:txBody>
                    <a:bodyPr wrap="square"/>
                    <a:lstStyle/>
                    <a:p>
                      <a:pPr algn="l">
                        <a:lnSpc>
                          <a:spcPct val="110000"/>
                        </a:lnSpc>
                        <a:spcAft>
                          <a:spcPts val="0"/>
                        </a:spcAft>
                      </a:pPr>
                      <a:r>
                        <a:rPr sz="1400" b="0">
                          <a:solidFill>
                            <a:srgbClr val="1A1A1A"/>
                          </a:solidFill>
                          <a:latin typeface="Microsoft JhengHei"/>
                          <a:ea typeface="Microsoft JhengHei"/>
                        </a:rPr>
                        <a:t>動用資本年化</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總損益 ÷（日均動用資金 × 年數）</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對齊 GGR 的算法</a:t>
                      </a:r>
                    </a:p>
                  </a:txBody>
                  <a:tcPr marT="27432" marB="27432" marL="73152" marR="73152" anchor="ctr">
                    <a:solidFill>
                      <a:srgbClr val="E8EDF5"/>
                    </a:solidFill>
                  </a:tcPr>
                </a:tc>
              </a:tr>
              <a:tr h="402336">
                <a:tc>
                  <a:txBody>
                    <a:bodyPr wrap="square"/>
                    <a:lstStyle/>
                    <a:p>
                      <a:pPr algn="l">
                        <a:lnSpc>
                          <a:spcPct val="110000"/>
                        </a:lnSpc>
                        <a:spcAft>
                          <a:spcPts val="0"/>
                        </a:spcAft>
                      </a:pPr>
                      <a:r>
                        <a:rPr sz="1400" b="0">
                          <a:solidFill>
                            <a:srgbClr val="1A1A1A"/>
                          </a:solidFill>
                          <a:latin typeface="Microsoft JhengHei"/>
                          <a:ea typeface="Microsoft JhengHei"/>
                        </a:rPr>
                        <a:t>rf 超額年化</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閒置現金</a:t>
                      </a:r>
                      <a:r>
                        <a:rPr sz="1400" b="1">
                          <a:solidFill>
                            <a:srgbClr val="1A1A1A"/>
                          </a:solidFill>
                          <a:latin typeface="Microsoft JhengHei"/>
                          <a:ea typeface="Microsoft JhengHei"/>
                        </a:rPr>
                        <a:t>計無風險利息</a:t>
                      </a:r>
                      <a:r>
                        <a:rPr sz="1400" b="0">
                          <a:solidFill>
                            <a:srgbClr val="1A1A1A"/>
                          </a:solidFill>
                          <a:latin typeface="Microsoft JhengHei"/>
                          <a:ea typeface="Microsoft JhengHei"/>
                        </a:rPr>
                        <a:t>後，超過 rf 的部分</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跟無風險資產比較時</a:t>
                      </a:r>
                    </a:p>
                  </a:txBody>
                  <a:tcPr marT="27432" marB="27432" marL="73152" marR="73152" anchor="ctr">
                    <a:solidFill>
                      <a:srgbClr val="FFFFFF"/>
                    </a:solidFill>
                  </a:tcPr>
                </a:tc>
              </a:tr>
            </a:tbl>
          </a:graphicData>
        </a:graphic>
      </p:graphicFrame>
      <p:sp>
        <p:nvSpPr>
          <p:cNvPr id="6" name="TextBox 5"/>
          <p:cNvSpPr txBox="1"/>
          <p:nvPr/>
        </p:nvSpPr>
        <p:spPr>
          <a:xfrm>
            <a:off x="640080" y="3429000"/>
            <a:ext cx="9692640" cy="457200"/>
          </a:xfrm>
          <a:prstGeom prst="rect">
            <a:avLst/>
          </a:prstGeom>
          <a:noFill/>
        </p:spPr>
        <p:txBody>
          <a:bodyPr wrap="square" lIns="0" rIns="0" tIns="0" bIns="0" anchor="t">
            <a:spAutoFit/>
          </a:bodyPr>
          <a:lstStyle/>
          <a:p>
            <a:pPr algn="l">
              <a:lnSpc>
                <a:spcPct val="125000"/>
              </a:lnSpc>
              <a:spcAft>
                <a:spcPts val="600"/>
              </a:spcAft>
            </a:pPr>
            <a:r>
              <a:rPr sz="1350" b="0">
                <a:solidFill>
                  <a:srgbClr val="6B7280"/>
                </a:solidFill>
                <a:latin typeface="Microsoft JhengHei"/>
                <a:ea typeface="Microsoft JhengHei"/>
              </a:rPr>
              <a:t>為什麼要分？各臂平均只動用 20%–58% 的資金，其餘長期閒置。三個口徑必須並列，不能只報一個。</a:t>
            </a:r>
          </a:p>
        </p:txBody>
      </p:sp>
      <p:sp>
        <p:nvSpPr>
          <p:cNvPr id="7" name="TextBox 6"/>
          <p:cNvSpPr txBox="1"/>
          <p:nvPr/>
        </p:nvSpPr>
        <p:spPr>
          <a:xfrm>
            <a:off x="640080" y="3977639"/>
            <a:ext cx="10881360" cy="365760"/>
          </a:xfrm>
          <a:prstGeom prst="rect">
            <a:avLst/>
          </a:prstGeom>
          <a:noFill/>
        </p:spPr>
        <p:txBody>
          <a:bodyPr wrap="square" lIns="0" rIns="0" tIns="0" bIns="0" anchor="t">
            <a:spAutoFit/>
          </a:bodyPr>
          <a:lstStyle/>
          <a:p>
            <a:pPr algn="l">
              <a:lnSpc>
                <a:spcPct val="125000"/>
              </a:lnSpc>
              <a:spcAft>
                <a:spcPts val="600"/>
              </a:spcAft>
            </a:pPr>
            <a:r>
              <a:rPr sz="1600" b="1">
                <a:solidFill>
                  <a:srgbClr val="0B2A5B"/>
                </a:solidFill>
                <a:latin typeface="Microsoft JhengHei"/>
                <a:ea typeface="Microsoft JhengHei"/>
              </a:rPr>
              <a:t>證據等級：三段結果不能混著講</a:t>
            </a:r>
          </a:p>
        </p:txBody>
      </p:sp>
      <p:sp>
        <p:nvSpPr>
          <p:cNvPr id="8" name="Rounded Rectangle 7"/>
          <p:cNvSpPr/>
          <p:nvPr/>
        </p:nvSpPr>
        <p:spPr>
          <a:xfrm>
            <a:off x="640080" y="4389120"/>
            <a:ext cx="3474720" cy="132588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300"/>
              </a:spcAft>
            </a:pPr>
            <a:r>
              <a:rPr sz="1600" b="1">
                <a:solidFill>
                  <a:srgbClr val="C4553B"/>
                </a:solidFill>
                <a:latin typeface="Microsoft JhengHei"/>
                <a:ea typeface="Microsoft JhengHei"/>
              </a:rPr>
              <a:t>完整預先登記</a:t>
            </a:r>
          </a:p>
          <a:p>
            <a:pPr algn="l">
              <a:lnSpc>
                <a:spcPct val="125000"/>
              </a:lnSpc>
              <a:spcAft>
                <a:spcPts val="300"/>
              </a:spcAft>
            </a:pPr>
            <a:r>
              <a:rPr sz="1400" b="1">
                <a:solidFill>
                  <a:srgbClr val="1A1A1A"/>
                </a:solidFill>
                <a:latin typeface="Microsoft JhengHei"/>
                <a:ea typeface="Microsoft JhengHei"/>
              </a:rPr>
              <a:t>第一段：動作空間消融</a:t>
            </a:r>
          </a:p>
          <a:p>
            <a:pPr algn="l">
              <a:lnSpc>
                <a:spcPct val="125000"/>
              </a:lnSpc>
              <a:spcAft>
                <a:spcPts val="600"/>
              </a:spcAft>
            </a:pPr>
            <a:r>
              <a:rPr sz="1250" b="0">
                <a:solidFill>
                  <a:srgbClr val="6B7280"/>
                </a:solidFill>
                <a:latin typeface="Microsoft JhengHei"/>
                <a:ea typeface="Microsoft JhengHei"/>
              </a:rPr>
              <a:t>假說、門檻、核對程序在跑之前提交版本庫</a:t>
            </a:r>
          </a:p>
        </p:txBody>
      </p:sp>
      <p:sp>
        <p:nvSpPr>
          <p:cNvPr id="9" name="Rounded Rectangle 8"/>
          <p:cNvSpPr/>
          <p:nvPr/>
        </p:nvSpPr>
        <p:spPr>
          <a:xfrm>
            <a:off x="4343400" y="4389120"/>
            <a:ext cx="3474720" cy="132588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300"/>
              </a:spcAft>
            </a:pPr>
            <a:r>
              <a:rPr sz="1600" b="1">
                <a:solidFill>
                  <a:srgbClr val="0B2A5B"/>
                </a:solidFill>
                <a:latin typeface="Microsoft JhengHei"/>
                <a:ea typeface="Microsoft JhengHei"/>
              </a:rPr>
              <a:t>跑前定稿</a:t>
            </a:r>
          </a:p>
          <a:p>
            <a:pPr algn="l">
              <a:lnSpc>
                <a:spcPct val="125000"/>
              </a:lnSpc>
              <a:spcAft>
                <a:spcPts val="300"/>
              </a:spcAft>
            </a:pPr>
            <a:r>
              <a:rPr sz="1400" b="1">
                <a:solidFill>
                  <a:srgbClr val="1A1A1A"/>
                </a:solidFill>
                <a:latin typeface="Microsoft JhengHei"/>
                <a:ea typeface="Microsoft JhengHei"/>
              </a:rPr>
              <a:t>第二段：逐對學門檻</a:t>
            </a:r>
          </a:p>
          <a:p>
            <a:pPr algn="l">
              <a:lnSpc>
                <a:spcPct val="125000"/>
              </a:lnSpc>
              <a:spcAft>
                <a:spcPts val="600"/>
              </a:spcAft>
            </a:pPr>
            <a:r>
              <a:rPr sz="1250" b="0">
                <a:solidFill>
                  <a:srgbClr val="6B7280"/>
                </a:solidFill>
                <a:latin typeface="Microsoft JhengHei"/>
                <a:ea typeface="Microsoft JhengHei"/>
              </a:rPr>
              <a:t>判準在執行前定稿</a:t>
            </a:r>
          </a:p>
        </p:txBody>
      </p:sp>
      <p:sp>
        <p:nvSpPr>
          <p:cNvPr id="10" name="Rounded Rectangle 9"/>
          <p:cNvSpPr/>
          <p:nvPr/>
        </p:nvSpPr>
        <p:spPr>
          <a:xfrm>
            <a:off x="8046720" y="4389120"/>
            <a:ext cx="3474720" cy="132588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300"/>
              </a:spcAft>
            </a:pPr>
            <a:r>
              <a:rPr sz="1600" b="1">
                <a:solidFill>
                  <a:srgbClr val="6B7280"/>
                </a:solidFill>
                <a:latin typeface="Microsoft JhengHei"/>
                <a:ea typeface="Microsoft JhengHei"/>
              </a:rPr>
              <a:t>分析時判準</a:t>
            </a:r>
          </a:p>
          <a:p>
            <a:pPr algn="l">
              <a:lnSpc>
                <a:spcPct val="125000"/>
              </a:lnSpc>
              <a:spcAft>
                <a:spcPts val="300"/>
              </a:spcAft>
            </a:pPr>
            <a:r>
              <a:rPr sz="1400" b="1">
                <a:solidFill>
                  <a:srgbClr val="1A1A1A"/>
                </a:solidFill>
                <a:latin typeface="Microsoft JhengHei"/>
                <a:ea typeface="Microsoft JhengHei"/>
              </a:rPr>
              <a:t>第三段之後</a:t>
            </a:r>
          </a:p>
          <a:p>
            <a:pPr algn="l">
              <a:lnSpc>
                <a:spcPct val="125000"/>
              </a:lnSpc>
              <a:spcAft>
                <a:spcPts val="600"/>
              </a:spcAft>
            </a:pPr>
            <a:r>
              <a:rPr sz="1250" b="0">
                <a:solidFill>
                  <a:srgbClr val="6B7280"/>
                </a:solidFill>
                <a:latin typeface="Microsoft JhengHei"/>
                <a:ea typeface="Microsoft JhengHei"/>
              </a:rPr>
              <a:t>依文獻慣例（5%、BH）於分析時採用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2A5B"/>
        </a:solidFill>
        <a:effectLst/>
      </p:bgPr>
    </p:bg>
    <p:spTree>
      <p:nvGrpSpPr>
        <p:cNvPr id="1" name=""/>
        <p:cNvGrpSpPr/>
        <p:nvPr/>
      </p:nvGrpSpPr>
      <p:grpSpPr/>
      <p:sp>
        <p:nvSpPr>
          <p:cNvPr id="2" name="TextBox 1"/>
          <p:cNvSpPr txBox="1"/>
          <p:nvPr/>
        </p:nvSpPr>
        <p:spPr>
          <a:xfrm>
            <a:off x="640080" y="502920"/>
            <a:ext cx="10881360" cy="365760"/>
          </a:xfrm>
          <a:prstGeom prst="rect">
            <a:avLst/>
          </a:prstGeom>
          <a:noFill/>
        </p:spPr>
        <p:txBody>
          <a:bodyPr wrap="square" lIns="0" rIns="0" tIns="0" bIns="0" anchor="t">
            <a:spAutoFit/>
          </a:bodyPr>
          <a:lstStyle/>
          <a:p>
            <a:pPr algn="l">
              <a:lnSpc>
                <a:spcPct val="125000"/>
              </a:lnSpc>
              <a:spcAft>
                <a:spcPts val="600"/>
              </a:spcAft>
            </a:pPr>
            <a:r>
              <a:rPr sz="1400" b="1">
                <a:solidFill>
                  <a:srgbClr val="E8EDF5"/>
                </a:solidFill>
                <a:latin typeface="Microsoft JhengHei"/>
                <a:ea typeface="Microsoft JhengHei"/>
              </a:rPr>
              <a:t>第四部分　｜　第四章</a:t>
            </a:r>
          </a:p>
        </p:txBody>
      </p:sp>
      <p:sp>
        <p:nvSpPr>
          <p:cNvPr id="3" name="TextBox 2"/>
          <p:cNvSpPr txBox="1"/>
          <p:nvPr/>
        </p:nvSpPr>
        <p:spPr>
          <a:xfrm>
            <a:off x="640080" y="868680"/>
            <a:ext cx="10881360" cy="822960"/>
          </a:xfrm>
          <a:prstGeom prst="rect">
            <a:avLst/>
          </a:prstGeom>
          <a:noFill/>
        </p:spPr>
        <p:txBody>
          <a:bodyPr wrap="square" lIns="0" rIns="0" tIns="0" bIns="0" anchor="t">
            <a:spAutoFit/>
          </a:bodyPr>
          <a:lstStyle/>
          <a:p>
            <a:pPr algn="l">
              <a:lnSpc>
                <a:spcPct val="125000"/>
              </a:lnSpc>
              <a:spcAft>
                <a:spcPts val="600"/>
              </a:spcAft>
            </a:pPr>
            <a:r>
              <a:rPr sz="3600" b="1">
                <a:solidFill>
                  <a:srgbClr val="FFFFFF"/>
                </a:solidFill>
                <a:latin typeface="Microsoft JhengHei"/>
                <a:ea typeface="Microsoft JhengHei"/>
              </a:rPr>
              <a:t>結果：三段證據</a:t>
            </a:r>
          </a:p>
        </p:txBody>
      </p:sp>
      <p:sp>
        <p:nvSpPr>
          <p:cNvPr id="4" name="TextBox 3"/>
          <p:cNvSpPr txBox="1"/>
          <p:nvPr/>
        </p:nvSpPr>
        <p:spPr>
          <a:xfrm>
            <a:off x="640080" y="1691640"/>
            <a:ext cx="10881360" cy="548640"/>
          </a:xfrm>
          <a:prstGeom prst="rect">
            <a:avLst/>
          </a:prstGeom>
          <a:noFill/>
        </p:spPr>
        <p:txBody>
          <a:bodyPr wrap="square" lIns="0" rIns="0" tIns="0" bIns="0" anchor="t">
            <a:spAutoFit/>
          </a:bodyPr>
          <a:lstStyle/>
          <a:p>
            <a:pPr algn="l">
              <a:lnSpc>
                <a:spcPct val="125000"/>
              </a:lnSpc>
              <a:spcAft>
                <a:spcPts val="600"/>
              </a:spcAft>
            </a:pPr>
            <a:r>
              <a:rPr sz="1700" b="0">
                <a:solidFill>
                  <a:srgbClr val="E8EDF5"/>
                </a:solidFill>
                <a:latin typeface="Microsoft JhengHei"/>
                <a:ea typeface="Microsoft JhengHei"/>
              </a:rPr>
              <a:t>三段證據依序回答三個問題——前兩段是否證，第三段是正面結果。</a:t>
            </a:r>
          </a:p>
        </p:txBody>
      </p:sp>
      <p:sp>
        <p:nvSpPr>
          <p:cNvPr id="5" name="TextBox 4"/>
          <p:cNvSpPr txBox="1"/>
          <p:nvPr/>
        </p:nvSpPr>
        <p:spPr>
          <a:xfrm>
            <a:off x="640080" y="260604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1</a:t>
            </a:r>
          </a:p>
        </p:txBody>
      </p:sp>
      <p:sp>
        <p:nvSpPr>
          <p:cNvPr id="6" name="TextBox 5"/>
          <p:cNvSpPr txBox="1"/>
          <p:nvPr/>
        </p:nvSpPr>
        <p:spPr>
          <a:xfrm>
            <a:off x="1463040" y="2642616"/>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背景：配對交易是什麼</a:t>
            </a:r>
          </a:p>
        </p:txBody>
      </p:sp>
      <p:sp>
        <p:nvSpPr>
          <p:cNvPr id="7" name="TextBox 6"/>
          <p:cNvSpPr txBox="1"/>
          <p:nvPr/>
        </p:nvSpPr>
        <p:spPr>
          <a:xfrm>
            <a:off x="7589519" y="269748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§1.1、第二章</a:t>
            </a:r>
          </a:p>
        </p:txBody>
      </p:sp>
      <p:sp>
        <p:nvSpPr>
          <p:cNvPr id="8" name="TextBox 7"/>
          <p:cNvSpPr txBox="1"/>
          <p:nvPr/>
        </p:nvSpPr>
        <p:spPr>
          <a:xfrm>
            <a:off x="9875519" y="269748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8 分鐘</a:t>
            </a:r>
          </a:p>
        </p:txBody>
      </p:sp>
      <p:sp>
        <p:nvSpPr>
          <p:cNvPr id="9" name="TextBox 8"/>
          <p:cNvSpPr txBox="1"/>
          <p:nvPr/>
        </p:nvSpPr>
        <p:spPr>
          <a:xfrm>
            <a:off x="640080" y="3118104"/>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2</a:t>
            </a:r>
          </a:p>
        </p:txBody>
      </p:sp>
      <p:sp>
        <p:nvSpPr>
          <p:cNvPr id="10" name="TextBox 9"/>
          <p:cNvSpPr txBox="1"/>
          <p:nvPr/>
        </p:nvSpPr>
        <p:spPr>
          <a:xfrm>
            <a:off x="1463040" y="3154680"/>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我想問的問題</a:t>
            </a:r>
          </a:p>
        </p:txBody>
      </p:sp>
      <p:sp>
        <p:nvSpPr>
          <p:cNvPr id="11" name="TextBox 10"/>
          <p:cNvSpPr txBox="1"/>
          <p:nvPr/>
        </p:nvSpPr>
        <p:spPr>
          <a:xfrm>
            <a:off x="7589519" y="3209544"/>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§1.2–1.3、§2.3.5</a:t>
            </a:r>
          </a:p>
        </p:txBody>
      </p:sp>
      <p:sp>
        <p:nvSpPr>
          <p:cNvPr id="12" name="TextBox 11"/>
          <p:cNvSpPr txBox="1"/>
          <p:nvPr/>
        </p:nvSpPr>
        <p:spPr>
          <a:xfrm>
            <a:off x="9875519" y="3209544"/>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6 分鐘</a:t>
            </a:r>
          </a:p>
        </p:txBody>
      </p:sp>
      <p:sp>
        <p:nvSpPr>
          <p:cNvPr id="13" name="TextBox 12"/>
          <p:cNvSpPr txBox="1"/>
          <p:nvPr/>
        </p:nvSpPr>
        <p:spPr>
          <a:xfrm>
            <a:off x="640080" y="3630168"/>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3</a:t>
            </a:r>
          </a:p>
        </p:txBody>
      </p:sp>
      <p:sp>
        <p:nvSpPr>
          <p:cNvPr id="14" name="TextBox 13"/>
          <p:cNvSpPr txBox="1"/>
          <p:nvPr/>
        </p:nvSpPr>
        <p:spPr>
          <a:xfrm>
            <a:off x="1463040" y="3666744"/>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我怎麼做</a:t>
            </a:r>
          </a:p>
        </p:txBody>
      </p:sp>
      <p:sp>
        <p:nvSpPr>
          <p:cNvPr id="15" name="TextBox 14"/>
          <p:cNvSpPr txBox="1"/>
          <p:nvPr/>
        </p:nvSpPr>
        <p:spPr>
          <a:xfrm>
            <a:off x="7589519" y="3721608"/>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第三章</a:t>
            </a:r>
          </a:p>
        </p:txBody>
      </p:sp>
      <p:sp>
        <p:nvSpPr>
          <p:cNvPr id="16" name="TextBox 15"/>
          <p:cNvSpPr txBox="1"/>
          <p:nvPr/>
        </p:nvSpPr>
        <p:spPr>
          <a:xfrm>
            <a:off x="9875519" y="3721608"/>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14 分鐘</a:t>
            </a:r>
          </a:p>
        </p:txBody>
      </p:sp>
      <p:sp>
        <p:nvSpPr>
          <p:cNvPr id="17" name="TextBox 16"/>
          <p:cNvSpPr txBox="1"/>
          <p:nvPr/>
        </p:nvSpPr>
        <p:spPr>
          <a:xfrm>
            <a:off x="640080" y="4142232"/>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C4553B"/>
                </a:solidFill>
                <a:latin typeface="Microsoft JhengHei"/>
                <a:ea typeface="Microsoft JhengHei"/>
              </a:rPr>
              <a:t>4</a:t>
            </a:r>
          </a:p>
        </p:txBody>
      </p:sp>
      <p:sp>
        <p:nvSpPr>
          <p:cNvPr id="18" name="TextBox 17"/>
          <p:cNvSpPr txBox="1"/>
          <p:nvPr/>
        </p:nvSpPr>
        <p:spPr>
          <a:xfrm>
            <a:off x="1463040" y="4178808"/>
            <a:ext cx="6035040" cy="512064"/>
          </a:xfrm>
          <a:prstGeom prst="rect">
            <a:avLst/>
          </a:prstGeom>
          <a:noFill/>
        </p:spPr>
        <p:txBody>
          <a:bodyPr wrap="square" lIns="0" rIns="0" tIns="0" bIns="0" anchor="t">
            <a:spAutoFit/>
          </a:bodyPr>
          <a:lstStyle/>
          <a:p>
            <a:pPr algn="l">
              <a:lnSpc>
                <a:spcPct val="125000"/>
              </a:lnSpc>
              <a:spcAft>
                <a:spcPts val="600"/>
              </a:spcAft>
            </a:pPr>
            <a:r>
              <a:rPr sz="2000" b="1">
                <a:solidFill>
                  <a:srgbClr val="FFFFFF"/>
                </a:solidFill>
                <a:latin typeface="Microsoft JhengHei"/>
                <a:ea typeface="Microsoft JhengHei"/>
              </a:rPr>
              <a:t>結果：三段證據</a:t>
            </a:r>
          </a:p>
        </p:txBody>
      </p:sp>
      <p:sp>
        <p:nvSpPr>
          <p:cNvPr id="19" name="TextBox 18"/>
          <p:cNvSpPr txBox="1"/>
          <p:nvPr/>
        </p:nvSpPr>
        <p:spPr>
          <a:xfrm>
            <a:off x="7589519" y="4233672"/>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FFFFFF"/>
                </a:solidFill>
                <a:latin typeface="Microsoft JhengHei"/>
                <a:ea typeface="Microsoft JhengHei"/>
              </a:rPr>
              <a:t>第四章</a:t>
            </a:r>
          </a:p>
        </p:txBody>
      </p:sp>
      <p:sp>
        <p:nvSpPr>
          <p:cNvPr id="20" name="TextBox 19"/>
          <p:cNvSpPr txBox="1"/>
          <p:nvPr/>
        </p:nvSpPr>
        <p:spPr>
          <a:xfrm>
            <a:off x="9875519" y="4233672"/>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FFFFFF"/>
                </a:solidFill>
                <a:latin typeface="Microsoft JhengHei"/>
                <a:ea typeface="Microsoft JhengHei"/>
              </a:rPr>
              <a:t>約 16 分鐘</a:t>
            </a:r>
          </a:p>
        </p:txBody>
      </p:sp>
      <p:sp>
        <p:nvSpPr>
          <p:cNvPr id="21" name="TextBox 20"/>
          <p:cNvSpPr txBox="1"/>
          <p:nvPr/>
        </p:nvSpPr>
        <p:spPr>
          <a:xfrm>
            <a:off x="640080" y="4654296"/>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5</a:t>
            </a:r>
          </a:p>
        </p:txBody>
      </p:sp>
      <p:sp>
        <p:nvSpPr>
          <p:cNvPr id="22" name="TextBox 21"/>
          <p:cNvSpPr txBox="1"/>
          <p:nvPr/>
        </p:nvSpPr>
        <p:spPr>
          <a:xfrm>
            <a:off x="1463040" y="4690872"/>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所以，可以拿來賺錢嗎？</a:t>
            </a:r>
          </a:p>
        </p:txBody>
      </p:sp>
      <p:sp>
        <p:nvSpPr>
          <p:cNvPr id="23" name="TextBox 22"/>
          <p:cNvSpPr txBox="1"/>
          <p:nvPr/>
        </p:nvSpPr>
        <p:spPr>
          <a:xfrm>
            <a:off x="7589519" y="4745736"/>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第五章</a:t>
            </a:r>
          </a:p>
        </p:txBody>
      </p:sp>
      <p:sp>
        <p:nvSpPr>
          <p:cNvPr id="24" name="TextBox 23"/>
          <p:cNvSpPr txBox="1"/>
          <p:nvPr/>
        </p:nvSpPr>
        <p:spPr>
          <a:xfrm>
            <a:off x="9875519" y="4745736"/>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8 分鐘</a:t>
            </a:r>
          </a:p>
        </p:txBody>
      </p:sp>
      <p:sp>
        <p:nvSpPr>
          <p:cNvPr id="25" name="TextBox 24"/>
          <p:cNvSpPr txBox="1"/>
          <p:nvPr/>
        </p:nvSpPr>
        <p:spPr>
          <a:xfrm>
            <a:off x="640080" y="516636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6</a:t>
            </a:r>
          </a:p>
        </p:txBody>
      </p:sp>
      <p:sp>
        <p:nvSpPr>
          <p:cNvPr id="26" name="TextBox 25"/>
          <p:cNvSpPr txBox="1"/>
          <p:nvPr/>
        </p:nvSpPr>
        <p:spPr>
          <a:xfrm>
            <a:off x="1463040" y="5202936"/>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結論</a:t>
            </a:r>
          </a:p>
        </p:txBody>
      </p:sp>
      <p:sp>
        <p:nvSpPr>
          <p:cNvPr id="27" name="TextBox 26"/>
          <p:cNvSpPr txBox="1"/>
          <p:nvPr/>
        </p:nvSpPr>
        <p:spPr>
          <a:xfrm>
            <a:off x="7589519" y="525780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第六章</a:t>
            </a:r>
          </a:p>
        </p:txBody>
      </p:sp>
      <p:sp>
        <p:nvSpPr>
          <p:cNvPr id="28" name="TextBox 27"/>
          <p:cNvSpPr txBox="1"/>
          <p:nvPr/>
        </p:nvSpPr>
        <p:spPr>
          <a:xfrm>
            <a:off x="9875519" y="525780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5 分鐘</a:t>
            </a:r>
          </a:p>
        </p:txBody>
      </p:sp>
      <p:sp>
        <p:nvSpPr>
          <p:cNvPr id="29" name="TextBox 28"/>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E8EDF5"/>
                </a:solidFill>
                <a:latin typeface="Microsoft JhengHei"/>
                <a:ea typeface="Microsoft JhengHe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第一段（完整預先登記）　｜　§4.1.2</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第一段：讓模型天天決定，換手率多出 2 到 4 倍</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33</a:t>
            </a:r>
          </a:p>
        </p:txBody>
      </p:sp>
      <p:graphicFrame>
        <p:nvGraphicFramePr>
          <p:cNvPr id="5" name="Chart 4"/>
          <p:cNvGraphicFramePr>
            <a:graphicFrameLocks noGrp="1"/>
          </p:cNvGraphicFramePr>
          <p:nvPr/>
        </p:nvGraphicFramePr>
        <p:xfrm>
          <a:off x="640080" y="1645920"/>
          <a:ext cx="6675120" cy="4069080"/>
        </p:xfrm>
        <a:graphic>
          <a:graphicData uri="http://schemas.openxmlformats.org/drawingml/2006/chart">
            <c:chart xmlns:c="http://schemas.openxmlformats.org/drawingml/2006/chart" r:id="rId2"/>
          </a:graphicData>
        </a:graphic>
      </p:graphicFrame>
      <p:sp>
        <p:nvSpPr>
          <p:cNvPr id="6" name="TextBox 5"/>
          <p:cNvSpPr txBox="1"/>
          <p:nvPr/>
        </p:nvSpPr>
        <p:spPr>
          <a:xfrm>
            <a:off x="640080" y="5715000"/>
            <a:ext cx="6675120" cy="274320"/>
          </a:xfrm>
          <a:prstGeom prst="rect">
            <a:avLst/>
          </a:prstGeom>
          <a:noFill/>
        </p:spPr>
        <p:txBody>
          <a:bodyPr wrap="square" lIns="0" rIns="0" tIns="0" bIns="0" anchor="t">
            <a:spAutoFit/>
          </a:bodyPr>
          <a:lstStyle/>
          <a:p>
            <a:pPr algn="ctr">
              <a:lnSpc>
                <a:spcPct val="125000"/>
              </a:lnSpc>
              <a:spcAft>
                <a:spcPts val="600"/>
              </a:spcAft>
            </a:pPr>
            <a:r>
              <a:rPr sz="1100" b="0">
                <a:solidFill>
                  <a:srgbClr val="6B7280"/>
                </a:solidFill>
                <a:latin typeface="Microsoft JhengHei"/>
                <a:ea typeface="Microsoft JhengHei"/>
              </a:rPr>
              <a:t>每期進場次數（108 期共同期；反向也算一次進場）</a:t>
            </a:r>
          </a:p>
        </p:txBody>
      </p:sp>
      <p:graphicFrame>
        <p:nvGraphicFramePr>
          <p:cNvPr id="7" name="Table 6"/>
          <p:cNvGraphicFramePr>
            <a:graphicFrameLocks noGrp="1"/>
          </p:cNvGraphicFramePr>
          <p:nvPr/>
        </p:nvGraphicFramePr>
        <p:xfrm>
          <a:off x="7543800" y="1783080"/>
          <a:ext cx="4023360" cy="1389888"/>
        </p:xfrm>
        <a:graphic>
          <a:graphicData uri="http://schemas.openxmlformats.org/drawingml/2006/table">
            <a:tbl>
              <a:tblPr firstRow="1" bandRow="1">
                <a:tableStyleId>{5C22544A-7EE6-4342-B048-85BDC9FD1C3A}</a:tableStyleId>
              </a:tblPr>
              <a:tblGrid>
                <a:gridCol w="1325880"/>
                <a:gridCol w="960120"/>
                <a:gridCol w="960120"/>
                <a:gridCol w="777240"/>
              </a:tblGrid>
              <a:tr h="347472">
                <a:tc>
                  <a:txBody>
                    <a:bodyPr wrap="square"/>
                    <a:lstStyle/>
                    <a:p>
                      <a:pPr algn="l">
                        <a:lnSpc>
                          <a:spcPct val="110000"/>
                        </a:lnSpc>
                        <a:spcAft>
                          <a:spcPts val="0"/>
                        </a:spcAft>
                      </a:pPr>
                      <a:r>
                        <a:rPr sz="1200" b="1">
                          <a:solidFill>
                            <a:srgbClr val="FFFFFF"/>
                          </a:solidFill>
                          <a:latin typeface="Microsoft JhengHei"/>
                          <a:ea typeface="Microsoft JhengHei"/>
                        </a:rPr>
                        <a:t>處理臂</a:t>
                      </a:r>
                    </a:p>
                  </a:txBody>
                  <a:tcPr marT="27432" marB="27432" marL="73152" marR="73152" anchor="ctr">
                    <a:solidFill>
                      <a:srgbClr val="0B2A5B"/>
                    </a:solidFill>
                  </a:tcPr>
                </a:tc>
                <a:tc>
                  <a:txBody>
                    <a:bodyPr wrap="square"/>
                    <a:lstStyle/>
                    <a:p>
                      <a:pPr algn="l">
                        <a:lnSpc>
                          <a:spcPct val="110000"/>
                        </a:lnSpc>
                        <a:spcAft>
                          <a:spcPts val="0"/>
                        </a:spcAft>
                      </a:pPr>
                      <a:r>
                        <a:rPr sz="1200" b="1">
                          <a:solidFill>
                            <a:srgbClr val="FFFFFF"/>
                          </a:solidFill>
                          <a:latin typeface="Microsoft JhengHei"/>
                          <a:ea typeface="Microsoft JhengHei"/>
                        </a:rPr>
                        <a:t>對 Z-Score</a:t>
                      </a:r>
                    </a:p>
                  </a:txBody>
                  <a:tcPr marT="27432" marB="27432" marL="73152" marR="73152" anchor="ctr">
                    <a:solidFill>
                      <a:srgbClr val="0B2A5B"/>
                    </a:solidFill>
                  </a:tcPr>
                </a:tc>
                <a:tc>
                  <a:txBody>
                    <a:bodyPr wrap="square"/>
                    <a:lstStyle/>
                    <a:p>
                      <a:pPr algn="l">
                        <a:lnSpc>
                          <a:spcPct val="110000"/>
                        </a:lnSpc>
                        <a:spcAft>
                          <a:spcPts val="0"/>
                        </a:spcAft>
                      </a:pPr>
                      <a:r>
                        <a:rPr sz="1200" b="1">
                          <a:solidFill>
                            <a:srgbClr val="FFFFFF"/>
                          </a:solidFill>
                          <a:latin typeface="Microsoft JhengHei"/>
                          <a:ea typeface="Microsoft JhengHei"/>
                        </a:rPr>
                        <a:t>對 DL-THR</a:t>
                      </a:r>
                    </a:p>
                  </a:txBody>
                  <a:tcPr marT="27432" marB="27432" marL="73152" marR="73152" anchor="ctr">
                    <a:solidFill>
                      <a:srgbClr val="0B2A5B"/>
                    </a:solidFill>
                  </a:tcPr>
                </a:tc>
                <a:tc>
                  <a:txBody>
                    <a:bodyPr wrap="square"/>
                    <a:lstStyle/>
                    <a:p>
                      <a:pPr algn="l">
                        <a:lnSpc>
                          <a:spcPct val="110000"/>
                        </a:lnSpc>
                        <a:spcAft>
                          <a:spcPts val="0"/>
                        </a:spcAft>
                      </a:pPr>
                      <a:r>
                        <a:rPr sz="1200" b="1">
                          <a:solidFill>
                            <a:srgbClr val="FFFFFF"/>
                          </a:solidFill>
                          <a:latin typeface="Microsoft JhengHei"/>
                          <a:ea typeface="Microsoft JhengHei"/>
                        </a:rPr>
                        <a:t>BH p</a:t>
                      </a:r>
                    </a:p>
                  </a:txBody>
                  <a:tcPr marT="27432" marB="27432" marL="73152" marR="73152" anchor="ctr">
                    <a:solidFill>
                      <a:srgbClr val="0B2A5B"/>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v1</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2.849</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2.876</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&lt;.0001</a:t>
                      </a:r>
                    </a:p>
                  </a:txBody>
                  <a:tcPr marT="27432" marB="27432" marL="73152" marR="73152" anchor="ctr">
                    <a:solidFill>
                      <a:srgbClr val="FFFFFF"/>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v2</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4.028</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4.067</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&lt;.0001</a:t>
                      </a:r>
                    </a:p>
                  </a:txBody>
                  <a:tcPr marT="27432" marB="27432" marL="73152" marR="73152" anchor="ctr">
                    <a:solidFill>
                      <a:srgbClr val="E8EDF5"/>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v3</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2.142</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2.162</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.0004</a:t>
                      </a:r>
                    </a:p>
                  </a:txBody>
                  <a:tcPr marT="27432" marB="27432" marL="73152" marR="73152" anchor="ctr">
                    <a:solidFill>
                      <a:srgbClr val="FFFFFF"/>
                    </a:solidFill>
                  </a:tcPr>
                </a:tc>
              </a:tr>
            </a:tbl>
          </a:graphicData>
        </a:graphic>
      </p:graphicFrame>
      <p:sp>
        <p:nvSpPr>
          <p:cNvPr id="8" name="TextBox 7"/>
          <p:cNvSpPr txBox="1"/>
          <p:nvPr/>
        </p:nvSpPr>
        <p:spPr>
          <a:xfrm>
            <a:off x="7543800" y="3200400"/>
            <a:ext cx="4023360" cy="274320"/>
          </a:xfrm>
          <a:prstGeom prst="rect">
            <a:avLst/>
          </a:prstGeom>
          <a:noFill/>
        </p:spPr>
        <p:txBody>
          <a:bodyPr wrap="square" lIns="0" rIns="0" tIns="0" bIns="0" anchor="t">
            <a:spAutoFit/>
          </a:bodyPr>
          <a:lstStyle/>
          <a:p>
            <a:pPr algn="l">
              <a:lnSpc>
                <a:spcPct val="125000"/>
              </a:lnSpc>
              <a:spcAft>
                <a:spcPts val="600"/>
              </a:spcAft>
            </a:pPr>
            <a:r>
              <a:rPr sz="1100" b="0">
                <a:solidFill>
                  <a:srgbClr val="6B7280"/>
                </a:solidFill>
                <a:latin typeface="Microsoft JhengHei"/>
                <a:ea typeface="Microsoft JhengHei"/>
              </a:rPr>
              <a:t>表中為總進場數比值</a:t>
            </a:r>
          </a:p>
        </p:txBody>
      </p:sp>
      <p:sp>
        <p:nvSpPr>
          <p:cNvPr id="9" name="Rounded Rectangle 8"/>
          <p:cNvSpPr/>
          <p:nvPr/>
        </p:nvSpPr>
        <p:spPr>
          <a:xfrm>
            <a:off x="7543800" y="3493008"/>
            <a:ext cx="3977639" cy="233172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2000" b="1">
                <a:solidFill>
                  <a:srgbClr val="FFFFFF"/>
                </a:solidFill>
                <a:latin typeface="Microsoft JhengHei"/>
                <a:ea typeface="Microsoft JhengHei"/>
              </a:rPr>
              <a:t>3 / 3 達標</a:t>
            </a:r>
          </a:p>
          <a:p>
            <a:pPr algn="l">
              <a:lnSpc>
                <a:spcPct val="125000"/>
              </a:lnSpc>
              <a:spcAft>
                <a:spcPts val="600"/>
              </a:spcAft>
            </a:pPr>
            <a:r>
              <a:rPr sz="1250" b="0">
                <a:solidFill>
                  <a:srgbClr val="E8EDF5"/>
                </a:solidFill>
                <a:latin typeface="Microsoft JhengHei"/>
                <a:ea typeface="Microsoft JhengHei"/>
              </a:rPr>
              <a:t>判準只要求 2/3。三條臂</a:t>
            </a:r>
            <a:r>
              <a:rPr sz="1250" b="1">
                <a:solidFill>
                  <a:srgbClr val="E8EDF5"/>
                </a:solidFill>
                <a:latin typeface="Microsoft JhengHei"/>
                <a:ea typeface="Microsoft JhengHei"/>
              </a:rPr>
              <a:t>全部同時贏過兩個基準</a:t>
            </a:r>
            <a:r>
              <a:rPr sz="1250" b="0">
                <a:solidFill>
                  <a:srgbClr val="E8EDF5"/>
                </a:solidFill>
                <a:latin typeface="Microsoft JhengHei"/>
                <a:ea typeface="Microsoft JhengHei"/>
              </a:rPr>
              <a:t>。</a:t>
            </a:r>
          </a:p>
          <a:p>
            <a:pPr algn="l">
              <a:lnSpc>
                <a:spcPct val="125000"/>
              </a:lnSpc>
              <a:spcAft>
                <a:spcPts val="600"/>
              </a:spcAft>
            </a:pPr>
            <a:r>
              <a:rPr sz="1250" b="0">
                <a:solidFill>
                  <a:srgbClr val="E8EDF5"/>
                </a:solidFill>
                <a:latin typeface="Microsoft JhengHei"/>
                <a:ea typeface="Microsoft JhengHei"/>
              </a:rPr>
              <a:t>n = 108 期、區塊 6 期 → 只有 </a:t>
            </a:r>
            <a:r>
              <a:rPr sz="1250" b="1">
                <a:solidFill>
                  <a:srgbClr val="E8EDF5"/>
                </a:solidFill>
                <a:latin typeface="Microsoft JhengHei"/>
                <a:ea typeface="Microsoft JhengHei"/>
              </a:rPr>
              <a:t>18 個獨立區塊</a:t>
            </a:r>
            <a:r>
              <a:rPr sz="1250" b="0">
                <a:solidFill>
                  <a:srgbClr val="E8EDF5"/>
                </a:solidFill>
                <a:latin typeface="Microsoft JhengHei"/>
                <a:ea typeface="Microsoft JhengHei"/>
              </a:rPr>
              <a:t>，這是檢定力的實際上限。</a:t>
            </a:r>
          </a:p>
          <a:p>
            <a:pPr algn="l">
              <a:lnSpc>
                <a:spcPct val="125000"/>
              </a:lnSpc>
              <a:spcAft>
                <a:spcPts val="600"/>
              </a:spcAft>
            </a:pPr>
            <a:r>
              <a:rPr sz="1200" b="0">
                <a:solidFill>
                  <a:srgbClr val="C9D3E3"/>
                </a:solidFill>
                <a:latin typeface="Microsoft JhengHei"/>
                <a:ea typeface="Microsoft JhengHei"/>
              </a:rPr>
              <a:t>換一種進場定義重算，比值 2.868–4.095，結論不變。</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第一段（完整預先登記）　｜　§4.1.3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而且績效全部比較差</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34</a:t>
            </a:r>
          </a:p>
        </p:txBody>
      </p:sp>
      <p:graphicFrame>
        <p:nvGraphicFramePr>
          <p:cNvPr id="5" name="Table 4"/>
          <p:cNvGraphicFramePr>
            <a:graphicFrameLocks noGrp="1"/>
          </p:cNvGraphicFramePr>
          <p:nvPr/>
        </p:nvGraphicFramePr>
        <p:xfrm>
          <a:off x="640080" y="1737360"/>
          <a:ext cx="7498080" cy="2304288"/>
        </p:xfrm>
        <a:graphic>
          <a:graphicData uri="http://schemas.openxmlformats.org/drawingml/2006/table">
            <a:tbl>
              <a:tblPr firstRow="1" bandRow="1">
                <a:tableStyleId>{5C22544A-7EE6-4342-B048-85BDC9FD1C3A}</a:tableStyleId>
              </a:tblPr>
              <a:tblGrid>
                <a:gridCol w="1920240"/>
                <a:gridCol w="1325880"/>
                <a:gridCol w="1325880"/>
                <a:gridCol w="1325880"/>
                <a:gridCol w="1600200"/>
              </a:tblGrid>
              <a:tr h="384048">
                <a:tc>
                  <a:txBody>
                    <a:bodyPr wrap="square"/>
                    <a:lstStyle/>
                    <a:p>
                      <a:pPr algn="l">
                        <a:lnSpc>
                          <a:spcPct val="110000"/>
                        </a:lnSpc>
                        <a:spcAft>
                          <a:spcPts val="0"/>
                        </a:spcAft>
                      </a:pPr>
                      <a:r>
                        <a:rPr sz="1400" b="1">
                          <a:solidFill>
                            <a:srgbClr val="FFFFFF"/>
                          </a:solidFill>
                          <a:latin typeface="Microsoft JhengHei"/>
                          <a:ea typeface="Microsoft JhengHei"/>
                        </a:rPr>
                        <a:t>臂</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交集 Sharpe</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交集年化%</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交集 MDD%</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各自全期 Sharpe</a:t>
                      </a:r>
                    </a:p>
                  </a:txBody>
                  <a:tcPr marT="27432" marB="27432" marL="73152" marR="73152" anchor="ctr">
                    <a:solidFill>
                      <a:srgbClr val="0B2A5B"/>
                    </a:solidFill>
                  </a:tcPr>
                </a:tc>
              </a:tr>
              <a:tr h="384048">
                <a:tc>
                  <a:txBody>
                    <a:bodyPr wrap="square"/>
                    <a:lstStyle/>
                    <a:p>
                      <a:pPr algn="l">
                        <a:lnSpc>
                          <a:spcPct val="110000"/>
                        </a:lnSpc>
                        <a:spcAft>
                          <a:spcPts val="0"/>
                        </a:spcAft>
                      </a:pPr>
                      <a:r>
                        <a:rPr sz="1400" b="0">
                          <a:solidFill>
                            <a:srgbClr val="1A1A1A"/>
                          </a:solidFill>
                          <a:latin typeface="Microsoft JhengHei"/>
                          <a:ea typeface="Microsoft JhengHei"/>
                        </a:rPr>
                        <a:t>Z-Score</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−0.009</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−0.24</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−16.51</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+0.418</a:t>
                      </a:r>
                    </a:p>
                  </a:txBody>
                  <a:tcPr marT="27432" marB="27432" marL="73152" marR="73152" anchor="ctr">
                    <a:solidFill>
                      <a:srgbClr val="FFFFFF"/>
                    </a:solidFill>
                  </a:tcPr>
                </a:tc>
              </a:tr>
              <a:tr h="384048">
                <a:tc>
                  <a:txBody>
                    <a:bodyPr wrap="square"/>
                    <a:lstStyle/>
                    <a:p>
                      <a:pPr algn="l">
                        <a:lnSpc>
                          <a:spcPct val="110000"/>
                        </a:lnSpc>
                        <a:spcAft>
                          <a:spcPts val="0"/>
                        </a:spcAft>
                      </a:pPr>
                      <a:r>
                        <a:rPr sz="1400" b="0">
                          <a:solidFill>
                            <a:srgbClr val="1A1A1A"/>
                          </a:solidFill>
                          <a:latin typeface="Microsoft JhengHei"/>
                          <a:ea typeface="Microsoft JhengHei"/>
                        </a:rPr>
                        <a:t>DL-THR（v4）</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−0.012</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−0.26</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−16.54</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+0.442</a:t>
                      </a:r>
                    </a:p>
                  </a:txBody>
                  <a:tcPr marT="27432" marB="27432" marL="73152" marR="73152" anchor="ctr">
                    <a:solidFill>
                      <a:srgbClr val="E8EDF5"/>
                    </a:solidFill>
                  </a:tcPr>
                </a:tc>
              </a:tr>
              <a:tr h="384048">
                <a:tc>
                  <a:txBody>
                    <a:bodyPr wrap="square"/>
                    <a:lstStyle/>
                    <a:p>
                      <a:pPr algn="l">
                        <a:lnSpc>
                          <a:spcPct val="110000"/>
                        </a:lnSpc>
                        <a:spcAft>
                          <a:spcPts val="0"/>
                        </a:spcAft>
                      </a:pPr>
                      <a:r>
                        <a:rPr sz="1400" b="0">
                          <a:solidFill>
                            <a:srgbClr val="1A1A1A"/>
                          </a:solidFill>
                          <a:latin typeface="Microsoft JhengHei"/>
                          <a:ea typeface="Microsoft JhengHei"/>
                        </a:rPr>
                        <a:t>v1</a:t>
                      </a:r>
                    </a:p>
                  </a:txBody>
                  <a:tcPr marT="27432" marB="27432" marL="73152" marR="73152" anchor="ctr">
                    <a:solidFill>
                      <a:srgbClr val="FFFFFF"/>
                    </a:solidFill>
                  </a:tcPr>
                </a:tc>
                <a:tc>
                  <a:txBody>
                    <a:bodyPr wrap="square"/>
                    <a:lstStyle/>
                    <a:p>
                      <a:pPr algn="r">
                        <a:lnSpc>
                          <a:spcPct val="110000"/>
                        </a:lnSpc>
                        <a:spcAft>
                          <a:spcPts val="0"/>
                        </a:spcAft>
                      </a:pPr>
                      <a:r>
                        <a:rPr sz="1400" b="1">
                          <a:solidFill>
                            <a:srgbClr val="1A1A1A"/>
                          </a:solidFill>
                          <a:latin typeface="Microsoft JhengHei"/>
                          <a:ea typeface="Microsoft JhengHei"/>
                        </a:rPr>
                        <a:t>−0.829</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−4.12</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−34.64</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−0.829</a:t>
                      </a:r>
                    </a:p>
                  </a:txBody>
                  <a:tcPr marT="27432" marB="27432" marL="73152" marR="73152" anchor="ctr">
                    <a:solidFill>
                      <a:srgbClr val="FFFFFF"/>
                    </a:solidFill>
                  </a:tcPr>
                </a:tc>
              </a:tr>
              <a:tr h="384048">
                <a:tc>
                  <a:txBody>
                    <a:bodyPr wrap="square"/>
                    <a:lstStyle/>
                    <a:p>
                      <a:pPr algn="l">
                        <a:lnSpc>
                          <a:spcPct val="110000"/>
                        </a:lnSpc>
                        <a:spcAft>
                          <a:spcPts val="0"/>
                        </a:spcAft>
                      </a:pPr>
                      <a:r>
                        <a:rPr sz="1400" b="0">
                          <a:solidFill>
                            <a:srgbClr val="1A1A1A"/>
                          </a:solidFill>
                          <a:latin typeface="Microsoft JhengHei"/>
                          <a:ea typeface="Microsoft JhengHei"/>
                        </a:rPr>
                        <a:t>v2</a:t>
                      </a:r>
                    </a:p>
                  </a:txBody>
                  <a:tcPr marT="27432" marB="27432" marL="73152" marR="73152" anchor="ctr">
                    <a:solidFill>
                      <a:srgbClr val="E8EDF5"/>
                    </a:solidFill>
                  </a:tcPr>
                </a:tc>
                <a:tc>
                  <a:txBody>
                    <a:bodyPr wrap="square"/>
                    <a:lstStyle/>
                    <a:p>
                      <a:pPr algn="r">
                        <a:lnSpc>
                          <a:spcPct val="110000"/>
                        </a:lnSpc>
                        <a:spcAft>
                          <a:spcPts val="0"/>
                        </a:spcAft>
                      </a:pPr>
                      <a:r>
                        <a:rPr sz="1400" b="1">
                          <a:solidFill>
                            <a:srgbClr val="1A1A1A"/>
                          </a:solidFill>
                          <a:latin typeface="Microsoft JhengHei"/>
                          <a:ea typeface="Microsoft JhengHei"/>
                        </a:rPr>
                        <a:t>−1.547</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−5.46</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−41.73</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−1.247</a:t>
                      </a:r>
                    </a:p>
                  </a:txBody>
                  <a:tcPr marT="27432" marB="27432" marL="73152" marR="73152" anchor="ctr">
                    <a:solidFill>
                      <a:srgbClr val="E8EDF5"/>
                    </a:solidFill>
                  </a:tcPr>
                </a:tc>
              </a:tr>
              <a:tr h="384048">
                <a:tc>
                  <a:txBody>
                    <a:bodyPr wrap="square"/>
                    <a:lstStyle/>
                    <a:p>
                      <a:pPr algn="l">
                        <a:lnSpc>
                          <a:spcPct val="110000"/>
                        </a:lnSpc>
                        <a:spcAft>
                          <a:spcPts val="0"/>
                        </a:spcAft>
                      </a:pPr>
                      <a:r>
                        <a:rPr sz="1400" b="0">
                          <a:solidFill>
                            <a:srgbClr val="1A1A1A"/>
                          </a:solidFill>
                          <a:latin typeface="Microsoft JhengHei"/>
                          <a:ea typeface="Microsoft JhengHei"/>
                        </a:rPr>
                        <a:t>v3</a:t>
                      </a:r>
                    </a:p>
                  </a:txBody>
                  <a:tcPr marT="27432" marB="27432" marL="73152" marR="73152" anchor="ctr">
                    <a:solidFill>
                      <a:srgbClr val="FFFFFF"/>
                    </a:solidFill>
                  </a:tcPr>
                </a:tc>
                <a:tc>
                  <a:txBody>
                    <a:bodyPr wrap="square"/>
                    <a:lstStyle/>
                    <a:p>
                      <a:pPr algn="r">
                        <a:lnSpc>
                          <a:spcPct val="110000"/>
                        </a:lnSpc>
                        <a:spcAft>
                          <a:spcPts val="0"/>
                        </a:spcAft>
                      </a:pPr>
                      <a:r>
                        <a:rPr sz="1400" b="1">
                          <a:solidFill>
                            <a:srgbClr val="1A1A1A"/>
                          </a:solidFill>
                          <a:latin typeface="Microsoft JhengHei"/>
                          <a:ea typeface="Microsoft JhengHei"/>
                        </a:rPr>
                        <a:t>−0.298</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−1.75</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−18.79</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+0.045</a:t>
                      </a:r>
                    </a:p>
                  </a:txBody>
                  <a:tcPr marT="27432" marB="27432" marL="73152" marR="73152" anchor="ctr">
                    <a:solidFill>
                      <a:srgbClr val="FFFFFF"/>
                    </a:solidFill>
                  </a:tcPr>
                </a:tc>
              </a:tr>
            </a:tbl>
          </a:graphicData>
        </a:graphic>
      </p:graphicFrame>
      <p:sp>
        <p:nvSpPr>
          <p:cNvPr id="6" name="TextBox 5"/>
          <p:cNvSpPr txBox="1"/>
          <p:nvPr/>
        </p:nvSpPr>
        <p:spPr>
          <a:xfrm>
            <a:off x="640080" y="4206240"/>
            <a:ext cx="7498079" cy="457200"/>
          </a:xfrm>
          <a:prstGeom prst="rect">
            <a:avLst/>
          </a:prstGeom>
          <a:noFill/>
        </p:spPr>
        <p:txBody>
          <a:bodyPr wrap="square" lIns="0" rIns="0" tIns="0" bIns="0" anchor="t">
            <a:spAutoFit/>
          </a:bodyPr>
          <a:lstStyle/>
          <a:p>
            <a:pPr algn="l">
              <a:lnSpc>
                <a:spcPct val="125000"/>
              </a:lnSpc>
              <a:spcAft>
                <a:spcPts val="600"/>
              </a:spcAft>
            </a:pPr>
            <a:r>
              <a:rPr sz="1600" b="1">
                <a:solidFill>
                  <a:srgbClr val="0B2A5B"/>
                </a:solidFill>
                <a:latin typeface="Microsoft JhengHei"/>
                <a:ea typeface="Microsoft JhengHei"/>
              </a:rPr>
              <a:t>H2 成立：三條臂的風險調整後報酬，全部不高於門檻選擇。</a:t>
            </a:r>
          </a:p>
        </p:txBody>
      </p:sp>
      <p:sp>
        <p:nvSpPr>
          <p:cNvPr id="7" name="Rounded Rectangle 6"/>
          <p:cNvSpPr/>
          <p:nvPr/>
        </p:nvSpPr>
        <p:spPr>
          <a:xfrm>
            <a:off x="8321040" y="1737360"/>
            <a:ext cx="3200400" cy="40233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一個一定要並列的口徑事實</a:t>
            </a:r>
          </a:p>
          <a:p>
            <a:pPr algn="l">
              <a:lnSpc>
                <a:spcPct val="125000"/>
              </a:lnSpc>
              <a:spcAft>
                <a:spcPts val="600"/>
              </a:spcAft>
            </a:pPr>
            <a:r>
              <a:rPr sz="1300" b="0">
                <a:solidFill>
                  <a:srgbClr val="1A1A1A"/>
                </a:solidFill>
                <a:latin typeface="Microsoft JhengHei"/>
                <a:ea typeface="Microsoft JhengHei"/>
              </a:rPr>
              <a:t>取五臂交集，會丟掉左緣 11 期——剛好是 </a:t>
            </a:r>
            <a:r>
              <a:rPr sz="1300" b="1">
                <a:solidFill>
                  <a:srgbClr val="1A1A1A"/>
                </a:solidFill>
                <a:latin typeface="Microsoft JhengHei"/>
                <a:ea typeface="Microsoft JhengHei"/>
              </a:rPr>
              <a:t>2008-07～2009-06 的危機反彈</a:t>
            </a:r>
            <a:r>
              <a:rPr sz="1300" b="0">
                <a:solidFill>
                  <a:srgbClr val="1A1A1A"/>
                </a:solidFill>
                <a:latin typeface="Microsoft JhengHei"/>
                <a:ea typeface="Microsoft JhengHei"/>
              </a:rPr>
              <a:t>。</a:t>
            </a:r>
          </a:p>
          <a:p>
            <a:pPr algn="l">
              <a:lnSpc>
                <a:spcPct val="125000"/>
              </a:lnSpc>
              <a:spcAft>
                <a:spcPts val="600"/>
              </a:spcAft>
            </a:pPr>
            <a:r>
              <a:rPr sz="1300" b="0">
                <a:solidFill>
                  <a:srgbClr val="1A1A1A"/>
                </a:solidFill>
                <a:latin typeface="Microsoft JhengHei"/>
                <a:ea typeface="Microsoft JhengHei"/>
              </a:rPr>
              <a:t>兩個基準的獲利幾乎都在那裡：只看左緣期，Sharpe 是 </a:t>
            </a:r>
            <a:r>
              <a:rPr sz="1300" b="1">
                <a:solidFill>
                  <a:srgbClr val="1A1A1A"/>
                </a:solidFill>
                <a:latin typeface="Microsoft JhengHei"/>
                <a:ea typeface="Microsoft JhengHei"/>
              </a:rPr>
              <a:t>+1.443／+1.541</a:t>
            </a:r>
            <a:r>
              <a:rPr sz="1300" b="0">
                <a:solidFill>
                  <a:srgbClr val="1A1A1A"/>
                </a:solidFill>
                <a:latin typeface="Microsoft JhengHei"/>
                <a:ea typeface="Microsoft JhengHei"/>
              </a:rPr>
              <a:t>。</a:t>
            </a:r>
          </a:p>
          <a:p>
            <a:pPr algn="l">
              <a:lnSpc>
                <a:spcPct val="125000"/>
              </a:lnSpc>
              <a:spcAft>
                <a:spcPts val="600"/>
              </a:spcAft>
            </a:pPr>
            <a:r>
              <a:rPr sz="1300" b="0">
                <a:solidFill>
                  <a:srgbClr val="1A1A1A"/>
                </a:solidFill>
                <a:latin typeface="Microsoft JhengHei"/>
                <a:ea typeface="Microsoft JhengHei"/>
              </a:rPr>
              <a:t>所以交集上基準≈0，</a:t>
            </a:r>
            <a:r>
              <a:rPr sz="1300" b="1">
                <a:solidFill>
                  <a:srgbClr val="1A1A1A"/>
                </a:solidFill>
                <a:latin typeface="Microsoft JhengHei"/>
                <a:ea typeface="Microsoft JhengHei"/>
              </a:rPr>
              <a:t>不代表</a:t>
            </a:r>
            <a:r>
              <a:rPr sz="1300" b="0">
                <a:solidFill>
                  <a:srgbClr val="1A1A1A"/>
                </a:solidFill>
                <a:latin typeface="Microsoft JhengHei"/>
                <a:ea typeface="Microsoft JhengHei"/>
              </a:rPr>
              <a:t>它們全樣本也是 0。組內比較是公平的，但不能拿來說基準也不行。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第一段（完整預先登記）　｜　§4.1.4–4.1.5</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但三代輸的原因不一樣</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35</a:t>
            </a:r>
          </a:p>
        </p:txBody>
      </p:sp>
      <p:graphicFrame>
        <p:nvGraphicFramePr>
          <p:cNvPr id="5" name="Table 4"/>
          <p:cNvGraphicFramePr>
            <a:graphicFrameLocks noGrp="1"/>
          </p:cNvGraphicFramePr>
          <p:nvPr/>
        </p:nvGraphicFramePr>
        <p:xfrm>
          <a:off x="640080" y="1737360"/>
          <a:ext cx="6858000" cy="1682496"/>
        </p:xfrm>
        <a:graphic>
          <a:graphicData uri="http://schemas.openxmlformats.org/drawingml/2006/table">
            <a:tbl>
              <a:tblPr firstRow="1" bandRow="1">
                <a:tableStyleId>{5C22544A-7EE6-4342-B048-85BDC9FD1C3A}</a:tableStyleId>
              </a:tblPr>
              <a:tblGrid>
                <a:gridCol w="1005840"/>
                <a:gridCol w="1828800"/>
                <a:gridCol w="1828800"/>
                <a:gridCol w="1371600"/>
                <a:gridCol w="822960"/>
              </a:tblGrid>
              <a:tr h="420624">
                <a:tc>
                  <a:txBody>
                    <a:bodyPr wrap="square"/>
                    <a:lstStyle/>
                    <a:p>
                      <a:pPr algn="l">
                        <a:lnSpc>
                          <a:spcPct val="110000"/>
                        </a:lnSpc>
                        <a:spcAft>
                          <a:spcPts val="0"/>
                        </a:spcAft>
                      </a:pPr>
                      <a:r>
                        <a:rPr sz="1500" b="1">
                          <a:solidFill>
                            <a:srgbClr val="FFFFFF"/>
                          </a:solidFill>
                          <a:latin typeface="Microsoft JhengHei"/>
                          <a:ea typeface="Microsoft JhengHei"/>
                        </a:rPr>
                        <a:t>臂</a:t>
                      </a:r>
                    </a:p>
                  </a:txBody>
                  <a:tcPr marT="27432" marB="27432" marL="73152" marR="73152" anchor="ctr">
                    <a:solidFill>
                      <a:srgbClr val="0B2A5B"/>
                    </a:solidFill>
                  </a:tcPr>
                </a:tc>
                <a:tc>
                  <a:txBody>
                    <a:bodyPr wrap="square"/>
                    <a:lstStyle/>
                    <a:p>
                      <a:pPr algn="l">
                        <a:lnSpc>
                          <a:spcPct val="110000"/>
                        </a:lnSpc>
                        <a:spcAft>
                          <a:spcPts val="0"/>
                        </a:spcAft>
                      </a:pPr>
                      <a:r>
                        <a:rPr sz="1500" b="1">
                          <a:solidFill>
                            <a:srgbClr val="FFFFFF"/>
                          </a:solidFill>
                          <a:latin typeface="Microsoft JhengHei"/>
                          <a:ea typeface="Microsoft JhengHei"/>
                        </a:rPr>
                        <a:t>含成本 ΔSharpe</a:t>
                      </a:r>
                    </a:p>
                  </a:txBody>
                  <a:tcPr marT="27432" marB="27432" marL="73152" marR="73152" anchor="ctr">
                    <a:solidFill>
                      <a:srgbClr val="0B2A5B"/>
                    </a:solidFill>
                  </a:tcPr>
                </a:tc>
                <a:tc>
                  <a:txBody>
                    <a:bodyPr wrap="square"/>
                    <a:lstStyle/>
                    <a:p>
                      <a:pPr algn="l">
                        <a:lnSpc>
                          <a:spcPct val="110000"/>
                        </a:lnSpc>
                        <a:spcAft>
                          <a:spcPts val="0"/>
                        </a:spcAft>
                      </a:pPr>
                      <a:r>
                        <a:rPr sz="1500" b="1">
                          <a:solidFill>
                            <a:srgbClr val="FFFFFF"/>
                          </a:solidFill>
                          <a:latin typeface="Microsoft JhengHei"/>
                          <a:ea typeface="Microsoft JhengHei"/>
                        </a:rPr>
                        <a:t>零成本 ΔSharpe</a:t>
                      </a:r>
                    </a:p>
                  </a:txBody>
                  <a:tcPr marT="27432" marB="27432" marL="73152" marR="73152" anchor="ctr">
                    <a:solidFill>
                      <a:srgbClr val="0B2A5B"/>
                    </a:solidFill>
                  </a:tcPr>
                </a:tc>
                <a:tc>
                  <a:txBody>
                    <a:bodyPr wrap="square"/>
                    <a:lstStyle/>
                    <a:p>
                      <a:pPr algn="l">
                        <a:lnSpc>
                          <a:spcPct val="110000"/>
                        </a:lnSpc>
                        <a:spcAft>
                          <a:spcPts val="0"/>
                        </a:spcAft>
                      </a:pPr>
                      <a:r>
                        <a:rPr sz="1500" b="1">
                          <a:solidFill>
                            <a:srgbClr val="FFFFFF"/>
                          </a:solidFill>
                          <a:latin typeface="Microsoft JhengHei"/>
                          <a:ea typeface="Microsoft JhengHei"/>
                        </a:rPr>
                        <a:t>差距縮小</a:t>
                      </a:r>
                    </a:p>
                  </a:txBody>
                  <a:tcPr marT="27432" marB="27432" marL="73152" marR="73152" anchor="ctr">
                    <a:solidFill>
                      <a:srgbClr val="0B2A5B"/>
                    </a:solidFill>
                  </a:tcPr>
                </a:tc>
                <a:tc>
                  <a:txBody>
                    <a:bodyPr wrap="square"/>
                    <a:lstStyle/>
                    <a:p>
                      <a:pPr algn="ctr">
                        <a:lnSpc>
                          <a:spcPct val="110000"/>
                        </a:lnSpc>
                        <a:spcAft>
                          <a:spcPts val="0"/>
                        </a:spcAft>
                      </a:pPr>
                      <a:r>
                        <a:rPr sz="1500" b="1">
                          <a:solidFill>
                            <a:srgbClr val="FFFFFF"/>
                          </a:solidFill>
                          <a:latin typeface="Microsoft JhengHei"/>
                          <a:ea typeface="Microsoft JhengHei"/>
                        </a:rPr>
                        <a:t>H3</a:t>
                      </a:r>
                    </a:p>
                  </a:txBody>
                  <a:tcPr marT="27432" marB="27432" marL="73152" marR="73152" anchor="ctr">
                    <a:solidFill>
                      <a:srgbClr val="0B2A5B"/>
                    </a:solidFill>
                  </a:tcPr>
                </a:tc>
              </a:tr>
              <a:tr h="420624">
                <a:tc>
                  <a:txBody>
                    <a:bodyPr wrap="square"/>
                    <a:lstStyle/>
                    <a:p>
                      <a:pPr algn="l">
                        <a:lnSpc>
                          <a:spcPct val="110000"/>
                        </a:lnSpc>
                        <a:spcAft>
                          <a:spcPts val="0"/>
                        </a:spcAft>
                      </a:pPr>
                      <a:r>
                        <a:rPr sz="1500" b="0">
                          <a:solidFill>
                            <a:srgbClr val="1A1A1A"/>
                          </a:solidFill>
                          <a:latin typeface="Microsoft JhengHei"/>
                          <a:ea typeface="Microsoft JhengHei"/>
                        </a:rPr>
                        <a:t>v1</a:t>
                      </a:r>
                    </a:p>
                  </a:txBody>
                  <a:tcPr marT="27432" marB="27432" marL="73152" marR="73152" anchor="ctr">
                    <a:solidFill>
                      <a:srgbClr val="FFFFFF"/>
                    </a:solidFill>
                  </a:tcPr>
                </a:tc>
                <a:tc>
                  <a:txBody>
                    <a:bodyPr wrap="square"/>
                    <a:lstStyle/>
                    <a:p>
                      <a:pPr algn="r">
                        <a:lnSpc>
                          <a:spcPct val="110000"/>
                        </a:lnSpc>
                        <a:spcAft>
                          <a:spcPts val="0"/>
                        </a:spcAft>
                      </a:pPr>
                      <a:r>
                        <a:rPr sz="1500" b="0">
                          <a:solidFill>
                            <a:srgbClr val="1A1A1A"/>
                          </a:solidFill>
                          <a:latin typeface="Microsoft JhengHei"/>
                          <a:ea typeface="Microsoft JhengHei"/>
                        </a:rPr>
                        <a:t>−0.816</a:t>
                      </a:r>
                    </a:p>
                  </a:txBody>
                  <a:tcPr marT="27432" marB="27432" marL="73152" marR="73152" anchor="ctr">
                    <a:solidFill>
                      <a:srgbClr val="FFFFFF"/>
                    </a:solidFill>
                  </a:tcPr>
                </a:tc>
                <a:tc>
                  <a:txBody>
                    <a:bodyPr wrap="square"/>
                    <a:lstStyle/>
                    <a:p>
                      <a:pPr algn="r">
                        <a:lnSpc>
                          <a:spcPct val="110000"/>
                        </a:lnSpc>
                        <a:spcAft>
                          <a:spcPts val="0"/>
                        </a:spcAft>
                      </a:pPr>
                      <a:r>
                        <a:rPr sz="1500" b="0">
                          <a:solidFill>
                            <a:srgbClr val="1A1A1A"/>
                          </a:solidFill>
                          <a:latin typeface="Microsoft JhengHei"/>
                          <a:ea typeface="Microsoft JhengHei"/>
                        </a:rPr>
                        <a:t>−0.106</a:t>
                      </a:r>
                    </a:p>
                  </a:txBody>
                  <a:tcPr marT="27432" marB="27432" marL="73152" marR="73152" anchor="ctr">
                    <a:solidFill>
                      <a:srgbClr val="FFFFFF"/>
                    </a:solidFill>
                  </a:tcPr>
                </a:tc>
                <a:tc>
                  <a:txBody>
                    <a:bodyPr wrap="square"/>
                    <a:lstStyle/>
                    <a:p>
                      <a:pPr algn="r">
                        <a:lnSpc>
                          <a:spcPct val="110000"/>
                        </a:lnSpc>
                        <a:spcAft>
                          <a:spcPts val="0"/>
                        </a:spcAft>
                      </a:pPr>
                      <a:r>
                        <a:rPr sz="1500" b="1">
                          <a:solidFill>
                            <a:srgbClr val="1A1A1A"/>
                          </a:solidFill>
                          <a:latin typeface="Microsoft JhengHei"/>
                          <a:ea typeface="Microsoft JhengHei"/>
                        </a:rPr>
                        <a:t>87.0%</a:t>
                      </a:r>
                    </a:p>
                  </a:txBody>
                  <a:tcPr marT="27432" marB="27432" marL="73152" marR="73152" anchor="ctr">
                    <a:solidFill>
                      <a:srgbClr val="FFFFFF"/>
                    </a:solidFill>
                  </a:tcPr>
                </a:tc>
                <a:tc>
                  <a:txBody>
                    <a:bodyPr wrap="square"/>
                    <a:lstStyle/>
                    <a:p>
                      <a:pPr algn="ctr">
                        <a:lnSpc>
                          <a:spcPct val="110000"/>
                        </a:lnSpc>
                        <a:spcAft>
                          <a:spcPts val="0"/>
                        </a:spcAft>
                      </a:pPr>
                      <a:r>
                        <a:rPr sz="1500" b="0">
                          <a:solidFill>
                            <a:srgbClr val="1A1A1A"/>
                          </a:solidFill>
                          <a:latin typeface="Microsoft JhengHei"/>
                          <a:ea typeface="Microsoft JhengHei"/>
                        </a:rPr>
                        <a:t>✔</a:t>
                      </a:r>
                    </a:p>
                  </a:txBody>
                  <a:tcPr marT="27432" marB="27432" marL="73152" marR="73152" anchor="ctr">
                    <a:solidFill>
                      <a:srgbClr val="FFFFFF"/>
                    </a:solidFill>
                  </a:tcPr>
                </a:tc>
              </a:tr>
              <a:tr h="420624">
                <a:tc>
                  <a:txBody>
                    <a:bodyPr wrap="square"/>
                    <a:lstStyle/>
                    <a:p>
                      <a:pPr algn="l">
                        <a:lnSpc>
                          <a:spcPct val="110000"/>
                        </a:lnSpc>
                        <a:spcAft>
                          <a:spcPts val="0"/>
                        </a:spcAft>
                      </a:pPr>
                      <a:r>
                        <a:rPr sz="1500" b="0">
                          <a:solidFill>
                            <a:srgbClr val="1A1A1A"/>
                          </a:solidFill>
                          <a:latin typeface="Microsoft JhengHei"/>
                          <a:ea typeface="Microsoft JhengHei"/>
                        </a:rPr>
                        <a:t>v2</a:t>
                      </a:r>
                    </a:p>
                  </a:txBody>
                  <a:tcPr marT="27432" marB="27432" marL="73152" marR="73152" anchor="ctr">
                    <a:solidFill>
                      <a:srgbClr val="E8EDF5"/>
                    </a:solidFill>
                  </a:tcPr>
                </a:tc>
                <a:tc>
                  <a:txBody>
                    <a:bodyPr wrap="square"/>
                    <a:lstStyle/>
                    <a:p>
                      <a:pPr algn="r">
                        <a:lnSpc>
                          <a:spcPct val="110000"/>
                        </a:lnSpc>
                        <a:spcAft>
                          <a:spcPts val="0"/>
                        </a:spcAft>
                      </a:pPr>
                      <a:r>
                        <a:rPr sz="1500" b="0">
                          <a:solidFill>
                            <a:srgbClr val="1A1A1A"/>
                          </a:solidFill>
                          <a:latin typeface="Microsoft JhengHei"/>
                          <a:ea typeface="Microsoft JhengHei"/>
                        </a:rPr>
                        <a:t>−1.535</a:t>
                      </a:r>
                    </a:p>
                  </a:txBody>
                  <a:tcPr marT="27432" marB="27432" marL="73152" marR="73152" anchor="ctr">
                    <a:solidFill>
                      <a:srgbClr val="E8EDF5"/>
                    </a:solidFill>
                  </a:tcPr>
                </a:tc>
                <a:tc>
                  <a:txBody>
                    <a:bodyPr wrap="square"/>
                    <a:lstStyle/>
                    <a:p>
                      <a:pPr algn="r">
                        <a:lnSpc>
                          <a:spcPct val="110000"/>
                        </a:lnSpc>
                        <a:spcAft>
                          <a:spcPts val="0"/>
                        </a:spcAft>
                      </a:pPr>
                      <a:r>
                        <a:rPr sz="1500" b="0">
                          <a:solidFill>
                            <a:srgbClr val="1A1A1A"/>
                          </a:solidFill>
                          <a:latin typeface="Microsoft JhengHei"/>
                          <a:ea typeface="Microsoft JhengHei"/>
                        </a:rPr>
                        <a:t>−0.255</a:t>
                      </a:r>
                    </a:p>
                  </a:txBody>
                  <a:tcPr marT="27432" marB="27432" marL="73152" marR="73152" anchor="ctr">
                    <a:solidFill>
                      <a:srgbClr val="E8EDF5"/>
                    </a:solidFill>
                  </a:tcPr>
                </a:tc>
                <a:tc>
                  <a:txBody>
                    <a:bodyPr wrap="square"/>
                    <a:lstStyle/>
                    <a:p>
                      <a:pPr algn="r">
                        <a:lnSpc>
                          <a:spcPct val="110000"/>
                        </a:lnSpc>
                        <a:spcAft>
                          <a:spcPts val="0"/>
                        </a:spcAft>
                      </a:pPr>
                      <a:r>
                        <a:rPr sz="1500" b="1">
                          <a:solidFill>
                            <a:srgbClr val="1A1A1A"/>
                          </a:solidFill>
                          <a:latin typeface="Microsoft JhengHei"/>
                          <a:ea typeface="Microsoft JhengHei"/>
                        </a:rPr>
                        <a:t>83.4%</a:t>
                      </a:r>
                    </a:p>
                  </a:txBody>
                  <a:tcPr marT="27432" marB="27432" marL="73152" marR="73152" anchor="ctr">
                    <a:solidFill>
                      <a:srgbClr val="E8EDF5"/>
                    </a:solidFill>
                  </a:tcPr>
                </a:tc>
                <a:tc>
                  <a:txBody>
                    <a:bodyPr wrap="square"/>
                    <a:lstStyle/>
                    <a:p>
                      <a:pPr algn="ctr">
                        <a:lnSpc>
                          <a:spcPct val="110000"/>
                        </a:lnSpc>
                        <a:spcAft>
                          <a:spcPts val="0"/>
                        </a:spcAft>
                      </a:pPr>
                      <a:r>
                        <a:rPr sz="1500" b="0">
                          <a:solidFill>
                            <a:srgbClr val="1A1A1A"/>
                          </a:solidFill>
                          <a:latin typeface="Microsoft JhengHei"/>
                          <a:ea typeface="Microsoft JhengHei"/>
                        </a:rPr>
                        <a:t>✔</a:t>
                      </a:r>
                    </a:p>
                  </a:txBody>
                  <a:tcPr marT="27432" marB="27432" marL="73152" marR="73152" anchor="ctr">
                    <a:solidFill>
                      <a:srgbClr val="E8EDF5"/>
                    </a:solidFill>
                  </a:tcPr>
                </a:tc>
              </a:tr>
              <a:tr h="420624">
                <a:tc>
                  <a:txBody>
                    <a:bodyPr wrap="square"/>
                    <a:lstStyle/>
                    <a:p>
                      <a:pPr algn="l">
                        <a:lnSpc>
                          <a:spcPct val="110000"/>
                        </a:lnSpc>
                        <a:spcAft>
                          <a:spcPts val="0"/>
                        </a:spcAft>
                      </a:pPr>
                      <a:r>
                        <a:rPr sz="1500" b="0">
                          <a:solidFill>
                            <a:srgbClr val="1A1A1A"/>
                          </a:solidFill>
                          <a:latin typeface="Microsoft JhengHei"/>
                          <a:ea typeface="Microsoft JhengHei"/>
                        </a:rPr>
                        <a:t>v3</a:t>
                      </a:r>
                    </a:p>
                  </a:txBody>
                  <a:tcPr marT="27432" marB="27432" marL="73152" marR="73152" anchor="ctr">
                    <a:solidFill>
                      <a:srgbClr val="FFFFFF"/>
                    </a:solidFill>
                  </a:tcPr>
                </a:tc>
                <a:tc>
                  <a:txBody>
                    <a:bodyPr wrap="square"/>
                    <a:lstStyle/>
                    <a:p>
                      <a:pPr algn="r">
                        <a:lnSpc>
                          <a:spcPct val="110000"/>
                        </a:lnSpc>
                        <a:spcAft>
                          <a:spcPts val="0"/>
                        </a:spcAft>
                      </a:pPr>
                      <a:r>
                        <a:rPr sz="1500" b="0">
                          <a:solidFill>
                            <a:srgbClr val="1A1A1A"/>
                          </a:solidFill>
                          <a:latin typeface="Microsoft JhengHei"/>
                          <a:ea typeface="Microsoft JhengHei"/>
                        </a:rPr>
                        <a:t>−0.285</a:t>
                      </a:r>
                    </a:p>
                  </a:txBody>
                  <a:tcPr marT="27432" marB="27432" marL="73152" marR="73152" anchor="ctr">
                    <a:solidFill>
                      <a:srgbClr val="FFFFFF"/>
                    </a:solidFill>
                  </a:tcPr>
                </a:tc>
                <a:tc>
                  <a:txBody>
                    <a:bodyPr wrap="square"/>
                    <a:lstStyle/>
                    <a:p>
                      <a:pPr algn="r">
                        <a:lnSpc>
                          <a:spcPct val="110000"/>
                        </a:lnSpc>
                        <a:spcAft>
                          <a:spcPts val="0"/>
                        </a:spcAft>
                      </a:pPr>
                      <a:r>
                        <a:rPr sz="1500" b="1">
                          <a:solidFill>
                            <a:srgbClr val="1A1A1A"/>
                          </a:solidFill>
                          <a:latin typeface="Microsoft JhengHei"/>
                          <a:ea typeface="Microsoft JhengHei"/>
                        </a:rPr>
                        <a:t>+0.195</a:t>
                      </a:r>
                    </a:p>
                  </a:txBody>
                  <a:tcPr marT="27432" marB="27432" marL="73152" marR="73152" anchor="ctr">
                    <a:solidFill>
                      <a:srgbClr val="FFFFFF"/>
                    </a:solidFill>
                  </a:tcPr>
                </a:tc>
                <a:tc>
                  <a:txBody>
                    <a:bodyPr wrap="square"/>
                    <a:lstStyle/>
                    <a:p>
                      <a:pPr algn="r">
                        <a:lnSpc>
                          <a:spcPct val="110000"/>
                        </a:lnSpc>
                        <a:spcAft>
                          <a:spcPts val="0"/>
                        </a:spcAft>
                      </a:pPr>
                      <a:r>
                        <a:rPr sz="1500" b="0">
                          <a:solidFill>
                            <a:srgbClr val="1A1A1A"/>
                          </a:solidFill>
                          <a:latin typeface="Microsoft JhengHei"/>
                          <a:ea typeface="Microsoft JhengHei"/>
                        </a:rPr>
                        <a:t>31.7%</a:t>
                      </a:r>
                    </a:p>
                  </a:txBody>
                  <a:tcPr marT="27432" marB="27432" marL="73152" marR="73152" anchor="ctr">
                    <a:solidFill>
                      <a:srgbClr val="FFFFFF"/>
                    </a:solidFill>
                  </a:tcPr>
                </a:tc>
                <a:tc>
                  <a:txBody>
                    <a:bodyPr wrap="square"/>
                    <a:lstStyle/>
                    <a:p>
                      <a:pPr algn="ctr">
                        <a:lnSpc>
                          <a:spcPct val="110000"/>
                        </a:lnSpc>
                        <a:spcAft>
                          <a:spcPts val="0"/>
                        </a:spcAft>
                      </a:pPr>
                      <a:r>
                        <a:rPr sz="1500" b="0">
                          <a:solidFill>
                            <a:srgbClr val="1A1A1A"/>
                          </a:solidFill>
                          <a:latin typeface="Microsoft JhengHei"/>
                          <a:ea typeface="Microsoft JhengHei"/>
                        </a:rPr>
                        <a:t>✘</a:t>
                      </a:r>
                    </a:p>
                  </a:txBody>
                  <a:tcPr marT="27432" marB="27432" marL="73152" marR="73152" anchor="ctr">
                    <a:solidFill>
                      <a:srgbClr val="FFFFFF"/>
                    </a:solidFill>
                  </a:tcPr>
                </a:tc>
              </a:tr>
            </a:tbl>
          </a:graphicData>
        </a:graphic>
      </p:graphicFrame>
      <p:sp>
        <p:nvSpPr>
          <p:cNvPr id="6" name="TextBox 5"/>
          <p:cNvSpPr txBox="1"/>
          <p:nvPr/>
        </p:nvSpPr>
        <p:spPr>
          <a:xfrm>
            <a:off x="640080" y="3520440"/>
            <a:ext cx="6858000" cy="365760"/>
          </a:xfrm>
          <a:prstGeom prst="rect">
            <a:avLst/>
          </a:prstGeom>
          <a:noFill/>
        </p:spPr>
        <p:txBody>
          <a:bodyPr wrap="square" lIns="0" rIns="0" tIns="0" bIns="0" anchor="t">
            <a:spAutoFit/>
          </a:bodyPr>
          <a:lstStyle/>
          <a:p>
            <a:pPr algn="l">
              <a:lnSpc>
                <a:spcPct val="125000"/>
              </a:lnSpc>
              <a:spcAft>
                <a:spcPts val="600"/>
              </a:spcAft>
            </a:pPr>
            <a:r>
              <a:rPr sz="1200" b="0">
                <a:solidFill>
                  <a:srgbClr val="6B7280"/>
                </a:solidFill>
                <a:latin typeface="Microsoft JhengHei"/>
                <a:ea typeface="Microsoft JhengHei"/>
              </a:rPr>
              <a:t>ΔSharpe 為對 DL-THR 的差；H3 判準：零成本下差距縮小 ≥ 50%</a:t>
            </a:r>
          </a:p>
        </p:txBody>
      </p:sp>
      <p:sp>
        <p:nvSpPr>
          <p:cNvPr id="7" name="Rounded Rectangle 6"/>
          <p:cNvSpPr/>
          <p:nvPr/>
        </p:nvSpPr>
        <p:spPr>
          <a:xfrm>
            <a:off x="7589520" y="1737360"/>
            <a:ext cx="3931920" cy="23317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這個分裂，比一致的結果更有訊息量</a:t>
            </a:r>
          </a:p>
          <a:p>
            <a:pPr algn="l">
              <a:lnSpc>
                <a:spcPct val="125000"/>
              </a:lnSpc>
              <a:spcAft>
                <a:spcPts val="600"/>
              </a:spcAft>
            </a:pPr>
            <a:r>
              <a:rPr sz="1350" b="1">
                <a:solidFill>
                  <a:srgbClr val="1A1A1A"/>
                </a:solidFill>
                <a:latin typeface="Microsoft JhengHei"/>
                <a:ea typeface="Microsoft JhengHei"/>
              </a:rPr>
              <a:t>v1／v2：輸在交易太頻繁</a:t>
            </a:r>
            <a:r>
              <a:rPr sz="1350" b="0">
                <a:solidFill>
                  <a:srgbClr val="1A1A1A"/>
                </a:solidFill>
                <a:latin typeface="Microsoft JhengHei"/>
                <a:ea typeface="Microsoft JhengHei"/>
              </a:rPr>
              <a:t>——拿掉成本，差距縮小八成以上。</a:t>
            </a:r>
          </a:p>
          <a:p>
            <a:pPr algn="l">
              <a:lnSpc>
                <a:spcPct val="125000"/>
              </a:lnSpc>
              <a:spcAft>
                <a:spcPts val="600"/>
              </a:spcAft>
            </a:pPr>
            <a:r>
              <a:rPr sz="1350" b="1">
                <a:solidFill>
                  <a:srgbClr val="1A1A1A"/>
                </a:solidFill>
                <a:latin typeface="Microsoft JhengHei"/>
                <a:ea typeface="Microsoft JhengHei"/>
              </a:rPr>
              <a:t>v3：不是成本的問題</a:t>
            </a:r>
            <a:r>
              <a:rPr sz="1350" b="0">
                <a:solidFill>
                  <a:srgbClr val="1A1A1A"/>
                </a:solidFill>
                <a:latin typeface="Microsoft JhengHei"/>
                <a:ea typeface="Microsoft JhengHei"/>
              </a:rPr>
              <a:t>——零成本下它甚至</a:t>
            </a:r>
            <a:r>
              <a:rPr sz="1350" b="1">
                <a:solidFill>
                  <a:srgbClr val="1A1A1A"/>
                </a:solidFill>
                <a:latin typeface="Microsoft JhengHei"/>
                <a:ea typeface="Microsoft JhengHei"/>
              </a:rPr>
              <a:t>略優</a:t>
            </a:r>
            <a:r>
              <a:rPr sz="1350" b="0">
                <a:solidFill>
                  <a:srgbClr val="1A1A1A"/>
                </a:solidFill>
                <a:latin typeface="Microsoft JhengHei"/>
                <a:ea typeface="Microsoft JhengHei"/>
              </a:rPr>
              <a:t>（+0.195），成本一加回就翻負。</a:t>
            </a:r>
          </a:p>
        </p:txBody>
      </p:sp>
      <p:sp>
        <p:nvSpPr>
          <p:cNvPr id="8" name="Rounded Rectangle 7"/>
          <p:cNvSpPr/>
          <p:nvPr/>
        </p:nvSpPr>
        <p:spPr>
          <a:xfrm>
            <a:off x="640080" y="4297680"/>
            <a:ext cx="10881360" cy="14630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第一段的結論與它的邊界</a:t>
            </a:r>
          </a:p>
          <a:p>
            <a:pPr algn="l">
              <a:lnSpc>
                <a:spcPct val="125000"/>
              </a:lnSpc>
              <a:spcAft>
                <a:spcPts val="600"/>
              </a:spcAft>
            </a:pPr>
            <a:r>
              <a:rPr sz="1350" b="1">
                <a:solidFill>
                  <a:srgbClr val="1A1A1A"/>
                </a:solidFill>
                <a:latin typeface="Microsoft JhengHei"/>
                <a:ea typeface="Microsoft JhengHei"/>
              </a:rPr>
              <a:t>Q1 的答案是肯定的：動作空間是關鍵約束。</a:t>
            </a:r>
            <a:r>
              <a:rPr sz="1350" b="0">
                <a:solidFill>
                  <a:srgbClr val="1A1A1A"/>
                </a:solidFill>
                <a:latin typeface="Microsoft JhengHei"/>
                <a:ea typeface="Microsoft JhengHei"/>
              </a:rPr>
              <a:t>　但只在一個配對來源（GICS-SDP）、一個格點、108 期上做過；學習臂沒固定種子、每臂只跑一次（同組態重跑的差異可達 2.0–2.8 倍，小於效果量 2.1–4.1 倍）。零成本是「同一條政策在零成本下的績效」，不是「沒有成本會學出什麼政策」。</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第一段延伸（探索性，未預先登記）　｜　附錄 E</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那換個演算法呢？結果還是一樣輸</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36</a:t>
            </a:r>
          </a:p>
        </p:txBody>
      </p:sp>
      <p:sp>
        <p:nvSpPr>
          <p:cNvPr id="5" name="TextBox 4"/>
          <p:cNvSpPr txBox="1"/>
          <p:nvPr/>
        </p:nvSpPr>
        <p:spPr>
          <a:xfrm>
            <a:off x="640080" y="1645920"/>
            <a:ext cx="6309360" cy="640080"/>
          </a:xfrm>
          <a:prstGeom prst="rect">
            <a:avLst/>
          </a:prstGeom>
          <a:noFill/>
        </p:spPr>
        <p:txBody>
          <a:bodyPr wrap="square" lIns="0" rIns="0" tIns="0" bIns="0" anchor="t">
            <a:spAutoFit/>
          </a:bodyPr>
          <a:lstStyle/>
          <a:p>
            <a:pPr algn="l">
              <a:lnSpc>
                <a:spcPct val="125000"/>
              </a:lnSpc>
              <a:spcAft>
                <a:spcPts val="600"/>
              </a:spcAft>
            </a:pPr>
            <a:r>
              <a:rPr sz="1450" b="0">
                <a:solidFill>
                  <a:srgbClr val="1A1A1A"/>
                </a:solidFill>
                <a:latin typeface="Microsoft JhengHei"/>
                <a:ea typeface="Microsoft JhengHei"/>
              </a:rPr>
              <a:t>三代都用 LSTM 編碼、都是「擬合 Q 函數」這一族。會不會只是剛好挑錯演算法？我在同一批配對、同 108 期上換了四種做法：</a:t>
            </a:r>
          </a:p>
        </p:txBody>
      </p:sp>
      <p:sp>
        <p:nvSpPr>
          <p:cNvPr id="6" name="TextBox 5"/>
          <p:cNvSpPr txBox="1"/>
          <p:nvPr/>
        </p:nvSpPr>
        <p:spPr>
          <a:xfrm>
            <a:off x="2057400" y="2350008"/>
            <a:ext cx="2148840" cy="274320"/>
          </a:xfrm>
          <a:prstGeom prst="rect">
            <a:avLst/>
          </a:prstGeom>
          <a:noFill/>
        </p:spPr>
        <p:txBody>
          <a:bodyPr wrap="square" lIns="0" rIns="0" tIns="0" bIns="0" anchor="t">
            <a:spAutoFit/>
          </a:bodyPr>
          <a:lstStyle/>
          <a:p>
            <a:pPr algn="ctr">
              <a:lnSpc>
                <a:spcPct val="125000"/>
              </a:lnSpc>
              <a:spcAft>
                <a:spcPts val="600"/>
              </a:spcAft>
            </a:pPr>
            <a:r>
              <a:rPr sz="1300" b="1">
                <a:solidFill>
                  <a:srgbClr val="0B2A5B"/>
                </a:solidFill>
                <a:latin typeface="Microsoft JhengHei"/>
                <a:ea typeface="Microsoft JhengHei"/>
              </a:rPr>
              <a:t>Double-Q 目標</a:t>
            </a:r>
          </a:p>
        </p:txBody>
      </p:sp>
      <p:sp>
        <p:nvSpPr>
          <p:cNvPr id="7" name="TextBox 6"/>
          <p:cNvSpPr txBox="1"/>
          <p:nvPr/>
        </p:nvSpPr>
        <p:spPr>
          <a:xfrm>
            <a:off x="4297679" y="2350008"/>
            <a:ext cx="2148840" cy="274320"/>
          </a:xfrm>
          <a:prstGeom prst="rect">
            <a:avLst/>
          </a:prstGeom>
          <a:noFill/>
        </p:spPr>
        <p:txBody>
          <a:bodyPr wrap="square" lIns="0" rIns="0" tIns="0" bIns="0" anchor="t">
            <a:spAutoFit/>
          </a:bodyPr>
          <a:lstStyle/>
          <a:p>
            <a:pPr algn="ctr">
              <a:lnSpc>
                <a:spcPct val="125000"/>
              </a:lnSpc>
              <a:spcAft>
                <a:spcPts val="600"/>
              </a:spcAft>
            </a:pPr>
            <a:r>
              <a:rPr sz="1300" b="1">
                <a:solidFill>
                  <a:srgbClr val="0B2A5B"/>
                </a:solidFill>
                <a:latin typeface="Microsoft JhengHei"/>
                <a:ea typeface="Microsoft JhengHei"/>
              </a:rPr>
              <a:t>單網路 max 目標</a:t>
            </a:r>
          </a:p>
        </p:txBody>
      </p:sp>
      <p:sp>
        <p:nvSpPr>
          <p:cNvPr id="8" name="TextBox 7"/>
          <p:cNvSpPr txBox="1"/>
          <p:nvPr/>
        </p:nvSpPr>
        <p:spPr>
          <a:xfrm>
            <a:off x="640080" y="3017520"/>
            <a:ext cx="1325880" cy="274320"/>
          </a:xfrm>
          <a:prstGeom prst="rect">
            <a:avLst/>
          </a:prstGeom>
          <a:noFill/>
        </p:spPr>
        <p:txBody>
          <a:bodyPr wrap="square" lIns="0" rIns="0" tIns="0" bIns="0" anchor="t">
            <a:spAutoFit/>
          </a:bodyPr>
          <a:lstStyle/>
          <a:p>
            <a:pPr algn="l">
              <a:lnSpc>
                <a:spcPct val="125000"/>
              </a:lnSpc>
              <a:spcAft>
                <a:spcPts val="600"/>
              </a:spcAft>
            </a:pPr>
            <a:r>
              <a:rPr sz="1300" b="1">
                <a:solidFill>
                  <a:srgbClr val="0B2A5B"/>
                </a:solidFill>
                <a:latin typeface="Microsoft JhengHei"/>
                <a:ea typeface="Microsoft JhengHei"/>
              </a:rPr>
              <a:t>LSTM 編碼</a:t>
            </a:r>
          </a:p>
        </p:txBody>
      </p:sp>
      <p:sp>
        <p:nvSpPr>
          <p:cNvPr id="9" name="TextBox 8"/>
          <p:cNvSpPr txBox="1"/>
          <p:nvPr/>
        </p:nvSpPr>
        <p:spPr>
          <a:xfrm>
            <a:off x="640080" y="4069080"/>
            <a:ext cx="1325880" cy="274320"/>
          </a:xfrm>
          <a:prstGeom prst="rect">
            <a:avLst/>
          </a:prstGeom>
          <a:noFill/>
        </p:spPr>
        <p:txBody>
          <a:bodyPr wrap="square" lIns="0" rIns="0" tIns="0" bIns="0" anchor="t">
            <a:spAutoFit/>
          </a:bodyPr>
          <a:lstStyle/>
          <a:p>
            <a:pPr algn="l">
              <a:lnSpc>
                <a:spcPct val="125000"/>
              </a:lnSpc>
              <a:spcAft>
                <a:spcPts val="600"/>
              </a:spcAft>
            </a:pPr>
            <a:r>
              <a:rPr sz="1300" b="1">
                <a:solidFill>
                  <a:srgbClr val="0B2A5B"/>
                </a:solidFill>
                <a:latin typeface="Microsoft JhengHei"/>
                <a:ea typeface="Microsoft JhengHei"/>
              </a:rPr>
              <a:t>MLP 編碼</a:t>
            </a:r>
          </a:p>
        </p:txBody>
      </p:sp>
      <p:sp>
        <p:nvSpPr>
          <p:cNvPr id="10" name="Rounded Rectangle 9"/>
          <p:cNvSpPr/>
          <p:nvPr/>
        </p:nvSpPr>
        <p:spPr>
          <a:xfrm>
            <a:off x="2057400" y="2697480"/>
            <a:ext cx="2148840" cy="96012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lnSpc>
                <a:spcPct val="125000"/>
              </a:lnSpc>
              <a:spcAft>
                <a:spcPts val="0"/>
              </a:spcAft>
            </a:pPr>
            <a:r>
              <a:rPr sz="1200" b="0">
                <a:solidFill>
                  <a:srgbClr val="6B7280"/>
                </a:solidFill>
                <a:latin typeface="Microsoft JhengHei"/>
                <a:ea typeface="Microsoft JhengHei"/>
              </a:rPr>
              <a:t>v3（官方）</a:t>
            </a:r>
          </a:p>
          <a:p>
            <a:pPr algn="ctr">
              <a:lnSpc>
                <a:spcPct val="125000"/>
              </a:lnSpc>
              <a:spcAft>
                <a:spcPts val="600"/>
              </a:spcAft>
            </a:pPr>
            <a:r>
              <a:rPr sz="2400" b="1">
                <a:solidFill>
                  <a:srgbClr val="0B2A5B"/>
                </a:solidFill>
                <a:latin typeface="Microsoft JhengHei"/>
                <a:ea typeface="Microsoft JhengHei"/>
              </a:rPr>
              <a:t>−0.323</a:t>
            </a:r>
          </a:p>
        </p:txBody>
      </p:sp>
      <p:sp>
        <p:nvSpPr>
          <p:cNvPr id="11" name="Rounded Rectangle 10"/>
          <p:cNvSpPr/>
          <p:nvPr/>
        </p:nvSpPr>
        <p:spPr>
          <a:xfrm>
            <a:off x="4297680" y="2697480"/>
            <a:ext cx="2148840" cy="96012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lnSpc>
                <a:spcPct val="125000"/>
              </a:lnSpc>
              <a:spcAft>
                <a:spcPts val="0"/>
              </a:spcAft>
            </a:pPr>
            <a:r>
              <a:rPr sz="1200" b="0">
                <a:solidFill>
                  <a:srgbClr val="6B7280"/>
                </a:solidFill>
                <a:latin typeface="Microsoft JhengHei"/>
                <a:ea typeface="Microsoft JhengHei"/>
              </a:rPr>
              <a:t>v3s</a:t>
            </a:r>
          </a:p>
          <a:p>
            <a:pPr algn="ctr">
              <a:lnSpc>
                <a:spcPct val="125000"/>
              </a:lnSpc>
              <a:spcAft>
                <a:spcPts val="600"/>
              </a:spcAft>
            </a:pPr>
            <a:r>
              <a:rPr sz="2400" b="1">
                <a:solidFill>
                  <a:srgbClr val="0B2A5B"/>
                </a:solidFill>
                <a:latin typeface="Microsoft JhengHei"/>
                <a:ea typeface="Microsoft JhengHei"/>
              </a:rPr>
              <a:t>−0.422</a:t>
            </a:r>
          </a:p>
        </p:txBody>
      </p:sp>
      <p:sp>
        <p:nvSpPr>
          <p:cNvPr id="12" name="Rounded Rectangle 11"/>
          <p:cNvSpPr/>
          <p:nvPr/>
        </p:nvSpPr>
        <p:spPr>
          <a:xfrm>
            <a:off x="2057400" y="3749040"/>
            <a:ext cx="2148840" cy="96012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lnSpc>
                <a:spcPct val="125000"/>
              </a:lnSpc>
              <a:spcAft>
                <a:spcPts val="0"/>
              </a:spcAft>
            </a:pPr>
            <a:r>
              <a:rPr sz="1200" b="0">
                <a:solidFill>
                  <a:srgbClr val="6B7280"/>
                </a:solidFill>
                <a:latin typeface="Microsoft JhengHei"/>
                <a:ea typeface="Microsoft JhengHei"/>
              </a:rPr>
              <a:t>v3m</a:t>
            </a:r>
          </a:p>
          <a:p>
            <a:pPr algn="ctr">
              <a:lnSpc>
                <a:spcPct val="125000"/>
              </a:lnSpc>
              <a:spcAft>
                <a:spcPts val="600"/>
              </a:spcAft>
            </a:pPr>
            <a:r>
              <a:rPr sz="2400" b="1">
                <a:solidFill>
                  <a:srgbClr val="C4553B"/>
                </a:solidFill>
                <a:latin typeface="Microsoft JhengHei"/>
                <a:ea typeface="Microsoft JhengHei"/>
              </a:rPr>
              <a:t>−1.528</a:t>
            </a:r>
          </a:p>
        </p:txBody>
      </p:sp>
      <p:sp>
        <p:nvSpPr>
          <p:cNvPr id="13" name="Rounded Rectangle 12"/>
          <p:cNvSpPr/>
          <p:nvPr/>
        </p:nvSpPr>
        <p:spPr>
          <a:xfrm>
            <a:off x="4297680" y="3749040"/>
            <a:ext cx="2148840" cy="960120"/>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lnSpc>
                <a:spcPct val="125000"/>
              </a:lnSpc>
              <a:spcAft>
                <a:spcPts val="0"/>
              </a:spcAft>
            </a:pPr>
            <a:r>
              <a:rPr sz="1200" b="0">
                <a:solidFill>
                  <a:srgbClr val="6B7280"/>
                </a:solidFill>
                <a:latin typeface="Microsoft JhengHei"/>
                <a:ea typeface="Microsoft JhengHei"/>
              </a:rPr>
              <a:t>v3ms</a:t>
            </a:r>
          </a:p>
          <a:p>
            <a:pPr algn="ctr">
              <a:lnSpc>
                <a:spcPct val="125000"/>
              </a:lnSpc>
              <a:spcAft>
                <a:spcPts val="600"/>
              </a:spcAft>
            </a:pPr>
            <a:r>
              <a:rPr sz="2400" b="1">
                <a:solidFill>
                  <a:srgbClr val="C4553B"/>
                </a:solidFill>
                <a:latin typeface="Microsoft JhengHei"/>
                <a:ea typeface="Microsoft JhengHei"/>
              </a:rPr>
              <a:t>−1.301</a:t>
            </a:r>
          </a:p>
        </p:txBody>
      </p:sp>
      <p:sp>
        <p:nvSpPr>
          <p:cNvPr id="14" name="Rounded Rectangle 13"/>
          <p:cNvSpPr/>
          <p:nvPr/>
        </p:nvSpPr>
        <p:spPr>
          <a:xfrm>
            <a:off x="640080" y="4892040"/>
            <a:ext cx="6309360" cy="566928"/>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146304" bIns="146304" wrap="square"/>
          <a:lstStyle/>
          <a:p>
            <a:pPr algn="l">
              <a:lnSpc>
                <a:spcPct val="125000"/>
              </a:lnSpc>
              <a:spcAft>
                <a:spcPts val="600"/>
              </a:spcAft>
            </a:pPr>
            <a:r>
              <a:rPr sz="1350" b="0">
                <a:solidFill>
                  <a:srgbClr val="1A1A1A"/>
                </a:solidFill>
                <a:latin typeface="Microsoft JhengHei"/>
                <a:ea typeface="Microsoft JhengHei"/>
              </a:rPr>
              <a:t>表格式價值迭代（vi）：無神經網路、無梯度 → </a:t>
            </a:r>
            <a:r>
              <a:rPr sz="1350" b="1">
                <a:solidFill>
                  <a:srgbClr val="C4553B"/>
                </a:solidFill>
                <a:latin typeface="Microsoft JhengHei"/>
                <a:ea typeface="Microsoft JhengHei"/>
              </a:rPr>
              <a:t>−2.134</a:t>
            </a:r>
            <a:r>
              <a:rPr sz="1350" b="0">
                <a:solidFill>
                  <a:srgbClr val="1A1A1A"/>
                </a:solidFill>
                <a:latin typeface="Microsoft JhengHei"/>
                <a:ea typeface="Microsoft JhengHei"/>
              </a:rPr>
              <a:t>（九臂最差）</a:t>
            </a:r>
          </a:p>
        </p:txBody>
      </p:sp>
      <p:sp>
        <p:nvSpPr>
          <p:cNvPr id="15" name="TextBox 14"/>
          <p:cNvSpPr txBox="1"/>
          <p:nvPr/>
        </p:nvSpPr>
        <p:spPr>
          <a:xfrm>
            <a:off x="640080" y="5623560"/>
            <a:ext cx="6309360" cy="365760"/>
          </a:xfrm>
          <a:prstGeom prst="rect">
            <a:avLst/>
          </a:prstGeom>
          <a:noFill/>
        </p:spPr>
        <p:txBody>
          <a:bodyPr wrap="square" lIns="0" rIns="0" tIns="0" bIns="0" anchor="t">
            <a:spAutoFit/>
          </a:bodyPr>
          <a:lstStyle/>
          <a:p>
            <a:pPr algn="l">
              <a:lnSpc>
                <a:spcPct val="125000"/>
              </a:lnSpc>
              <a:spcAft>
                <a:spcPts val="600"/>
              </a:spcAft>
            </a:pPr>
            <a:r>
              <a:rPr sz="1100" b="0">
                <a:solidFill>
                  <a:srgbClr val="6B7280"/>
                </a:solidFill>
                <a:latin typeface="Microsoft JhengHei"/>
                <a:ea typeface="Microsoft JhengHei"/>
              </a:rPr>
              <a:t>數字為附錄 E 的重算 Sharpe（與 4.1.3 官方口徑差約 0.02–0.03，只用於排序）</a:t>
            </a:r>
          </a:p>
        </p:txBody>
      </p:sp>
      <p:sp>
        <p:nvSpPr>
          <p:cNvPr id="16" name="Rounded Rectangle 15"/>
          <p:cNvSpPr/>
          <p:nvPr/>
        </p:nvSpPr>
        <p:spPr>
          <a:xfrm>
            <a:off x="7223760" y="1691640"/>
            <a:ext cx="4297680" cy="24688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看得出什麼</a:t>
            </a:r>
          </a:p>
          <a:p>
            <a:pPr algn="l">
              <a:lnSpc>
                <a:spcPct val="125000"/>
              </a:lnSpc>
              <a:spcAft>
                <a:spcPts val="600"/>
              </a:spcAft>
            </a:pPr>
            <a:r>
              <a:rPr sz="1300" b="1">
                <a:solidFill>
                  <a:srgbClr val="1A1A1A"/>
                </a:solidFill>
                <a:latin typeface="Microsoft JhengHei"/>
                <a:ea typeface="Microsoft JhengHei"/>
              </a:rPr>
              <a:t>編碼器才是主要變因</a:t>
            </a:r>
            <a:r>
              <a:rPr sz="1300" b="0">
                <a:solidFill>
                  <a:srgbClr val="1A1A1A"/>
                </a:solidFill>
                <a:latin typeface="Microsoft JhengHei"/>
                <a:ea typeface="Microsoft JhengHei"/>
              </a:rPr>
              <a:t>：MLP 兩格都差很多，進場數 808、824，逼近最愛交易的 v2（854）。</a:t>
            </a:r>
          </a:p>
          <a:p>
            <a:pPr algn="l">
              <a:lnSpc>
                <a:spcPct val="125000"/>
              </a:lnSpc>
              <a:spcAft>
                <a:spcPts val="600"/>
              </a:spcAft>
            </a:pPr>
            <a:r>
              <a:rPr sz="1300" b="1">
                <a:solidFill>
                  <a:srgbClr val="1A1A1A"/>
                </a:solidFill>
                <a:latin typeface="Microsoft JhengHei"/>
                <a:ea typeface="Microsoft JhengHei"/>
              </a:rPr>
              <a:t>Double-Q 影響很小、方向不穩</a:t>
            </a:r>
            <a:r>
              <a:rPr sz="1300" b="0">
                <a:solidFill>
                  <a:srgbClr val="1A1A1A"/>
                </a:solidFill>
                <a:latin typeface="Microsoft JhengHei"/>
                <a:ea typeface="Microsoft JhengHei"/>
              </a:rPr>
              <a:t>：在 LSTM 上它比較好，在 MLP 上反而比較差。</a:t>
            </a:r>
          </a:p>
          <a:p>
            <a:pPr algn="l">
              <a:lnSpc>
                <a:spcPct val="125000"/>
              </a:lnSpc>
              <a:spcAft>
                <a:spcPts val="600"/>
              </a:spcAft>
            </a:pPr>
            <a:r>
              <a:rPr sz="1300" b="1">
                <a:solidFill>
                  <a:srgbClr val="1A1A1A"/>
                </a:solidFill>
                <a:latin typeface="Microsoft JhengHei"/>
                <a:ea typeface="Microsoft JhengHei"/>
              </a:rPr>
              <a:t>連表格法都輸</a:t>
            </a:r>
            <a:r>
              <a:rPr sz="1300" b="0">
                <a:solidFill>
                  <a:srgbClr val="1A1A1A"/>
                </a:solidFill>
                <a:latin typeface="Microsoft JhengHei"/>
                <a:ea typeface="Microsoft JhengHei"/>
              </a:rPr>
              <a:t>：它收斂到精確解，排除了「優化沒調好」這個解釋。</a:t>
            </a:r>
          </a:p>
        </p:txBody>
      </p:sp>
      <p:sp>
        <p:nvSpPr>
          <p:cNvPr id="17" name="Rounded Rectangle 16"/>
          <p:cNvSpPr/>
          <p:nvPr/>
        </p:nvSpPr>
        <p:spPr>
          <a:xfrm>
            <a:off x="7223760" y="4343400"/>
            <a:ext cx="4297680" cy="14173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證據等級要講清楚</a:t>
            </a:r>
          </a:p>
          <a:p>
            <a:pPr algn="l">
              <a:lnSpc>
                <a:spcPct val="125000"/>
              </a:lnSpc>
              <a:spcAft>
                <a:spcPts val="600"/>
              </a:spcAft>
            </a:pPr>
            <a:r>
              <a:rPr sz="1300" b="0">
                <a:solidFill>
                  <a:srgbClr val="1A1A1A"/>
                </a:solidFill>
                <a:latin typeface="Microsoft JhengHei"/>
                <a:ea typeface="Microsoft JhengHei"/>
              </a:rPr>
              <a:t>未預先登記、每臂一次、無種子、無檢定——</a:t>
            </a:r>
            <a:r>
              <a:rPr sz="1300" b="1">
                <a:solidFill>
                  <a:srgbClr val="1A1A1A"/>
                </a:solidFill>
                <a:latin typeface="Microsoft JhengHei"/>
                <a:ea typeface="Microsoft JhengHei"/>
              </a:rPr>
              <a:t>只是探索性佐證</a:t>
            </a:r>
            <a:r>
              <a:rPr sz="1300" b="0">
                <a:solidFill>
                  <a:srgbClr val="1A1A1A"/>
                </a:solidFill>
                <a:latin typeface="Microsoft JhengHei"/>
                <a:ea typeface="Microsoft JhengHei"/>
              </a:rPr>
              <a:t>，不能單獨引用成統計結論。</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第二段（跑前定稿）　｜　§4.2</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第二段：讓模型逐對挑門檻，竟然輸給一個常數</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37</a:t>
            </a:r>
          </a:p>
        </p:txBody>
      </p:sp>
      <p:sp>
        <p:nvSpPr>
          <p:cNvPr id="5" name="TextBox 4"/>
          <p:cNvSpPr txBox="1"/>
          <p:nvPr/>
        </p:nvSpPr>
        <p:spPr>
          <a:xfrm>
            <a:off x="640080" y="1645920"/>
            <a:ext cx="10881360" cy="822960"/>
          </a:xfrm>
          <a:prstGeom prst="rect">
            <a:avLst/>
          </a:prstGeom>
          <a:noFill/>
        </p:spPr>
        <p:txBody>
          <a:bodyPr wrap="square" lIns="0" rIns="0" tIns="0" bIns="0" anchor="t">
            <a:spAutoFit/>
          </a:bodyPr>
          <a:lstStyle/>
          <a:p>
            <a:pPr algn="l">
              <a:lnSpc>
                <a:spcPct val="125000"/>
              </a:lnSpc>
              <a:spcAft>
                <a:spcPts val="600"/>
              </a:spcAft>
            </a:pPr>
            <a:r>
              <a:rPr sz="1500" b="0">
                <a:solidFill>
                  <a:srgbClr val="1A1A1A"/>
                </a:solidFill>
                <a:latin typeface="Microsoft JhengHei"/>
                <a:ea typeface="Microsoft JhengHei"/>
              </a:rPr>
              <a:t>Q1 說「該把動作空間縮小」。那縮小之後還剩什麼能力？用監督回歸</a:t>
            </a:r>
            <a:r>
              <a:rPr sz="1500" b="1">
                <a:solidFill>
                  <a:srgbClr val="1A1A1A"/>
                </a:solidFill>
                <a:latin typeface="Microsoft JhengHei"/>
                <a:ea typeface="Microsoft JhengHei"/>
              </a:rPr>
              <a:t>逐對學門檻</a:t>
            </a:r>
            <a:r>
              <a:rPr sz="1500" b="0">
                <a:solidFill>
                  <a:srgbClr val="1A1A1A"/>
                </a:solidFill>
                <a:latin typeface="Microsoft JhengHei"/>
                <a:ea typeface="Microsoft JhengHei"/>
              </a:rPr>
              <a:t>，對照「</a:t>
            </a:r>
            <a:r>
              <a:rPr sz="1500" b="1">
                <a:solidFill>
                  <a:srgbClr val="1A1A1A"/>
                </a:solidFill>
                <a:latin typeface="Microsoft JhengHei"/>
                <a:ea typeface="Microsoft JhengHei"/>
              </a:rPr>
              <a:t>擴張窗最佳常數</a:t>
            </a:r>
            <a:r>
              <a:rPr sz="1500" b="0">
                <a:solidFill>
                  <a:srgbClr val="1A1A1A"/>
                </a:solidFill>
                <a:latin typeface="Microsoft JhengHei"/>
                <a:ea typeface="Microsoft JhengHei"/>
              </a:rPr>
              <a:t>」：每期只用前面的資料選</a:t>
            </a:r>
            <a:r>
              <a:rPr sz="1500" b="1">
                <a:solidFill>
                  <a:srgbClr val="1A1A1A"/>
                </a:solidFill>
                <a:latin typeface="Microsoft JhengHei"/>
                <a:ea typeface="Microsoft JhengHei"/>
              </a:rPr>
              <a:t>一個</a:t>
            </a:r>
            <a:r>
              <a:rPr sz="1500" b="0">
                <a:solidFill>
                  <a:srgbClr val="1A1A1A"/>
                </a:solidFill>
                <a:latin typeface="Microsoft JhengHei"/>
                <a:ea typeface="Microsoft JhengHei"/>
              </a:rPr>
              <a:t>最好的門檻，套用到所有配對——合法、無前視。</a:t>
            </a:r>
          </a:p>
        </p:txBody>
      </p:sp>
      <p:graphicFrame>
        <p:nvGraphicFramePr>
          <p:cNvPr id="6" name="Table 5"/>
          <p:cNvGraphicFramePr>
            <a:graphicFrameLocks noGrp="1"/>
          </p:cNvGraphicFramePr>
          <p:nvPr/>
        </p:nvGraphicFramePr>
        <p:xfrm>
          <a:off x="640080" y="2606040"/>
          <a:ext cx="6217920" cy="2194560"/>
        </p:xfrm>
        <a:graphic>
          <a:graphicData uri="http://schemas.openxmlformats.org/drawingml/2006/table">
            <a:tbl>
              <a:tblPr firstRow="1" bandRow="1">
                <a:tableStyleId>{5C22544A-7EE6-4342-B048-85BDC9FD1C3A}</a:tableStyleId>
              </a:tblPr>
              <a:tblGrid>
                <a:gridCol w="3840480"/>
                <a:gridCol w="2377440"/>
              </a:tblGrid>
              <a:tr h="365760">
                <a:tc>
                  <a:txBody>
                    <a:bodyPr wrap="square"/>
                    <a:lstStyle/>
                    <a:p>
                      <a:pPr algn="l">
                        <a:lnSpc>
                          <a:spcPct val="110000"/>
                        </a:lnSpc>
                        <a:spcAft>
                          <a:spcPts val="0"/>
                        </a:spcAft>
                      </a:pPr>
                      <a:r>
                        <a:rPr sz="1400" b="1">
                          <a:solidFill>
                            <a:srgbClr val="FFFFFF"/>
                          </a:solidFill>
                          <a:latin typeface="Microsoft JhengHei"/>
                          <a:ea typeface="Microsoft JhengHei"/>
                        </a:rPr>
                        <a:t>方法</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每期平均 capture_frac</a:t>
                      </a:r>
                    </a:p>
                  </a:txBody>
                  <a:tcPr marT="27432" marB="27432" marL="73152" marR="73152" anchor="ctr">
                    <a:solidFill>
                      <a:srgbClr val="0B2A5B"/>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模型（30 維特徵 × 20 個動作）</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+0.005510</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擴張窗最佳常數（基準）</a:t>
                      </a:r>
                    </a:p>
                  </a:txBody>
                  <a:tcPr marT="27432" marB="27432" marL="73152" marR="73152" anchor="ctr">
                    <a:solidFill>
                      <a:srgbClr val="E8EDF5"/>
                    </a:solidFill>
                  </a:tcPr>
                </a:tc>
                <a:tc>
                  <a:txBody>
                    <a:bodyPr wrap="square"/>
                    <a:lstStyle/>
                    <a:p>
                      <a:pPr algn="r">
                        <a:lnSpc>
                          <a:spcPct val="110000"/>
                        </a:lnSpc>
                        <a:spcAft>
                          <a:spcPts val="0"/>
                        </a:spcAft>
                      </a:pPr>
                      <a:r>
                        <a:rPr sz="1400" b="1">
                          <a:solidFill>
                            <a:srgbClr val="1A1A1A"/>
                          </a:solidFill>
                          <a:latin typeface="Microsoft JhengHei"/>
                          <a:ea typeface="Microsoft JhengHei"/>
                        </a:rPr>
                        <a:t>+0.010397</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差</a:t>
                      </a:r>
                    </a:p>
                  </a:txBody>
                  <a:tcPr marT="27432" marB="27432" marL="73152" marR="73152" anchor="ctr">
                    <a:solidFill>
                      <a:srgbClr val="FFFFFF"/>
                    </a:solidFill>
                  </a:tcPr>
                </a:tc>
                <a:tc>
                  <a:txBody>
                    <a:bodyPr wrap="square"/>
                    <a:lstStyle/>
                    <a:p>
                      <a:pPr algn="r">
                        <a:lnSpc>
                          <a:spcPct val="110000"/>
                        </a:lnSpc>
                        <a:spcAft>
                          <a:spcPts val="0"/>
                        </a:spcAft>
                      </a:pPr>
                      <a:r>
                        <a:rPr sz="1400" b="1">
                          <a:solidFill>
                            <a:srgbClr val="C4553B"/>
                          </a:solidFill>
                          <a:latin typeface="Microsoft JhengHei"/>
                          <a:ea typeface="Microsoft JhengHei"/>
                        </a:rPr>
                        <a:t>−0.004887（p = 0.0004）</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現行 (2.0, 0.0)（附帶）</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+0.006932</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完美預知（天花板）</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+0.045794</a:t>
                      </a:r>
                    </a:p>
                  </a:txBody>
                  <a:tcPr marT="27432" marB="27432" marL="73152" marR="73152" anchor="ctr">
                    <a:solidFill>
                      <a:srgbClr val="FFFFFF"/>
                    </a:solidFill>
                  </a:tcPr>
                </a:tc>
              </a:tr>
            </a:tbl>
          </a:graphicData>
        </a:graphic>
      </p:graphicFrame>
      <p:sp>
        <p:nvSpPr>
          <p:cNvPr id="7" name="TextBox 6"/>
          <p:cNvSpPr txBox="1"/>
          <p:nvPr/>
        </p:nvSpPr>
        <p:spPr>
          <a:xfrm>
            <a:off x="640080" y="4937760"/>
            <a:ext cx="6217920" cy="731520"/>
          </a:xfrm>
          <a:prstGeom prst="rect">
            <a:avLst/>
          </a:prstGeom>
          <a:noFill/>
        </p:spPr>
        <p:txBody>
          <a:bodyPr wrap="square" lIns="0" rIns="0" tIns="0" bIns="0" anchor="t">
            <a:spAutoFit/>
          </a:bodyPr>
          <a:lstStyle/>
          <a:p>
            <a:pPr algn="l">
              <a:lnSpc>
                <a:spcPct val="125000"/>
              </a:lnSpc>
              <a:spcAft>
                <a:spcPts val="300"/>
              </a:spcAft>
            </a:pPr>
            <a:r>
              <a:rPr sz="1250" b="0">
                <a:solidFill>
                  <a:srgbClr val="1A1A1A"/>
                </a:solidFill>
                <a:latin typeface="Microsoft JhengHei"/>
                <a:ea typeface="Microsoft JhengHei"/>
              </a:rPr>
              <a:t>capture_frac＝實際捕獲佔完美預知上限的比例。</a:t>
            </a:r>
          </a:p>
          <a:p>
            <a:pPr algn="l">
              <a:lnSpc>
                <a:spcPct val="125000"/>
              </a:lnSpc>
              <a:spcAft>
                <a:spcPts val="300"/>
              </a:spcAft>
            </a:pPr>
            <a:r>
              <a:rPr sz="1250" b="0">
                <a:solidFill>
                  <a:srgbClr val="6B7280"/>
                </a:solidFill>
                <a:latin typeface="Microsoft JhengHei"/>
                <a:ea typeface="Microsoft JhengHei"/>
              </a:rPr>
              <a:t>樣本 91,775 列、295 期；暖身 36 期、擴張窗、每 12 期重訓、6 期隔離帶。</a:t>
            </a:r>
          </a:p>
        </p:txBody>
      </p:sp>
      <p:sp>
        <p:nvSpPr>
          <p:cNvPr id="8" name="Rounded Rectangle 7"/>
          <p:cNvSpPr/>
          <p:nvPr/>
        </p:nvSpPr>
        <p:spPr>
          <a:xfrm>
            <a:off x="7223760" y="2606040"/>
            <a:ext cx="4297680" cy="224028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2200" b="1">
                <a:solidFill>
                  <a:srgbClr val="FFFFFF"/>
                </a:solidFill>
                <a:latin typeface="Microsoft JhengHei"/>
                <a:ea typeface="Microsoft JhengHei"/>
              </a:rPr>
              <a:t>裁決：未過閘</a:t>
            </a:r>
          </a:p>
          <a:p>
            <a:pPr algn="l">
              <a:lnSpc>
                <a:spcPct val="125000"/>
              </a:lnSpc>
              <a:spcAft>
                <a:spcPts val="600"/>
              </a:spcAft>
            </a:pPr>
            <a:r>
              <a:rPr sz="1400" b="0">
                <a:solidFill>
                  <a:srgbClr val="E8EDF5"/>
                </a:solidFill>
                <a:latin typeface="Microsoft JhengHei"/>
                <a:ea typeface="Microsoft JhengHei"/>
              </a:rPr>
              <a:t>模型只吃到天花板的 </a:t>
            </a:r>
            <a:r>
              <a:rPr sz="1400" b="1">
                <a:solidFill>
                  <a:srgbClr val="E8EDF5"/>
                </a:solidFill>
                <a:latin typeface="Microsoft JhengHei"/>
                <a:ea typeface="Microsoft JhengHei"/>
              </a:rPr>
              <a:t>−13.8%</a:t>
            </a:r>
            <a:r>
              <a:rPr sz="1400" b="0">
                <a:solidFill>
                  <a:srgbClr val="E8EDF5"/>
                </a:solidFill>
                <a:latin typeface="Microsoft JhengHei"/>
                <a:ea typeface="Microsoft JhengHei"/>
              </a:rPr>
              <a:t>（相對常數）。</a:t>
            </a:r>
          </a:p>
          <a:p>
            <a:pPr algn="l">
              <a:lnSpc>
                <a:spcPct val="125000"/>
              </a:lnSpc>
              <a:spcAft>
                <a:spcPts val="600"/>
              </a:spcAft>
            </a:pPr>
            <a:r>
              <a:rPr sz="1400" b="0">
                <a:solidFill>
                  <a:srgbClr val="E8EDF5"/>
                </a:solidFill>
                <a:latin typeface="Microsoft JhengHei"/>
                <a:ea typeface="Microsoft JhengHei"/>
              </a:rPr>
              <a:t>不只是沒學到東西——它</a:t>
            </a:r>
            <a:r>
              <a:rPr sz="1400" b="1">
                <a:solidFill>
                  <a:srgbClr val="E8EDF5"/>
                </a:solidFill>
                <a:latin typeface="Microsoft JhengHei"/>
                <a:ea typeface="Microsoft JhengHei"/>
              </a:rPr>
              <a:t>顯著劣於一個常數</a:t>
            </a:r>
            <a:r>
              <a:rPr sz="1400" b="0">
                <a:solidFill>
                  <a:srgbClr val="E8EDF5"/>
                </a:solidFill>
                <a:latin typeface="Microsoft JhengHei"/>
                <a:ea typeface="Microsoft JhengHei"/>
              </a:rPr>
              <a:t>。</a:t>
            </a:r>
          </a:p>
          <a:p>
            <a:pPr algn="l">
              <a:lnSpc>
                <a:spcPct val="125000"/>
              </a:lnSpc>
              <a:spcAft>
                <a:spcPts val="600"/>
              </a:spcAft>
            </a:pPr>
            <a:r>
              <a:rPr sz="1250" b="0">
                <a:solidFill>
                  <a:srgbClr val="C9D3E3"/>
                </a:solidFill>
                <a:latin typeface="Microsoft JhengHei"/>
                <a:ea typeface="Microsoft JhengHei"/>
              </a:rPr>
              <a:t>判準在執行前定稿。</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第二段（跑前定稿）　｜　§4.2.1–4.2.3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為什麼會輸？弱訊號遇上 argmax，雜訊被放大</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38</a:t>
            </a:r>
          </a:p>
        </p:txBody>
      </p:sp>
      <p:sp>
        <p:nvSpPr>
          <p:cNvPr id="5" name="TextBox 4"/>
          <p:cNvSpPr txBox="1"/>
          <p:nvPr/>
        </p:nvSpPr>
        <p:spPr>
          <a:xfrm>
            <a:off x="640080" y="1645920"/>
            <a:ext cx="10881360" cy="731520"/>
          </a:xfrm>
          <a:prstGeom prst="rect">
            <a:avLst/>
          </a:prstGeom>
          <a:noFill/>
        </p:spPr>
        <p:txBody>
          <a:bodyPr wrap="square" lIns="0" rIns="0" tIns="0" bIns="0" anchor="t">
            <a:spAutoFit/>
          </a:bodyPr>
          <a:lstStyle/>
          <a:p>
            <a:pPr algn="l">
              <a:lnSpc>
                <a:spcPct val="125000"/>
              </a:lnSpc>
              <a:spcAft>
                <a:spcPts val="600"/>
              </a:spcAft>
            </a:pPr>
            <a:r>
              <a:rPr sz="1550" b="0">
                <a:solidFill>
                  <a:srgbClr val="1A1A1A"/>
                </a:solidFill>
                <a:latin typeface="Microsoft JhengHei"/>
                <a:ea typeface="Microsoft JhengHei"/>
              </a:rPr>
              <a:t>設計所依據的訊號：Spearman（價差波動度, 最佳進場門檻）＝ </a:t>
            </a:r>
            <a:r>
              <a:rPr sz="1550" b="1">
                <a:solidFill>
                  <a:srgbClr val="1A1A1A"/>
                </a:solidFill>
                <a:latin typeface="Microsoft JhengHei"/>
                <a:ea typeface="Microsoft JhengHei"/>
              </a:rPr>
              <a:t>+0.1007</a:t>
            </a:r>
            <a:r>
              <a:rPr sz="1550" b="0">
                <a:solidFill>
                  <a:srgbClr val="1A1A1A"/>
                </a:solidFill>
                <a:latin typeface="Microsoft JhengHei"/>
                <a:ea typeface="Microsoft JhengHei"/>
              </a:rPr>
              <a:t>（t ＝ 3.37）——統計上顯著，但</a:t>
            </a:r>
            <a:r>
              <a:rPr sz="1550" b="1">
                <a:solidFill>
                  <a:srgbClr val="1A1A1A"/>
                </a:solidFill>
                <a:latin typeface="Microsoft JhengHei"/>
                <a:ea typeface="Microsoft JhengHei"/>
              </a:rPr>
              <a:t>量級很弱</a:t>
            </a:r>
            <a:r>
              <a:rPr sz="1550" b="0">
                <a:solidFill>
                  <a:srgbClr val="1A1A1A"/>
                </a:solidFill>
                <a:latin typeface="Microsoft JhengHei"/>
                <a:ea typeface="Microsoft JhengHei"/>
              </a:rPr>
              <a:t>。</a:t>
            </a:r>
          </a:p>
        </p:txBody>
      </p:sp>
      <p:sp>
        <p:nvSpPr>
          <p:cNvPr id="6" name="Rounded Rectangle 5"/>
          <p:cNvSpPr/>
          <p:nvPr/>
        </p:nvSpPr>
        <p:spPr>
          <a:xfrm>
            <a:off x="640080" y="2331720"/>
            <a:ext cx="5257800" cy="21488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機制：argmax 會挑到「誤差最大」的那個</a:t>
            </a:r>
          </a:p>
          <a:p>
            <a:pPr algn="l">
              <a:lnSpc>
                <a:spcPct val="125000"/>
              </a:lnSpc>
              <a:spcAft>
                <a:spcPts val="600"/>
              </a:spcAft>
            </a:pPr>
            <a:r>
              <a:rPr sz="1350" b="0">
                <a:solidFill>
                  <a:srgbClr val="1A1A1A"/>
                </a:solidFill>
                <a:latin typeface="Microsoft JhengHei"/>
                <a:ea typeface="Microsoft JhengHei"/>
              </a:rPr>
              <a:t>選法是對 </a:t>
            </a:r>
            <a:r>
              <a:rPr sz="1350" b="1">
                <a:solidFill>
                  <a:srgbClr val="1A1A1A"/>
                </a:solidFill>
                <a:latin typeface="Microsoft JhengHei"/>
                <a:ea typeface="Microsoft JhengHei"/>
              </a:rPr>
              <a:t>20 個獨立回歸</a:t>
            </a:r>
            <a:r>
              <a:rPr sz="1350" b="0">
                <a:solidFill>
                  <a:srgbClr val="1A1A1A"/>
                </a:solidFill>
                <a:latin typeface="Microsoft JhengHei"/>
                <a:ea typeface="Microsoft JhengHei"/>
              </a:rPr>
              <a:t>的預測值取最大。</a:t>
            </a:r>
          </a:p>
          <a:p>
            <a:pPr algn="l">
              <a:lnSpc>
                <a:spcPct val="125000"/>
              </a:lnSpc>
              <a:spcAft>
                <a:spcPts val="600"/>
              </a:spcAft>
            </a:pPr>
            <a:r>
              <a:rPr sz="1350" b="0">
                <a:solidFill>
                  <a:srgbClr val="1A1A1A"/>
                </a:solidFill>
                <a:latin typeface="Microsoft JhengHei"/>
                <a:ea typeface="Microsoft JhengHei"/>
              </a:rPr>
              <a:t>訊號弱的時候，最容易被推到最高的，往往是</a:t>
            </a:r>
            <a:r>
              <a:rPr sz="1350" b="1">
                <a:solidFill>
                  <a:srgbClr val="1A1A1A"/>
                </a:solidFill>
                <a:latin typeface="Microsoft JhengHei"/>
                <a:ea typeface="Microsoft JhengHei"/>
              </a:rPr>
              <a:t>預測誤差最大</a:t>
            </a:r>
            <a:r>
              <a:rPr sz="1350" b="0">
                <a:solidFill>
                  <a:srgbClr val="1A1A1A"/>
                </a:solidFill>
                <a:latin typeface="Microsoft JhengHei"/>
                <a:ea typeface="Microsoft JhengHei"/>
              </a:rPr>
              <a:t>的那個輸出——選取本身帶進來的雜訊，比訊號還大。</a:t>
            </a:r>
          </a:p>
          <a:p>
            <a:pPr algn="l">
              <a:lnSpc>
                <a:spcPct val="125000"/>
              </a:lnSpc>
              <a:spcAft>
                <a:spcPts val="600"/>
              </a:spcAft>
            </a:pPr>
            <a:r>
              <a:rPr sz="1250" b="0">
                <a:solidFill>
                  <a:srgbClr val="6B7280"/>
                </a:solidFill>
                <a:latin typeface="Microsoft JhengHei"/>
                <a:ea typeface="Microsoft JhengHei"/>
              </a:rPr>
              <a:t>這是資訊科學的機制，不需要任何價格理論。</a:t>
            </a:r>
          </a:p>
        </p:txBody>
      </p:sp>
      <p:sp>
        <p:nvSpPr>
          <p:cNvPr id="7" name="Rounded Rectangle 6"/>
          <p:cNvSpPr/>
          <p:nvPr/>
        </p:nvSpPr>
        <p:spPr>
          <a:xfrm>
            <a:off x="6263640" y="2331720"/>
            <a:ext cx="5257800" cy="21488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跟第一段是同一件事的兩面</a:t>
            </a:r>
          </a:p>
          <a:p>
            <a:pPr algn="l">
              <a:lnSpc>
                <a:spcPct val="125000"/>
              </a:lnSpc>
              <a:spcAft>
                <a:spcPts val="600"/>
              </a:spcAft>
            </a:pPr>
            <a:r>
              <a:rPr sz="1350" b="0">
                <a:solidFill>
                  <a:srgbClr val="1A1A1A"/>
                </a:solidFill>
                <a:latin typeface="Microsoft JhengHei"/>
                <a:ea typeface="Microsoft JhengHei"/>
              </a:rPr>
              <a:t>天天決定的 DRL：輸出</a:t>
            </a:r>
            <a:r>
              <a:rPr sz="1350" b="1">
                <a:solidFill>
                  <a:srgbClr val="1A1A1A"/>
                </a:solidFill>
                <a:latin typeface="Microsoft JhengHei"/>
                <a:ea typeface="Microsoft JhengHei"/>
              </a:rPr>
              <a:t>塌成常數</a:t>
            </a:r>
            <a:r>
              <a:rPr sz="1350" b="0">
                <a:solidFill>
                  <a:srgbClr val="1A1A1A"/>
                </a:solidFill>
                <a:latin typeface="Microsoft JhengHei"/>
                <a:ea typeface="Microsoft JhengHei"/>
              </a:rPr>
              <a:t>（選的門檻中位 2.11–2.33，跟配對名次幾乎無關）。</a:t>
            </a:r>
          </a:p>
          <a:p>
            <a:pPr algn="l">
              <a:lnSpc>
                <a:spcPct val="125000"/>
              </a:lnSpc>
              <a:spcAft>
                <a:spcPts val="600"/>
              </a:spcAft>
            </a:pPr>
            <a:r>
              <a:rPr sz="1350" b="0">
                <a:solidFill>
                  <a:srgbClr val="1A1A1A"/>
                </a:solidFill>
                <a:latin typeface="Microsoft JhengHei"/>
                <a:ea typeface="Microsoft JhengHei"/>
              </a:rPr>
              <a:t>改用正確範式後：不是塌成常數，而是</a:t>
            </a:r>
            <a:r>
              <a:rPr sz="1350" b="1">
                <a:solidFill>
                  <a:srgbClr val="1A1A1A"/>
                </a:solidFill>
                <a:latin typeface="Microsoft JhengHei"/>
                <a:ea typeface="Microsoft JhengHei"/>
              </a:rPr>
              <a:t>比常數還差</a:t>
            </a:r>
            <a:r>
              <a:rPr sz="1350" b="0">
                <a:solidFill>
                  <a:srgbClr val="1A1A1A"/>
                </a:solidFill>
                <a:latin typeface="Microsoft JhengHei"/>
                <a:ea typeface="Microsoft JhengHei"/>
              </a:rPr>
              <a:t>。</a:t>
            </a:r>
          </a:p>
          <a:p>
            <a:pPr algn="l">
              <a:lnSpc>
                <a:spcPct val="125000"/>
              </a:lnSpc>
              <a:spcAft>
                <a:spcPts val="600"/>
              </a:spcAft>
            </a:pPr>
            <a:r>
              <a:rPr sz="1350" b="0">
                <a:solidFill>
                  <a:srgbClr val="1A1A1A"/>
                </a:solidFill>
                <a:latin typeface="Microsoft JhengHei"/>
                <a:ea typeface="Microsoft JhengHei"/>
              </a:rPr>
              <a:t>→ </a:t>
            </a:r>
            <a:r>
              <a:rPr sz="1350" b="1">
                <a:solidFill>
                  <a:srgbClr val="1A1A1A"/>
                </a:solidFill>
                <a:latin typeface="Microsoft JhengHei"/>
                <a:ea typeface="Microsoft JhengHei"/>
              </a:rPr>
              <a:t>逐對選門檻所需的訊號，在現有特徵裡不夠。</a:t>
            </a:r>
          </a:p>
        </p:txBody>
      </p:sp>
      <p:sp>
        <p:nvSpPr>
          <p:cNvPr id="8" name="Rounded Rectangle 7"/>
          <p:cNvSpPr/>
          <p:nvPr/>
        </p:nvSpPr>
        <p:spPr>
          <a:xfrm>
            <a:off x="640080" y="4663440"/>
            <a:ext cx="10881360" cy="11430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一個不是 AI 的副產品</a:t>
            </a:r>
          </a:p>
          <a:p>
            <a:pPr algn="l">
              <a:lnSpc>
                <a:spcPct val="125000"/>
              </a:lnSpc>
              <a:spcAft>
                <a:spcPts val="600"/>
              </a:spcAft>
            </a:pPr>
            <a:r>
              <a:rPr sz="1350" b="0">
                <a:solidFill>
                  <a:srgbClr val="1A1A1A"/>
                </a:solidFill>
                <a:latin typeface="Microsoft JhengHei"/>
                <a:ea typeface="Microsoft JhengHei"/>
              </a:rPr>
              <a:t>擴張窗最佳常數比現行 (2.0, 0.0) </a:t>
            </a:r>
            <a:r>
              <a:rPr sz="1350" b="1">
                <a:solidFill>
                  <a:srgbClr val="1A1A1A"/>
                </a:solidFill>
                <a:latin typeface="Microsoft JhengHei"/>
                <a:ea typeface="Microsoft JhengHei"/>
              </a:rPr>
              <a:t>高 50%</a:t>
            </a:r>
            <a:r>
              <a:rPr sz="1350" b="0">
                <a:solidFill>
                  <a:srgbClr val="1A1A1A"/>
                </a:solidFill>
                <a:latin typeface="Microsoft JhengHei"/>
                <a:ea typeface="Microsoft JhengHei"/>
              </a:rPr>
              <a:t>，多數期選中 entry_z ＝ 3.0。但別外推：entry_z 的下界 </a:t>
            </a:r>
            <a:r>
              <a:rPr sz="1350" b="1">
                <a:solidFill>
                  <a:srgbClr val="1A1A1A"/>
                </a:solidFill>
                <a:latin typeface="Microsoft JhengHei"/>
                <a:ea typeface="Microsoft JhengHei"/>
              </a:rPr>
              <a:t>1.5 從沒跑過</a:t>
            </a:r>
            <a:r>
              <a:rPr sz="1350" b="0">
                <a:solidFill>
                  <a:srgbClr val="1A1A1A"/>
                </a:solidFill>
                <a:latin typeface="Microsoft JhengHei"/>
                <a:ea typeface="Microsoft JhengHei"/>
              </a:rPr>
              <a:t>，這只在跑過的取值上成立。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第三段（分析時判準）　｜　§4.3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第三段：跟固定門檻比，五個來源方向全部是正的</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39</a:t>
            </a:r>
          </a:p>
        </p:txBody>
      </p:sp>
      <p:sp>
        <p:nvSpPr>
          <p:cNvPr id="5" name="TextBox 4"/>
          <p:cNvSpPr txBox="1"/>
          <p:nvPr/>
        </p:nvSpPr>
        <p:spPr>
          <a:xfrm>
            <a:off x="640080" y="1627632"/>
            <a:ext cx="10881360" cy="365760"/>
          </a:xfrm>
          <a:prstGeom prst="rect">
            <a:avLst/>
          </a:prstGeom>
          <a:noFill/>
        </p:spPr>
        <p:txBody>
          <a:bodyPr wrap="square" lIns="0" rIns="0" tIns="0" bIns="0" anchor="t">
            <a:spAutoFit/>
          </a:bodyPr>
          <a:lstStyle/>
          <a:p>
            <a:pPr algn="l">
              <a:lnSpc>
                <a:spcPct val="125000"/>
              </a:lnSpc>
              <a:spcAft>
                <a:spcPts val="600"/>
              </a:spcAft>
            </a:pPr>
            <a:r>
              <a:rPr sz="1400" b="0">
                <a:solidFill>
                  <a:srgbClr val="6B7280"/>
                </a:solidFill>
                <a:latin typeface="Microsoft JhengHei"/>
                <a:ea typeface="Microsoft JhengHei"/>
              </a:rPr>
              <a:t>固定形成期配對，只換交易端：Δ ＝ DL-THR − Z-Score（15 格等權、逐日報酬差、區塊拔靴）</a:t>
            </a:r>
          </a:p>
        </p:txBody>
      </p:sp>
      <p:graphicFrame>
        <p:nvGraphicFramePr>
          <p:cNvPr id="6" name="Table 5"/>
          <p:cNvGraphicFramePr>
            <a:graphicFrameLocks noGrp="1"/>
          </p:cNvGraphicFramePr>
          <p:nvPr/>
        </p:nvGraphicFramePr>
        <p:xfrm>
          <a:off x="640080" y="2011680"/>
          <a:ext cx="10424160" cy="2194560"/>
        </p:xfrm>
        <a:graphic>
          <a:graphicData uri="http://schemas.openxmlformats.org/drawingml/2006/table">
            <a:tbl>
              <a:tblPr firstRow="1" bandRow="1">
                <a:tableStyleId>{5C22544A-7EE6-4342-B048-85BDC9FD1C3A}</a:tableStyleId>
              </a:tblPr>
              <a:tblGrid>
                <a:gridCol w="2194560"/>
                <a:gridCol w="1463040"/>
                <a:gridCol w="914400"/>
                <a:gridCol w="1005840"/>
                <a:gridCol w="2377440"/>
                <a:gridCol w="1097280"/>
                <a:gridCol w="1371600"/>
              </a:tblGrid>
              <a:tr h="365760">
                <a:tc>
                  <a:txBody>
                    <a:bodyPr wrap="square"/>
                    <a:lstStyle/>
                    <a:p>
                      <a:pPr algn="l">
                        <a:lnSpc>
                          <a:spcPct val="110000"/>
                        </a:lnSpc>
                        <a:spcAft>
                          <a:spcPts val="0"/>
                        </a:spcAft>
                      </a:pPr>
                      <a:r>
                        <a:rPr sz="1400" b="1">
                          <a:solidFill>
                            <a:srgbClr val="FFFFFF"/>
                          </a:solidFill>
                          <a:latin typeface="Microsoft JhengHei"/>
                          <a:ea typeface="Microsoft JhengHei"/>
                        </a:rPr>
                        <a:t>配對來源</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年化Δ（%）</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IR</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勝日%</a:t>
                      </a:r>
                    </a:p>
                  </a:txBody>
                  <a:tcPr marT="27432" marB="27432" marL="73152" marR="73152" anchor="ctr">
                    <a:solidFill>
                      <a:srgbClr val="0B2A5B"/>
                    </a:solidFill>
                  </a:tcPr>
                </a:tc>
                <a:tc>
                  <a:txBody>
                    <a:bodyPr wrap="square"/>
                    <a:lstStyle/>
                    <a:p>
                      <a:pPr algn="ctr">
                        <a:lnSpc>
                          <a:spcPct val="110000"/>
                        </a:lnSpc>
                        <a:spcAft>
                          <a:spcPts val="0"/>
                        </a:spcAft>
                      </a:pPr>
                      <a:r>
                        <a:rPr sz="1400" b="1">
                          <a:solidFill>
                            <a:srgbClr val="FFFFFF"/>
                          </a:solidFill>
                          <a:latin typeface="Microsoft JhengHei"/>
                          <a:ea typeface="Microsoft JhengHei"/>
                        </a:rPr>
                        <a:t>95% CI（%）</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p</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BH 校正 p</a:t>
                      </a:r>
                    </a:p>
                  </a:txBody>
                  <a:tcPr marT="27432" marB="27432" marL="73152" marR="73152" anchor="ctr">
                    <a:solidFill>
                      <a:srgbClr val="0B2A5B"/>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GICS-SSD</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+0.798</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0.505</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51.3</a:t>
                      </a:r>
                    </a:p>
                  </a:txBody>
                  <a:tcPr marT="27432" marB="27432" marL="73152" marR="73152" anchor="ctr">
                    <a:solidFill>
                      <a:srgbClr val="FFFFFF"/>
                    </a:solidFill>
                  </a:tcPr>
                </a:tc>
                <a:tc>
                  <a:txBody>
                    <a:bodyPr wrap="square"/>
                    <a:lstStyle/>
                    <a:p>
                      <a:pPr algn="ctr">
                        <a:lnSpc>
                          <a:spcPct val="110000"/>
                        </a:lnSpc>
                        <a:spcAft>
                          <a:spcPts val="0"/>
                        </a:spcAft>
                      </a:pPr>
                      <a:r>
                        <a:rPr sz="1400" b="0">
                          <a:solidFill>
                            <a:srgbClr val="1A1A1A"/>
                          </a:solidFill>
                          <a:latin typeface="Microsoft JhengHei"/>
                          <a:ea typeface="Microsoft JhengHei"/>
                        </a:rPr>
                        <a:t>[+0.165, +1.689]</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0.0403</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0.0504</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HDBSCAN</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+0.666</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0.493</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52.1</a:t>
                      </a:r>
                    </a:p>
                  </a:txBody>
                  <a:tcPr marT="27432" marB="27432" marL="73152" marR="73152" anchor="ctr">
                    <a:solidFill>
                      <a:srgbClr val="E8EDF5"/>
                    </a:solidFill>
                  </a:tcPr>
                </a:tc>
                <a:tc>
                  <a:txBody>
                    <a:bodyPr wrap="square"/>
                    <a:lstStyle/>
                    <a:p>
                      <a:pPr algn="ctr">
                        <a:lnSpc>
                          <a:spcPct val="110000"/>
                        </a:lnSpc>
                        <a:spcAft>
                          <a:spcPts val="0"/>
                        </a:spcAft>
                      </a:pPr>
                      <a:r>
                        <a:rPr sz="1400" b="0">
                          <a:solidFill>
                            <a:srgbClr val="1A1A1A"/>
                          </a:solidFill>
                          <a:latin typeface="Microsoft JhengHei"/>
                          <a:ea typeface="Microsoft JhengHei"/>
                        </a:rPr>
                        <a:t>[+0.265, +1.148]</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0.0042</a:t>
                      </a:r>
                    </a:p>
                  </a:txBody>
                  <a:tcPr marT="27432" marB="27432" marL="73152" marR="73152" anchor="ctr">
                    <a:solidFill>
                      <a:srgbClr val="E8EDF5"/>
                    </a:solidFill>
                  </a:tcPr>
                </a:tc>
                <a:tc>
                  <a:txBody>
                    <a:bodyPr wrap="square"/>
                    <a:lstStyle/>
                    <a:p>
                      <a:pPr algn="r">
                        <a:lnSpc>
                          <a:spcPct val="110000"/>
                        </a:lnSpc>
                        <a:spcAft>
                          <a:spcPts val="0"/>
                        </a:spcAft>
                      </a:pPr>
                      <a:r>
                        <a:rPr sz="1400" b="1">
                          <a:solidFill>
                            <a:srgbClr val="1A1A1A"/>
                          </a:solidFill>
                          <a:latin typeface="Microsoft JhengHei"/>
                          <a:ea typeface="Microsoft JhengHei"/>
                        </a:rPr>
                        <a:t>0.0210</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GICS-SDP</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+0.579</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0.429</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51.8</a:t>
                      </a:r>
                    </a:p>
                  </a:txBody>
                  <a:tcPr marT="27432" marB="27432" marL="73152" marR="73152" anchor="ctr">
                    <a:solidFill>
                      <a:srgbClr val="FFFFFF"/>
                    </a:solidFill>
                  </a:tcPr>
                </a:tc>
                <a:tc>
                  <a:txBody>
                    <a:bodyPr wrap="square"/>
                    <a:lstStyle/>
                    <a:p>
                      <a:pPr algn="ctr">
                        <a:lnSpc>
                          <a:spcPct val="110000"/>
                        </a:lnSpc>
                        <a:spcAft>
                          <a:spcPts val="0"/>
                        </a:spcAft>
                      </a:pPr>
                      <a:r>
                        <a:rPr sz="1400" b="0">
                          <a:solidFill>
                            <a:srgbClr val="1A1A1A"/>
                          </a:solidFill>
                          <a:latin typeface="Microsoft JhengHei"/>
                          <a:ea typeface="Microsoft JhengHei"/>
                        </a:rPr>
                        <a:t>[+0.170, +1.046]</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0.0111</a:t>
                      </a:r>
                    </a:p>
                  </a:txBody>
                  <a:tcPr marT="27432" marB="27432" marL="73152" marR="73152" anchor="ctr">
                    <a:solidFill>
                      <a:srgbClr val="FFFFFF"/>
                    </a:solidFill>
                  </a:tcPr>
                </a:tc>
                <a:tc>
                  <a:txBody>
                    <a:bodyPr wrap="square"/>
                    <a:lstStyle/>
                    <a:p>
                      <a:pPr algn="r">
                        <a:lnSpc>
                          <a:spcPct val="110000"/>
                        </a:lnSpc>
                        <a:spcAft>
                          <a:spcPts val="0"/>
                        </a:spcAft>
                      </a:pPr>
                      <a:r>
                        <a:rPr sz="1400" b="1">
                          <a:solidFill>
                            <a:srgbClr val="1A1A1A"/>
                          </a:solidFill>
                          <a:latin typeface="Microsoft JhengHei"/>
                          <a:ea typeface="Microsoft JhengHei"/>
                        </a:rPr>
                        <a:t>0.0278</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K-means</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+0.310</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0.267</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51.6</a:t>
                      </a:r>
                    </a:p>
                  </a:txBody>
                  <a:tcPr marT="27432" marB="27432" marL="73152" marR="73152" anchor="ctr">
                    <a:solidFill>
                      <a:srgbClr val="E8EDF5"/>
                    </a:solidFill>
                  </a:tcPr>
                </a:tc>
                <a:tc>
                  <a:txBody>
                    <a:bodyPr wrap="square"/>
                    <a:lstStyle/>
                    <a:p>
                      <a:pPr algn="ctr">
                        <a:lnSpc>
                          <a:spcPct val="110000"/>
                        </a:lnSpc>
                        <a:spcAft>
                          <a:spcPts val="0"/>
                        </a:spcAft>
                      </a:pPr>
                      <a:r>
                        <a:rPr sz="1400" b="0">
                          <a:solidFill>
                            <a:srgbClr val="1A1A1A"/>
                          </a:solidFill>
                          <a:latin typeface="Microsoft JhengHei"/>
                          <a:ea typeface="Microsoft JhengHei"/>
                        </a:rPr>
                        <a:t>[+0.027, +0.585]</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0.0297</a:t>
                      </a:r>
                    </a:p>
                  </a:txBody>
                  <a:tcPr marT="27432" marB="27432" marL="73152" marR="73152" anchor="ctr">
                    <a:solidFill>
                      <a:srgbClr val="E8EDF5"/>
                    </a:solidFill>
                  </a:tcPr>
                </a:tc>
                <a:tc>
                  <a:txBody>
                    <a:bodyPr wrap="square"/>
                    <a:lstStyle/>
                    <a:p>
                      <a:pPr algn="r">
                        <a:lnSpc>
                          <a:spcPct val="110000"/>
                        </a:lnSpc>
                        <a:spcAft>
                          <a:spcPts val="0"/>
                        </a:spcAft>
                      </a:pPr>
                      <a:r>
                        <a:rPr sz="1400" b="1">
                          <a:solidFill>
                            <a:srgbClr val="1A1A1A"/>
                          </a:solidFill>
                          <a:latin typeface="Microsoft JhengHei"/>
                          <a:ea typeface="Microsoft JhengHei"/>
                        </a:rPr>
                        <a:t>0.0495</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Agglomerative</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+0.239</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0.189</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51.5</a:t>
                      </a:r>
                    </a:p>
                  </a:txBody>
                  <a:tcPr marT="27432" marB="27432" marL="73152" marR="73152" anchor="ctr">
                    <a:solidFill>
                      <a:srgbClr val="FFFFFF"/>
                    </a:solidFill>
                  </a:tcPr>
                </a:tc>
                <a:tc>
                  <a:txBody>
                    <a:bodyPr wrap="square"/>
                    <a:lstStyle/>
                    <a:p>
                      <a:pPr algn="ctr">
                        <a:lnSpc>
                          <a:spcPct val="110000"/>
                        </a:lnSpc>
                        <a:spcAft>
                          <a:spcPts val="0"/>
                        </a:spcAft>
                      </a:pPr>
                      <a:r>
                        <a:rPr sz="1400" b="0">
                          <a:solidFill>
                            <a:srgbClr val="1A1A1A"/>
                          </a:solidFill>
                          <a:latin typeface="Microsoft JhengHei"/>
                          <a:ea typeface="Microsoft JhengHei"/>
                        </a:rPr>
                        <a:t>[−0.091, +0.606]</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0.1802</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0.1802</a:t>
                      </a:r>
                    </a:p>
                  </a:txBody>
                  <a:tcPr marT="27432" marB="27432" marL="73152" marR="73152" anchor="ctr">
                    <a:solidFill>
                      <a:srgbClr val="FFFFFF"/>
                    </a:solidFill>
                  </a:tcPr>
                </a:tc>
              </a:tr>
            </a:tbl>
          </a:graphicData>
        </a:graphic>
      </p:graphicFrame>
      <p:sp>
        <p:nvSpPr>
          <p:cNvPr id="7" name="Rounded Rectangle 6"/>
          <p:cNvSpPr/>
          <p:nvPr/>
        </p:nvSpPr>
        <p:spPr>
          <a:xfrm>
            <a:off x="640080" y="4389120"/>
            <a:ext cx="5257800" cy="14173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不要用「顯著／不顯著」二分法讀這張表</a:t>
            </a:r>
          </a:p>
          <a:p>
            <a:pPr algn="l">
              <a:lnSpc>
                <a:spcPct val="125000"/>
              </a:lnSpc>
              <a:spcAft>
                <a:spcPts val="600"/>
              </a:spcAft>
            </a:pPr>
            <a:r>
              <a:rPr sz="1350" b="0">
                <a:solidFill>
                  <a:srgbClr val="1A1A1A"/>
                </a:solidFill>
                <a:latin typeface="Microsoft JhengHei"/>
                <a:ea typeface="Microsoft JhengHei"/>
              </a:rPr>
              <a:t>K-means 0.0495 過、GICS-SSD 0.0504 沒過——</a:t>
            </a:r>
            <a:r>
              <a:rPr sz="1350" b="1">
                <a:solidFill>
                  <a:srgbClr val="1A1A1A"/>
                </a:solidFill>
                <a:latin typeface="Microsoft JhengHei"/>
                <a:ea typeface="Microsoft JhengHei"/>
              </a:rPr>
              <a:t>只差 0.0009</a:t>
            </a:r>
            <a:r>
              <a:rPr sz="1350" b="0">
                <a:solidFill>
                  <a:srgbClr val="1A1A1A"/>
                </a:solidFill>
                <a:latin typeface="Microsoft JhengHei"/>
                <a:ea typeface="Microsoft JhengHei"/>
              </a:rPr>
              <a:t>。應該看效果量跟區間：四個來源的下界都是正的。</a:t>
            </a:r>
          </a:p>
        </p:txBody>
      </p:sp>
      <p:sp>
        <p:nvSpPr>
          <p:cNvPr id="8" name="Rounded Rectangle 7"/>
          <p:cNvSpPr/>
          <p:nvPr/>
        </p:nvSpPr>
        <p:spPr>
          <a:xfrm>
            <a:off x="6263640" y="4389120"/>
            <a:ext cx="5257800" cy="14173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增益最大的是傳統 GICS</a:t>
            </a:r>
          </a:p>
          <a:p>
            <a:pPr algn="l">
              <a:lnSpc>
                <a:spcPct val="125000"/>
              </a:lnSpc>
              <a:spcAft>
                <a:spcPts val="600"/>
              </a:spcAft>
            </a:pPr>
            <a:r>
              <a:rPr sz="1350" b="0">
                <a:solidFill>
                  <a:srgbClr val="1A1A1A"/>
                </a:solidFill>
                <a:latin typeface="Microsoft JhengHei"/>
                <a:ea typeface="Microsoft JhengHei"/>
              </a:rPr>
              <a:t>不是任何一種資料驅動分群。→ 門檻選擇的價值</a:t>
            </a:r>
            <a:r>
              <a:rPr sz="1350" b="1">
                <a:solidFill>
                  <a:srgbClr val="1A1A1A"/>
                </a:solidFill>
                <a:latin typeface="Microsoft JhengHei"/>
                <a:ea typeface="Microsoft JhengHei"/>
              </a:rPr>
              <a:t>跟分群方法無關</a:t>
            </a:r>
            <a:r>
              <a:rPr sz="1350" b="0">
                <a:solidFill>
                  <a:srgbClr val="1A1A1A"/>
                </a:solidFill>
                <a:latin typeface="Microsoft JhengHei"/>
                <a:ea typeface="Microsoft JhengHei"/>
              </a:rPr>
              <a:t>，它來自交易端的設計，不是形成期的聰明。</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第三段（分析時判準）　｜　§4.3、§5.1.1</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25 年權益曲線：差距看得到，問題也看得到</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40</a:t>
            </a:r>
          </a:p>
        </p:txBody>
      </p:sp>
      <p:graphicFrame>
        <p:nvGraphicFramePr>
          <p:cNvPr id="5" name="Chart 4"/>
          <p:cNvGraphicFramePr>
            <a:graphicFrameLocks noGrp="1"/>
          </p:cNvGraphicFramePr>
          <p:nvPr/>
        </p:nvGraphicFramePr>
        <p:xfrm>
          <a:off x="640080" y="1600200"/>
          <a:ext cx="7589520" cy="4160520"/>
        </p:xfrm>
        <a:graphic>
          <a:graphicData uri="http://schemas.openxmlformats.org/drawingml/2006/chart">
            <c:chart xmlns:c="http://schemas.openxmlformats.org/drawingml/2006/chart" r:id="rId2"/>
          </a:graphicData>
        </a:graphic>
      </p:graphicFrame>
      <p:sp>
        <p:nvSpPr>
          <p:cNvPr id="6" name="TextBox 5"/>
          <p:cNvSpPr txBox="1"/>
          <p:nvPr/>
        </p:nvSpPr>
        <p:spPr>
          <a:xfrm>
            <a:off x="8503920" y="1783080"/>
            <a:ext cx="3017520" cy="566928"/>
          </a:xfrm>
          <a:prstGeom prst="rect">
            <a:avLst/>
          </a:prstGeom>
          <a:noFill/>
        </p:spPr>
        <p:txBody>
          <a:bodyPr wrap="square" lIns="0" rIns="0" tIns="0" bIns="0" anchor="t">
            <a:spAutoFit/>
          </a:bodyPr>
          <a:lstStyle/>
          <a:p>
            <a:pPr algn="l">
              <a:lnSpc>
                <a:spcPct val="125000"/>
              </a:lnSpc>
              <a:spcAft>
                <a:spcPts val="0"/>
              </a:spcAft>
            </a:pPr>
            <a:r>
              <a:rPr sz="3400" b="1">
                <a:solidFill>
                  <a:srgbClr val="C4553B"/>
                </a:solidFill>
                <a:latin typeface="Microsoft JhengHei"/>
                <a:ea typeface="Microsoft JhengHei"/>
              </a:rPr>
              <a:t>13,062</a:t>
            </a:r>
          </a:p>
        </p:txBody>
      </p:sp>
      <p:sp>
        <p:nvSpPr>
          <p:cNvPr id="7" name="TextBox 6"/>
          <p:cNvSpPr txBox="1"/>
          <p:nvPr/>
        </p:nvSpPr>
        <p:spPr>
          <a:xfrm>
            <a:off x="8503920" y="2386584"/>
            <a:ext cx="3017520" cy="457200"/>
          </a:xfrm>
          <a:prstGeom prst="rect">
            <a:avLst/>
          </a:prstGeom>
          <a:noFill/>
        </p:spPr>
        <p:txBody>
          <a:bodyPr wrap="square" lIns="0" rIns="0" tIns="0" bIns="0" anchor="t">
            <a:spAutoFit/>
          </a:bodyPr>
          <a:lstStyle/>
          <a:p>
            <a:pPr algn="l">
              <a:lnSpc>
                <a:spcPct val="125000"/>
              </a:lnSpc>
              <a:spcAft>
                <a:spcPts val="0"/>
              </a:spcAft>
            </a:pPr>
            <a:r>
              <a:rPr sz="1300" b="0">
                <a:solidFill>
                  <a:srgbClr val="6B7280"/>
                </a:solidFill>
                <a:latin typeface="Microsoft JhengHei"/>
                <a:ea typeface="Microsoft JhengHei"/>
              </a:rPr>
              <a:t>＋DL-THR 25 年終值</a:t>
            </a:r>
          </a:p>
        </p:txBody>
      </p:sp>
      <p:sp>
        <p:nvSpPr>
          <p:cNvPr id="8" name="TextBox 7"/>
          <p:cNvSpPr txBox="1"/>
          <p:nvPr/>
        </p:nvSpPr>
        <p:spPr>
          <a:xfrm>
            <a:off x="8503920" y="2971800"/>
            <a:ext cx="3017520" cy="566928"/>
          </a:xfrm>
          <a:prstGeom prst="rect">
            <a:avLst/>
          </a:prstGeom>
          <a:noFill/>
        </p:spPr>
        <p:txBody>
          <a:bodyPr wrap="square" lIns="0" rIns="0" tIns="0" bIns="0" anchor="t">
            <a:spAutoFit/>
          </a:bodyPr>
          <a:lstStyle/>
          <a:p>
            <a:pPr algn="l">
              <a:lnSpc>
                <a:spcPct val="125000"/>
              </a:lnSpc>
              <a:spcAft>
                <a:spcPts val="0"/>
              </a:spcAft>
            </a:pPr>
            <a:r>
              <a:rPr sz="3400" b="1">
                <a:solidFill>
                  <a:srgbClr val="2E5A92"/>
                </a:solidFill>
                <a:latin typeface="Microsoft JhengHei"/>
                <a:ea typeface="Microsoft JhengHei"/>
              </a:rPr>
              <a:t>11,072</a:t>
            </a:r>
          </a:p>
        </p:txBody>
      </p:sp>
      <p:sp>
        <p:nvSpPr>
          <p:cNvPr id="9" name="TextBox 8"/>
          <p:cNvSpPr txBox="1"/>
          <p:nvPr/>
        </p:nvSpPr>
        <p:spPr>
          <a:xfrm>
            <a:off x="8503920" y="3575304"/>
            <a:ext cx="3017520" cy="457200"/>
          </a:xfrm>
          <a:prstGeom prst="rect">
            <a:avLst/>
          </a:prstGeom>
          <a:noFill/>
        </p:spPr>
        <p:txBody>
          <a:bodyPr wrap="square" lIns="0" rIns="0" tIns="0" bIns="0" anchor="t">
            <a:spAutoFit/>
          </a:bodyPr>
          <a:lstStyle/>
          <a:p>
            <a:pPr algn="l">
              <a:lnSpc>
                <a:spcPct val="125000"/>
              </a:lnSpc>
              <a:spcAft>
                <a:spcPts val="0"/>
              </a:spcAft>
            </a:pPr>
            <a:r>
              <a:rPr sz="1300" b="0">
                <a:solidFill>
                  <a:srgbClr val="6B7280"/>
                </a:solidFill>
                <a:latin typeface="Microsoft JhengHei"/>
                <a:ea typeface="Microsoft JhengHei"/>
              </a:rPr>
              <a:t>Z-Score 25 年終值</a:t>
            </a:r>
          </a:p>
        </p:txBody>
      </p:sp>
      <p:sp>
        <p:nvSpPr>
          <p:cNvPr id="10" name="Rounded Rectangle 9"/>
          <p:cNvSpPr/>
          <p:nvPr/>
        </p:nvSpPr>
        <p:spPr>
          <a:xfrm>
            <a:off x="8503920" y="4069080"/>
            <a:ext cx="3017520" cy="17373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起始資本 10,000</a:t>
            </a:r>
          </a:p>
          <a:p>
            <a:pPr algn="l">
              <a:lnSpc>
                <a:spcPct val="125000"/>
              </a:lnSpc>
              <a:spcAft>
                <a:spcPts val="600"/>
              </a:spcAft>
            </a:pPr>
            <a:r>
              <a:rPr sz="1300" b="0">
                <a:solidFill>
                  <a:srgbClr val="1A1A1A"/>
                </a:solidFill>
                <a:latin typeface="Microsoft JhengHei"/>
                <a:ea typeface="Microsoft JhengHei"/>
              </a:rPr>
              <a:t>GICS-SSD，15 個配置</a:t>
            </a:r>
            <a:r>
              <a:rPr sz="1300" b="1">
                <a:solidFill>
                  <a:srgbClr val="1A1A1A"/>
                </a:solidFill>
                <a:latin typeface="Microsoft JhengHei"/>
                <a:ea typeface="Microsoft JhengHei"/>
              </a:rPr>
              <a:t>等權</a:t>
            </a:r>
            <a:r>
              <a:rPr sz="1300" b="0">
                <a:solidFill>
                  <a:srgbClr val="1A1A1A"/>
                </a:solidFill>
                <a:latin typeface="Microsoft JhengHei"/>
                <a:ea typeface="Microsoft JhengHei"/>
              </a:rPr>
              <a:t>，不是挑出來的最佳格。</a:t>
            </a:r>
          </a:p>
          <a:p>
            <a:pPr algn="l">
              <a:lnSpc>
                <a:spcPct val="125000"/>
              </a:lnSpc>
              <a:spcAft>
                <a:spcPts val="600"/>
              </a:spcAft>
            </a:pPr>
            <a:r>
              <a:rPr sz="1300" b="0">
                <a:solidFill>
                  <a:srgbClr val="1A1A1A"/>
                </a:solidFill>
                <a:latin typeface="Microsoft JhengHei"/>
                <a:ea typeface="Microsoft JhengHei"/>
              </a:rPr>
              <a:t>注意：增長</a:t>
            </a:r>
            <a:r>
              <a:rPr sz="1300" b="1">
                <a:solidFill>
                  <a:srgbClr val="1A1A1A"/>
                </a:solidFill>
                <a:latin typeface="Microsoft JhengHei"/>
                <a:ea typeface="Microsoft JhengHei"/>
              </a:rPr>
              <a:t>大多發生在 2008–2009</a:t>
            </a:r>
            <a:r>
              <a:rPr sz="1300" b="0">
                <a:solidFill>
                  <a:srgbClr val="1A1A1A"/>
                </a:solidFill>
                <a:latin typeface="Microsoft JhengHei"/>
                <a:ea typeface="Microsoft JhengHei"/>
              </a:rP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增益來源與穩健性（分析時判準）　｜　§4.4</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這個增益是真的學到東西嗎？我排除三種「假增益」</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41</a:t>
            </a:r>
          </a:p>
        </p:txBody>
      </p:sp>
      <p:sp>
        <p:nvSpPr>
          <p:cNvPr id="5" name="Rounded Rectangle 4"/>
          <p:cNvSpPr/>
          <p:nvPr/>
        </p:nvSpPr>
        <p:spPr>
          <a:xfrm>
            <a:off x="640080" y="1627632"/>
            <a:ext cx="3474720" cy="1353312"/>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300"/>
              </a:spcAft>
            </a:pPr>
            <a:r>
              <a:rPr sz="1500" b="1">
                <a:solidFill>
                  <a:srgbClr val="0B2A5B"/>
                </a:solidFill>
                <a:latin typeface="Microsoft JhengHei"/>
                <a:ea typeface="Microsoft JhengHei"/>
              </a:rPr>
              <a:t>① SKIP 選股</a:t>
            </a:r>
          </a:p>
          <a:p>
            <a:pPr algn="l">
              <a:lnSpc>
                <a:spcPct val="125000"/>
              </a:lnSpc>
              <a:spcAft>
                <a:spcPts val="200"/>
              </a:spcAft>
            </a:pPr>
            <a:r>
              <a:rPr sz="1250" b="0">
                <a:solidFill>
                  <a:srgbClr val="1A1A1A"/>
                </a:solidFill>
                <a:latin typeface="Microsoft JhengHei"/>
                <a:ea typeface="Microsoft JhengHei"/>
              </a:rPr>
              <a:t>底層期望為負時，</a:t>
            </a:r>
            <a:r>
              <a:rPr sz="1250" b="1">
                <a:solidFill>
                  <a:srgbClr val="1A1A1A"/>
                </a:solidFill>
                <a:latin typeface="Microsoft JhengHei"/>
                <a:ea typeface="Microsoft JhengHei"/>
              </a:rPr>
              <a:t>隨便跳過都會避損</a:t>
            </a:r>
          </a:p>
          <a:p>
            <a:pPr algn="l">
              <a:lnSpc>
                <a:spcPct val="125000"/>
              </a:lnSpc>
              <a:spcAft>
                <a:spcPts val="600"/>
              </a:spcAft>
            </a:pPr>
            <a:r>
              <a:rPr sz="1150" b="0">
                <a:solidFill>
                  <a:srgbClr val="6B7280"/>
                </a:solidFill>
                <a:latin typeface="Microsoft JhengHei"/>
                <a:ea typeface="Microsoft JhengHei"/>
              </a:rPr>
              <a:t>置換檢定：隨機跳過 2,000 次</a:t>
            </a:r>
          </a:p>
        </p:txBody>
      </p:sp>
      <p:sp>
        <p:nvSpPr>
          <p:cNvPr id="6" name="Rounded Rectangle 5"/>
          <p:cNvSpPr/>
          <p:nvPr/>
        </p:nvSpPr>
        <p:spPr>
          <a:xfrm>
            <a:off x="4343400" y="1627632"/>
            <a:ext cx="3474720" cy="1353312"/>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300"/>
              </a:spcAft>
            </a:pPr>
            <a:r>
              <a:rPr sz="1500" b="1">
                <a:solidFill>
                  <a:srgbClr val="0B2A5B"/>
                </a:solidFill>
                <a:latin typeface="Microsoft JhengHei"/>
                <a:ea typeface="Microsoft JhengHei"/>
              </a:rPr>
              <a:t>② 門檻水準</a:t>
            </a:r>
          </a:p>
          <a:p>
            <a:pPr algn="l">
              <a:lnSpc>
                <a:spcPct val="125000"/>
              </a:lnSpc>
              <a:spcAft>
                <a:spcPts val="200"/>
              </a:spcAft>
            </a:pPr>
            <a:r>
              <a:rPr sz="1250" b="0">
                <a:solidFill>
                  <a:srgbClr val="1A1A1A"/>
                </a:solidFill>
                <a:latin typeface="Microsoft JhengHei"/>
                <a:ea typeface="Microsoft JhengHei"/>
              </a:rPr>
              <a:t>DL-THR 選的門檻中位 2.19–2.37，</a:t>
            </a:r>
            <a:r>
              <a:rPr sz="1250" b="1">
                <a:solidFill>
                  <a:srgbClr val="1A1A1A"/>
                </a:solidFill>
                <a:latin typeface="Microsoft JhengHei"/>
                <a:ea typeface="Microsoft JhengHei"/>
              </a:rPr>
              <a:t>本來就比 2.0 高</a:t>
            </a:r>
          </a:p>
          <a:p>
            <a:pPr algn="l">
              <a:lnSpc>
                <a:spcPct val="125000"/>
              </a:lnSpc>
              <a:spcAft>
                <a:spcPts val="600"/>
              </a:spcAft>
            </a:pPr>
            <a:r>
              <a:rPr sz="1150" b="0">
                <a:solidFill>
                  <a:srgbClr val="6B7280"/>
                </a:solidFill>
                <a:latin typeface="Microsoft JhengHei"/>
                <a:ea typeface="Microsoft JhengHei"/>
              </a:rPr>
              <a:t>把 Z-Score 門檻拉到同水準對照</a:t>
            </a:r>
          </a:p>
        </p:txBody>
      </p:sp>
      <p:sp>
        <p:nvSpPr>
          <p:cNvPr id="7" name="Rounded Rectangle 6"/>
          <p:cNvSpPr/>
          <p:nvPr/>
        </p:nvSpPr>
        <p:spPr>
          <a:xfrm>
            <a:off x="8046720" y="1627632"/>
            <a:ext cx="3474720" cy="1353312"/>
          </a:xfrm>
          <a:prstGeom prst="roundRect">
            <a:avLst>
              <a:gd name="adj" fmla="val 6000"/>
            </a:avLst>
          </a:prstGeom>
          <a:solidFill>
            <a:srgbClr val="F7F9FC"/>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300"/>
              </a:spcAft>
            </a:pPr>
            <a:r>
              <a:rPr sz="1500" b="1">
                <a:solidFill>
                  <a:srgbClr val="0B2A5B"/>
                </a:solidFill>
                <a:latin typeface="Microsoft JhengHei"/>
                <a:ea typeface="Microsoft JhengHei"/>
              </a:rPr>
              <a:t>③ 總曝險</a:t>
            </a:r>
          </a:p>
          <a:p>
            <a:pPr algn="l">
              <a:lnSpc>
                <a:spcPct val="125000"/>
              </a:lnSpc>
              <a:spcAft>
                <a:spcPts val="200"/>
              </a:spcAft>
            </a:pPr>
            <a:r>
              <a:rPr sz="1250" b="1">
                <a:solidFill>
                  <a:srgbClr val="1A1A1A"/>
                </a:solidFill>
                <a:latin typeface="Microsoft JhengHei"/>
                <a:ea typeface="Microsoft JhengHei"/>
              </a:rPr>
              <a:t>少交易本身</a:t>
            </a:r>
            <a:r>
              <a:rPr sz="1250" b="0">
                <a:solidFill>
                  <a:srgbClr val="1A1A1A"/>
                </a:solidFill>
                <a:latin typeface="Microsoft JhengHei"/>
                <a:ea typeface="Microsoft JhengHei"/>
              </a:rPr>
              <a:t>會不會就是增益？</a:t>
            </a:r>
          </a:p>
          <a:p>
            <a:pPr algn="l">
              <a:lnSpc>
                <a:spcPct val="125000"/>
              </a:lnSpc>
              <a:spcAft>
                <a:spcPts val="600"/>
              </a:spcAft>
            </a:pPr>
            <a:r>
              <a:rPr sz="1150" b="0">
                <a:solidFill>
                  <a:srgbClr val="6B7280"/>
                </a:solidFill>
                <a:latin typeface="Microsoft JhengHei"/>
                <a:ea typeface="Microsoft JhengHei"/>
              </a:rPr>
              <a:t>固定 2.0、隨機跳過同數量配對期</a:t>
            </a:r>
          </a:p>
        </p:txBody>
      </p:sp>
      <p:graphicFrame>
        <p:nvGraphicFramePr>
          <p:cNvPr id="8" name="Table 7"/>
          <p:cNvGraphicFramePr>
            <a:graphicFrameLocks noGrp="1"/>
          </p:cNvGraphicFramePr>
          <p:nvPr/>
        </p:nvGraphicFramePr>
        <p:xfrm>
          <a:off x="640080" y="3127248"/>
          <a:ext cx="10881360" cy="2084832"/>
        </p:xfrm>
        <a:graphic>
          <a:graphicData uri="http://schemas.openxmlformats.org/drawingml/2006/table">
            <a:tbl>
              <a:tblPr firstRow="1" bandRow="1">
                <a:tableStyleId>{5C22544A-7EE6-4342-B048-85BDC9FD1C3A}</a:tableStyleId>
              </a:tblPr>
              <a:tblGrid>
                <a:gridCol w="1920240"/>
                <a:gridCol w="2103120"/>
                <a:gridCol w="1920240"/>
                <a:gridCol w="2103120"/>
                <a:gridCol w="2834640"/>
              </a:tblGrid>
              <a:tr h="347472">
                <a:tc>
                  <a:txBody>
                    <a:bodyPr wrap="square"/>
                    <a:lstStyle/>
                    <a:p>
                      <a:pPr algn="l">
                        <a:lnSpc>
                          <a:spcPct val="110000"/>
                        </a:lnSpc>
                        <a:spcAft>
                          <a:spcPts val="0"/>
                        </a:spcAft>
                      </a:pPr>
                      <a:r>
                        <a:rPr sz="1300" b="1">
                          <a:solidFill>
                            <a:srgbClr val="FFFFFF"/>
                          </a:solidFill>
                          <a:latin typeface="Microsoft JhengHei"/>
                          <a:ea typeface="Microsoft JhengHei"/>
                        </a:rPr>
                        <a:t>配對來源</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① SKIP 選股</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② 門檻水準</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③ 總曝險</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判定</a:t>
                      </a:r>
                    </a:p>
                  </a:txBody>
                  <a:tcPr marT="27432" marB="27432" marL="73152" marR="73152" anchor="ctr">
                    <a:solidFill>
                      <a:srgbClr val="0B2A5B"/>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GICS-SSD</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排除（3/15）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排除（4–15%）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排除（11/15）</a:t>
                      </a:r>
                    </a:p>
                  </a:txBody>
                  <a:tcPr marT="27432" marB="27432" marL="73152" marR="73152" anchor="ctr">
                    <a:solidFill>
                      <a:srgbClr val="FFFFFF"/>
                    </a:solidFill>
                  </a:tcPr>
                </a:tc>
                <a:tc>
                  <a:txBody>
                    <a:bodyPr wrap="square"/>
                    <a:lstStyle/>
                    <a:p>
                      <a:pPr algn="l">
                        <a:lnSpc>
                          <a:spcPct val="110000"/>
                        </a:lnSpc>
                        <a:spcAft>
                          <a:spcPts val="0"/>
                        </a:spcAft>
                      </a:pPr>
                      <a:r>
                        <a:rPr sz="1300" b="1">
                          <a:solidFill>
                            <a:srgbClr val="1A1A1A"/>
                          </a:solidFill>
                          <a:latin typeface="Microsoft JhengHei"/>
                          <a:ea typeface="Microsoft JhengHei"/>
                        </a:rPr>
                        <a:t>三項全排除</a:t>
                      </a:r>
                    </a:p>
                  </a:txBody>
                  <a:tcPr marT="27432" marB="27432" marL="73152" marR="73152" anchor="ctr">
                    <a:solidFill>
                      <a:srgbClr val="FFFFFF"/>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HDBSCAN</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排除（3/15）</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排除（8–14%）</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排除（11/15）</a:t>
                      </a:r>
                    </a:p>
                  </a:txBody>
                  <a:tcPr marT="27432" marB="27432" marL="73152" marR="73152" anchor="ctr">
                    <a:solidFill>
                      <a:srgbClr val="E8EDF5"/>
                    </a:solidFill>
                  </a:tcPr>
                </a:tc>
                <a:tc>
                  <a:txBody>
                    <a:bodyPr wrap="square"/>
                    <a:lstStyle/>
                    <a:p>
                      <a:pPr algn="l">
                        <a:lnSpc>
                          <a:spcPct val="110000"/>
                        </a:lnSpc>
                        <a:spcAft>
                          <a:spcPts val="0"/>
                        </a:spcAft>
                      </a:pPr>
                      <a:r>
                        <a:rPr sz="1300" b="1">
                          <a:solidFill>
                            <a:srgbClr val="1A1A1A"/>
                          </a:solidFill>
                          <a:latin typeface="Microsoft JhengHei"/>
                          <a:ea typeface="Microsoft JhengHei"/>
                        </a:rPr>
                        <a:t>三項全排除</a:t>
                      </a:r>
                    </a:p>
                  </a:txBody>
                  <a:tcPr marT="27432" marB="27432" marL="73152" marR="73152" anchor="ctr">
                    <a:solidFill>
                      <a:srgbClr val="E8EDF5"/>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GICS-SDP</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排除（2/15）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排除（−3–7%）</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排除（9/15）</a:t>
                      </a:r>
                    </a:p>
                  </a:txBody>
                  <a:tcPr marT="27432" marB="27432" marL="73152" marR="73152" anchor="ctr">
                    <a:solidFill>
                      <a:srgbClr val="FFFFFF"/>
                    </a:solidFill>
                  </a:tcPr>
                </a:tc>
                <a:tc>
                  <a:txBody>
                    <a:bodyPr wrap="square"/>
                    <a:lstStyle/>
                    <a:p>
                      <a:pPr algn="l">
                        <a:lnSpc>
                          <a:spcPct val="110000"/>
                        </a:lnSpc>
                        <a:spcAft>
                          <a:spcPts val="0"/>
                        </a:spcAft>
                      </a:pPr>
                      <a:r>
                        <a:rPr sz="1300" b="1">
                          <a:solidFill>
                            <a:srgbClr val="1A1A1A"/>
                          </a:solidFill>
                          <a:latin typeface="Microsoft JhengHei"/>
                          <a:ea typeface="Microsoft JhengHei"/>
                        </a:rPr>
                        <a:t>三項全排除</a:t>
                      </a:r>
                    </a:p>
                  </a:txBody>
                  <a:tcPr marT="27432" marB="27432" marL="73152" marR="73152" anchor="ctr">
                    <a:solidFill>
                      <a:srgbClr val="FFFFFF"/>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K-means</a:t>
                      </a:r>
                    </a:p>
                  </a:txBody>
                  <a:tcPr marT="27432" marB="27432" marL="73152" marR="73152" anchor="ctr">
                    <a:solidFill>
                      <a:srgbClr val="E8EDF5"/>
                    </a:solidFill>
                  </a:tcPr>
                </a:tc>
                <a:tc>
                  <a:txBody>
                    <a:bodyPr wrap="square"/>
                    <a:lstStyle/>
                    <a:p>
                      <a:pPr algn="l">
                        <a:lnSpc>
                          <a:spcPct val="110000"/>
                        </a:lnSpc>
                        <a:spcAft>
                          <a:spcPts val="0"/>
                        </a:spcAft>
                      </a:pPr>
                      <a:r>
                        <a:rPr sz="1300" b="1">
                          <a:solidFill>
                            <a:srgbClr val="C4553B"/>
                          </a:solidFill>
                          <a:latin typeface="Microsoft JhengHei"/>
                          <a:ea typeface="Microsoft JhengHei"/>
                        </a:rPr>
                        <a:t>否證（技巧 −220）</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排除（19–32%）</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部分（7/15）</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SKIP 沒有技巧</a:t>
                      </a:r>
                    </a:p>
                  </a:txBody>
                  <a:tcPr marT="27432" marB="27432" marL="73152" marR="73152" anchor="ctr">
                    <a:solidFill>
                      <a:srgbClr val="E8EDF5"/>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Agglomerative</a:t>
                      </a:r>
                    </a:p>
                  </a:txBody>
                  <a:tcPr marT="27432" marB="27432" marL="73152" marR="73152" anchor="ctr">
                    <a:solidFill>
                      <a:srgbClr val="FFFFFF"/>
                    </a:solidFill>
                  </a:tcPr>
                </a:tc>
                <a:tc>
                  <a:txBody>
                    <a:bodyPr wrap="square"/>
                    <a:lstStyle/>
                    <a:p>
                      <a:pPr algn="l">
                        <a:lnSpc>
                          <a:spcPct val="110000"/>
                        </a:lnSpc>
                        <a:spcAft>
                          <a:spcPts val="0"/>
                        </a:spcAft>
                      </a:pPr>
                      <a:r>
                        <a:rPr sz="1300" b="1">
                          <a:solidFill>
                            <a:srgbClr val="C4553B"/>
                          </a:solidFill>
                          <a:latin typeface="Microsoft JhengHei"/>
                          <a:ea typeface="Microsoft JhengHei"/>
                        </a:rPr>
                        <a:t>否證（技巧 −102）</a:t>
                      </a:r>
                    </a:p>
                  </a:txBody>
                  <a:tcPr marT="27432" marB="27432" marL="73152" marR="73152" anchor="ctr">
                    <a:solidFill>
                      <a:srgbClr val="FFFFFF"/>
                    </a:solidFill>
                  </a:tcPr>
                </a:tc>
                <a:tc>
                  <a:txBody>
                    <a:bodyPr wrap="square"/>
                    <a:lstStyle/>
                    <a:p>
                      <a:pPr algn="l">
                        <a:lnSpc>
                          <a:spcPct val="110000"/>
                        </a:lnSpc>
                        <a:spcAft>
                          <a:spcPts val="0"/>
                        </a:spcAft>
                      </a:pPr>
                      <a:r>
                        <a:rPr sz="1300" b="1">
                          <a:solidFill>
                            <a:srgbClr val="C4553B"/>
                          </a:solidFill>
                          <a:latin typeface="Microsoft JhengHei"/>
                          <a:ea typeface="Microsoft JhengHei"/>
                        </a:rPr>
                        <a:t>未排除（38–75%）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部分（6/15）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多可由調高門檻解釋</a:t>
                      </a:r>
                    </a:p>
                  </a:txBody>
                  <a:tcPr marT="27432" marB="27432" marL="73152" marR="73152" anchor="ctr">
                    <a:solidFill>
                      <a:srgbClr val="FFFFFF"/>
                    </a:solidFill>
                  </a:tcPr>
                </a:tc>
              </a:tr>
            </a:tbl>
          </a:graphicData>
        </a:graphic>
      </p:graphicFrame>
      <p:sp>
        <p:nvSpPr>
          <p:cNvPr id="9" name="Rounded Rectangle 8"/>
          <p:cNvSpPr/>
          <p:nvPr/>
        </p:nvSpPr>
        <p:spPr>
          <a:xfrm>
            <a:off x="640080" y="5321808"/>
            <a:ext cx="10881360" cy="621792"/>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600"/>
              </a:spcAft>
            </a:pPr>
            <a:r>
              <a:rPr sz="1350" b="0">
                <a:solidFill>
                  <a:srgbClr val="1A1A1A"/>
                </a:solidFill>
                <a:latin typeface="Microsoft JhengHei"/>
                <a:ea typeface="Microsoft JhengHei"/>
              </a:rPr>
              <a:t>「機制證據」跟「統計顯著」的交集只有 </a:t>
            </a:r>
            <a:r>
              <a:rPr sz="1350" b="1">
                <a:solidFill>
                  <a:srgbClr val="1A1A1A"/>
                </a:solidFill>
                <a:latin typeface="Microsoft JhengHei"/>
                <a:ea typeface="Microsoft JhengHei"/>
              </a:rPr>
              <a:t>HDBSCAN、GICS-SDP</a:t>
            </a:r>
            <a:r>
              <a:rPr sz="1350" b="0">
                <a:solidFill>
                  <a:srgbClr val="1A1A1A"/>
                </a:solidFill>
                <a:latin typeface="Microsoft JhengHei"/>
                <a:ea typeface="Microsoft JhengHei"/>
              </a:rPr>
              <a:t>。</a:t>
            </a:r>
            <a:r>
              <a:rPr sz="1350" b="0">
                <a:solidFill>
                  <a:srgbClr val="6B7280"/>
                </a:solidFill>
                <a:latin typeface="Microsoft JhengHei"/>
                <a:ea typeface="Microsoft JhengHei"/>
              </a:rPr>
              <a:t>三項都是事後重抽，不含「跳過 A 就把錢給 B」的槽位再配置效應。</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增益來源與穩健性（分析時判準）　｜　§4.4（替代解釋二）、§3.7</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會不會只是門檻調高而已？只能複製 3.6–32%</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42</a:t>
            </a:r>
          </a:p>
        </p:txBody>
      </p:sp>
      <p:graphicFrame>
        <p:nvGraphicFramePr>
          <p:cNvPr id="5" name="Table 4"/>
          <p:cNvGraphicFramePr>
            <a:graphicFrameLocks noGrp="1"/>
          </p:cNvGraphicFramePr>
          <p:nvPr/>
        </p:nvGraphicFramePr>
        <p:xfrm>
          <a:off x="640080" y="1737360"/>
          <a:ext cx="10881360" cy="2194560"/>
        </p:xfrm>
        <a:graphic>
          <a:graphicData uri="http://schemas.openxmlformats.org/drawingml/2006/table">
            <a:tbl>
              <a:tblPr firstRow="1" bandRow="1">
                <a:tableStyleId>{5C22544A-7EE6-4342-B048-85BDC9FD1C3A}</a:tableStyleId>
              </a:tblPr>
              <a:tblGrid>
                <a:gridCol w="2103120"/>
                <a:gridCol w="2011680"/>
                <a:gridCol w="2377440"/>
                <a:gridCol w="2377440"/>
                <a:gridCol w="2011680"/>
              </a:tblGrid>
              <a:tr h="365760">
                <a:tc>
                  <a:txBody>
                    <a:bodyPr wrap="square"/>
                    <a:lstStyle/>
                    <a:p>
                      <a:pPr algn="l">
                        <a:lnSpc>
                          <a:spcPct val="110000"/>
                        </a:lnSpc>
                        <a:spcAft>
                          <a:spcPts val="0"/>
                        </a:spcAft>
                      </a:pPr>
                      <a:r>
                        <a:rPr sz="1350" b="1">
                          <a:solidFill>
                            <a:srgbClr val="FFFFFF"/>
                          </a:solidFill>
                          <a:latin typeface="Microsoft JhengHei"/>
                          <a:ea typeface="Microsoft JhengHei"/>
                        </a:rPr>
                        <a:t>配對來源</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A：DL-THR − ZS(2.0)</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B：DL-THR − ZS(同門檻)</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C：純門檻管道</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複製率</a:t>
                      </a:r>
                    </a:p>
                  </a:txBody>
                  <a:tcPr marT="27432" marB="27432" marL="73152" marR="73152" anchor="ctr">
                    <a:solidFill>
                      <a:srgbClr val="0B2A5B"/>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GICS-SSD</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+0.798</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+0.676 ~ +0.769</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+0.029 ~ +0.122</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3.6 ~ 15.3%</a:t>
                      </a:r>
                    </a:p>
                  </a:txBody>
                  <a:tcPr marT="27432" marB="27432" marL="73152" marR="73152" anchor="ctr">
                    <a:solidFill>
                      <a:srgbClr val="FFFFFF"/>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GICS-SDP</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+0.579</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+0.537 ~ +0.594</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−0.015 ~ +0.042</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−2.6 ~ 7.3%</a:t>
                      </a:r>
                    </a:p>
                  </a:txBody>
                  <a:tcPr marT="27432" marB="27432" marL="73152" marR="73152" anchor="ctr">
                    <a:solidFill>
                      <a:srgbClr val="E8EDF5"/>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HDBSCAN</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+0.666</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+0.576 ~ +0.611</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+0.055 ~ +0.090</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8.3 ~ 13.5%</a:t>
                      </a:r>
                    </a:p>
                  </a:txBody>
                  <a:tcPr marT="27432" marB="27432" marL="73152" marR="73152" anchor="ctr">
                    <a:solidFill>
                      <a:srgbClr val="FFFFFF"/>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K-means</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+0.310</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+0.210 ~ +0.250</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+0.060 ~ +0.100</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19.4 ~ 32.3%</a:t>
                      </a:r>
                    </a:p>
                  </a:txBody>
                  <a:tcPr marT="27432" marB="27432" marL="73152" marR="73152" anchor="ctr">
                    <a:solidFill>
                      <a:srgbClr val="E8EDF5"/>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Agglomerative</a:t>
                      </a:r>
                    </a:p>
                  </a:txBody>
                  <a:tcPr marT="27432" marB="27432" marL="73152" marR="73152" anchor="ctr">
                    <a:solidFill>
                      <a:srgbClr val="F6DED7"/>
                    </a:solidFill>
                  </a:tcPr>
                </a:tc>
                <a:tc>
                  <a:txBody>
                    <a:bodyPr wrap="square"/>
                    <a:lstStyle/>
                    <a:p>
                      <a:pPr algn="r">
                        <a:lnSpc>
                          <a:spcPct val="110000"/>
                        </a:lnSpc>
                        <a:spcAft>
                          <a:spcPts val="0"/>
                        </a:spcAft>
                      </a:pPr>
                      <a:r>
                        <a:rPr sz="1350" b="0">
                          <a:solidFill>
                            <a:srgbClr val="1A1A1A"/>
                          </a:solidFill>
                          <a:latin typeface="Microsoft JhengHei"/>
                          <a:ea typeface="Microsoft JhengHei"/>
                        </a:rPr>
                        <a:t>+0.239</a:t>
                      </a:r>
                    </a:p>
                  </a:txBody>
                  <a:tcPr marT="27432" marB="27432" marL="73152" marR="73152" anchor="ctr">
                    <a:solidFill>
                      <a:srgbClr val="F6DED7"/>
                    </a:solidFill>
                  </a:tcPr>
                </a:tc>
                <a:tc>
                  <a:txBody>
                    <a:bodyPr wrap="square"/>
                    <a:lstStyle/>
                    <a:p>
                      <a:pPr algn="r">
                        <a:lnSpc>
                          <a:spcPct val="110000"/>
                        </a:lnSpc>
                        <a:spcAft>
                          <a:spcPts val="0"/>
                        </a:spcAft>
                      </a:pPr>
                      <a:r>
                        <a:rPr sz="1350" b="0">
                          <a:solidFill>
                            <a:srgbClr val="1A1A1A"/>
                          </a:solidFill>
                          <a:latin typeface="Microsoft JhengHei"/>
                          <a:ea typeface="Microsoft JhengHei"/>
                        </a:rPr>
                        <a:t>+0.061 ~ +0.149</a:t>
                      </a:r>
                    </a:p>
                  </a:txBody>
                  <a:tcPr marT="27432" marB="27432" marL="73152" marR="73152" anchor="ctr">
                    <a:solidFill>
                      <a:srgbClr val="F6DED7"/>
                    </a:solidFill>
                  </a:tcPr>
                </a:tc>
                <a:tc>
                  <a:txBody>
                    <a:bodyPr wrap="square"/>
                    <a:lstStyle/>
                    <a:p>
                      <a:pPr algn="r">
                        <a:lnSpc>
                          <a:spcPct val="110000"/>
                        </a:lnSpc>
                        <a:spcAft>
                          <a:spcPts val="0"/>
                        </a:spcAft>
                      </a:pPr>
                      <a:r>
                        <a:rPr sz="1350" b="0">
                          <a:solidFill>
                            <a:srgbClr val="1A1A1A"/>
                          </a:solidFill>
                          <a:latin typeface="Microsoft JhengHei"/>
                          <a:ea typeface="Microsoft JhengHei"/>
                        </a:rPr>
                        <a:t>+0.091 ~ +0.178</a:t>
                      </a:r>
                    </a:p>
                  </a:txBody>
                  <a:tcPr marT="27432" marB="27432" marL="73152" marR="73152" anchor="ctr">
                    <a:solidFill>
                      <a:srgbClr val="F6DED7"/>
                    </a:solidFill>
                  </a:tcPr>
                </a:tc>
                <a:tc>
                  <a:txBody>
                    <a:bodyPr wrap="square"/>
                    <a:lstStyle/>
                    <a:p>
                      <a:pPr algn="r">
                        <a:lnSpc>
                          <a:spcPct val="110000"/>
                        </a:lnSpc>
                        <a:spcAft>
                          <a:spcPts val="0"/>
                        </a:spcAft>
                      </a:pPr>
                      <a:r>
                        <a:rPr sz="1350" b="0">
                          <a:solidFill>
                            <a:srgbClr val="1A1A1A"/>
                          </a:solidFill>
                          <a:latin typeface="Microsoft JhengHei"/>
                          <a:ea typeface="Microsoft JhengHei"/>
                        </a:rPr>
                        <a:t>38.1 ~ 74.5%</a:t>
                      </a:r>
                    </a:p>
                  </a:txBody>
                  <a:tcPr marT="27432" marB="27432" marL="73152" marR="73152" anchor="ctr">
                    <a:solidFill>
                      <a:srgbClr val="F6DED7"/>
                    </a:solidFill>
                  </a:tcPr>
                </a:tc>
              </a:tr>
            </a:tbl>
          </a:graphicData>
        </a:graphic>
      </p:graphicFrame>
      <p:sp>
        <p:nvSpPr>
          <p:cNvPr id="6" name="TextBox 5"/>
          <p:cNvSpPr txBox="1"/>
          <p:nvPr/>
        </p:nvSpPr>
        <p:spPr>
          <a:xfrm>
            <a:off x="640080" y="4023360"/>
            <a:ext cx="10881360" cy="365760"/>
          </a:xfrm>
          <a:prstGeom prst="rect">
            <a:avLst/>
          </a:prstGeom>
          <a:noFill/>
        </p:spPr>
        <p:txBody>
          <a:bodyPr wrap="square" lIns="0" rIns="0" tIns="0" bIns="0" anchor="t">
            <a:spAutoFit/>
          </a:bodyPr>
          <a:lstStyle/>
          <a:p>
            <a:pPr algn="l">
              <a:lnSpc>
                <a:spcPct val="125000"/>
              </a:lnSpc>
              <a:spcAft>
                <a:spcPts val="600"/>
              </a:spcAft>
            </a:pPr>
            <a:r>
              <a:rPr sz="1150" b="0">
                <a:solidFill>
                  <a:srgbClr val="6B7280"/>
                </a:solidFill>
                <a:latin typeface="Microsoft JhengHei"/>
                <a:ea typeface="Microsoft JhengHei"/>
              </a:rPr>
              <a:t>單位：年化 pp；ZS(同門檻)＝把 Z-Score 門檻拉到 2.1–2.3</a:t>
            </a:r>
          </a:p>
        </p:txBody>
      </p:sp>
      <p:sp>
        <p:nvSpPr>
          <p:cNvPr id="7" name="Rounded Rectangle 6"/>
          <p:cNvSpPr/>
          <p:nvPr/>
        </p:nvSpPr>
        <p:spPr>
          <a:xfrm>
            <a:off x="640080" y="4434840"/>
            <a:ext cx="5257800" cy="13258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水準不是唯一來源，但也不是無關</a:t>
            </a:r>
          </a:p>
          <a:p>
            <a:pPr algn="l">
              <a:lnSpc>
                <a:spcPct val="125000"/>
              </a:lnSpc>
              <a:spcAft>
                <a:spcPts val="600"/>
              </a:spcAft>
            </a:pPr>
            <a:r>
              <a:rPr sz="1300" b="0">
                <a:solidFill>
                  <a:srgbClr val="1A1A1A"/>
                </a:solidFill>
                <a:latin typeface="Microsoft JhengHei"/>
                <a:ea typeface="Microsoft JhengHei"/>
              </a:rPr>
              <a:t>如果增益純粹來自水準，拉高門檻應該複製</a:t>
            </a:r>
            <a:r>
              <a:rPr sz="1300" b="1">
                <a:solidFill>
                  <a:srgbClr val="1A1A1A"/>
                </a:solidFill>
                <a:latin typeface="Microsoft JhengHei"/>
                <a:ea typeface="Microsoft JhengHei"/>
              </a:rPr>
              <a:t>全部</a:t>
            </a:r>
            <a:r>
              <a:rPr sz="1300" b="0">
                <a:solidFill>
                  <a:srgbClr val="1A1A1A"/>
                </a:solidFill>
                <a:latin typeface="Microsoft JhengHei"/>
                <a:ea typeface="Microsoft JhengHei"/>
              </a:rPr>
              <a:t>；實測四個來源只複製 3.6–32%。但 </a:t>
            </a:r>
            <a:r>
              <a:rPr sz="1300" b="1">
                <a:solidFill>
                  <a:srgbClr val="1A1A1A"/>
                </a:solidFill>
                <a:latin typeface="Microsoft JhengHei"/>
                <a:ea typeface="Microsoft JhengHei"/>
              </a:rPr>
              <a:t>Agglomerative 例外</a:t>
            </a:r>
            <a:r>
              <a:rPr sz="1300" b="0">
                <a:solidFill>
                  <a:srgbClr val="1A1A1A"/>
                </a:solidFill>
                <a:latin typeface="Microsoft JhengHei"/>
                <a:ea typeface="Microsoft JhengHei"/>
              </a:rPr>
              <a:t>：純門檻管道自己就顯著（p = 0.019）。</a:t>
            </a:r>
          </a:p>
        </p:txBody>
      </p:sp>
      <p:sp>
        <p:nvSpPr>
          <p:cNvPr id="8" name="Rounded Rectangle 7"/>
          <p:cNvSpPr/>
          <p:nvPr/>
        </p:nvSpPr>
        <p:spPr>
          <a:xfrm>
            <a:off x="6263640" y="4434840"/>
            <a:ext cx="5257800" cy="13258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覆蓋範圍要講清楚</a:t>
            </a:r>
          </a:p>
          <a:p>
            <a:pPr algn="l">
              <a:lnSpc>
                <a:spcPct val="125000"/>
              </a:lnSpc>
              <a:spcAft>
                <a:spcPts val="600"/>
              </a:spcAft>
            </a:pPr>
            <a:r>
              <a:rPr sz="1300" b="0">
                <a:solidFill>
                  <a:srgbClr val="1A1A1A"/>
                </a:solidFill>
                <a:latin typeface="Microsoft JhengHei"/>
                <a:ea typeface="Microsoft JhengHei"/>
              </a:rPr>
              <a:t>2.1–2.3 覆蓋五個來源、2.5／3.0 只覆蓋四個，</a:t>
            </a:r>
            <a:r>
              <a:rPr sz="1300" b="1">
                <a:solidFill>
                  <a:srgbClr val="1A1A1A"/>
                </a:solidFill>
                <a:latin typeface="Microsoft JhengHei"/>
                <a:ea typeface="Microsoft JhengHei"/>
              </a:rPr>
              <a:t>下界 1.5 從沒執行</a:t>
            </a:r>
            <a:r>
              <a:rPr sz="1300" b="0">
                <a:solidFill>
                  <a:srgbClr val="1A1A1A"/>
                </a:solidFill>
                <a:latin typeface="Microsoft JhengHei"/>
                <a:ea typeface="Microsoft JhengHei"/>
              </a:rPr>
              <a:t>。只能說「在跑過的取值上，水準複製不了多數增益」。</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增益來源與穩健性（分析時判準）　｜　§4.5</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全資訊標籤有幫上忙嗎？資料說：沒有</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43</a:t>
            </a:r>
          </a:p>
        </p:txBody>
      </p:sp>
      <p:graphicFrame>
        <p:nvGraphicFramePr>
          <p:cNvPr id="5" name="Table 4"/>
          <p:cNvGraphicFramePr>
            <a:graphicFrameLocks noGrp="1"/>
          </p:cNvGraphicFramePr>
          <p:nvPr/>
        </p:nvGraphicFramePr>
        <p:xfrm>
          <a:off x="640080" y="1691640"/>
          <a:ext cx="7909559" cy="2706624"/>
        </p:xfrm>
        <a:graphic>
          <a:graphicData uri="http://schemas.openxmlformats.org/drawingml/2006/table">
            <a:tbl>
              <a:tblPr firstRow="1" bandRow="1">
                <a:tableStyleId>{5C22544A-7EE6-4342-B048-85BDC9FD1C3A}</a:tableStyleId>
              </a:tblPr>
              <a:tblGrid>
                <a:gridCol w="3886200"/>
                <a:gridCol w="1325880"/>
                <a:gridCol w="1874519"/>
                <a:gridCol w="822960"/>
              </a:tblGrid>
              <a:tr h="338328">
                <a:tc>
                  <a:txBody>
                    <a:bodyPr wrap="square"/>
                    <a:lstStyle/>
                    <a:p>
                      <a:pPr algn="l">
                        <a:lnSpc>
                          <a:spcPct val="110000"/>
                        </a:lnSpc>
                        <a:spcAft>
                          <a:spcPts val="0"/>
                        </a:spcAft>
                      </a:pPr>
                      <a:r>
                        <a:rPr sz="1300" b="1">
                          <a:solidFill>
                            <a:srgbClr val="FFFFFF"/>
                          </a:solidFill>
                          <a:latin typeface="Microsoft JhengHei"/>
                          <a:ea typeface="Microsoft JhengHei"/>
                        </a:rPr>
                        <a:t>對照（Agglomerative-SSD，15 格等權）</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年化Δ（%）</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95% CI（%）</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p</a:t>
                      </a:r>
                    </a:p>
                  </a:txBody>
                  <a:tcPr marT="27432" marB="27432" marL="73152" marR="73152" anchor="ctr">
                    <a:solidFill>
                      <a:srgbClr val="0B2A5B"/>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DL-THR − Z-Score</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+0.239</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[−0.09, +0.61]</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0.180</a:t>
                      </a:r>
                    </a:p>
                  </a:txBody>
                  <a:tcPr marT="27432" marB="27432" marL="73152" marR="73152" anchor="ctr">
                    <a:solidFill>
                      <a:srgbClr val="FFFFFF"/>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RL-THR（ε=0.05）− Z-Score</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+0.528</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[+0.01, +1.28]</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0.092</a:t>
                      </a:r>
                    </a:p>
                  </a:txBody>
                  <a:tcPr marT="27432" marB="27432" marL="73152" marR="73152" anchor="ctr">
                    <a:solidFill>
                      <a:srgbClr val="E8EDF5"/>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RL-THR（ε=0.10）− Z-Score</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+0.479</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[−0.03, +1.23]</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0.130</a:t>
                      </a:r>
                    </a:p>
                  </a:txBody>
                  <a:tcPr marT="27432" marB="27432" marL="73152" marR="73152" anchor="ctr">
                    <a:solidFill>
                      <a:srgbClr val="FFFFFF"/>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RL-THR（ε=0.20→0.02）− Z-Score</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+0.519</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[+0.05, +1.20]</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0.071</a:t>
                      </a:r>
                    </a:p>
                  </a:txBody>
                  <a:tcPr marT="27432" marB="27432" marL="73152" marR="73152" anchor="ctr">
                    <a:solidFill>
                      <a:srgbClr val="E8EDF5"/>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RL-THR（ε=0.05）− DL-THR</a:t>
                      </a:r>
                    </a:p>
                  </a:txBody>
                  <a:tcPr marT="27432" marB="27432" marL="73152" marR="73152" anchor="ctr">
                    <a:solidFill>
                      <a:srgbClr val="F6DED7"/>
                    </a:solidFill>
                  </a:tcPr>
                </a:tc>
                <a:tc>
                  <a:txBody>
                    <a:bodyPr wrap="square"/>
                    <a:lstStyle/>
                    <a:p>
                      <a:pPr algn="r">
                        <a:lnSpc>
                          <a:spcPct val="110000"/>
                        </a:lnSpc>
                        <a:spcAft>
                          <a:spcPts val="0"/>
                        </a:spcAft>
                      </a:pPr>
                      <a:r>
                        <a:rPr sz="1300" b="0">
                          <a:solidFill>
                            <a:srgbClr val="1A1A1A"/>
                          </a:solidFill>
                          <a:latin typeface="Microsoft JhengHei"/>
                          <a:ea typeface="Microsoft JhengHei"/>
                        </a:rPr>
                        <a:t>+0.288</a:t>
                      </a:r>
                    </a:p>
                  </a:txBody>
                  <a:tcPr marT="27432" marB="27432" marL="73152" marR="73152" anchor="ctr">
                    <a:solidFill>
                      <a:srgbClr val="F6DED7"/>
                    </a:solidFill>
                  </a:tcPr>
                </a:tc>
                <a:tc>
                  <a:txBody>
                    <a:bodyPr wrap="square"/>
                    <a:lstStyle/>
                    <a:p>
                      <a:pPr algn="r">
                        <a:lnSpc>
                          <a:spcPct val="110000"/>
                        </a:lnSpc>
                        <a:spcAft>
                          <a:spcPts val="0"/>
                        </a:spcAft>
                      </a:pPr>
                      <a:r>
                        <a:rPr sz="1300" b="0">
                          <a:solidFill>
                            <a:srgbClr val="1A1A1A"/>
                          </a:solidFill>
                          <a:latin typeface="Microsoft JhengHei"/>
                          <a:ea typeface="Microsoft JhengHei"/>
                        </a:rPr>
                        <a:t>[−0.13, +0.83]</a:t>
                      </a:r>
                    </a:p>
                  </a:txBody>
                  <a:tcPr marT="27432" marB="27432" marL="73152" marR="73152" anchor="ctr">
                    <a:solidFill>
                      <a:srgbClr val="F6DED7"/>
                    </a:solidFill>
                  </a:tcPr>
                </a:tc>
                <a:tc>
                  <a:txBody>
                    <a:bodyPr wrap="square"/>
                    <a:lstStyle/>
                    <a:p>
                      <a:pPr algn="r">
                        <a:lnSpc>
                          <a:spcPct val="110000"/>
                        </a:lnSpc>
                        <a:spcAft>
                          <a:spcPts val="0"/>
                        </a:spcAft>
                      </a:pPr>
                      <a:r>
                        <a:rPr sz="1300" b="0">
                          <a:solidFill>
                            <a:srgbClr val="1A1A1A"/>
                          </a:solidFill>
                          <a:latin typeface="Microsoft JhengHei"/>
                          <a:ea typeface="Microsoft JhengHei"/>
                        </a:rPr>
                        <a:t>0.231</a:t>
                      </a:r>
                    </a:p>
                  </a:txBody>
                  <a:tcPr marT="27432" marB="27432" marL="73152" marR="73152" anchor="ctr">
                    <a:solidFill>
                      <a:srgbClr val="F6DED7"/>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RL-THR（ε=0.10）− DL-THR</a:t>
                      </a:r>
                    </a:p>
                  </a:txBody>
                  <a:tcPr marT="27432" marB="27432" marL="73152" marR="73152" anchor="ctr">
                    <a:solidFill>
                      <a:srgbClr val="F6DED7"/>
                    </a:solidFill>
                  </a:tcPr>
                </a:tc>
                <a:tc>
                  <a:txBody>
                    <a:bodyPr wrap="square"/>
                    <a:lstStyle/>
                    <a:p>
                      <a:pPr algn="r">
                        <a:lnSpc>
                          <a:spcPct val="110000"/>
                        </a:lnSpc>
                        <a:spcAft>
                          <a:spcPts val="0"/>
                        </a:spcAft>
                      </a:pPr>
                      <a:r>
                        <a:rPr sz="1300" b="0">
                          <a:solidFill>
                            <a:srgbClr val="1A1A1A"/>
                          </a:solidFill>
                          <a:latin typeface="Microsoft JhengHei"/>
                          <a:ea typeface="Microsoft JhengHei"/>
                        </a:rPr>
                        <a:t>+0.240</a:t>
                      </a:r>
                    </a:p>
                  </a:txBody>
                  <a:tcPr marT="27432" marB="27432" marL="73152" marR="73152" anchor="ctr">
                    <a:solidFill>
                      <a:srgbClr val="F6DED7"/>
                    </a:solidFill>
                  </a:tcPr>
                </a:tc>
                <a:tc>
                  <a:txBody>
                    <a:bodyPr wrap="square"/>
                    <a:lstStyle/>
                    <a:p>
                      <a:pPr algn="r">
                        <a:lnSpc>
                          <a:spcPct val="110000"/>
                        </a:lnSpc>
                        <a:spcAft>
                          <a:spcPts val="0"/>
                        </a:spcAft>
                      </a:pPr>
                      <a:r>
                        <a:rPr sz="1300" b="0">
                          <a:solidFill>
                            <a:srgbClr val="1A1A1A"/>
                          </a:solidFill>
                          <a:latin typeface="Microsoft JhengHei"/>
                          <a:ea typeface="Microsoft JhengHei"/>
                        </a:rPr>
                        <a:t>[−0.18, +0.78]</a:t>
                      </a:r>
                    </a:p>
                  </a:txBody>
                  <a:tcPr marT="27432" marB="27432" marL="73152" marR="73152" anchor="ctr">
                    <a:solidFill>
                      <a:srgbClr val="F6DED7"/>
                    </a:solidFill>
                  </a:tcPr>
                </a:tc>
                <a:tc>
                  <a:txBody>
                    <a:bodyPr wrap="square"/>
                    <a:lstStyle/>
                    <a:p>
                      <a:pPr algn="r">
                        <a:lnSpc>
                          <a:spcPct val="110000"/>
                        </a:lnSpc>
                        <a:spcAft>
                          <a:spcPts val="0"/>
                        </a:spcAft>
                      </a:pPr>
                      <a:r>
                        <a:rPr sz="1300" b="0">
                          <a:solidFill>
                            <a:srgbClr val="1A1A1A"/>
                          </a:solidFill>
                          <a:latin typeface="Microsoft JhengHei"/>
                          <a:ea typeface="Microsoft JhengHei"/>
                        </a:rPr>
                        <a:t>0.326</a:t>
                      </a:r>
                    </a:p>
                  </a:txBody>
                  <a:tcPr marT="27432" marB="27432" marL="73152" marR="73152" anchor="ctr">
                    <a:solidFill>
                      <a:srgbClr val="F6DED7"/>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RL-THR（ε=0.20→0.02）− DL-THR</a:t>
                      </a:r>
                    </a:p>
                  </a:txBody>
                  <a:tcPr marT="27432" marB="27432" marL="73152" marR="73152" anchor="ctr">
                    <a:solidFill>
                      <a:srgbClr val="F6DED7"/>
                    </a:solidFill>
                  </a:tcPr>
                </a:tc>
                <a:tc>
                  <a:txBody>
                    <a:bodyPr wrap="square"/>
                    <a:lstStyle/>
                    <a:p>
                      <a:pPr algn="r">
                        <a:lnSpc>
                          <a:spcPct val="110000"/>
                        </a:lnSpc>
                        <a:spcAft>
                          <a:spcPts val="0"/>
                        </a:spcAft>
                      </a:pPr>
                      <a:r>
                        <a:rPr sz="1300" b="0">
                          <a:solidFill>
                            <a:srgbClr val="1A1A1A"/>
                          </a:solidFill>
                          <a:latin typeface="Microsoft JhengHei"/>
                          <a:ea typeface="Microsoft JhengHei"/>
                        </a:rPr>
                        <a:t>+0.279</a:t>
                      </a:r>
                    </a:p>
                  </a:txBody>
                  <a:tcPr marT="27432" marB="27432" marL="73152" marR="73152" anchor="ctr">
                    <a:solidFill>
                      <a:srgbClr val="F6DED7"/>
                    </a:solidFill>
                  </a:tcPr>
                </a:tc>
                <a:tc>
                  <a:txBody>
                    <a:bodyPr wrap="square"/>
                    <a:lstStyle/>
                    <a:p>
                      <a:pPr algn="r">
                        <a:lnSpc>
                          <a:spcPct val="110000"/>
                        </a:lnSpc>
                        <a:spcAft>
                          <a:spcPts val="0"/>
                        </a:spcAft>
                      </a:pPr>
                      <a:r>
                        <a:rPr sz="1300" b="0">
                          <a:solidFill>
                            <a:srgbClr val="1A1A1A"/>
                          </a:solidFill>
                          <a:latin typeface="Microsoft JhengHei"/>
                          <a:ea typeface="Microsoft JhengHei"/>
                        </a:rPr>
                        <a:t>[−0.10, +0.74]</a:t>
                      </a:r>
                    </a:p>
                  </a:txBody>
                  <a:tcPr marT="27432" marB="27432" marL="73152" marR="73152" anchor="ctr">
                    <a:solidFill>
                      <a:srgbClr val="F6DED7"/>
                    </a:solidFill>
                  </a:tcPr>
                </a:tc>
                <a:tc>
                  <a:txBody>
                    <a:bodyPr wrap="square"/>
                    <a:lstStyle/>
                    <a:p>
                      <a:pPr algn="r">
                        <a:lnSpc>
                          <a:spcPct val="110000"/>
                        </a:lnSpc>
                        <a:spcAft>
                          <a:spcPts val="0"/>
                        </a:spcAft>
                      </a:pPr>
                      <a:r>
                        <a:rPr sz="1300" b="0">
                          <a:solidFill>
                            <a:srgbClr val="1A1A1A"/>
                          </a:solidFill>
                          <a:latin typeface="Microsoft JhengHei"/>
                          <a:ea typeface="Microsoft JhengHei"/>
                        </a:rPr>
                        <a:t>0.192</a:t>
                      </a:r>
                    </a:p>
                  </a:txBody>
                  <a:tcPr marT="27432" marB="27432" marL="73152" marR="73152" anchor="ctr">
                    <a:solidFill>
                      <a:srgbClr val="F6DED7"/>
                    </a:solidFill>
                  </a:tcPr>
                </a:tc>
              </a:tr>
            </a:tbl>
          </a:graphicData>
        </a:graphic>
      </p:graphicFrame>
      <p:sp>
        <p:nvSpPr>
          <p:cNvPr id="6" name="Rounded Rectangle 5"/>
          <p:cNvSpPr/>
          <p:nvPr/>
        </p:nvSpPr>
        <p:spPr>
          <a:xfrm>
            <a:off x="8778240" y="1691640"/>
            <a:ext cx="2743200" cy="26974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400" b="1">
                <a:solidFill>
                  <a:srgbClr val="0B2A5B"/>
                </a:solidFill>
                <a:latin typeface="Microsoft JhengHei"/>
                <a:ea typeface="Microsoft JhengHei"/>
              </a:rPr>
              <a:t>三個 RL 版本的點估計都比全資訊版好</a:t>
            </a:r>
          </a:p>
          <a:p>
            <a:pPr algn="l">
              <a:lnSpc>
                <a:spcPct val="125000"/>
              </a:lnSpc>
              <a:spcAft>
                <a:spcPts val="600"/>
              </a:spcAft>
            </a:pPr>
            <a:r>
              <a:rPr sz="1300" b="0">
                <a:solidFill>
                  <a:srgbClr val="1A1A1A"/>
                </a:solidFill>
                <a:latin typeface="Microsoft JhengHei"/>
                <a:ea typeface="Microsoft JhengHei"/>
              </a:rPr>
              <a:t>+0.24～+0.29%</a:t>
            </a:r>
          </a:p>
          <a:p>
            <a:pPr algn="l">
              <a:lnSpc>
                <a:spcPct val="125000"/>
              </a:lnSpc>
              <a:spcAft>
                <a:spcPts val="600"/>
              </a:spcAft>
            </a:pPr>
            <a:r>
              <a:rPr sz="1300" b="0">
                <a:solidFill>
                  <a:srgbClr val="1A1A1A"/>
                </a:solidFill>
                <a:latin typeface="Microsoft JhengHei"/>
                <a:ea typeface="Microsoft JhengHei"/>
              </a:rPr>
              <a:t>但全部</a:t>
            </a:r>
            <a:r>
              <a:rPr sz="1300" b="1">
                <a:solidFill>
                  <a:srgbClr val="1A1A1A"/>
                </a:solidFill>
                <a:latin typeface="Microsoft JhengHei"/>
                <a:ea typeface="Microsoft JhengHei"/>
              </a:rPr>
              <a:t>不顯著</a:t>
            </a:r>
            <a:r>
              <a:rPr sz="1300" b="0">
                <a:solidFill>
                  <a:srgbClr val="1A1A1A"/>
                </a:solidFill>
                <a:latin typeface="Microsoft JhengHei"/>
                <a:ea typeface="Microsoft JhengHei"/>
              </a:rPr>
              <a:t>（p＝0.19–0.33）</a:t>
            </a:r>
          </a:p>
        </p:txBody>
      </p:sp>
      <p:sp>
        <p:nvSpPr>
          <p:cNvPr id="7" name="Rounded Rectangle 6"/>
          <p:cNvSpPr/>
          <p:nvPr/>
        </p:nvSpPr>
        <p:spPr>
          <a:xfrm>
            <a:off x="640080" y="4617720"/>
            <a:ext cx="10881360" cy="11887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所以我不主張「部分回饋比較好」，只主張否定的那一半</a:t>
            </a:r>
          </a:p>
          <a:p>
            <a:pPr algn="l">
              <a:lnSpc>
                <a:spcPct val="125000"/>
              </a:lnSpc>
              <a:spcAft>
                <a:spcPts val="600"/>
              </a:spcAft>
            </a:pPr>
            <a:r>
              <a:rPr sz="1350" b="1">
                <a:solidFill>
                  <a:srgbClr val="1A1A1A"/>
                </a:solidFill>
                <a:latin typeface="Microsoft JhengHei"/>
                <a:ea typeface="Microsoft JhengHei"/>
              </a:rPr>
              <a:t>資料不支持「全資訊標籤是效果來源」這個預期</a:t>
            </a:r>
            <a:r>
              <a:rPr sz="1350" b="0">
                <a:solidFill>
                  <a:srgbClr val="1A1A1A"/>
                </a:solidFill>
                <a:latin typeface="Microsoft JhengHei"/>
                <a:ea typeface="Microsoft JhengHei"/>
              </a:rPr>
              <a:t>——如果它是，DL-THR 應該贏過三個 RL 版本，實測方向相反。可能的機制是過度擬合那 8 個沒被執行的動作（推測，未檢定）。</a:t>
            </a:r>
            <a:r>
              <a:rPr sz="1350" b="0">
                <a:solidFill>
                  <a:srgbClr val="6B7280"/>
                </a:solidFill>
                <a:latin typeface="Microsoft JhengHei"/>
                <a:ea typeface="Microsoft JhengHei"/>
              </a:rPr>
              <a:t>限制：只在一個來源做、RL-THR 沒有多輪重訓。</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第四部分 · 增益來源與穩健性（分析時判準）　｜　§4.6</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穩健性：重訓五次、分市況、改成本</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44</a:t>
            </a:r>
          </a:p>
        </p:txBody>
      </p:sp>
      <p:sp>
        <p:nvSpPr>
          <p:cNvPr id="5" name="Rounded Rectangle 4"/>
          <p:cNvSpPr/>
          <p:nvPr/>
        </p:nvSpPr>
        <p:spPr>
          <a:xfrm>
            <a:off x="640080" y="1691640"/>
            <a:ext cx="3474720" cy="40690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① 五輪獨立重訓</a:t>
            </a:r>
          </a:p>
          <a:p>
            <a:pPr algn="l">
              <a:lnSpc>
                <a:spcPct val="125000"/>
              </a:lnSpc>
              <a:spcAft>
                <a:spcPts val="800"/>
              </a:spcAft>
            </a:pPr>
            <a:r>
              <a:rPr sz="1300" b="0">
                <a:solidFill>
                  <a:srgbClr val="6B7280"/>
                </a:solidFill>
                <a:latin typeface="Microsoft JhengHei"/>
                <a:ea typeface="Microsoft JhengHei"/>
              </a:rPr>
              <a:t>修正實作錯誤後的績效位移，會不會只是重訓雜訊？</a:t>
            </a:r>
          </a:p>
          <a:p>
            <a:pPr algn="l">
              <a:lnSpc>
                <a:spcPct val="125000"/>
              </a:lnSpc>
              <a:spcAft>
                <a:spcPts val="600"/>
              </a:spcAft>
            </a:pPr>
            <a:r>
              <a:rPr sz="1350" b="0">
                <a:solidFill>
                  <a:srgbClr val="1A1A1A"/>
                </a:solidFill>
                <a:latin typeface="Microsoft JhengHei"/>
                <a:ea typeface="Microsoft JhengHei"/>
              </a:rPr>
              <a:t>修正前 Sharpe 低於修正後四輪最小值：</a:t>
            </a:r>
            <a:r>
              <a:rPr sz="1350" b="1">
                <a:solidFill>
                  <a:srgbClr val="1A1A1A"/>
                </a:solidFill>
                <a:latin typeface="Microsoft JhengHei"/>
                <a:ea typeface="Microsoft JhengHei"/>
              </a:rPr>
              <a:t>88／120（73.3%）</a:t>
            </a:r>
          </a:p>
          <a:p>
            <a:pPr algn="l">
              <a:lnSpc>
                <a:spcPct val="125000"/>
              </a:lnSpc>
              <a:spcAft>
                <a:spcPts val="600"/>
              </a:spcAft>
            </a:pPr>
            <a:r>
              <a:rPr sz="1350" b="0">
                <a:solidFill>
                  <a:srgbClr val="1A1A1A"/>
                </a:solidFill>
                <a:latin typeface="Microsoft JhengHei"/>
                <a:ea typeface="Microsoft JhengHei"/>
              </a:rPr>
              <a:t>二項檢定 p ＝ 3.7 × 10⁻³⁶</a:t>
            </a:r>
          </a:p>
          <a:p>
            <a:pPr algn="l">
              <a:lnSpc>
                <a:spcPct val="125000"/>
              </a:lnSpc>
              <a:spcAft>
                <a:spcPts val="600"/>
              </a:spcAft>
            </a:pPr>
            <a:r>
              <a:rPr sz="1350" b="0">
                <a:solidFill>
                  <a:srgbClr val="1A1A1A"/>
                </a:solidFill>
                <a:latin typeface="Microsoft JhengHei"/>
                <a:ea typeface="Microsoft JhengHei"/>
              </a:rPr>
              <a:t>跨輪標準差中位 </a:t>
            </a:r>
            <a:r>
              <a:rPr sz="1350" b="1">
                <a:solidFill>
                  <a:srgbClr val="1A1A1A"/>
                </a:solidFill>
                <a:latin typeface="Microsoft JhengHei"/>
                <a:ea typeface="Microsoft JhengHei"/>
              </a:rPr>
              <a:t>0.031</a:t>
            </a:r>
            <a:r>
              <a:rPr sz="1350" b="0">
                <a:solidFill>
                  <a:srgbClr val="1A1A1A"/>
                </a:solidFill>
                <a:latin typeface="Microsoft JhengHei"/>
                <a:ea typeface="Microsoft JhengHei"/>
              </a:rPr>
              <a:t>，遠小於位移</a:t>
            </a:r>
          </a:p>
          <a:p>
            <a:pPr algn="l">
              <a:lnSpc>
                <a:spcPct val="125000"/>
              </a:lnSpc>
              <a:spcAft>
                <a:spcPts val="600"/>
              </a:spcAft>
            </a:pPr>
            <a:r>
              <a:rPr sz="1350" b="0">
                <a:solidFill>
                  <a:srgbClr val="6B7280"/>
                </a:solidFill>
                <a:latin typeface="Microsoft JhengHei"/>
                <a:ea typeface="Microsoft JhengHei"/>
              </a:rPr>
              <a:t>例外：KM-SSD-DRL 6/15（p＝0.061），不可單獨宣稱</a:t>
            </a:r>
          </a:p>
        </p:txBody>
      </p:sp>
      <p:sp>
        <p:nvSpPr>
          <p:cNvPr id="6" name="Rounded Rectangle 5"/>
          <p:cNvSpPr/>
          <p:nvPr/>
        </p:nvSpPr>
        <p:spPr>
          <a:xfrm>
            <a:off x="4343400" y="1691640"/>
            <a:ext cx="3474720" cy="40690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② 市況分層（Regime）</a:t>
            </a:r>
          </a:p>
          <a:p>
            <a:pPr algn="l">
              <a:lnSpc>
                <a:spcPct val="125000"/>
              </a:lnSpc>
              <a:spcAft>
                <a:spcPts val="800"/>
              </a:spcAft>
            </a:pPr>
            <a:r>
              <a:rPr sz="1300" b="0">
                <a:solidFill>
                  <a:srgbClr val="6B7280"/>
                </a:solidFill>
                <a:latin typeface="Microsoft JhengHei"/>
                <a:ea typeface="Microsoft JhengHei"/>
              </a:rPr>
              <a:t>什麼時候賺錢？</a:t>
            </a:r>
          </a:p>
          <a:p>
            <a:pPr algn="l">
              <a:lnSpc>
                <a:spcPct val="125000"/>
              </a:lnSpc>
              <a:spcAft>
                <a:spcPts val="600"/>
              </a:spcAft>
            </a:pPr>
            <a:r>
              <a:rPr sz="1350" b="0">
                <a:solidFill>
                  <a:srgbClr val="1A1A1A"/>
                </a:solidFill>
                <a:latin typeface="Microsoft JhengHei"/>
                <a:ea typeface="Microsoft JhengHei"/>
              </a:rPr>
              <a:t>十列全部同一型態：</a:t>
            </a:r>
            <a:r>
              <a:rPr sz="1350" b="1">
                <a:solidFill>
                  <a:srgbClr val="1A1A1A"/>
                </a:solidFill>
                <a:latin typeface="Microsoft JhengHei"/>
                <a:ea typeface="Microsoft JhengHei"/>
              </a:rPr>
              <a:t>動盪期為正</a:t>
            </a:r>
            <a:r>
              <a:rPr sz="1350" b="0">
                <a:solidFill>
                  <a:srgbClr val="1A1A1A"/>
                </a:solidFill>
                <a:latin typeface="Microsoft JhengHei"/>
                <a:ea typeface="Microsoft JhengHei"/>
              </a:rPr>
              <a:t>，平靜與一般期為負或零</a:t>
            </a:r>
          </a:p>
          <a:p>
            <a:pPr algn="l">
              <a:lnSpc>
                <a:spcPct val="125000"/>
              </a:lnSpc>
              <a:spcAft>
                <a:spcPts val="600"/>
              </a:spcAft>
            </a:pPr>
            <a:r>
              <a:rPr sz="1350" b="0">
                <a:solidFill>
                  <a:srgbClr val="1A1A1A"/>
                </a:solidFill>
                <a:latin typeface="Microsoft JhengHei"/>
                <a:ea typeface="Microsoft JhengHei"/>
              </a:rPr>
              <a:t>DL-THR 在 30 格中</a:t>
            </a:r>
            <a:r>
              <a:rPr sz="1350" b="1">
                <a:solidFill>
                  <a:srgbClr val="1A1A1A"/>
                </a:solidFill>
                <a:latin typeface="Microsoft JhengHei"/>
                <a:ea typeface="Microsoft JhengHei"/>
              </a:rPr>
              <a:t>改善 22 格</a:t>
            </a:r>
            <a:r>
              <a:rPr sz="1350" b="0">
                <a:solidFill>
                  <a:srgbClr val="1A1A1A"/>
                </a:solidFill>
                <a:latin typeface="Microsoft JhengHei"/>
                <a:ea typeface="Microsoft JhengHei"/>
              </a:rPr>
              <a:t>，集中在虧最多的兩檔</a:t>
            </a:r>
          </a:p>
          <a:p>
            <a:pPr algn="l">
              <a:lnSpc>
                <a:spcPct val="125000"/>
              </a:lnSpc>
              <a:spcAft>
                <a:spcPts val="600"/>
              </a:spcAft>
            </a:pPr>
            <a:r>
              <a:rPr sz="1350" b="0">
                <a:solidFill>
                  <a:srgbClr val="6B7280"/>
                </a:solidFill>
                <a:latin typeface="Microsoft JhengHei"/>
                <a:ea typeface="Microsoft JhengHei"/>
              </a:rPr>
              <a:t>但動盪期報酬 54–87% 集中在 2008–2009 兩年</a:t>
            </a:r>
          </a:p>
        </p:txBody>
      </p:sp>
      <p:sp>
        <p:nvSpPr>
          <p:cNvPr id="7" name="Rounded Rectangle 6"/>
          <p:cNvSpPr/>
          <p:nvPr/>
        </p:nvSpPr>
        <p:spPr>
          <a:xfrm>
            <a:off x="8046720" y="1691640"/>
            <a:ext cx="3474720" cy="40690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600" b="1">
                <a:solidFill>
                  <a:srgbClr val="0B2A5B"/>
                </a:solidFill>
                <a:latin typeface="Microsoft JhengHei"/>
                <a:ea typeface="Microsoft JhengHei"/>
              </a:rPr>
              <a:t>③ 交易成本</a:t>
            </a:r>
          </a:p>
          <a:p>
            <a:pPr algn="l">
              <a:lnSpc>
                <a:spcPct val="125000"/>
              </a:lnSpc>
              <a:spcAft>
                <a:spcPts val="800"/>
              </a:spcAft>
            </a:pPr>
            <a:r>
              <a:rPr sz="1300" b="0">
                <a:solidFill>
                  <a:srgbClr val="6B7280"/>
                </a:solidFill>
                <a:latin typeface="Microsoft JhengHei"/>
                <a:ea typeface="Microsoft JhengHei"/>
              </a:rPr>
              <a:t>成本假設換一下會怎樣？</a:t>
            </a:r>
          </a:p>
          <a:p>
            <a:pPr algn="l">
              <a:lnSpc>
                <a:spcPct val="125000"/>
              </a:lnSpc>
              <a:spcAft>
                <a:spcPts val="600"/>
              </a:spcAft>
            </a:pPr>
            <a:r>
              <a:rPr sz="1350" b="0">
                <a:solidFill>
                  <a:srgbClr val="1A1A1A"/>
                </a:solidFill>
                <a:latin typeface="Microsoft JhengHei"/>
                <a:ea typeface="Microsoft JhengHei"/>
              </a:rPr>
              <a:t>五個來源的 DL-THR </a:t>
            </a:r>
            <a:r>
              <a:rPr sz="1350" b="1">
                <a:solidFill>
                  <a:srgbClr val="1A1A1A"/>
                </a:solidFill>
                <a:latin typeface="Microsoft JhengHei"/>
                <a:ea typeface="Microsoft JhengHei"/>
              </a:rPr>
              <a:t>都提高 break-even</a:t>
            </a:r>
            <a:r>
              <a:rPr sz="1350" b="0">
                <a:solidFill>
                  <a:srgbClr val="1A1A1A"/>
                </a:solidFill>
                <a:latin typeface="Microsoft JhengHei"/>
                <a:ea typeface="Microsoft JhengHei"/>
              </a:rPr>
              <a:t>，幅度 8.3–31.9 個基點</a:t>
            </a:r>
          </a:p>
          <a:p>
            <a:pPr algn="l">
              <a:lnSpc>
                <a:spcPct val="125000"/>
              </a:lnSpc>
              <a:spcAft>
                <a:spcPts val="600"/>
              </a:spcAft>
            </a:pPr>
            <a:r>
              <a:rPr sz="1350" b="0">
                <a:solidFill>
                  <a:srgbClr val="1A1A1A"/>
                </a:solidFill>
                <a:latin typeface="Microsoft JhengHei"/>
                <a:ea typeface="Microsoft JhengHei"/>
              </a:rPr>
              <a:t>GICS＋DL-THR 的 break-even 達 </a:t>
            </a:r>
            <a:r>
              <a:rPr sz="1350" b="1">
                <a:solidFill>
                  <a:srgbClr val="1A1A1A"/>
                </a:solidFill>
                <a:latin typeface="Microsoft JhengHei"/>
                <a:ea typeface="Microsoft JhengHei"/>
              </a:rPr>
              <a:t>0.99–1.01%</a:t>
            </a:r>
            <a:r>
              <a:rPr sz="1350" b="0">
                <a:solidFill>
                  <a:srgbClr val="1A1A1A"/>
                </a:solidFill>
                <a:latin typeface="Microsoft JhengHei"/>
                <a:ea typeface="Microsoft JhengHei"/>
              </a:rPr>
              <a:t>（成本 0.58%）</a:t>
            </a:r>
          </a:p>
          <a:p>
            <a:pPr algn="l">
              <a:lnSpc>
                <a:spcPct val="125000"/>
              </a:lnSpc>
              <a:spcAft>
                <a:spcPts val="600"/>
              </a:spcAft>
            </a:pPr>
            <a:r>
              <a:rPr sz="1350" b="0">
                <a:solidFill>
                  <a:srgbClr val="6B7280"/>
                </a:solidFill>
                <a:latin typeface="Microsoft JhengHei"/>
                <a:ea typeface="Microsoft JhengHei"/>
              </a:rPr>
              <a:t>K-means 兩臂餘裕為負：現行成本下不可行</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2A5B"/>
        </a:solidFill>
        <a:effectLst/>
      </p:bgPr>
    </p:bg>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E8EDF5"/>
                </a:solidFill>
                <a:latin typeface="Microsoft JhengHei"/>
                <a:ea typeface="Microsoft JhengHei"/>
              </a:rPr>
              <a:t>第四部分 · 小結　｜　§4.7</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FFFFFF"/>
                </a:solidFill>
                <a:latin typeface="Microsoft JhengHei"/>
                <a:ea typeface="Microsoft JhengHei"/>
              </a:rPr>
              <a:t>三個問題，三個不一致的答案</a:t>
            </a:r>
          </a:p>
        </p:txBody>
      </p:sp>
      <p:sp>
        <p:nvSpPr>
          <p:cNvPr id="4" name="TextBox 3"/>
          <p:cNvSpPr txBox="1"/>
          <p:nvPr/>
        </p:nvSpPr>
        <p:spPr>
          <a:xfrm>
            <a:off x="731520" y="1783080"/>
            <a:ext cx="914400" cy="640080"/>
          </a:xfrm>
          <a:prstGeom prst="rect">
            <a:avLst/>
          </a:prstGeom>
          <a:noFill/>
        </p:spPr>
        <p:txBody>
          <a:bodyPr wrap="square" lIns="0" rIns="0" tIns="0" bIns="0" anchor="t">
            <a:spAutoFit/>
          </a:bodyPr>
          <a:lstStyle/>
          <a:p>
            <a:pPr algn="l">
              <a:lnSpc>
                <a:spcPct val="125000"/>
              </a:lnSpc>
              <a:spcAft>
                <a:spcPts val="600"/>
              </a:spcAft>
            </a:pPr>
            <a:r>
              <a:rPr sz="3000" b="0">
                <a:solidFill>
                  <a:srgbClr val="FFFFFF"/>
                </a:solidFill>
                <a:latin typeface="Microsoft JhengHei"/>
                <a:ea typeface="Microsoft JhengHei"/>
              </a:rPr>
              <a:t>Q1</a:t>
            </a:r>
          </a:p>
        </p:txBody>
      </p:sp>
      <p:sp>
        <p:nvSpPr>
          <p:cNvPr id="5" name="TextBox 4"/>
          <p:cNvSpPr txBox="1"/>
          <p:nvPr/>
        </p:nvSpPr>
        <p:spPr>
          <a:xfrm>
            <a:off x="1828800" y="1856231"/>
            <a:ext cx="4389120" cy="822960"/>
          </a:xfrm>
          <a:prstGeom prst="rect">
            <a:avLst/>
          </a:prstGeom>
          <a:noFill/>
        </p:spPr>
        <p:txBody>
          <a:bodyPr wrap="square" lIns="0" rIns="0" tIns="0" bIns="0" anchor="t">
            <a:spAutoFit/>
          </a:bodyPr>
          <a:lstStyle/>
          <a:p>
            <a:pPr algn="l">
              <a:lnSpc>
                <a:spcPct val="125000"/>
              </a:lnSpc>
              <a:spcAft>
                <a:spcPts val="600"/>
              </a:spcAft>
            </a:pPr>
            <a:r>
              <a:rPr sz="1900" b="0">
                <a:solidFill>
                  <a:srgbClr val="FFFFFF"/>
                </a:solidFill>
                <a:latin typeface="Microsoft JhengHei"/>
                <a:ea typeface="Microsoft JhengHei"/>
              </a:rPr>
              <a:t>動作空間是關鍵約束嗎？</a:t>
            </a:r>
          </a:p>
          <a:p>
            <a:pPr algn="l">
              <a:lnSpc>
                <a:spcPct val="125000"/>
              </a:lnSpc>
              <a:spcAft>
                <a:spcPts val="600"/>
              </a:spcAft>
            </a:pPr>
            <a:r>
              <a:rPr sz="1300" b="0">
                <a:solidFill>
                  <a:srgbClr val="9FB3D1"/>
                </a:solidFill>
                <a:latin typeface="Microsoft JhengHei"/>
                <a:ea typeface="Microsoft JhengHei"/>
              </a:rPr>
              <a:t>換手 2.1–4.1 倍，3/3 達標</a:t>
            </a:r>
          </a:p>
        </p:txBody>
      </p:sp>
      <p:sp>
        <p:nvSpPr>
          <p:cNvPr id="6" name="TextBox 5"/>
          <p:cNvSpPr txBox="1"/>
          <p:nvPr/>
        </p:nvSpPr>
        <p:spPr>
          <a:xfrm>
            <a:off x="6309360" y="1828800"/>
            <a:ext cx="3017520" cy="640080"/>
          </a:xfrm>
          <a:prstGeom prst="rect">
            <a:avLst/>
          </a:prstGeom>
          <a:noFill/>
        </p:spPr>
        <p:txBody>
          <a:bodyPr wrap="square" lIns="0" rIns="0" tIns="0" bIns="0" anchor="t">
            <a:spAutoFit/>
          </a:bodyPr>
          <a:lstStyle/>
          <a:p>
            <a:pPr algn="l">
              <a:lnSpc>
                <a:spcPct val="125000"/>
              </a:lnSpc>
              <a:spcAft>
                <a:spcPts val="600"/>
              </a:spcAft>
            </a:pPr>
            <a:r>
              <a:rPr sz="2400" b="1">
                <a:solidFill>
                  <a:srgbClr val="C4553B"/>
                </a:solidFill>
                <a:latin typeface="Microsoft JhengHei"/>
                <a:ea typeface="Microsoft JhengHei"/>
              </a:rPr>
              <a:t>是</a:t>
            </a:r>
          </a:p>
        </p:txBody>
      </p:sp>
      <p:sp>
        <p:nvSpPr>
          <p:cNvPr id="7" name="TextBox 6"/>
          <p:cNvSpPr txBox="1"/>
          <p:nvPr/>
        </p:nvSpPr>
        <p:spPr>
          <a:xfrm>
            <a:off x="9418320" y="1920240"/>
            <a:ext cx="2194560" cy="548640"/>
          </a:xfrm>
          <a:prstGeom prst="rect">
            <a:avLst/>
          </a:prstGeom>
          <a:noFill/>
        </p:spPr>
        <p:txBody>
          <a:bodyPr wrap="square" lIns="0" rIns="0" tIns="0" bIns="0" anchor="t">
            <a:spAutoFit/>
          </a:bodyPr>
          <a:lstStyle/>
          <a:p>
            <a:pPr algn="l">
              <a:lnSpc>
                <a:spcPct val="125000"/>
              </a:lnSpc>
              <a:spcAft>
                <a:spcPts val="600"/>
              </a:spcAft>
            </a:pPr>
            <a:r>
              <a:rPr sz="1300" b="0">
                <a:solidFill>
                  <a:srgbClr val="E8EDF5"/>
                </a:solidFill>
                <a:latin typeface="Microsoft JhengHei"/>
                <a:ea typeface="Microsoft JhengHei"/>
              </a:rPr>
              <a:t>完整預先登記</a:t>
            </a:r>
          </a:p>
        </p:txBody>
      </p:sp>
      <p:sp>
        <p:nvSpPr>
          <p:cNvPr id="8" name="TextBox 7"/>
          <p:cNvSpPr txBox="1"/>
          <p:nvPr/>
        </p:nvSpPr>
        <p:spPr>
          <a:xfrm>
            <a:off x="731520" y="2898648"/>
            <a:ext cx="914400" cy="640080"/>
          </a:xfrm>
          <a:prstGeom prst="rect">
            <a:avLst/>
          </a:prstGeom>
          <a:noFill/>
        </p:spPr>
        <p:txBody>
          <a:bodyPr wrap="square" lIns="0" rIns="0" tIns="0" bIns="0" anchor="t">
            <a:spAutoFit/>
          </a:bodyPr>
          <a:lstStyle/>
          <a:p>
            <a:pPr algn="l">
              <a:lnSpc>
                <a:spcPct val="125000"/>
              </a:lnSpc>
              <a:spcAft>
                <a:spcPts val="600"/>
              </a:spcAft>
            </a:pPr>
            <a:r>
              <a:rPr sz="3000" b="0">
                <a:solidFill>
                  <a:srgbClr val="FFFFFF"/>
                </a:solidFill>
                <a:latin typeface="Microsoft JhengHei"/>
                <a:ea typeface="Microsoft JhengHei"/>
              </a:rPr>
              <a:t>Q2</a:t>
            </a:r>
          </a:p>
        </p:txBody>
      </p:sp>
      <p:sp>
        <p:nvSpPr>
          <p:cNvPr id="9" name="TextBox 8"/>
          <p:cNvSpPr txBox="1"/>
          <p:nvPr/>
        </p:nvSpPr>
        <p:spPr>
          <a:xfrm>
            <a:off x="1828800" y="2971800"/>
            <a:ext cx="4389120" cy="822960"/>
          </a:xfrm>
          <a:prstGeom prst="rect">
            <a:avLst/>
          </a:prstGeom>
          <a:noFill/>
        </p:spPr>
        <p:txBody>
          <a:bodyPr wrap="square" lIns="0" rIns="0" tIns="0" bIns="0" anchor="t">
            <a:spAutoFit/>
          </a:bodyPr>
          <a:lstStyle/>
          <a:p>
            <a:pPr algn="l">
              <a:lnSpc>
                <a:spcPct val="125000"/>
              </a:lnSpc>
              <a:spcAft>
                <a:spcPts val="600"/>
              </a:spcAft>
            </a:pPr>
            <a:r>
              <a:rPr sz="1900" b="0">
                <a:solidFill>
                  <a:srgbClr val="FFFFFF"/>
                </a:solidFill>
                <a:latin typeface="Microsoft JhengHei"/>
                <a:ea typeface="Microsoft JhengHei"/>
              </a:rPr>
              <a:t>逐對辨識能力存在嗎？</a:t>
            </a:r>
          </a:p>
          <a:p>
            <a:pPr algn="l">
              <a:lnSpc>
                <a:spcPct val="125000"/>
              </a:lnSpc>
              <a:spcAft>
                <a:spcPts val="600"/>
              </a:spcAft>
            </a:pPr>
            <a:r>
              <a:rPr sz="1300" b="0">
                <a:solidFill>
                  <a:srgbClr val="9FB3D1"/>
                </a:solidFill>
                <a:latin typeface="Microsoft JhengHei"/>
                <a:ea typeface="Microsoft JhengHei"/>
              </a:rPr>
              <a:t>顯著輸給最佳常數，p = 0.0004</a:t>
            </a:r>
          </a:p>
        </p:txBody>
      </p:sp>
      <p:sp>
        <p:nvSpPr>
          <p:cNvPr id="10" name="TextBox 9"/>
          <p:cNvSpPr txBox="1"/>
          <p:nvPr/>
        </p:nvSpPr>
        <p:spPr>
          <a:xfrm>
            <a:off x="6309360" y="2944368"/>
            <a:ext cx="3017520" cy="640080"/>
          </a:xfrm>
          <a:prstGeom prst="rect">
            <a:avLst/>
          </a:prstGeom>
          <a:noFill/>
        </p:spPr>
        <p:txBody>
          <a:bodyPr wrap="square" lIns="0" rIns="0" tIns="0" bIns="0" anchor="t">
            <a:spAutoFit/>
          </a:bodyPr>
          <a:lstStyle/>
          <a:p>
            <a:pPr algn="l">
              <a:lnSpc>
                <a:spcPct val="125000"/>
              </a:lnSpc>
              <a:spcAft>
                <a:spcPts val="600"/>
              </a:spcAft>
            </a:pPr>
            <a:r>
              <a:rPr sz="2400" b="1">
                <a:solidFill>
                  <a:srgbClr val="FFFFFF"/>
                </a:solidFill>
                <a:latin typeface="Microsoft JhengHei"/>
                <a:ea typeface="Microsoft JhengHei"/>
              </a:rPr>
              <a:t>否</a:t>
            </a:r>
          </a:p>
        </p:txBody>
      </p:sp>
      <p:sp>
        <p:nvSpPr>
          <p:cNvPr id="11" name="TextBox 10"/>
          <p:cNvSpPr txBox="1"/>
          <p:nvPr/>
        </p:nvSpPr>
        <p:spPr>
          <a:xfrm>
            <a:off x="9418320" y="3035808"/>
            <a:ext cx="2194560" cy="548640"/>
          </a:xfrm>
          <a:prstGeom prst="rect">
            <a:avLst/>
          </a:prstGeom>
          <a:noFill/>
        </p:spPr>
        <p:txBody>
          <a:bodyPr wrap="square" lIns="0" rIns="0" tIns="0" bIns="0" anchor="t">
            <a:spAutoFit/>
          </a:bodyPr>
          <a:lstStyle/>
          <a:p>
            <a:pPr algn="l">
              <a:lnSpc>
                <a:spcPct val="125000"/>
              </a:lnSpc>
              <a:spcAft>
                <a:spcPts val="600"/>
              </a:spcAft>
            </a:pPr>
            <a:r>
              <a:rPr sz="1300" b="0">
                <a:solidFill>
                  <a:srgbClr val="E8EDF5"/>
                </a:solidFill>
                <a:latin typeface="Microsoft JhengHei"/>
                <a:ea typeface="Microsoft JhengHei"/>
              </a:rPr>
              <a:t>跑前定稿</a:t>
            </a:r>
          </a:p>
        </p:txBody>
      </p:sp>
      <p:sp>
        <p:nvSpPr>
          <p:cNvPr id="12" name="TextBox 11"/>
          <p:cNvSpPr txBox="1"/>
          <p:nvPr/>
        </p:nvSpPr>
        <p:spPr>
          <a:xfrm>
            <a:off x="731520" y="4014215"/>
            <a:ext cx="914400" cy="640080"/>
          </a:xfrm>
          <a:prstGeom prst="rect">
            <a:avLst/>
          </a:prstGeom>
          <a:noFill/>
        </p:spPr>
        <p:txBody>
          <a:bodyPr wrap="square" lIns="0" rIns="0" tIns="0" bIns="0" anchor="t">
            <a:spAutoFit/>
          </a:bodyPr>
          <a:lstStyle/>
          <a:p>
            <a:pPr algn="l">
              <a:lnSpc>
                <a:spcPct val="125000"/>
              </a:lnSpc>
              <a:spcAft>
                <a:spcPts val="600"/>
              </a:spcAft>
            </a:pPr>
            <a:r>
              <a:rPr sz="3000" b="0">
                <a:solidFill>
                  <a:srgbClr val="FFFFFF"/>
                </a:solidFill>
                <a:latin typeface="Microsoft JhengHei"/>
                <a:ea typeface="Microsoft JhengHei"/>
              </a:rPr>
              <a:t>Q3</a:t>
            </a:r>
          </a:p>
        </p:txBody>
      </p:sp>
      <p:sp>
        <p:nvSpPr>
          <p:cNvPr id="13" name="TextBox 12"/>
          <p:cNvSpPr txBox="1"/>
          <p:nvPr/>
        </p:nvSpPr>
        <p:spPr>
          <a:xfrm>
            <a:off x="1828800" y="4087368"/>
            <a:ext cx="4389120" cy="822960"/>
          </a:xfrm>
          <a:prstGeom prst="rect">
            <a:avLst/>
          </a:prstGeom>
          <a:noFill/>
        </p:spPr>
        <p:txBody>
          <a:bodyPr wrap="square" lIns="0" rIns="0" tIns="0" bIns="0" anchor="t">
            <a:spAutoFit/>
          </a:bodyPr>
          <a:lstStyle/>
          <a:p>
            <a:pPr algn="l">
              <a:lnSpc>
                <a:spcPct val="125000"/>
              </a:lnSpc>
              <a:spcAft>
                <a:spcPts val="600"/>
              </a:spcAft>
            </a:pPr>
            <a:r>
              <a:rPr sz="1900" b="0">
                <a:solidFill>
                  <a:srgbClr val="FFFFFF"/>
                </a:solidFill>
                <a:latin typeface="Microsoft JhengHei"/>
                <a:ea typeface="Microsoft JhengHei"/>
              </a:rPr>
              <a:t>相對固定門檻有效嗎？</a:t>
            </a:r>
          </a:p>
          <a:p>
            <a:pPr algn="l">
              <a:lnSpc>
                <a:spcPct val="125000"/>
              </a:lnSpc>
              <a:spcAft>
                <a:spcPts val="600"/>
              </a:spcAft>
            </a:pPr>
            <a:r>
              <a:rPr sz="1300" b="0">
                <a:solidFill>
                  <a:srgbClr val="9FB3D1"/>
                </a:solidFill>
                <a:latin typeface="Microsoft JhengHei"/>
                <a:ea typeface="Microsoft JhengHei"/>
              </a:rPr>
              <a:t>方向 5/5 為正，BH 校正後 3/5</a:t>
            </a:r>
          </a:p>
        </p:txBody>
      </p:sp>
      <p:sp>
        <p:nvSpPr>
          <p:cNvPr id="14" name="TextBox 13"/>
          <p:cNvSpPr txBox="1"/>
          <p:nvPr/>
        </p:nvSpPr>
        <p:spPr>
          <a:xfrm>
            <a:off x="6309360" y="4059935"/>
            <a:ext cx="3017520" cy="640080"/>
          </a:xfrm>
          <a:prstGeom prst="rect">
            <a:avLst/>
          </a:prstGeom>
          <a:noFill/>
        </p:spPr>
        <p:txBody>
          <a:bodyPr wrap="square" lIns="0" rIns="0" tIns="0" bIns="0" anchor="t">
            <a:spAutoFit/>
          </a:bodyPr>
          <a:lstStyle/>
          <a:p>
            <a:pPr algn="l">
              <a:lnSpc>
                <a:spcPct val="125000"/>
              </a:lnSpc>
              <a:spcAft>
                <a:spcPts val="600"/>
              </a:spcAft>
            </a:pPr>
            <a:r>
              <a:rPr sz="2400" b="1">
                <a:solidFill>
                  <a:srgbClr val="FFFFFF"/>
                </a:solidFill>
                <a:latin typeface="Microsoft JhengHei"/>
                <a:ea typeface="Microsoft JhengHei"/>
              </a:rPr>
              <a:t>是，但不可交易</a:t>
            </a:r>
          </a:p>
        </p:txBody>
      </p:sp>
      <p:sp>
        <p:nvSpPr>
          <p:cNvPr id="15" name="TextBox 14"/>
          <p:cNvSpPr txBox="1"/>
          <p:nvPr/>
        </p:nvSpPr>
        <p:spPr>
          <a:xfrm>
            <a:off x="9418320" y="4151376"/>
            <a:ext cx="2194560" cy="548640"/>
          </a:xfrm>
          <a:prstGeom prst="rect">
            <a:avLst/>
          </a:prstGeom>
          <a:noFill/>
        </p:spPr>
        <p:txBody>
          <a:bodyPr wrap="square" lIns="0" rIns="0" tIns="0" bIns="0" anchor="t">
            <a:spAutoFit/>
          </a:bodyPr>
          <a:lstStyle/>
          <a:p>
            <a:pPr algn="l">
              <a:lnSpc>
                <a:spcPct val="125000"/>
              </a:lnSpc>
              <a:spcAft>
                <a:spcPts val="600"/>
              </a:spcAft>
            </a:pPr>
            <a:r>
              <a:rPr sz="1300" b="0">
                <a:solidFill>
                  <a:srgbClr val="E8EDF5"/>
                </a:solidFill>
                <a:latin typeface="Microsoft JhengHei"/>
                <a:ea typeface="Microsoft JhengHei"/>
              </a:rPr>
              <a:t>分析時判準</a:t>
            </a:r>
          </a:p>
        </p:txBody>
      </p:sp>
      <p:sp>
        <p:nvSpPr>
          <p:cNvPr id="16" name="TextBox 15"/>
          <p:cNvSpPr txBox="1"/>
          <p:nvPr/>
        </p:nvSpPr>
        <p:spPr>
          <a:xfrm>
            <a:off x="731520" y="5257800"/>
            <a:ext cx="10789920" cy="731520"/>
          </a:xfrm>
          <a:prstGeom prst="rect">
            <a:avLst/>
          </a:prstGeom>
          <a:noFill/>
        </p:spPr>
        <p:txBody>
          <a:bodyPr wrap="square" lIns="0" rIns="0" tIns="0" bIns="0" anchor="t">
            <a:spAutoFit/>
          </a:bodyPr>
          <a:lstStyle/>
          <a:p>
            <a:pPr algn="l">
              <a:lnSpc>
                <a:spcPct val="125000"/>
              </a:lnSpc>
              <a:spcAft>
                <a:spcPts val="600"/>
              </a:spcAft>
            </a:pPr>
            <a:r>
              <a:rPr sz="1900" b="0">
                <a:solidFill>
                  <a:srgbClr val="FFFFFF"/>
                </a:solidFill>
                <a:latin typeface="Microsoft JhengHei"/>
                <a:ea typeface="Microsoft JhengHei"/>
              </a:rPr>
              <a:t>合起來：</a:t>
            </a:r>
            <a:r>
              <a:rPr sz="1900" b="1">
                <a:solidFill>
                  <a:srgbClr val="FFFFFF"/>
                </a:solidFill>
                <a:latin typeface="Microsoft JhengHei"/>
                <a:ea typeface="Microsoft JhengHei"/>
              </a:rPr>
              <a:t>門檻選擇的增益來自動作空間的設計，不來自逐對的辨識能力。</a:t>
            </a:r>
          </a:p>
        </p:txBody>
      </p:sp>
      <p:sp>
        <p:nvSpPr>
          <p:cNvPr id="17" name="TextBox 16"/>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E8EDF5"/>
                </a:solidFill>
                <a:latin typeface="Microsoft JhengHei"/>
                <a:ea typeface="Microsoft JhengHe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2A5B"/>
        </a:solidFill>
        <a:effectLst/>
      </p:bgPr>
    </p:bg>
    <p:spTree>
      <p:nvGrpSpPr>
        <p:cNvPr id="1" name=""/>
        <p:cNvGrpSpPr/>
        <p:nvPr/>
      </p:nvGrpSpPr>
      <p:grpSpPr/>
      <p:sp>
        <p:nvSpPr>
          <p:cNvPr id="2" name="TextBox 1"/>
          <p:cNvSpPr txBox="1"/>
          <p:nvPr/>
        </p:nvSpPr>
        <p:spPr>
          <a:xfrm>
            <a:off x="640080" y="502920"/>
            <a:ext cx="10881360" cy="365760"/>
          </a:xfrm>
          <a:prstGeom prst="rect">
            <a:avLst/>
          </a:prstGeom>
          <a:noFill/>
        </p:spPr>
        <p:txBody>
          <a:bodyPr wrap="square" lIns="0" rIns="0" tIns="0" bIns="0" anchor="t">
            <a:spAutoFit/>
          </a:bodyPr>
          <a:lstStyle/>
          <a:p>
            <a:pPr algn="l">
              <a:lnSpc>
                <a:spcPct val="125000"/>
              </a:lnSpc>
              <a:spcAft>
                <a:spcPts val="600"/>
              </a:spcAft>
            </a:pPr>
            <a:r>
              <a:rPr sz="1400" b="1">
                <a:solidFill>
                  <a:srgbClr val="E8EDF5"/>
                </a:solidFill>
                <a:latin typeface="Microsoft JhengHei"/>
                <a:ea typeface="Microsoft JhengHei"/>
              </a:rPr>
              <a:t>第五部分　｜　第五章</a:t>
            </a:r>
          </a:p>
        </p:txBody>
      </p:sp>
      <p:sp>
        <p:nvSpPr>
          <p:cNvPr id="3" name="TextBox 2"/>
          <p:cNvSpPr txBox="1"/>
          <p:nvPr/>
        </p:nvSpPr>
        <p:spPr>
          <a:xfrm>
            <a:off x="640080" y="868680"/>
            <a:ext cx="10881360" cy="822960"/>
          </a:xfrm>
          <a:prstGeom prst="rect">
            <a:avLst/>
          </a:prstGeom>
          <a:noFill/>
        </p:spPr>
        <p:txBody>
          <a:bodyPr wrap="square" lIns="0" rIns="0" tIns="0" bIns="0" anchor="t">
            <a:spAutoFit/>
          </a:bodyPr>
          <a:lstStyle/>
          <a:p>
            <a:pPr algn="l">
              <a:lnSpc>
                <a:spcPct val="125000"/>
              </a:lnSpc>
              <a:spcAft>
                <a:spcPts val="600"/>
              </a:spcAft>
            </a:pPr>
            <a:r>
              <a:rPr sz="3600" b="1">
                <a:solidFill>
                  <a:srgbClr val="FFFFFF"/>
                </a:solidFill>
                <a:latin typeface="Microsoft JhengHei"/>
                <a:ea typeface="Microsoft JhengHei"/>
              </a:rPr>
              <a:t>所以，可以拿來賺錢嗎？</a:t>
            </a:r>
          </a:p>
        </p:txBody>
      </p:sp>
      <p:sp>
        <p:nvSpPr>
          <p:cNvPr id="4" name="TextBox 3"/>
          <p:cNvSpPr txBox="1"/>
          <p:nvPr/>
        </p:nvSpPr>
        <p:spPr>
          <a:xfrm>
            <a:off x="640080" y="1691640"/>
            <a:ext cx="10881360" cy="548640"/>
          </a:xfrm>
          <a:prstGeom prst="rect">
            <a:avLst/>
          </a:prstGeom>
          <a:noFill/>
        </p:spPr>
        <p:txBody>
          <a:bodyPr wrap="square" lIns="0" rIns="0" tIns="0" bIns="0" anchor="t">
            <a:spAutoFit/>
          </a:bodyPr>
          <a:lstStyle/>
          <a:p>
            <a:pPr algn="l">
              <a:lnSpc>
                <a:spcPct val="125000"/>
              </a:lnSpc>
              <a:spcAft>
                <a:spcPts val="600"/>
              </a:spcAft>
            </a:pPr>
            <a:r>
              <a:rPr sz="1700" b="0">
                <a:solidFill>
                  <a:srgbClr val="E8EDF5"/>
                </a:solidFill>
                <a:latin typeface="Microsoft JhengHei"/>
                <a:ea typeface="Microsoft JhengHei"/>
              </a:rPr>
              <a:t>第三段通過了多重檢定校正——但「比基準好」不等於「可以拿去交易」。</a:t>
            </a:r>
          </a:p>
        </p:txBody>
      </p:sp>
      <p:sp>
        <p:nvSpPr>
          <p:cNvPr id="5" name="TextBox 4"/>
          <p:cNvSpPr txBox="1"/>
          <p:nvPr/>
        </p:nvSpPr>
        <p:spPr>
          <a:xfrm>
            <a:off x="640080" y="260604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1</a:t>
            </a:r>
          </a:p>
        </p:txBody>
      </p:sp>
      <p:sp>
        <p:nvSpPr>
          <p:cNvPr id="6" name="TextBox 5"/>
          <p:cNvSpPr txBox="1"/>
          <p:nvPr/>
        </p:nvSpPr>
        <p:spPr>
          <a:xfrm>
            <a:off x="1463040" y="2642616"/>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背景：配對交易是什麼</a:t>
            </a:r>
          </a:p>
        </p:txBody>
      </p:sp>
      <p:sp>
        <p:nvSpPr>
          <p:cNvPr id="7" name="TextBox 6"/>
          <p:cNvSpPr txBox="1"/>
          <p:nvPr/>
        </p:nvSpPr>
        <p:spPr>
          <a:xfrm>
            <a:off x="7589519" y="269748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§1.1、第二章</a:t>
            </a:r>
          </a:p>
        </p:txBody>
      </p:sp>
      <p:sp>
        <p:nvSpPr>
          <p:cNvPr id="8" name="TextBox 7"/>
          <p:cNvSpPr txBox="1"/>
          <p:nvPr/>
        </p:nvSpPr>
        <p:spPr>
          <a:xfrm>
            <a:off x="9875519" y="269748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8 分鐘</a:t>
            </a:r>
          </a:p>
        </p:txBody>
      </p:sp>
      <p:sp>
        <p:nvSpPr>
          <p:cNvPr id="9" name="TextBox 8"/>
          <p:cNvSpPr txBox="1"/>
          <p:nvPr/>
        </p:nvSpPr>
        <p:spPr>
          <a:xfrm>
            <a:off x="640080" y="3118104"/>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2</a:t>
            </a:r>
          </a:p>
        </p:txBody>
      </p:sp>
      <p:sp>
        <p:nvSpPr>
          <p:cNvPr id="10" name="TextBox 9"/>
          <p:cNvSpPr txBox="1"/>
          <p:nvPr/>
        </p:nvSpPr>
        <p:spPr>
          <a:xfrm>
            <a:off x="1463040" y="3154680"/>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我想問的問題</a:t>
            </a:r>
          </a:p>
        </p:txBody>
      </p:sp>
      <p:sp>
        <p:nvSpPr>
          <p:cNvPr id="11" name="TextBox 10"/>
          <p:cNvSpPr txBox="1"/>
          <p:nvPr/>
        </p:nvSpPr>
        <p:spPr>
          <a:xfrm>
            <a:off x="7589519" y="3209544"/>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§1.2–1.3、§2.3.5</a:t>
            </a:r>
          </a:p>
        </p:txBody>
      </p:sp>
      <p:sp>
        <p:nvSpPr>
          <p:cNvPr id="12" name="TextBox 11"/>
          <p:cNvSpPr txBox="1"/>
          <p:nvPr/>
        </p:nvSpPr>
        <p:spPr>
          <a:xfrm>
            <a:off x="9875519" y="3209544"/>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6 分鐘</a:t>
            </a:r>
          </a:p>
        </p:txBody>
      </p:sp>
      <p:sp>
        <p:nvSpPr>
          <p:cNvPr id="13" name="TextBox 12"/>
          <p:cNvSpPr txBox="1"/>
          <p:nvPr/>
        </p:nvSpPr>
        <p:spPr>
          <a:xfrm>
            <a:off x="640080" y="3630168"/>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3</a:t>
            </a:r>
          </a:p>
        </p:txBody>
      </p:sp>
      <p:sp>
        <p:nvSpPr>
          <p:cNvPr id="14" name="TextBox 13"/>
          <p:cNvSpPr txBox="1"/>
          <p:nvPr/>
        </p:nvSpPr>
        <p:spPr>
          <a:xfrm>
            <a:off x="1463040" y="3666744"/>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我怎麼做</a:t>
            </a:r>
          </a:p>
        </p:txBody>
      </p:sp>
      <p:sp>
        <p:nvSpPr>
          <p:cNvPr id="15" name="TextBox 14"/>
          <p:cNvSpPr txBox="1"/>
          <p:nvPr/>
        </p:nvSpPr>
        <p:spPr>
          <a:xfrm>
            <a:off x="7589519" y="3721608"/>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第三章</a:t>
            </a:r>
          </a:p>
        </p:txBody>
      </p:sp>
      <p:sp>
        <p:nvSpPr>
          <p:cNvPr id="16" name="TextBox 15"/>
          <p:cNvSpPr txBox="1"/>
          <p:nvPr/>
        </p:nvSpPr>
        <p:spPr>
          <a:xfrm>
            <a:off x="9875519" y="3721608"/>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14 分鐘</a:t>
            </a:r>
          </a:p>
        </p:txBody>
      </p:sp>
      <p:sp>
        <p:nvSpPr>
          <p:cNvPr id="17" name="TextBox 16"/>
          <p:cNvSpPr txBox="1"/>
          <p:nvPr/>
        </p:nvSpPr>
        <p:spPr>
          <a:xfrm>
            <a:off x="640080" y="4142232"/>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4</a:t>
            </a:r>
          </a:p>
        </p:txBody>
      </p:sp>
      <p:sp>
        <p:nvSpPr>
          <p:cNvPr id="18" name="TextBox 17"/>
          <p:cNvSpPr txBox="1"/>
          <p:nvPr/>
        </p:nvSpPr>
        <p:spPr>
          <a:xfrm>
            <a:off x="1463040" y="4178808"/>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結果：三段證據</a:t>
            </a:r>
          </a:p>
        </p:txBody>
      </p:sp>
      <p:sp>
        <p:nvSpPr>
          <p:cNvPr id="19" name="TextBox 18"/>
          <p:cNvSpPr txBox="1"/>
          <p:nvPr/>
        </p:nvSpPr>
        <p:spPr>
          <a:xfrm>
            <a:off x="7589519" y="4233672"/>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第四章</a:t>
            </a:r>
          </a:p>
        </p:txBody>
      </p:sp>
      <p:sp>
        <p:nvSpPr>
          <p:cNvPr id="20" name="TextBox 19"/>
          <p:cNvSpPr txBox="1"/>
          <p:nvPr/>
        </p:nvSpPr>
        <p:spPr>
          <a:xfrm>
            <a:off x="9875519" y="4233672"/>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16 分鐘</a:t>
            </a:r>
          </a:p>
        </p:txBody>
      </p:sp>
      <p:sp>
        <p:nvSpPr>
          <p:cNvPr id="21" name="TextBox 20"/>
          <p:cNvSpPr txBox="1"/>
          <p:nvPr/>
        </p:nvSpPr>
        <p:spPr>
          <a:xfrm>
            <a:off x="640080" y="4654296"/>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C4553B"/>
                </a:solidFill>
                <a:latin typeface="Microsoft JhengHei"/>
                <a:ea typeface="Microsoft JhengHei"/>
              </a:rPr>
              <a:t>5</a:t>
            </a:r>
          </a:p>
        </p:txBody>
      </p:sp>
      <p:sp>
        <p:nvSpPr>
          <p:cNvPr id="22" name="TextBox 21"/>
          <p:cNvSpPr txBox="1"/>
          <p:nvPr/>
        </p:nvSpPr>
        <p:spPr>
          <a:xfrm>
            <a:off x="1463040" y="4690872"/>
            <a:ext cx="6035040" cy="512064"/>
          </a:xfrm>
          <a:prstGeom prst="rect">
            <a:avLst/>
          </a:prstGeom>
          <a:noFill/>
        </p:spPr>
        <p:txBody>
          <a:bodyPr wrap="square" lIns="0" rIns="0" tIns="0" bIns="0" anchor="t">
            <a:spAutoFit/>
          </a:bodyPr>
          <a:lstStyle/>
          <a:p>
            <a:pPr algn="l">
              <a:lnSpc>
                <a:spcPct val="125000"/>
              </a:lnSpc>
              <a:spcAft>
                <a:spcPts val="600"/>
              </a:spcAft>
            </a:pPr>
            <a:r>
              <a:rPr sz="2000" b="1">
                <a:solidFill>
                  <a:srgbClr val="FFFFFF"/>
                </a:solidFill>
                <a:latin typeface="Microsoft JhengHei"/>
                <a:ea typeface="Microsoft JhengHei"/>
              </a:rPr>
              <a:t>所以，可以拿來賺錢嗎？</a:t>
            </a:r>
          </a:p>
        </p:txBody>
      </p:sp>
      <p:sp>
        <p:nvSpPr>
          <p:cNvPr id="23" name="TextBox 22"/>
          <p:cNvSpPr txBox="1"/>
          <p:nvPr/>
        </p:nvSpPr>
        <p:spPr>
          <a:xfrm>
            <a:off x="7589519" y="4745736"/>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FFFFFF"/>
                </a:solidFill>
                <a:latin typeface="Microsoft JhengHei"/>
                <a:ea typeface="Microsoft JhengHei"/>
              </a:rPr>
              <a:t>第五章</a:t>
            </a:r>
          </a:p>
        </p:txBody>
      </p:sp>
      <p:sp>
        <p:nvSpPr>
          <p:cNvPr id="24" name="TextBox 23"/>
          <p:cNvSpPr txBox="1"/>
          <p:nvPr/>
        </p:nvSpPr>
        <p:spPr>
          <a:xfrm>
            <a:off x="9875519" y="4745736"/>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FFFFFF"/>
                </a:solidFill>
                <a:latin typeface="Microsoft JhengHei"/>
                <a:ea typeface="Microsoft JhengHei"/>
              </a:rPr>
              <a:t>約 8 分鐘</a:t>
            </a:r>
          </a:p>
        </p:txBody>
      </p:sp>
      <p:sp>
        <p:nvSpPr>
          <p:cNvPr id="25" name="TextBox 24"/>
          <p:cNvSpPr txBox="1"/>
          <p:nvPr/>
        </p:nvSpPr>
        <p:spPr>
          <a:xfrm>
            <a:off x="640080" y="5166360"/>
            <a:ext cx="731520" cy="512064"/>
          </a:xfrm>
          <a:prstGeom prst="rect">
            <a:avLst/>
          </a:prstGeom>
          <a:noFill/>
        </p:spPr>
        <p:txBody>
          <a:bodyPr wrap="square" lIns="0" rIns="0" tIns="0" bIns="0" anchor="t">
            <a:spAutoFit/>
          </a:bodyPr>
          <a:lstStyle/>
          <a:p>
            <a:pPr algn="l">
              <a:lnSpc>
                <a:spcPct val="125000"/>
              </a:lnSpc>
              <a:spcAft>
                <a:spcPts val="600"/>
              </a:spcAft>
            </a:pPr>
            <a:r>
              <a:rPr sz="2200" b="1">
                <a:solidFill>
                  <a:srgbClr val="7F93B5"/>
                </a:solidFill>
                <a:latin typeface="Microsoft JhengHei"/>
                <a:ea typeface="Microsoft JhengHei"/>
              </a:rPr>
              <a:t>6</a:t>
            </a:r>
          </a:p>
        </p:txBody>
      </p:sp>
      <p:sp>
        <p:nvSpPr>
          <p:cNvPr id="26" name="TextBox 25"/>
          <p:cNvSpPr txBox="1"/>
          <p:nvPr/>
        </p:nvSpPr>
        <p:spPr>
          <a:xfrm>
            <a:off x="1463040" y="5202936"/>
            <a:ext cx="6035040" cy="512064"/>
          </a:xfrm>
          <a:prstGeom prst="rect">
            <a:avLst/>
          </a:prstGeom>
          <a:noFill/>
        </p:spPr>
        <p:txBody>
          <a:bodyPr wrap="square" lIns="0" rIns="0" tIns="0" bIns="0" anchor="t">
            <a:spAutoFit/>
          </a:bodyPr>
          <a:lstStyle/>
          <a:p>
            <a:pPr algn="l">
              <a:lnSpc>
                <a:spcPct val="125000"/>
              </a:lnSpc>
              <a:spcAft>
                <a:spcPts val="600"/>
              </a:spcAft>
            </a:pPr>
            <a:r>
              <a:rPr sz="2000" b="0">
                <a:solidFill>
                  <a:srgbClr val="7F93B5"/>
                </a:solidFill>
                <a:latin typeface="Microsoft JhengHei"/>
                <a:ea typeface="Microsoft JhengHei"/>
              </a:rPr>
              <a:t>結論</a:t>
            </a:r>
          </a:p>
        </p:txBody>
      </p:sp>
      <p:sp>
        <p:nvSpPr>
          <p:cNvPr id="27" name="TextBox 26"/>
          <p:cNvSpPr txBox="1"/>
          <p:nvPr/>
        </p:nvSpPr>
        <p:spPr>
          <a:xfrm>
            <a:off x="7589519" y="5257800"/>
            <a:ext cx="2194560" cy="512064"/>
          </a:xfrm>
          <a:prstGeom prst="rect">
            <a:avLst/>
          </a:prstGeom>
          <a:noFill/>
        </p:spPr>
        <p:txBody>
          <a:bodyPr wrap="square" lIns="0" rIns="0" tIns="0" bIns="0" anchor="t">
            <a:spAutoFit/>
          </a:bodyPr>
          <a:lstStyle/>
          <a:p>
            <a:pPr algn="l">
              <a:lnSpc>
                <a:spcPct val="125000"/>
              </a:lnSpc>
              <a:spcAft>
                <a:spcPts val="600"/>
              </a:spcAft>
            </a:pPr>
            <a:r>
              <a:rPr sz="1300" b="0">
                <a:solidFill>
                  <a:srgbClr val="7F93B5"/>
                </a:solidFill>
                <a:latin typeface="Microsoft JhengHei"/>
                <a:ea typeface="Microsoft JhengHei"/>
              </a:rPr>
              <a:t>第六章</a:t>
            </a:r>
          </a:p>
        </p:txBody>
      </p:sp>
      <p:sp>
        <p:nvSpPr>
          <p:cNvPr id="28" name="TextBox 27"/>
          <p:cNvSpPr txBox="1"/>
          <p:nvPr/>
        </p:nvSpPr>
        <p:spPr>
          <a:xfrm>
            <a:off x="9875519" y="5257800"/>
            <a:ext cx="1463040" cy="512064"/>
          </a:xfrm>
          <a:prstGeom prst="rect">
            <a:avLst/>
          </a:prstGeom>
          <a:noFill/>
        </p:spPr>
        <p:txBody>
          <a:bodyPr wrap="square" lIns="0" rIns="0" tIns="0" bIns="0" anchor="t">
            <a:spAutoFit/>
          </a:bodyPr>
          <a:lstStyle/>
          <a:p>
            <a:pPr algn="r">
              <a:lnSpc>
                <a:spcPct val="125000"/>
              </a:lnSpc>
              <a:spcAft>
                <a:spcPts val="600"/>
              </a:spcAft>
            </a:pPr>
            <a:r>
              <a:rPr sz="1300" b="0">
                <a:solidFill>
                  <a:srgbClr val="7F93B5"/>
                </a:solidFill>
                <a:latin typeface="Microsoft JhengHei"/>
                <a:ea typeface="Microsoft JhengHei"/>
              </a:rPr>
              <a:t>約 5 分鐘</a:t>
            </a:r>
          </a:p>
        </p:txBody>
      </p:sp>
      <p:sp>
        <p:nvSpPr>
          <p:cNvPr id="29" name="TextBox 28"/>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E8EDF5"/>
                </a:solidFill>
                <a:latin typeface="Microsoft JhengHei"/>
                <a:ea typeface="Microsoft JhengHe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第五部分 · 能不能賺錢　｜　§5.1.1</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先看底：15 格固定門檻，沒有一格跑贏無風險利率</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47</a:t>
            </a:r>
          </a:p>
        </p:txBody>
      </p:sp>
      <p:graphicFrame>
        <p:nvGraphicFramePr>
          <p:cNvPr id="5" name="Chart 4"/>
          <p:cNvGraphicFramePr>
            <a:graphicFrameLocks noGrp="1"/>
          </p:cNvGraphicFramePr>
          <p:nvPr/>
        </p:nvGraphicFramePr>
        <p:xfrm>
          <a:off x="640080" y="1600200"/>
          <a:ext cx="6949440" cy="4206240"/>
        </p:xfrm>
        <a:graphic>
          <a:graphicData uri="http://schemas.openxmlformats.org/drawingml/2006/chart">
            <c:chart xmlns:c="http://schemas.openxmlformats.org/drawingml/2006/chart" r:id="rId2"/>
          </a:graphicData>
        </a:graphic>
      </p:graphicFrame>
      <p:sp>
        <p:nvSpPr>
          <p:cNvPr id="6" name="TextBox 5"/>
          <p:cNvSpPr txBox="1"/>
          <p:nvPr/>
        </p:nvSpPr>
        <p:spPr>
          <a:xfrm>
            <a:off x="640080" y="5806440"/>
            <a:ext cx="6949440" cy="274320"/>
          </a:xfrm>
          <a:prstGeom prst="rect">
            <a:avLst/>
          </a:prstGeom>
          <a:noFill/>
        </p:spPr>
        <p:txBody>
          <a:bodyPr wrap="square" lIns="0" rIns="0" tIns="0" bIns="0" anchor="t">
            <a:spAutoFit/>
          </a:bodyPr>
          <a:lstStyle/>
          <a:p>
            <a:pPr algn="ctr">
              <a:lnSpc>
                <a:spcPct val="125000"/>
              </a:lnSpc>
              <a:spcAft>
                <a:spcPts val="600"/>
              </a:spcAft>
            </a:pPr>
            <a:r>
              <a:rPr sz="1100" b="0">
                <a:solidFill>
                  <a:srgbClr val="6B7280"/>
                </a:solidFill>
                <a:latin typeface="Microsoft JhengHei"/>
                <a:ea typeface="Microsoft JhengHei"/>
              </a:rPr>
              <a:t>rf 超額年化（%；15 格等權；閒置現金也計 2% 無風險利息）</a:t>
            </a:r>
          </a:p>
        </p:txBody>
      </p:sp>
      <p:sp>
        <p:nvSpPr>
          <p:cNvPr id="7" name="Rounded Rectangle 6"/>
          <p:cNvSpPr/>
          <p:nvPr/>
        </p:nvSpPr>
        <p:spPr>
          <a:xfrm>
            <a:off x="7909560" y="1691640"/>
            <a:ext cx="3611880" cy="1874519"/>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一致口徑下的事實</a:t>
            </a:r>
          </a:p>
          <a:p>
            <a:pPr algn="l">
              <a:lnSpc>
                <a:spcPct val="125000"/>
              </a:lnSpc>
              <a:spcAft>
                <a:spcPts val="600"/>
              </a:spcAft>
            </a:pPr>
            <a:r>
              <a:rPr sz="1350" b="0">
                <a:solidFill>
                  <a:srgbClr val="1A1A1A"/>
                </a:solidFill>
                <a:latin typeface="Microsoft JhengHei"/>
                <a:ea typeface="Microsoft JhengHei"/>
              </a:rPr>
              <a:t>閒置現金也算利息後，15 格</a:t>
            </a:r>
            <a:r>
              <a:rPr sz="1350" b="1">
                <a:solidFill>
                  <a:srgbClr val="1A1A1A"/>
                </a:solidFill>
                <a:latin typeface="Microsoft JhengHei"/>
                <a:ea typeface="Microsoft JhengHei"/>
              </a:rPr>
              <a:t>無一為正</a:t>
            </a:r>
            <a:r>
              <a:rPr sz="1350" b="0">
                <a:solidFill>
                  <a:srgbClr val="1A1A1A"/>
                </a:solidFill>
                <a:latin typeface="Microsoft JhengHei"/>
                <a:ea typeface="Microsoft JhengHei"/>
              </a:rPr>
              <a:t>。最高的不分組 DTW 只有 </a:t>
            </a:r>
            <a:r>
              <a:rPr sz="1350" b="1">
                <a:solidFill>
                  <a:srgbClr val="1A1A1A"/>
                </a:solidFill>
                <a:latin typeface="Microsoft JhengHei"/>
                <a:ea typeface="Microsoft JhengHei"/>
              </a:rPr>
              <a:t>+0.009%</a:t>
            </a:r>
            <a:r>
              <a:rPr sz="1350" b="0">
                <a:solidFill>
                  <a:srgbClr val="1A1A1A"/>
                </a:solidFill>
                <a:latin typeface="Microsoft JhengHei"/>
                <a:ea typeface="Microsoft JhengHei"/>
              </a:rPr>
              <a:t>，實質是零。</a:t>
            </a:r>
          </a:p>
        </p:txBody>
      </p:sp>
      <p:sp>
        <p:nvSpPr>
          <p:cNvPr id="8" name="Rounded Rectangle 7"/>
          <p:cNvSpPr/>
          <p:nvPr/>
        </p:nvSpPr>
        <p:spPr>
          <a:xfrm>
            <a:off x="7909560" y="3749039"/>
            <a:ext cx="3611880" cy="20574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唯二為正：疊加 DL-THR 的兩條 GICS 臂</a:t>
            </a:r>
          </a:p>
          <a:p>
            <a:pPr algn="l">
              <a:lnSpc>
                <a:spcPct val="125000"/>
              </a:lnSpc>
              <a:spcAft>
                <a:spcPts val="600"/>
              </a:spcAft>
            </a:pPr>
            <a:r>
              <a:rPr sz="1350" b="0">
                <a:solidFill>
                  <a:srgbClr val="1A1A1A"/>
                </a:solidFill>
                <a:latin typeface="Microsoft JhengHei"/>
                <a:ea typeface="Microsoft JhengHei"/>
              </a:rPr>
              <a:t>+0.375、+0.390%。但其中 </a:t>
            </a:r>
            <a:r>
              <a:rPr sz="1350" b="1">
                <a:solidFill>
                  <a:srgbClr val="1A1A1A"/>
                </a:solidFill>
                <a:latin typeface="Microsoft JhengHei"/>
                <a:ea typeface="Microsoft JhengHei"/>
              </a:rPr>
              <a:t>+0.282%</a:t>
            </a:r>
            <a:r>
              <a:rPr sz="1350" b="0">
                <a:solidFill>
                  <a:srgbClr val="1A1A1A"/>
                </a:solidFill>
                <a:latin typeface="Microsoft JhengHei"/>
                <a:ea typeface="Microsoft JhengHei"/>
              </a:rPr>
              <a:t> 純粹是「少動用資本、閒置現金多收利息」（利用率 42% 對 57%）——</a:t>
            </a:r>
            <a:r>
              <a:rPr sz="1350" b="1">
                <a:solidFill>
                  <a:srgbClr val="1A1A1A"/>
                </a:solidFill>
                <a:latin typeface="Microsoft JhengHei"/>
                <a:ea typeface="Microsoft JhengHei"/>
              </a:rPr>
              <a:t>不能算技巧</a:t>
            </a:r>
            <a:r>
              <a:rPr sz="1350" b="0">
                <a:solidFill>
                  <a:srgbClr val="1A1A1A"/>
                </a:solidFill>
                <a:latin typeface="Microsoft JhengHei"/>
                <a:ea typeface="Microsoft JhengHei"/>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第五部分 · 能不能賺錢　｜　§5.1.2</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那挑最好的那一格呢？最高分的，剛好都是反例</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48</a:t>
            </a:r>
          </a:p>
        </p:txBody>
      </p:sp>
      <p:graphicFrame>
        <p:nvGraphicFramePr>
          <p:cNvPr id="5" name="Table 4"/>
          <p:cNvGraphicFramePr>
            <a:graphicFrameLocks noGrp="1"/>
          </p:cNvGraphicFramePr>
          <p:nvPr/>
        </p:nvGraphicFramePr>
        <p:xfrm>
          <a:off x="640080" y="1691640"/>
          <a:ext cx="7360920" cy="2084832"/>
        </p:xfrm>
        <a:graphic>
          <a:graphicData uri="http://schemas.openxmlformats.org/drawingml/2006/table">
            <a:tbl>
              <a:tblPr firstRow="1" bandRow="1">
                <a:tableStyleId>{5C22544A-7EE6-4342-B048-85BDC9FD1C3A}</a:tableStyleId>
              </a:tblPr>
              <a:tblGrid>
                <a:gridCol w="1920240"/>
                <a:gridCol w="1234440"/>
                <a:gridCol w="1188720"/>
                <a:gridCol w="1234440"/>
                <a:gridCol w="914400"/>
                <a:gridCol w="868680"/>
              </a:tblGrid>
              <a:tr h="347472">
                <a:tc>
                  <a:txBody>
                    <a:bodyPr wrap="square"/>
                    <a:lstStyle/>
                    <a:p>
                      <a:pPr algn="l">
                        <a:lnSpc>
                          <a:spcPct val="110000"/>
                        </a:lnSpc>
                        <a:spcAft>
                          <a:spcPts val="0"/>
                        </a:spcAft>
                      </a:pPr>
                      <a:r>
                        <a:rPr sz="1300" b="1">
                          <a:solidFill>
                            <a:srgbClr val="FFFFFF"/>
                          </a:solidFill>
                          <a:latin typeface="Microsoft JhengHei"/>
                          <a:ea typeface="Microsoft JhengHei"/>
                        </a:rPr>
                        <a:t>最佳格</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配置</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帳面年化</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rf 超額</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Sharpe</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DSR</a:t>
                      </a:r>
                    </a:p>
                  </a:txBody>
                  <a:tcPr marT="27432" marB="27432" marL="73152" marR="73152" anchor="ctr">
                    <a:solidFill>
                      <a:srgbClr val="0B2A5B"/>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不分組 × DTW</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Top1/SL0</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+3.641%</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+4.607%</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0.529</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0.464</a:t>
                      </a:r>
                    </a:p>
                  </a:txBody>
                  <a:tcPr marT="27432" marB="27432" marL="73152" marR="73152" anchor="ctr">
                    <a:solidFill>
                      <a:srgbClr val="FFFFFF"/>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不分組 × SSD</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Top3/SL0</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+2.202%</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+1.600%</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0.455</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0.315</a:t>
                      </a:r>
                    </a:p>
                  </a:txBody>
                  <a:tcPr marT="27432" marB="27432" marL="73152" marR="73152" anchor="ctr">
                    <a:solidFill>
                      <a:srgbClr val="E8EDF5"/>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不分組 × SDP</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Top3/SL0</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+1.994%</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+1.253%</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0.436</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0.287</a:t>
                      </a:r>
                    </a:p>
                  </a:txBody>
                  <a:tcPr marT="27432" marB="27432" marL="73152" marR="73152" anchor="ctr">
                    <a:solidFill>
                      <a:srgbClr val="FFFFFF"/>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GICS × SDP</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Top3/SL0</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+1.647%</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+0.742%</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0.366</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0.173</a:t>
                      </a:r>
                    </a:p>
                  </a:txBody>
                  <a:tcPr marT="27432" marB="27432" marL="73152" marR="73152" anchor="ctr">
                    <a:solidFill>
                      <a:srgbClr val="E8EDF5"/>
                    </a:solidFill>
                  </a:tcPr>
                </a:tc>
              </a:tr>
              <a:tr h="347472">
                <a:tc>
                  <a:txBody>
                    <a:bodyPr wrap="square"/>
                    <a:lstStyle/>
                    <a:p>
                      <a:pPr algn="l">
                        <a:lnSpc>
                          <a:spcPct val="110000"/>
                        </a:lnSpc>
                        <a:spcAft>
                          <a:spcPts val="0"/>
                        </a:spcAft>
                      </a:pPr>
                      <a:r>
                        <a:rPr sz="1300" b="0">
                          <a:solidFill>
                            <a:srgbClr val="1A1A1A"/>
                          </a:solidFill>
                          <a:latin typeface="Microsoft JhengHei"/>
                          <a:ea typeface="Microsoft JhengHei"/>
                        </a:rPr>
                        <a:t>GICS × SSD</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Top5/SL0</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+1.286%</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+0.217%</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0.355</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0.165</a:t>
                      </a:r>
                    </a:p>
                  </a:txBody>
                  <a:tcPr marT="27432" marB="27432" marL="73152" marR="73152" anchor="ctr">
                    <a:solidFill>
                      <a:srgbClr val="FFFFFF"/>
                    </a:solidFill>
                  </a:tcPr>
                </a:tc>
              </a:tr>
            </a:tbl>
          </a:graphicData>
        </a:graphic>
      </p:graphicFrame>
      <p:sp>
        <p:nvSpPr>
          <p:cNvPr id="6" name="TextBox 5"/>
          <p:cNvSpPr txBox="1"/>
          <p:nvPr/>
        </p:nvSpPr>
        <p:spPr>
          <a:xfrm>
            <a:off x="640080" y="3840480"/>
            <a:ext cx="7360920" cy="548640"/>
          </a:xfrm>
          <a:prstGeom prst="rect">
            <a:avLst/>
          </a:prstGeom>
          <a:noFill/>
        </p:spPr>
        <p:txBody>
          <a:bodyPr wrap="square" lIns="0" rIns="0" tIns="0" bIns="0" anchor="t">
            <a:spAutoFit/>
          </a:bodyPr>
          <a:lstStyle/>
          <a:p>
            <a:pPr algn="l">
              <a:lnSpc>
                <a:spcPct val="125000"/>
              </a:lnSpc>
              <a:spcAft>
                <a:spcPts val="600"/>
              </a:spcAft>
            </a:pPr>
            <a:r>
              <a:rPr sz="1350" b="0">
                <a:solidFill>
                  <a:srgbClr val="1A1A1A"/>
                </a:solidFill>
                <a:latin typeface="Microsoft JhengHei"/>
                <a:ea typeface="Microsoft JhengHei"/>
              </a:rPr>
              <a:t>試驗宇宙 N ＝ 72、門檻 SR₀ ＝ 0.546。</a:t>
            </a:r>
            <a:r>
              <a:rPr sz="1350" b="1">
                <a:solidFill>
                  <a:srgbClr val="1A1A1A"/>
                </a:solidFill>
                <a:latin typeface="Microsoft JhengHei"/>
                <a:ea typeface="Microsoft JhengHei"/>
              </a:rPr>
              <a:t>55 條策略無一通過 0.95</a:t>
            </a:r>
            <a:r>
              <a:rPr sz="1350" b="0">
                <a:solidFill>
                  <a:srgbClr val="1A1A1A"/>
                </a:solidFill>
                <a:latin typeface="Microsoft JhengHei"/>
                <a:ea typeface="Microsoft JhengHei"/>
              </a:rPr>
              <a:t>；最佳格的年化是「15 選 1」之後的數字，DSR 就是把這部分扣回來。</a:t>
            </a:r>
          </a:p>
        </p:txBody>
      </p:sp>
      <p:sp>
        <p:nvSpPr>
          <p:cNvPr id="7" name="Rounded Rectangle 6"/>
          <p:cNvSpPr/>
          <p:nvPr/>
        </p:nvSpPr>
        <p:spPr>
          <a:xfrm>
            <a:off x="8183879" y="1691640"/>
            <a:ext cx="3337560" cy="26974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DSR 最高的前四名：全是 504</a:t>
            </a:r>
          </a:p>
          <a:p>
            <a:pPr algn="l">
              <a:lnSpc>
                <a:spcPct val="125000"/>
              </a:lnSpc>
              <a:spcAft>
                <a:spcPts val="600"/>
              </a:spcAft>
            </a:pPr>
            <a:r>
              <a:rPr sz="1300" b="0">
                <a:solidFill>
                  <a:srgbClr val="1A1A1A"/>
                </a:solidFill>
                <a:latin typeface="Microsoft JhengHei"/>
                <a:ea typeface="Microsoft JhengHei"/>
              </a:rPr>
              <a:t>504 日的 GICS-SSD：Sharpe </a:t>
            </a:r>
            <a:r>
              <a:rPr sz="1300" b="1">
                <a:solidFill>
                  <a:srgbClr val="1A1A1A"/>
                </a:solidFill>
                <a:latin typeface="Microsoft JhengHei"/>
                <a:ea typeface="Microsoft JhengHei"/>
              </a:rPr>
              <a:t>0.634</a:t>
            </a:r>
            <a:r>
              <a:rPr sz="1300" b="0">
                <a:solidFill>
                  <a:srgbClr val="1A1A1A"/>
                </a:solidFill>
                <a:latin typeface="Microsoft JhengHei"/>
                <a:ea typeface="Microsoft JhengHei"/>
              </a:rPr>
              <a:t>、DSR </a:t>
            </a:r>
            <a:r>
              <a:rPr sz="1300" b="1">
                <a:solidFill>
                  <a:srgbClr val="1A1A1A"/>
                </a:solidFill>
                <a:latin typeface="Microsoft JhengHei"/>
                <a:ea typeface="Microsoft JhengHei"/>
              </a:rPr>
              <a:t>0.681</a:t>
            </a:r>
            <a:r>
              <a:rPr sz="1300" b="0">
                <a:solidFill>
                  <a:srgbClr val="1A1A1A"/>
                </a:solidFill>
                <a:latin typeface="Microsoft JhengHei"/>
                <a:ea typeface="Microsoft JhengHei"/>
              </a:rPr>
              <a:t>，全場最高。</a:t>
            </a:r>
          </a:p>
          <a:p>
            <a:pPr algn="l">
              <a:lnSpc>
                <a:spcPct val="125000"/>
              </a:lnSpc>
              <a:spcAft>
                <a:spcPts val="600"/>
              </a:spcAft>
            </a:pPr>
            <a:r>
              <a:rPr sz="1300" b="0">
                <a:solidFill>
                  <a:srgbClr val="1A1A1A"/>
                </a:solidFill>
                <a:latin typeface="Microsoft JhengHei"/>
                <a:ea typeface="Microsoft JhengHei"/>
              </a:rPr>
              <a:t>但前半期 +0.998、</a:t>
            </a:r>
            <a:r>
              <a:rPr sz="1300" b="1">
                <a:solidFill>
                  <a:srgbClr val="1A1A1A"/>
                </a:solidFill>
                <a:latin typeface="Microsoft JhengHei"/>
                <a:ea typeface="Microsoft JhengHei"/>
              </a:rPr>
              <a:t>後半期 −0.389</a:t>
            </a:r>
            <a:r>
              <a:rPr sz="1300" b="0">
                <a:solidFill>
                  <a:srgbClr val="1A1A1A"/>
                </a:solidFill>
                <a:latin typeface="Microsoft JhengHei"/>
                <a:ea typeface="Microsoft JhengHei"/>
              </a:rPr>
              <a:t>；第二到四名也都是 504 臂，後半期同樣為負。</a:t>
            </a:r>
          </a:p>
          <a:p>
            <a:pPr algn="l">
              <a:lnSpc>
                <a:spcPct val="125000"/>
              </a:lnSpc>
              <a:spcAft>
                <a:spcPts val="600"/>
              </a:spcAft>
            </a:pPr>
            <a:r>
              <a:rPr sz="1300" b="0">
                <a:solidFill>
                  <a:srgbClr val="1A1A1A"/>
                </a:solidFill>
                <a:latin typeface="Microsoft JhengHei"/>
                <a:ea typeface="Microsoft JhengHei"/>
              </a:rPr>
              <a:t>DSR 校正「看過幾個」，不校正「用全期指標挑到已經失效的」。</a:t>
            </a:r>
          </a:p>
        </p:txBody>
      </p:sp>
      <p:graphicFrame>
        <p:nvGraphicFramePr>
          <p:cNvPr id="8" name="Table 7"/>
          <p:cNvGraphicFramePr>
            <a:graphicFrameLocks noGrp="1"/>
          </p:cNvGraphicFramePr>
          <p:nvPr/>
        </p:nvGraphicFramePr>
        <p:xfrm>
          <a:off x="640080" y="4572000"/>
          <a:ext cx="7498080" cy="1207008"/>
        </p:xfrm>
        <a:graphic>
          <a:graphicData uri="http://schemas.openxmlformats.org/drawingml/2006/table">
            <a:tbl>
              <a:tblPr firstRow="1" bandRow="1">
                <a:tableStyleId>{5C22544A-7EE6-4342-B048-85BDC9FD1C3A}</a:tableStyleId>
              </a:tblPr>
              <a:tblGrid>
                <a:gridCol w="5760720"/>
                <a:gridCol w="1737360"/>
              </a:tblGrid>
              <a:tr h="301752">
                <a:tc>
                  <a:txBody>
                    <a:bodyPr wrap="square"/>
                    <a:lstStyle/>
                    <a:p>
                      <a:pPr algn="l">
                        <a:lnSpc>
                          <a:spcPct val="110000"/>
                        </a:lnSpc>
                        <a:spcAft>
                          <a:spcPts val="0"/>
                        </a:spcAft>
                      </a:pPr>
                      <a:r>
                        <a:rPr sz="1250" b="1">
                          <a:solidFill>
                            <a:srgbClr val="FFFFFF"/>
                          </a:solidFill>
                          <a:latin typeface="Microsoft JhengHei"/>
                          <a:ea typeface="Microsoft JhengHei"/>
                        </a:rPr>
                        <a:t>把 6,287 天對半切，491 格各算兩次 Sharpe</a:t>
                      </a:r>
                    </a:p>
                  </a:txBody>
                  <a:tcPr marT="27432" marB="27432" marL="73152" marR="73152" anchor="ctr">
                    <a:solidFill>
                      <a:srgbClr val="0B2A5B"/>
                    </a:solidFill>
                  </a:tcPr>
                </a:tc>
                <a:tc>
                  <a:txBody>
                    <a:bodyPr wrap="square"/>
                    <a:lstStyle/>
                    <a:p>
                      <a:pPr algn="l">
                        <a:lnSpc>
                          <a:spcPct val="110000"/>
                        </a:lnSpc>
                        <a:spcAft>
                          <a:spcPts val="0"/>
                        </a:spcAft>
                      </a:pPr>
                      <a:r>
                        <a:rPr sz="1250" b="1">
                          <a:solidFill>
                            <a:srgbClr val="FFFFFF"/>
                          </a:solidFill>
                          <a:latin typeface="Microsoft JhengHei"/>
                          <a:ea typeface="Microsoft JhengHei"/>
                        </a:rPr>
                        <a:t>結果</a:t>
                      </a:r>
                    </a:p>
                  </a:txBody>
                  <a:tcPr marT="27432" marB="27432" marL="73152" marR="73152" anchor="ctr">
                    <a:solidFill>
                      <a:srgbClr val="0B2A5B"/>
                    </a:solidFill>
                  </a:tcPr>
                </a:tc>
              </a:tr>
              <a:tr h="301752">
                <a:tc>
                  <a:txBody>
                    <a:bodyPr wrap="square"/>
                    <a:lstStyle/>
                    <a:p>
                      <a:pPr algn="l">
                        <a:lnSpc>
                          <a:spcPct val="110000"/>
                        </a:lnSpc>
                        <a:spcAft>
                          <a:spcPts val="0"/>
                        </a:spcAft>
                      </a:pPr>
                      <a:r>
                        <a:rPr sz="1250" b="0">
                          <a:solidFill>
                            <a:srgbClr val="1A1A1A"/>
                          </a:solidFill>
                          <a:latin typeface="Microsoft JhengHei"/>
                          <a:ea typeface="Microsoft JhengHei"/>
                        </a:rPr>
                        <a:t>兩半都為正的格數</a:t>
                      </a:r>
                    </a:p>
                  </a:txBody>
                  <a:tcPr marT="27432" marB="27432" marL="73152" marR="73152" anchor="ctr">
                    <a:solidFill>
                      <a:srgbClr val="FFFFFF"/>
                    </a:solidFill>
                  </a:tcPr>
                </a:tc>
                <a:tc>
                  <a:txBody>
                    <a:bodyPr wrap="square"/>
                    <a:lstStyle/>
                    <a:p>
                      <a:pPr algn="r">
                        <a:lnSpc>
                          <a:spcPct val="110000"/>
                        </a:lnSpc>
                        <a:spcAft>
                          <a:spcPts val="0"/>
                        </a:spcAft>
                      </a:pPr>
                      <a:r>
                        <a:rPr sz="1250" b="1">
                          <a:solidFill>
                            <a:srgbClr val="1A1A1A"/>
                          </a:solidFill>
                          <a:latin typeface="Microsoft JhengHei"/>
                          <a:ea typeface="Microsoft JhengHei"/>
                        </a:rPr>
                        <a:t>29／491（5.9%）</a:t>
                      </a:r>
                    </a:p>
                  </a:txBody>
                  <a:tcPr marT="27432" marB="27432" marL="73152" marR="73152" anchor="ctr">
                    <a:solidFill>
                      <a:srgbClr val="FFFFFF"/>
                    </a:solidFill>
                  </a:tcPr>
                </a:tc>
              </a:tr>
              <a:tr h="301752">
                <a:tc>
                  <a:txBody>
                    <a:bodyPr wrap="square"/>
                    <a:lstStyle/>
                    <a:p>
                      <a:pPr algn="l">
                        <a:lnSpc>
                          <a:spcPct val="110000"/>
                        </a:lnSpc>
                        <a:spcAft>
                          <a:spcPts val="0"/>
                        </a:spcAft>
                      </a:pPr>
                      <a:r>
                        <a:rPr sz="1250" b="0">
                          <a:solidFill>
                            <a:srgbClr val="1A1A1A"/>
                          </a:solidFill>
                          <a:latin typeface="Microsoft JhengHei"/>
                          <a:ea typeface="Microsoft JhengHei"/>
                        </a:rPr>
                        <a:t>用全期 Sharpe 挑前 10：後半為負</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8／10</a:t>
                      </a:r>
                    </a:p>
                  </a:txBody>
                  <a:tcPr marT="27432" marB="27432" marL="73152" marR="73152" anchor="ctr">
                    <a:solidFill>
                      <a:srgbClr val="E8EDF5"/>
                    </a:solidFill>
                  </a:tcPr>
                </a:tc>
              </a:tr>
              <a:tr h="301752">
                <a:tc>
                  <a:txBody>
                    <a:bodyPr wrap="square"/>
                    <a:lstStyle/>
                    <a:p>
                      <a:pPr algn="l">
                        <a:lnSpc>
                          <a:spcPct val="110000"/>
                        </a:lnSpc>
                        <a:spcAft>
                          <a:spcPts val="0"/>
                        </a:spcAft>
                      </a:pPr>
                      <a:r>
                        <a:rPr sz="1250" b="0">
                          <a:solidFill>
                            <a:srgbClr val="1A1A1A"/>
                          </a:solidFill>
                          <a:latin typeface="Microsoft JhengHei"/>
                          <a:ea typeface="Microsoft JhengHei"/>
                        </a:rPr>
                        <a:t>用前半 Sharpe 挑前 10：後半為負</a:t>
                      </a:r>
                    </a:p>
                  </a:txBody>
                  <a:tcPr marT="27432" marB="27432" marL="73152" marR="73152" anchor="ctr">
                    <a:solidFill>
                      <a:srgbClr val="FFFFFF"/>
                    </a:solidFill>
                  </a:tcPr>
                </a:tc>
                <a:tc>
                  <a:txBody>
                    <a:bodyPr wrap="square"/>
                    <a:lstStyle/>
                    <a:p>
                      <a:pPr algn="r">
                        <a:lnSpc>
                          <a:spcPct val="110000"/>
                        </a:lnSpc>
                        <a:spcAft>
                          <a:spcPts val="0"/>
                        </a:spcAft>
                      </a:pPr>
                      <a:r>
                        <a:rPr sz="1250" b="1">
                          <a:solidFill>
                            <a:srgbClr val="1A1A1A"/>
                          </a:solidFill>
                          <a:latin typeface="Microsoft JhengHei"/>
                          <a:ea typeface="Microsoft JhengHei"/>
                        </a:rPr>
                        <a:t>10／10</a:t>
                      </a:r>
                    </a:p>
                  </a:txBody>
                  <a:tcPr marT="27432" marB="27432" marL="73152" marR="73152" anchor="ctr">
                    <a:solidFill>
                      <a:srgbClr val="FFFFFF"/>
                    </a:solidFill>
                  </a:tcPr>
                </a:tc>
              </a:tr>
            </a:tbl>
          </a:graphicData>
        </a:graphic>
      </p:graphicFrame>
      <p:sp>
        <p:nvSpPr>
          <p:cNvPr id="9" name="TextBox 8"/>
          <p:cNvSpPr txBox="1"/>
          <p:nvPr/>
        </p:nvSpPr>
        <p:spPr>
          <a:xfrm>
            <a:off x="8229600" y="4663440"/>
            <a:ext cx="3291840" cy="1097280"/>
          </a:xfrm>
          <a:prstGeom prst="rect">
            <a:avLst/>
          </a:prstGeom>
          <a:noFill/>
        </p:spPr>
        <p:txBody>
          <a:bodyPr wrap="square" lIns="0" rIns="0" tIns="0" bIns="0" anchor="t">
            <a:spAutoFit/>
          </a:bodyPr>
          <a:lstStyle/>
          <a:p>
            <a:pPr algn="l">
              <a:lnSpc>
                <a:spcPct val="125000"/>
              </a:lnSpc>
              <a:spcAft>
                <a:spcPts val="600"/>
              </a:spcAft>
            </a:pPr>
            <a:r>
              <a:rPr sz="1400" b="1">
                <a:solidFill>
                  <a:srgbClr val="0B2A5B"/>
                </a:solidFill>
                <a:latin typeface="Microsoft JhengHei"/>
                <a:ea typeface="Microsoft JhengHei"/>
              </a:rPr>
              <a:t>用任何全樣本指標挑，挑到的幾乎都是後半期已經失效的策略。</a:t>
            </a:r>
          </a:p>
        </p:txBody>
      </p:sp>
      <p:sp>
        <p:nvSpPr>
          <p:cNvPr id="10" name="TextBox 9"/>
          <p:cNvSpPr txBox="1"/>
          <p:nvPr/>
        </p:nvSpPr>
        <p:spPr>
          <a:xfrm>
            <a:off x="640080" y="6126480"/>
            <a:ext cx="10332720" cy="27432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Bailey, D. H., &amp; López de Prado, M. (2014). The deflated Sharpe ratio: Correcting for selection bias, backtest overfitting, and non-normality. The Journal of Portfolio Management, 40(5), 94–107.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第五部分 · 能不能賺錢　｜　§5.1.1–5.1.4</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三道界線，每一道都足以說「不能交易」</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49</a:t>
            </a:r>
          </a:p>
        </p:txBody>
      </p:sp>
      <p:graphicFrame>
        <p:nvGraphicFramePr>
          <p:cNvPr id="5" name="Table 4"/>
          <p:cNvGraphicFramePr>
            <a:graphicFrameLocks noGrp="1"/>
          </p:cNvGraphicFramePr>
          <p:nvPr/>
        </p:nvGraphicFramePr>
        <p:xfrm>
          <a:off x="640080" y="1737360"/>
          <a:ext cx="10881360" cy="2066544"/>
        </p:xfrm>
        <a:graphic>
          <a:graphicData uri="http://schemas.openxmlformats.org/drawingml/2006/table">
            <a:tbl>
              <a:tblPr firstRow="1" bandRow="1">
                <a:tableStyleId>{5C22544A-7EE6-4342-B048-85BDC9FD1C3A}</a:tableStyleId>
              </a:tblPr>
              <a:tblGrid>
                <a:gridCol w="2011680"/>
                <a:gridCol w="7132320"/>
                <a:gridCol w="1737360"/>
              </a:tblGrid>
              <a:tr h="365760">
                <a:tc>
                  <a:txBody>
                    <a:bodyPr wrap="square"/>
                    <a:lstStyle/>
                    <a:p>
                      <a:pPr algn="l">
                        <a:lnSpc>
                          <a:spcPct val="110000"/>
                        </a:lnSpc>
                        <a:spcAft>
                          <a:spcPts val="0"/>
                        </a:spcAft>
                      </a:pPr>
                      <a:r>
                        <a:rPr sz="1400" b="1">
                          <a:solidFill>
                            <a:srgbClr val="FFFFFF"/>
                          </a:solidFill>
                          <a:latin typeface="Microsoft JhengHei"/>
                          <a:ea typeface="Microsoft JhengHei"/>
                        </a:rPr>
                        <a:t>界線</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內容</a:t>
                      </a:r>
                    </a:p>
                  </a:txBody>
                  <a:tcPr marT="27432" marB="27432" marL="73152" marR="73152" anchor="ctr">
                    <a:solidFill>
                      <a:srgbClr val="0B2A5B"/>
                    </a:solidFill>
                  </a:tcPr>
                </a:tc>
                <a:tc>
                  <a:txBody>
                    <a:bodyPr wrap="square"/>
                    <a:lstStyle/>
                    <a:p>
                      <a:pPr algn="ctr">
                        <a:lnSpc>
                          <a:spcPct val="110000"/>
                        </a:lnSpc>
                        <a:spcAft>
                          <a:spcPts val="0"/>
                        </a:spcAft>
                      </a:pPr>
                      <a:r>
                        <a:rPr sz="1400" b="1">
                          <a:solidFill>
                            <a:srgbClr val="FFFFFF"/>
                          </a:solidFill>
                          <a:latin typeface="Microsoft JhengHei"/>
                          <a:ea typeface="Microsoft JhengHei"/>
                        </a:rPr>
                        <a:t>是否全面成立</a:t>
                      </a:r>
                    </a:p>
                  </a:txBody>
                  <a:tcPr marT="27432" marB="27432" marL="73152" marR="73152" anchor="ctr">
                    <a:solidFill>
                      <a:srgbClr val="0B2A5B"/>
                    </a:solidFill>
                  </a:tcPr>
                </a:tc>
              </a:tr>
              <a:tr h="566928">
                <a:tc>
                  <a:txBody>
                    <a:bodyPr wrap="square"/>
                    <a:lstStyle/>
                    <a:p>
                      <a:pPr algn="l">
                        <a:lnSpc>
                          <a:spcPct val="110000"/>
                        </a:lnSpc>
                        <a:spcAft>
                          <a:spcPts val="0"/>
                        </a:spcAft>
                      </a:pPr>
                      <a:r>
                        <a:rPr sz="1400" b="0">
                          <a:solidFill>
                            <a:srgbClr val="1A1A1A"/>
                          </a:solidFill>
                          <a:latin typeface="Microsoft JhengHei"/>
                          <a:ea typeface="Microsoft JhengHei"/>
                        </a:rPr>
                        <a:t>絕對績效</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等權口徑最佳帳面年化 1.026%；rf 超額僅 +0.375%、Sharpe 0.276；「日均報酬是否為零」檢定 </a:t>
                      </a:r>
                      <a:r>
                        <a:rPr sz="1400" b="1">
                          <a:solidFill>
                            <a:srgbClr val="1A1A1A"/>
                          </a:solidFill>
                          <a:latin typeface="Microsoft JhengHei"/>
                          <a:ea typeface="Microsoft JhengHei"/>
                        </a:rPr>
                        <a:t>6/6 不顯著</a:t>
                      </a:r>
                    </a:p>
                  </a:txBody>
                  <a:tcPr marT="27432" marB="27432" marL="73152" marR="73152" anchor="ctr">
                    <a:solidFill>
                      <a:srgbClr val="FFFFFF"/>
                    </a:solidFill>
                  </a:tcPr>
                </a:tc>
                <a:tc>
                  <a:txBody>
                    <a:bodyPr wrap="square"/>
                    <a:lstStyle/>
                    <a:p>
                      <a:pPr algn="ctr">
                        <a:lnSpc>
                          <a:spcPct val="110000"/>
                        </a:lnSpc>
                        <a:spcAft>
                          <a:spcPts val="0"/>
                        </a:spcAft>
                      </a:pPr>
                      <a:r>
                        <a:rPr sz="1400" b="0">
                          <a:solidFill>
                            <a:srgbClr val="1A1A1A"/>
                          </a:solidFill>
                          <a:latin typeface="Microsoft JhengHei"/>
                          <a:ea typeface="Microsoft JhengHei"/>
                        </a:rPr>
                        <a:t>全面</a:t>
                      </a:r>
                    </a:p>
                  </a:txBody>
                  <a:tcPr marT="27432" marB="27432" marL="73152" marR="73152" anchor="ctr">
                    <a:solidFill>
                      <a:srgbClr val="FFFFFF"/>
                    </a:solidFill>
                  </a:tcPr>
                </a:tc>
              </a:tr>
              <a:tr h="566928">
                <a:tc>
                  <a:txBody>
                    <a:bodyPr wrap="square"/>
                    <a:lstStyle/>
                    <a:p>
                      <a:pPr algn="l">
                        <a:lnSpc>
                          <a:spcPct val="110000"/>
                        </a:lnSpc>
                        <a:spcAft>
                          <a:spcPts val="0"/>
                        </a:spcAft>
                      </a:pPr>
                      <a:r>
                        <a:rPr sz="1400" b="0">
                          <a:solidFill>
                            <a:srgbClr val="1A1A1A"/>
                          </a:solidFill>
                          <a:latin typeface="Microsoft JhengHei"/>
                          <a:ea typeface="Microsoft JhengHei"/>
                        </a:rPr>
                        <a:t>DSR</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55 條策略無一通過 0.95；最高的四條後半期皆為負</a:t>
                      </a:r>
                    </a:p>
                  </a:txBody>
                  <a:tcPr marT="27432" marB="27432" marL="73152" marR="73152" anchor="ctr">
                    <a:solidFill>
                      <a:srgbClr val="E8EDF5"/>
                    </a:solidFill>
                  </a:tcPr>
                </a:tc>
                <a:tc>
                  <a:txBody>
                    <a:bodyPr wrap="square"/>
                    <a:lstStyle/>
                    <a:p>
                      <a:pPr algn="ctr">
                        <a:lnSpc>
                          <a:spcPct val="110000"/>
                        </a:lnSpc>
                        <a:spcAft>
                          <a:spcPts val="0"/>
                        </a:spcAft>
                      </a:pPr>
                      <a:r>
                        <a:rPr sz="1400" b="0">
                          <a:solidFill>
                            <a:srgbClr val="1A1A1A"/>
                          </a:solidFill>
                          <a:latin typeface="Microsoft JhengHei"/>
                          <a:ea typeface="Microsoft JhengHei"/>
                        </a:rPr>
                        <a:t>全面</a:t>
                      </a:r>
                    </a:p>
                  </a:txBody>
                  <a:tcPr marT="27432" marB="27432" marL="73152" marR="73152" anchor="ctr">
                    <a:solidFill>
                      <a:srgbClr val="E8EDF5"/>
                    </a:solidFill>
                  </a:tcPr>
                </a:tc>
              </a:tr>
              <a:tr h="566928">
                <a:tc>
                  <a:txBody>
                    <a:bodyPr wrap="square"/>
                    <a:lstStyle/>
                    <a:p>
                      <a:pPr algn="l">
                        <a:lnSpc>
                          <a:spcPct val="110000"/>
                        </a:lnSpc>
                        <a:spcAft>
                          <a:spcPts val="0"/>
                        </a:spcAft>
                      </a:pPr>
                      <a:r>
                        <a:rPr sz="1400" b="0">
                          <a:solidFill>
                            <a:srgbClr val="1A1A1A"/>
                          </a:solidFill>
                          <a:latin typeface="Microsoft JhengHei"/>
                          <a:ea typeface="Microsoft JhengHei"/>
                        </a:rPr>
                        <a:t>成本餘裕</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全距 58 個基點，跟成本假設本身同量級；K-means 為負，但 GICS＋DL-THR 有逾七成餘裕</a:t>
                      </a:r>
                    </a:p>
                  </a:txBody>
                  <a:tcPr marT="27432" marB="27432" marL="73152" marR="73152" anchor="ctr">
                    <a:solidFill>
                      <a:srgbClr val="FFFFFF"/>
                    </a:solidFill>
                  </a:tcPr>
                </a:tc>
                <a:tc>
                  <a:txBody>
                    <a:bodyPr wrap="square"/>
                    <a:lstStyle/>
                    <a:p>
                      <a:pPr algn="ctr">
                        <a:lnSpc>
                          <a:spcPct val="110000"/>
                        </a:lnSpc>
                        <a:spcAft>
                          <a:spcPts val="0"/>
                        </a:spcAft>
                      </a:pPr>
                      <a:r>
                        <a:rPr sz="1400" b="1">
                          <a:solidFill>
                            <a:srgbClr val="C4553B"/>
                          </a:solidFill>
                          <a:latin typeface="Microsoft JhengHei"/>
                          <a:ea typeface="Microsoft JhengHei"/>
                        </a:rPr>
                        <a:t>只有部分</a:t>
                      </a:r>
                    </a:p>
                  </a:txBody>
                  <a:tcPr marT="27432" marB="27432" marL="73152" marR="73152" anchor="ctr">
                    <a:solidFill>
                      <a:srgbClr val="FFFFFF"/>
                    </a:solidFill>
                  </a:tcPr>
                </a:tc>
              </a:tr>
            </a:tbl>
          </a:graphicData>
        </a:graphic>
      </p:graphicFrame>
      <p:sp>
        <p:nvSpPr>
          <p:cNvPr id="6" name="Rounded Rectangle 5"/>
          <p:cNvSpPr/>
          <p:nvPr/>
        </p:nvSpPr>
        <p:spPr>
          <a:xfrm>
            <a:off x="640080" y="3977639"/>
            <a:ext cx="10881360" cy="178308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146304" bIns="146304" wrap="square"/>
          <a:lstStyle/>
          <a:p>
            <a:pPr algn="l">
              <a:lnSpc>
                <a:spcPct val="125000"/>
              </a:lnSpc>
              <a:spcAft>
                <a:spcPts val="800"/>
              </a:spcAft>
            </a:pPr>
            <a:r>
              <a:rPr sz="1900" b="1">
                <a:solidFill>
                  <a:srgbClr val="FFFFFF"/>
                </a:solidFill>
                <a:latin typeface="Microsoft JhengHei"/>
                <a:ea typeface="Microsoft JhengHei"/>
              </a:rPr>
              <a:t>「比某個基準好」跟「本身可以交易」，是兩個不同的主張——本研究只支持前者。</a:t>
            </a:r>
          </a:p>
          <a:p>
            <a:pPr algn="l">
              <a:lnSpc>
                <a:spcPct val="125000"/>
              </a:lnSpc>
              <a:spcAft>
                <a:spcPts val="600"/>
              </a:spcAft>
            </a:pPr>
            <a:r>
              <a:rPr sz="1450" b="0">
                <a:solidFill>
                  <a:srgbClr val="E8EDF5"/>
                </a:solidFill>
                <a:latin typeface="Microsoft JhengHei"/>
                <a:ea typeface="Microsoft JhengHei"/>
              </a:rPr>
              <a:t>效果存在、方向一致（5/5）、機制可歸因（三個來源排除三項替代解釋）；但水準太低、選擇偏誤校正後不夠、其中一個來源連成本都付不起。</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第五部分 · 能不能賺錢　｜　§5.2</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錢被什麼吃掉了？收斂的獲利，被兩股虧損吃光</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50</a:t>
            </a:r>
          </a:p>
        </p:txBody>
      </p:sp>
      <p:sp>
        <p:nvSpPr>
          <p:cNvPr id="5" name="TextBox 4"/>
          <p:cNvSpPr txBox="1"/>
          <p:nvPr/>
        </p:nvSpPr>
        <p:spPr>
          <a:xfrm>
            <a:off x="640080" y="1627632"/>
            <a:ext cx="10881360" cy="457200"/>
          </a:xfrm>
          <a:prstGeom prst="rect">
            <a:avLst/>
          </a:prstGeom>
          <a:noFill/>
        </p:spPr>
        <p:txBody>
          <a:bodyPr wrap="square" lIns="0" rIns="0" tIns="0" bIns="0" anchor="t">
            <a:spAutoFit/>
          </a:bodyPr>
          <a:lstStyle/>
          <a:p>
            <a:pPr algn="l">
              <a:lnSpc>
                <a:spcPct val="125000"/>
              </a:lnSpc>
              <a:spcAft>
                <a:spcPts val="600"/>
              </a:spcAft>
            </a:pPr>
            <a:r>
              <a:rPr sz="1500" b="0">
                <a:solidFill>
                  <a:srgbClr val="1A1A1A"/>
                </a:solidFill>
                <a:latin typeface="Microsoft JhengHei"/>
                <a:ea typeface="Microsoft JhengHei"/>
              </a:rPr>
              <a:t>399 個 Z-Score 基準格：逐筆勝率 </a:t>
            </a:r>
            <a:r>
              <a:rPr sz="1500" b="1">
                <a:solidFill>
                  <a:srgbClr val="1A1A1A"/>
                </a:solidFill>
                <a:latin typeface="Microsoft JhengHei"/>
                <a:ea typeface="Microsoft JhengHei"/>
              </a:rPr>
              <a:t>0.591</a:t>
            </a:r>
            <a:r>
              <a:rPr sz="1500" b="0">
                <a:solidFill>
                  <a:srgbClr val="1A1A1A"/>
                </a:solidFill>
                <a:latin typeface="Microsoft JhengHei"/>
                <a:ea typeface="Microsoft JhengHei"/>
              </a:rPr>
              <a:t>、獲利因子 </a:t>
            </a:r>
            <a:r>
              <a:rPr sz="1500" b="1">
                <a:solidFill>
                  <a:srgbClr val="1A1A1A"/>
                </a:solidFill>
                <a:latin typeface="Microsoft JhengHei"/>
                <a:ea typeface="Microsoft JhengHei"/>
              </a:rPr>
              <a:t>0.995</a:t>
            </a:r>
            <a:r>
              <a:rPr sz="1500" b="0">
                <a:solidFill>
                  <a:srgbClr val="1A1A1A"/>
                </a:solidFill>
                <a:latin typeface="Microsoft JhengHei"/>
                <a:ea typeface="Microsoft JhengHei"/>
              </a:rPr>
              <a:t>、期末強平÷進場 </a:t>
            </a:r>
            <a:r>
              <a:rPr sz="1500" b="1">
                <a:solidFill>
                  <a:srgbClr val="1A1A1A"/>
                </a:solidFill>
                <a:latin typeface="Microsoft JhengHei"/>
                <a:ea typeface="Microsoft JhengHei"/>
              </a:rPr>
              <a:t>0.403</a:t>
            </a:r>
          </a:p>
        </p:txBody>
      </p:sp>
      <p:graphicFrame>
        <p:nvGraphicFramePr>
          <p:cNvPr id="6" name="Chart 5"/>
          <p:cNvGraphicFramePr>
            <a:graphicFrameLocks noGrp="1"/>
          </p:cNvGraphicFramePr>
          <p:nvPr/>
        </p:nvGraphicFramePr>
        <p:xfrm>
          <a:off x="640080" y="2103120"/>
          <a:ext cx="4480560" cy="3429000"/>
        </p:xfrm>
        <a:graphic>
          <a:graphicData uri="http://schemas.openxmlformats.org/drawingml/2006/chart">
            <c:chart xmlns:c="http://schemas.openxmlformats.org/drawingml/2006/chart" r:id="rId2"/>
          </a:graphicData>
        </a:graphic>
      </p:graphicFrame>
      <p:sp>
        <p:nvSpPr>
          <p:cNvPr id="7" name="TextBox 6"/>
          <p:cNvSpPr txBox="1"/>
          <p:nvPr/>
        </p:nvSpPr>
        <p:spPr>
          <a:xfrm>
            <a:off x="640080" y="5532120"/>
            <a:ext cx="4480560" cy="274320"/>
          </a:xfrm>
          <a:prstGeom prst="rect">
            <a:avLst/>
          </a:prstGeom>
          <a:noFill/>
        </p:spPr>
        <p:txBody>
          <a:bodyPr wrap="square" lIns="0" rIns="0" tIns="0" bIns="0" anchor="t">
            <a:spAutoFit/>
          </a:bodyPr>
          <a:lstStyle/>
          <a:p>
            <a:pPr algn="ctr">
              <a:lnSpc>
                <a:spcPct val="125000"/>
              </a:lnSpc>
              <a:spcAft>
                <a:spcPts val="600"/>
              </a:spcAft>
            </a:pPr>
            <a:r>
              <a:rPr sz="1100" b="0">
                <a:solidFill>
                  <a:srgbClr val="6B7280"/>
                </a:solidFill>
                <a:latin typeface="Microsoft JhengHei"/>
                <a:ea typeface="Microsoft JhengHei"/>
              </a:rPr>
              <a:t>GICS-SSD（15 個配置平均）</a:t>
            </a:r>
          </a:p>
        </p:txBody>
      </p:sp>
      <p:graphicFrame>
        <p:nvGraphicFramePr>
          <p:cNvPr id="8" name="Table 7"/>
          <p:cNvGraphicFramePr>
            <a:graphicFrameLocks noGrp="1"/>
          </p:cNvGraphicFramePr>
          <p:nvPr/>
        </p:nvGraphicFramePr>
        <p:xfrm>
          <a:off x="5349240" y="2148840"/>
          <a:ext cx="6172200" cy="1975104"/>
        </p:xfrm>
        <a:graphic>
          <a:graphicData uri="http://schemas.openxmlformats.org/drawingml/2006/table">
            <a:tbl>
              <a:tblPr firstRow="1" bandRow="1">
                <a:tableStyleId>{5C22544A-7EE6-4342-B048-85BDC9FD1C3A}</a:tableStyleId>
              </a:tblPr>
              <a:tblGrid>
                <a:gridCol w="1600200"/>
                <a:gridCol w="960120"/>
                <a:gridCol w="960120"/>
                <a:gridCol w="868680"/>
                <a:gridCol w="868680"/>
                <a:gridCol w="914400"/>
              </a:tblGrid>
              <a:tr h="329184">
                <a:tc>
                  <a:txBody>
                    <a:bodyPr wrap="square"/>
                    <a:lstStyle/>
                    <a:p>
                      <a:pPr algn="l">
                        <a:lnSpc>
                          <a:spcPct val="110000"/>
                        </a:lnSpc>
                        <a:spcAft>
                          <a:spcPts val="0"/>
                        </a:spcAft>
                      </a:pPr>
                      <a:r>
                        <a:rPr sz="1150" b="1">
                          <a:solidFill>
                            <a:srgbClr val="FFFFFF"/>
                          </a:solidFill>
                          <a:latin typeface="Microsoft JhengHei"/>
                          <a:ea typeface="Microsoft JhengHei"/>
                        </a:rPr>
                        <a:t>分組</a:t>
                      </a:r>
                    </a:p>
                  </a:txBody>
                  <a:tcPr marT="27432" marB="27432" marL="73152" marR="73152" anchor="ctr">
                    <a:solidFill>
                      <a:srgbClr val="0B2A5B"/>
                    </a:solidFill>
                  </a:tcPr>
                </a:tc>
                <a:tc>
                  <a:txBody>
                    <a:bodyPr wrap="square"/>
                    <a:lstStyle/>
                    <a:p>
                      <a:pPr algn="l">
                        <a:lnSpc>
                          <a:spcPct val="110000"/>
                        </a:lnSpc>
                        <a:spcAft>
                          <a:spcPts val="0"/>
                        </a:spcAft>
                      </a:pPr>
                      <a:r>
                        <a:rPr sz="1150" b="1">
                          <a:solidFill>
                            <a:srgbClr val="FFFFFF"/>
                          </a:solidFill>
                          <a:latin typeface="Microsoft JhengHei"/>
                          <a:ea typeface="Microsoft JhengHei"/>
                        </a:rPr>
                        <a:t>收斂獲利</a:t>
                      </a:r>
                    </a:p>
                  </a:txBody>
                  <a:tcPr marT="27432" marB="27432" marL="73152" marR="73152" anchor="ctr">
                    <a:solidFill>
                      <a:srgbClr val="0B2A5B"/>
                    </a:solidFill>
                  </a:tcPr>
                </a:tc>
                <a:tc>
                  <a:txBody>
                    <a:bodyPr wrap="square"/>
                    <a:lstStyle/>
                    <a:p>
                      <a:pPr algn="l">
                        <a:lnSpc>
                          <a:spcPct val="110000"/>
                        </a:lnSpc>
                        <a:spcAft>
                          <a:spcPts val="0"/>
                        </a:spcAft>
                      </a:pPr>
                      <a:r>
                        <a:rPr sz="1150" b="1">
                          <a:solidFill>
                            <a:srgbClr val="FFFFFF"/>
                          </a:solidFill>
                          <a:latin typeface="Microsoft JhengHei"/>
                          <a:ea typeface="Microsoft JhengHei"/>
                        </a:rPr>
                        <a:t>期末強平</a:t>
                      </a:r>
                    </a:p>
                  </a:txBody>
                  <a:tcPr marT="27432" marB="27432" marL="73152" marR="73152" anchor="ctr">
                    <a:solidFill>
                      <a:srgbClr val="0B2A5B"/>
                    </a:solidFill>
                  </a:tcPr>
                </a:tc>
                <a:tc>
                  <a:txBody>
                    <a:bodyPr wrap="square"/>
                    <a:lstStyle/>
                    <a:p>
                      <a:pPr algn="l">
                        <a:lnSpc>
                          <a:spcPct val="110000"/>
                        </a:lnSpc>
                        <a:spcAft>
                          <a:spcPts val="0"/>
                        </a:spcAft>
                      </a:pPr>
                      <a:r>
                        <a:rPr sz="1150" b="1">
                          <a:solidFill>
                            <a:srgbClr val="FFFFFF"/>
                          </a:solidFill>
                          <a:latin typeface="Microsoft JhengHei"/>
                          <a:ea typeface="Microsoft JhengHei"/>
                        </a:rPr>
                        <a:t>停損</a:t>
                      </a:r>
                    </a:p>
                  </a:txBody>
                  <a:tcPr marT="27432" marB="27432" marL="73152" marR="73152" anchor="ctr">
                    <a:solidFill>
                      <a:srgbClr val="0B2A5B"/>
                    </a:solidFill>
                  </a:tcPr>
                </a:tc>
                <a:tc>
                  <a:txBody>
                    <a:bodyPr wrap="square"/>
                    <a:lstStyle/>
                    <a:p>
                      <a:pPr algn="l">
                        <a:lnSpc>
                          <a:spcPct val="110000"/>
                        </a:lnSpc>
                        <a:spcAft>
                          <a:spcPts val="0"/>
                        </a:spcAft>
                      </a:pPr>
                      <a:r>
                        <a:rPr sz="1150" b="1">
                          <a:solidFill>
                            <a:srgbClr val="FFFFFF"/>
                          </a:solidFill>
                          <a:latin typeface="Microsoft JhengHei"/>
                          <a:ea typeface="Microsoft JhengHei"/>
                        </a:rPr>
                        <a:t>淨額</a:t>
                      </a:r>
                    </a:p>
                  </a:txBody>
                  <a:tcPr marT="27432" marB="27432" marL="73152" marR="73152" anchor="ctr">
                    <a:solidFill>
                      <a:srgbClr val="0B2A5B"/>
                    </a:solidFill>
                  </a:tcPr>
                </a:tc>
                <a:tc>
                  <a:txBody>
                    <a:bodyPr wrap="square"/>
                    <a:lstStyle/>
                    <a:p>
                      <a:pPr algn="l">
                        <a:lnSpc>
                          <a:spcPct val="110000"/>
                        </a:lnSpc>
                        <a:spcAft>
                          <a:spcPts val="0"/>
                        </a:spcAft>
                      </a:pPr>
                      <a:r>
                        <a:rPr sz="1150" b="1">
                          <a:solidFill>
                            <a:srgbClr val="FFFFFF"/>
                          </a:solidFill>
                          <a:latin typeface="Microsoft JhengHei"/>
                          <a:ea typeface="Microsoft JhengHei"/>
                        </a:rPr>
                        <a:t>淨÷收斂</a:t>
                      </a:r>
                    </a:p>
                  </a:txBody>
                  <a:tcPr marT="27432" marB="27432" marL="73152" marR="73152" anchor="ctr">
                    <a:solidFill>
                      <a:srgbClr val="0B2A5B"/>
                    </a:solidFill>
                  </a:tcPr>
                </a:tc>
              </a:tr>
              <a:tr h="329184">
                <a:tc>
                  <a:txBody>
                    <a:bodyPr wrap="square"/>
                    <a:lstStyle/>
                    <a:p>
                      <a:pPr algn="l">
                        <a:lnSpc>
                          <a:spcPct val="110000"/>
                        </a:lnSpc>
                        <a:spcAft>
                          <a:spcPts val="0"/>
                        </a:spcAft>
                      </a:pPr>
                      <a:r>
                        <a:rPr sz="1200" b="0">
                          <a:solidFill>
                            <a:srgbClr val="1A1A1A"/>
                          </a:solidFill>
                          <a:latin typeface="Microsoft JhengHei"/>
                          <a:ea typeface="Microsoft JhengHei"/>
                        </a:rPr>
                        <a:t>不分組</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+21,157</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−11,454</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−7,438</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+2,266</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10.7%</a:t>
                      </a:r>
                    </a:p>
                  </a:txBody>
                  <a:tcPr marT="27432" marB="27432" marL="73152" marR="73152" anchor="ctr">
                    <a:solidFill>
                      <a:srgbClr val="FFFFFF"/>
                    </a:solidFill>
                  </a:tcPr>
                </a:tc>
              </a:tr>
              <a:tr h="329184">
                <a:tc>
                  <a:txBody>
                    <a:bodyPr wrap="square"/>
                    <a:lstStyle/>
                    <a:p>
                      <a:pPr algn="l">
                        <a:lnSpc>
                          <a:spcPct val="110000"/>
                        </a:lnSpc>
                        <a:spcAft>
                          <a:spcPts val="0"/>
                        </a:spcAft>
                      </a:pPr>
                      <a:r>
                        <a:rPr sz="1200" b="0">
                          <a:solidFill>
                            <a:srgbClr val="1A1A1A"/>
                          </a:solidFill>
                          <a:latin typeface="Microsoft JhengHei"/>
                          <a:ea typeface="Microsoft JhengHei"/>
                        </a:rPr>
                        <a:t>GICS 產業</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+17,137</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−9,679</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−6,026</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+1,431</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8.4%</a:t>
                      </a:r>
                    </a:p>
                  </a:txBody>
                  <a:tcPr marT="27432" marB="27432" marL="73152" marR="73152" anchor="ctr">
                    <a:solidFill>
                      <a:srgbClr val="E8EDF5"/>
                    </a:solidFill>
                  </a:tcPr>
                </a:tc>
              </a:tr>
              <a:tr h="329184">
                <a:tc>
                  <a:txBody>
                    <a:bodyPr wrap="square"/>
                    <a:lstStyle/>
                    <a:p>
                      <a:pPr algn="l">
                        <a:lnSpc>
                          <a:spcPct val="110000"/>
                        </a:lnSpc>
                        <a:spcAft>
                          <a:spcPts val="0"/>
                        </a:spcAft>
                      </a:pPr>
                      <a:r>
                        <a:rPr sz="1200" b="0">
                          <a:solidFill>
                            <a:srgbClr val="1A1A1A"/>
                          </a:solidFill>
                          <a:latin typeface="Microsoft JhengHei"/>
                          <a:ea typeface="Microsoft JhengHei"/>
                        </a:rPr>
                        <a:t>HDBSCAN</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+16,227</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−9,721</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−6,314</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+192</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1.2%</a:t>
                      </a:r>
                    </a:p>
                  </a:txBody>
                  <a:tcPr marT="27432" marB="27432" marL="73152" marR="73152" anchor="ctr">
                    <a:solidFill>
                      <a:srgbClr val="FFFFFF"/>
                    </a:solidFill>
                  </a:tcPr>
                </a:tc>
              </a:tr>
              <a:tr h="329184">
                <a:tc>
                  <a:txBody>
                    <a:bodyPr wrap="square"/>
                    <a:lstStyle/>
                    <a:p>
                      <a:pPr algn="l">
                        <a:lnSpc>
                          <a:spcPct val="110000"/>
                        </a:lnSpc>
                        <a:spcAft>
                          <a:spcPts val="0"/>
                        </a:spcAft>
                      </a:pPr>
                      <a:r>
                        <a:rPr sz="1200" b="0">
                          <a:solidFill>
                            <a:srgbClr val="1A1A1A"/>
                          </a:solidFill>
                          <a:latin typeface="Microsoft JhengHei"/>
                          <a:ea typeface="Microsoft JhengHei"/>
                        </a:rPr>
                        <a:t>Agglomerative</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+15,400</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−8,997</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−5,638</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+764</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5.0%</a:t>
                      </a:r>
                    </a:p>
                  </a:txBody>
                  <a:tcPr marT="27432" marB="27432" marL="73152" marR="73152" anchor="ctr">
                    <a:solidFill>
                      <a:srgbClr val="E8EDF5"/>
                    </a:solidFill>
                  </a:tcPr>
                </a:tc>
              </a:tr>
              <a:tr h="329184">
                <a:tc>
                  <a:txBody>
                    <a:bodyPr wrap="square"/>
                    <a:lstStyle/>
                    <a:p>
                      <a:pPr algn="l">
                        <a:lnSpc>
                          <a:spcPct val="110000"/>
                        </a:lnSpc>
                        <a:spcAft>
                          <a:spcPts val="0"/>
                        </a:spcAft>
                      </a:pPr>
                      <a:r>
                        <a:rPr sz="1200" b="0">
                          <a:solidFill>
                            <a:srgbClr val="1A1A1A"/>
                          </a:solidFill>
                          <a:latin typeface="Microsoft JhengHei"/>
                          <a:ea typeface="Microsoft JhengHei"/>
                        </a:rPr>
                        <a:t>K-means</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+13,049</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−8,265</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−5,679</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−895</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−6.9%</a:t>
                      </a:r>
                    </a:p>
                  </a:txBody>
                  <a:tcPr marT="27432" marB="27432" marL="73152" marR="73152" anchor="ctr">
                    <a:solidFill>
                      <a:srgbClr val="FFFFFF"/>
                    </a:solidFill>
                  </a:tcPr>
                </a:tc>
              </a:tr>
            </a:tbl>
          </a:graphicData>
        </a:graphic>
      </p:graphicFrame>
      <p:sp>
        <p:nvSpPr>
          <p:cNvPr id="9" name="Rounded Rectangle 8"/>
          <p:cNvSpPr/>
          <p:nvPr/>
        </p:nvSpPr>
        <p:spPr>
          <a:xfrm>
            <a:off x="5349240" y="4343400"/>
            <a:ext cx="6172200" cy="14173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兩股虧損合計吃掉收斂獲利的 89%–107%</a:t>
            </a:r>
          </a:p>
          <a:p>
            <a:pPr algn="l">
              <a:lnSpc>
                <a:spcPct val="125000"/>
              </a:lnSpc>
              <a:spcAft>
                <a:spcPts val="600"/>
              </a:spcAft>
            </a:pPr>
            <a:r>
              <a:rPr sz="1350" b="0">
                <a:solidFill>
                  <a:srgbClr val="1A1A1A"/>
                </a:solidFill>
                <a:latin typeface="Microsoft JhengHei"/>
                <a:ea typeface="Microsoft JhengHei"/>
              </a:rPr>
              <a:t>多數交易確實收斂獲利，但</a:t>
            </a:r>
            <a:r>
              <a:rPr sz="1350" b="1">
                <a:solidFill>
                  <a:srgbClr val="1A1A1A"/>
                </a:solidFill>
                <a:latin typeface="Microsoft JhengHei"/>
                <a:ea typeface="Microsoft JhengHei"/>
              </a:rPr>
              <a:t>期末強平</a:t>
            </a:r>
            <a:r>
              <a:rPr sz="1350" b="0">
                <a:solidFill>
                  <a:srgbClr val="1A1A1A"/>
                </a:solidFill>
                <a:latin typeface="Microsoft JhengHei"/>
                <a:ea typeface="Microsoft JhengHei"/>
              </a:rPr>
              <a:t>跟</a:t>
            </a:r>
            <a:r>
              <a:rPr sz="1350" b="1">
                <a:solidFill>
                  <a:srgbClr val="1A1A1A"/>
                </a:solidFill>
                <a:latin typeface="Microsoft JhengHei"/>
                <a:ea typeface="Microsoft JhengHei"/>
              </a:rPr>
              <a:t>停損</a:t>
            </a:r>
            <a:r>
              <a:rPr sz="1350" b="0">
                <a:solidFill>
                  <a:srgbClr val="1A1A1A"/>
                </a:solidFill>
                <a:latin typeface="Microsoft JhengHei"/>
                <a:ea typeface="Microsoft JhengHei"/>
              </a:rPr>
              <a:t>把它吃到幾乎不剩。</a:t>
            </a:r>
            <a:r>
              <a:rPr sz="1350" b="0">
                <a:solidFill>
                  <a:srgbClr val="6B7280"/>
                </a:solidFill>
                <a:latin typeface="Microsoft JhengHei"/>
                <a:ea typeface="Microsoft JhengHei"/>
              </a:rPr>
              <a:t>（前一版漏算停損這一股，把淨額高估了約六倍，已更正。）</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第五部分 · 能不能賺錢　｜　§5.2.1–5.2.2</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期末強平的配對，不是「還沒回來」，是「回不來了」</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51</a:t>
            </a:r>
          </a:p>
        </p:txBody>
      </p:sp>
      <p:graphicFrame>
        <p:nvGraphicFramePr>
          <p:cNvPr id="5" name="Table 4"/>
          <p:cNvGraphicFramePr>
            <a:graphicFrameLocks noGrp="1"/>
          </p:cNvGraphicFramePr>
          <p:nvPr/>
        </p:nvGraphicFramePr>
        <p:xfrm>
          <a:off x="640080" y="1737360"/>
          <a:ext cx="7223760" cy="841248"/>
        </p:xfrm>
        <a:graphic>
          <a:graphicData uri="http://schemas.openxmlformats.org/drawingml/2006/table">
            <a:tbl>
              <a:tblPr firstRow="1" bandRow="1">
                <a:tableStyleId>{5C22544A-7EE6-4342-B048-85BDC9FD1C3A}</a:tableStyleId>
              </a:tblPr>
              <a:tblGrid>
                <a:gridCol w="2286000"/>
                <a:gridCol w="1188720"/>
                <a:gridCol w="1188720"/>
                <a:gridCol w="1188720"/>
                <a:gridCol w="1371600"/>
              </a:tblGrid>
              <a:tr h="420624">
                <a:tc>
                  <a:txBody>
                    <a:bodyPr wrap="square"/>
                    <a:lstStyle/>
                    <a:p>
                      <a:pPr algn="l">
                        <a:lnSpc>
                          <a:spcPct val="110000"/>
                        </a:lnSpc>
                        <a:spcAft>
                          <a:spcPts val="0"/>
                        </a:spcAft>
                      </a:pPr>
                      <a:r>
                        <a:rPr sz="1500" b="1">
                          <a:solidFill>
                            <a:srgbClr val="FFFFFF"/>
                          </a:solidFill>
                          <a:latin typeface="Microsoft JhengHei"/>
                          <a:ea typeface="Microsoft JhengHei"/>
                        </a:rPr>
                        <a:t>往後再追蹤</a:t>
                      </a:r>
                    </a:p>
                  </a:txBody>
                  <a:tcPr marT="27432" marB="27432" marL="73152" marR="73152" anchor="ctr">
                    <a:solidFill>
                      <a:srgbClr val="0B2A5B"/>
                    </a:solidFill>
                  </a:tcPr>
                </a:tc>
                <a:tc>
                  <a:txBody>
                    <a:bodyPr wrap="square"/>
                    <a:lstStyle/>
                    <a:p>
                      <a:pPr algn="l">
                        <a:lnSpc>
                          <a:spcPct val="110000"/>
                        </a:lnSpc>
                        <a:spcAft>
                          <a:spcPts val="0"/>
                        </a:spcAft>
                      </a:pPr>
                      <a:r>
                        <a:rPr sz="1500" b="1">
                          <a:solidFill>
                            <a:srgbClr val="FFFFFF"/>
                          </a:solidFill>
                          <a:latin typeface="Microsoft JhengHei"/>
                          <a:ea typeface="Microsoft JhengHei"/>
                        </a:rPr>
                        <a:t>21 日</a:t>
                      </a:r>
                    </a:p>
                  </a:txBody>
                  <a:tcPr marT="27432" marB="27432" marL="73152" marR="73152" anchor="ctr">
                    <a:solidFill>
                      <a:srgbClr val="0B2A5B"/>
                    </a:solidFill>
                  </a:tcPr>
                </a:tc>
                <a:tc>
                  <a:txBody>
                    <a:bodyPr wrap="square"/>
                    <a:lstStyle/>
                    <a:p>
                      <a:pPr algn="l">
                        <a:lnSpc>
                          <a:spcPct val="110000"/>
                        </a:lnSpc>
                        <a:spcAft>
                          <a:spcPts val="0"/>
                        </a:spcAft>
                      </a:pPr>
                      <a:r>
                        <a:rPr sz="1500" b="1">
                          <a:solidFill>
                            <a:srgbClr val="FFFFFF"/>
                          </a:solidFill>
                          <a:latin typeface="Microsoft JhengHei"/>
                          <a:ea typeface="Microsoft JhengHei"/>
                        </a:rPr>
                        <a:t>42 日</a:t>
                      </a:r>
                    </a:p>
                  </a:txBody>
                  <a:tcPr marT="27432" marB="27432" marL="73152" marR="73152" anchor="ctr">
                    <a:solidFill>
                      <a:srgbClr val="0B2A5B"/>
                    </a:solidFill>
                  </a:tcPr>
                </a:tc>
                <a:tc>
                  <a:txBody>
                    <a:bodyPr wrap="square"/>
                    <a:lstStyle/>
                    <a:p>
                      <a:pPr algn="l">
                        <a:lnSpc>
                          <a:spcPct val="110000"/>
                        </a:lnSpc>
                        <a:spcAft>
                          <a:spcPts val="0"/>
                        </a:spcAft>
                      </a:pPr>
                      <a:r>
                        <a:rPr sz="1500" b="1">
                          <a:solidFill>
                            <a:srgbClr val="FFFFFF"/>
                          </a:solidFill>
                          <a:latin typeface="Microsoft JhengHei"/>
                          <a:ea typeface="Microsoft JhengHei"/>
                        </a:rPr>
                        <a:t>63 日</a:t>
                      </a:r>
                    </a:p>
                  </a:txBody>
                  <a:tcPr marT="27432" marB="27432" marL="73152" marR="73152" anchor="ctr">
                    <a:solidFill>
                      <a:srgbClr val="0B2A5B"/>
                    </a:solidFill>
                  </a:tcPr>
                </a:tc>
                <a:tc>
                  <a:txBody>
                    <a:bodyPr wrap="square"/>
                    <a:lstStyle/>
                    <a:p>
                      <a:pPr algn="l">
                        <a:lnSpc>
                          <a:spcPct val="110000"/>
                        </a:lnSpc>
                        <a:spcAft>
                          <a:spcPts val="0"/>
                        </a:spcAft>
                      </a:pPr>
                      <a:r>
                        <a:rPr sz="1500" b="1">
                          <a:solidFill>
                            <a:srgbClr val="FFFFFF"/>
                          </a:solidFill>
                          <a:latin typeface="Microsoft JhengHei"/>
                          <a:ea typeface="Microsoft JhengHei"/>
                        </a:rPr>
                        <a:t>126 日</a:t>
                      </a:r>
                    </a:p>
                  </a:txBody>
                  <a:tcPr marT="27432" marB="27432" marL="73152" marR="73152" anchor="ctr">
                    <a:solidFill>
                      <a:srgbClr val="0B2A5B"/>
                    </a:solidFill>
                  </a:tcPr>
                </a:tc>
              </a:tr>
              <a:tr h="420624">
                <a:tc>
                  <a:txBody>
                    <a:bodyPr wrap="square"/>
                    <a:lstStyle/>
                    <a:p>
                      <a:pPr algn="l">
                        <a:lnSpc>
                          <a:spcPct val="110000"/>
                        </a:lnSpc>
                        <a:spcAft>
                          <a:spcPts val="0"/>
                        </a:spcAft>
                      </a:pPr>
                      <a:r>
                        <a:rPr sz="1500" b="0">
                          <a:solidFill>
                            <a:srgbClr val="1A1A1A"/>
                          </a:solidFill>
                          <a:latin typeface="Microsoft JhengHei"/>
                          <a:ea typeface="Microsoft JhengHei"/>
                        </a:rPr>
                        <a:t>累計回歸比例</a:t>
                      </a:r>
                    </a:p>
                  </a:txBody>
                  <a:tcPr marT="27432" marB="27432" marL="73152" marR="73152" anchor="ctr">
                    <a:solidFill>
                      <a:srgbClr val="FFFFFF"/>
                    </a:solidFill>
                  </a:tcPr>
                </a:tc>
                <a:tc>
                  <a:txBody>
                    <a:bodyPr wrap="square"/>
                    <a:lstStyle/>
                    <a:p>
                      <a:pPr algn="r">
                        <a:lnSpc>
                          <a:spcPct val="110000"/>
                        </a:lnSpc>
                        <a:spcAft>
                          <a:spcPts val="0"/>
                        </a:spcAft>
                      </a:pPr>
                      <a:r>
                        <a:rPr sz="1500" b="0">
                          <a:solidFill>
                            <a:srgbClr val="1A1A1A"/>
                          </a:solidFill>
                          <a:latin typeface="Microsoft JhengHei"/>
                          <a:ea typeface="Microsoft JhengHei"/>
                        </a:rPr>
                        <a:t>17.5%</a:t>
                      </a:r>
                    </a:p>
                  </a:txBody>
                  <a:tcPr marT="27432" marB="27432" marL="73152" marR="73152" anchor="ctr">
                    <a:solidFill>
                      <a:srgbClr val="FFFFFF"/>
                    </a:solidFill>
                  </a:tcPr>
                </a:tc>
                <a:tc>
                  <a:txBody>
                    <a:bodyPr wrap="square"/>
                    <a:lstStyle/>
                    <a:p>
                      <a:pPr algn="r">
                        <a:lnSpc>
                          <a:spcPct val="110000"/>
                        </a:lnSpc>
                        <a:spcAft>
                          <a:spcPts val="0"/>
                        </a:spcAft>
                      </a:pPr>
                      <a:r>
                        <a:rPr sz="1500" b="0">
                          <a:solidFill>
                            <a:srgbClr val="1A1A1A"/>
                          </a:solidFill>
                          <a:latin typeface="Microsoft JhengHei"/>
                          <a:ea typeface="Microsoft JhengHei"/>
                        </a:rPr>
                        <a:t>25.7%</a:t>
                      </a:r>
                    </a:p>
                  </a:txBody>
                  <a:tcPr marT="27432" marB="27432" marL="73152" marR="73152" anchor="ctr">
                    <a:solidFill>
                      <a:srgbClr val="FFFFFF"/>
                    </a:solidFill>
                  </a:tcPr>
                </a:tc>
                <a:tc>
                  <a:txBody>
                    <a:bodyPr wrap="square"/>
                    <a:lstStyle/>
                    <a:p>
                      <a:pPr algn="r">
                        <a:lnSpc>
                          <a:spcPct val="110000"/>
                        </a:lnSpc>
                        <a:spcAft>
                          <a:spcPts val="0"/>
                        </a:spcAft>
                      </a:pPr>
                      <a:r>
                        <a:rPr sz="1500" b="0">
                          <a:solidFill>
                            <a:srgbClr val="1A1A1A"/>
                          </a:solidFill>
                          <a:latin typeface="Microsoft JhengHei"/>
                          <a:ea typeface="Microsoft JhengHei"/>
                        </a:rPr>
                        <a:t>33.2%</a:t>
                      </a:r>
                    </a:p>
                  </a:txBody>
                  <a:tcPr marT="27432" marB="27432" marL="73152" marR="73152" anchor="ctr">
                    <a:solidFill>
                      <a:srgbClr val="FFFFFF"/>
                    </a:solidFill>
                  </a:tcPr>
                </a:tc>
                <a:tc>
                  <a:txBody>
                    <a:bodyPr wrap="square"/>
                    <a:lstStyle/>
                    <a:p>
                      <a:pPr algn="r">
                        <a:lnSpc>
                          <a:spcPct val="110000"/>
                        </a:lnSpc>
                        <a:spcAft>
                          <a:spcPts val="0"/>
                        </a:spcAft>
                      </a:pPr>
                      <a:r>
                        <a:rPr sz="1500" b="1">
                          <a:solidFill>
                            <a:srgbClr val="1A1A1A"/>
                          </a:solidFill>
                          <a:latin typeface="Microsoft JhengHei"/>
                          <a:ea typeface="Microsoft JhengHei"/>
                        </a:rPr>
                        <a:t>45.4%</a:t>
                      </a:r>
                    </a:p>
                  </a:txBody>
                  <a:tcPr marT="27432" marB="27432" marL="73152" marR="73152" anchor="ctr">
                    <a:solidFill>
                      <a:srgbClr val="FFFFFF"/>
                    </a:solidFill>
                  </a:tcPr>
                </a:tc>
              </a:tr>
            </a:tbl>
          </a:graphicData>
        </a:graphic>
      </p:graphicFrame>
      <p:sp>
        <p:nvSpPr>
          <p:cNvPr id="6" name="TextBox 5"/>
          <p:cNvSpPr txBox="1"/>
          <p:nvPr/>
        </p:nvSpPr>
        <p:spPr>
          <a:xfrm>
            <a:off x="640080" y="2697480"/>
            <a:ext cx="7863840" cy="1280160"/>
          </a:xfrm>
          <a:prstGeom prst="rect">
            <a:avLst/>
          </a:prstGeom>
          <a:noFill/>
        </p:spPr>
        <p:txBody>
          <a:bodyPr wrap="square" lIns="0" rIns="0" tIns="0" bIns="0" anchor="t">
            <a:spAutoFit/>
          </a:bodyPr>
          <a:lstStyle/>
          <a:p>
            <a:pPr algn="l">
              <a:lnSpc>
                <a:spcPct val="125000"/>
              </a:lnSpc>
              <a:spcAft>
                <a:spcPts val="600"/>
              </a:spcAft>
            </a:pPr>
            <a:r>
              <a:rPr sz="1450" b="0">
                <a:solidFill>
                  <a:srgbClr val="1A1A1A"/>
                </a:solidFill>
                <a:latin typeface="Microsoft JhengHei"/>
                <a:ea typeface="Microsoft JhengHei"/>
              </a:rPr>
              <a:t>取 3,107 筆期末強平的交易（Top1／無停損），往後再給一整個交易期：</a:t>
            </a:r>
          </a:p>
          <a:p>
            <a:pPr algn="l">
              <a:lnSpc>
                <a:spcPct val="125000"/>
              </a:lnSpc>
              <a:spcAft>
                <a:spcPts val="600"/>
              </a:spcAft>
            </a:pPr>
            <a:r>
              <a:rPr sz="1450" b="0">
                <a:solidFill>
                  <a:srgbClr val="1A1A1A"/>
                </a:solidFill>
                <a:latin typeface="Microsoft JhengHei"/>
                <a:ea typeface="Microsoft JhengHei"/>
              </a:rPr>
              <a:t>平倉時 |z| 中位 </a:t>
            </a:r>
            <a:r>
              <a:rPr sz="1450" b="1">
                <a:solidFill>
                  <a:srgbClr val="1A1A1A"/>
                </a:solidFill>
                <a:latin typeface="Microsoft JhengHei"/>
                <a:ea typeface="Microsoft JhengHei"/>
              </a:rPr>
              <a:t>3.51</a:t>
            </a:r>
            <a:r>
              <a:rPr sz="1450" b="0">
                <a:solidFill>
                  <a:srgbClr val="1A1A1A"/>
                </a:solidFill>
                <a:latin typeface="Microsoft JhengHei"/>
                <a:ea typeface="Microsoft JhengHei"/>
              </a:rPr>
              <a:t>；再給 126 天，</a:t>
            </a:r>
            <a:r>
              <a:rPr sz="1450" b="1">
                <a:solidFill>
                  <a:srgbClr val="1A1A1A"/>
                </a:solidFill>
                <a:latin typeface="Microsoft JhengHei"/>
                <a:ea typeface="Microsoft JhengHei"/>
              </a:rPr>
              <a:t>只有 45.4% 回歸</a:t>
            </a:r>
            <a:r>
              <a:rPr sz="1450" b="0">
                <a:solidFill>
                  <a:srgbClr val="1A1A1A"/>
                </a:solidFill>
                <a:latin typeface="Microsoft JhengHei"/>
                <a:ea typeface="Microsoft JhengHei"/>
              </a:rPr>
              <a:t>；沒回歸的 54.6%，|z| 從 4.57 </a:t>
            </a:r>
            <a:r>
              <a:rPr sz="1450" b="1">
                <a:solidFill>
                  <a:srgbClr val="1A1A1A"/>
                </a:solidFill>
                <a:latin typeface="Microsoft JhengHei"/>
                <a:ea typeface="Microsoft JhengHei"/>
              </a:rPr>
              <a:t>繼續擴大到 6.82</a:t>
            </a:r>
            <a:r>
              <a:rPr sz="1450" b="0">
                <a:solidFill>
                  <a:srgbClr val="1A1A1A"/>
                </a:solidFill>
                <a:latin typeface="Microsoft JhengHei"/>
                <a:ea typeface="Microsoft JhengHei"/>
              </a:rPr>
              <a:t>。</a:t>
            </a:r>
          </a:p>
        </p:txBody>
      </p:sp>
      <p:sp>
        <p:nvSpPr>
          <p:cNvPr id="7" name="Rounded Rectangle 6"/>
          <p:cNvSpPr/>
          <p:nvPr/>
        </p:nvSpPr>
        <p:spPr>
          <a:xfrm>
            <a:off x="8412480" y="1737360"/>
            <a:ext cx="3108960" cy="22402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所以延長交易期沒用</a:t>
            </a:r>
          </a:p>
          <a:p>
            <a:pPr algn="l">
              <a:lnSpc>
                <a:spcPct val="125000"/>
              </a:lnSpc>
              <a:spcAft>
                <a:spcPts val="600"/>
              </a:spcAft>
            </a:pPr>
            <a:r>
              <a:rPr sz="1350" b="0">
                <a:solidFill>
                  <a:srgbClr val="1A1A1A"/>
                </a:solidFill>
                <a:latin typeface="Microsoft JhengHei"/>
                <a:ea typeface="Microsoft JhengHei"/>
              </a:rPr>
              <a:t>四成五轉為獲利、五成五虧更多，還多佔用資金 126 天。</a:t>
            </a:r>
          </a:p>
          <a:p>
            <a:pPr algn="l">
              <a:lnSpc>
                <a:spcPct val="125000"/>
              </a:lnSpc>
              <a:spcAft>
                <a:spcPts val="600"/>
              </a:spcAft>
            </a:pPr>
            <a:r>
              <a:rPr sz="1250" b="0">
                <a:solidFill>
                  <a:srgbClr val="6B7280"/>
                </a:solidFill>
                <a:latin typeface="Microsoft JhengHei"/>
                <a:ea typeface="Microsoft JhengHei"/>
              </a:rPr>
              <a:t>三項針對它的改良都被否證（附錄 C）。</a:t>
            </a:r>
          </a:p>
        </p:txBody>
      </p:sp>
      <p:sp>
        <p:nvSpPr>
          <p:cNvPr id="8" name="Rounded Rectangle 7"/>
          <p:cNvSpPr/>
          <p:nvPr/>
        </p:nvSpPr>
        <p:spPr>
          <a:xfrm>
            <a:off x="640080" y="4206240"/>
            <a:ext cx="10881360" cy="15544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強平率越高、績效越差——但有一個一定要避開的陷阱</a:t>
            </a:r>
          </a:p>
          <a:p>
            <a:pPr algn="l">
              <a:lnSpc>
                <a:spcPct val="125000"/>
              </a:lnSpc>
              <a:spcAft>
                <a:spcPts val="600"/>
              </a:spcAft>
            </a:pPr>
            <a:r>
              <a:rPr sz="1350" b="0">
                <a:solidFill>
                  <a:srgbClr val="1A1A1A"/>
                </a:solidFill>
                <a:latin typeface="Microsoft JhengHei"/>
                <a:ea typeface="Microsoft JhengHei"/>
              </a:rPr>
              <a:t>逐臂：Pearson r ＝ </a:t>
            </a:r>
            <a:r>
              <a:rPr sz="1350" b="1">
                <a:solidFill>
                  <a:srgbClr val="1A1A1A"/>
                </a:solidFill>
                <a:latin typeface="Microsoft JhengHei"/>
                <a:ea typeface="Microsoft JhengHei"/>
              </a:rPr>
              <a:t>−0.819</a:t>
            </a:r>
            <a:r>
              <a:rPr sz="1350" b="0">
                <a:solidFill>
                  <a:srgbClr val="1A1A1A"/>
                </a:solidFill>
                <a:latin typeface="Microsoft JhengHei"/>
                <a:ea typeface="Microsoft JhengHei"/>
              </a:rPr>
              <a:t>（p ＝ 0.0002）；逐配置內跨 15 臂：</a:t>
            </a:r>
            <a:r>
              <a:rPr sz="1350" b="1">
                <a:solidFill>
                  <a:srgbClr val="1A1A1A"/>
                </a:solidFill>
                <a:latin typeface="Microsoft JhengHei"/>
                <a:ea typeface="Microsoft JhengHei"/>
              </a:rPr>
              <a:t>15 個配置中 15 個為負</a:t>
            </a:r>
            <a:r>
              <a:rPr sz="1350" b="0">
                <a:solidFill>
                  <a:srgbClr val="1A1A1A"/>
                </a:solidFill>
                <a:latin typeface="Microsoft JhengHei"/>
                <a:ea typeface="Microsoft JhengHei"/>
              </a:rPr>
              <a:t>。</a:t>
            </a:r>
          </a:p>
          <a:p>
            <a:pPr algn="l">
              <a:lnSpc>
                <a:spcPct val="125000"/>
              </a:lnSpc>
              <a:spcAft>
                <a:spcPts val="600"/>
              </a:spcAft>
            </a:pPr>
            <a:r>
              <a:rPr sz="1350" b="0">
                <a:solidFill>
                  <a:srgbClr val="1A1A1A"/>
                </a:solidFill>
                <a:latin typeface="Microsoft JhengHei"/>
                <a:ea typeface="Microsoft JhengHei"/>
              </a:rPr>
              <a:t>但如果把 225 個配置混在一起算，r 會變成 </a:t>
            </a:r>
            <a:r>
              <a:rPr sz="1350" b="1">
                <a:solidFill>
                  <a:srgbClr val="1A1A1A"/>
                </a:solidFill>
                <a:latin typeface="Microsoft JhengHei"/>
                <a:ea typeface="Microsoft JhengHei"/>
              </a:rPr>
              <a:t>+0.483</a:t>
            </a:r>
            <a:r>
              <a:rPr sz="1350" b="0">
                <a:solidFill>
                  <a:srgbClr val="1A1A1A"/>
                </a:solidFill>
                <a:latin typeface="Microsoft JhengHei"/>
                <a:ea typeface="Microsoft JhengHei"/>
              </a:rPr>
              <a:t>——符號相反。這是停損維度造成的 </a:t>
            </a:r>
            <a:r>
              <a:rPr sz="1350" b="1">
                <a:solidFill>
                  <a:srgbClr val="1A1A1A"/>
                </a:solidFill>
                <a:latin typeface="Microsoft JhengHei"/>
                <a:ea typeface="Microsoft JhengHei"/>
              </a:rPr>
              <a:t>Simpson 悖論</a:t>
            </a:r>
            <a:r>
              <a:rPr sz="1350" b="0">
                <a:solidFill>
                  <a:srgbClr val="1A1A1A"/>
                </a:solidFill>
                <a:latin typeface="Microsoft JhengHei"/>
                <a:ea typeface="Microsoft JhengHei"/>
              </a:rPr>
              <a:t>：停損越緊，強平率越低、績效卻越差。必須逐配置比較。</a:t>
            </a:r>
            <a:r>
              <a:rPr sz="1350" b="0">
                <a:solidFill>
                  <a:srgbClr val="6B7280"/>
                </a:solidFill>
                <a:latin typeface="Microsoft JhengHei"/>
                <a:ea typeface="Microsoft JhengHei"/>
              </a:rPr>
              <a:t>（相關非因果；15 臂不獨立。）</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第五部分 · 能不能賺錢　｜　§5.3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哪種分組比較好？老實說：只能描述，不能檢定</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52</a:t>
            </a:r>
          </a:p>
        </p:txBody>
      </p:sp>
      <p:graphicFrame>
        <p:nvGraphicFramePr>
          <p:cNvPr id="5" name="Table 4"/>
          <p:cNvGraphicFramePr>
            <a:graphicFrameLocks noGrp="1"/>
          </p:cNvGraphicFramePr>
          <p:nvPr/>
        </p:nvGraphicFramePr>
        <p:xfrm>
          <a:off x="640080" y="1691640"/>
          <a:ext cx="7406640" cy="2194560"/>
        </p:xfrm>
        <a:graphic>
          <a:graphicData uri="http://schemas.openxmlformats.org/drawingml/2006/table">
            <a:tbl>
              <a:tblPr firstRow="1" bandRow="1">
                <a:tableStyleId>{5C22544A-7EE6-4342-B048-85BDC9FD1C3A}</a:tableStyleId>
              </a:tblPr>
              <a:tblGrid>
                <a:gridCol w="2011680"/>
                <a:gridCol w="1325880"/>
                <a:gridCol w="1417320"/>
                <a:gridCol w="1325880"/>
                <a:gridCol w="1325880"/>
              </a:tblGrid>
              <a:tr h="365760">
                <a:tc>
                  <a:txBody>
                    <a:bodyPr wrap="square"/>
                    <a:lstStyle/>
                    <a:p>
                      <a:pPr algn="l">
                        <a:lnSpc>
                          <a:spcPct val="110000"/>
                        </a:lnSpc>
                        <a:spcAft>
                          <a:spcPts val="0"/>
                        </a:spcAft>
                      </a:pPr>
                      <a:r>
                        <a:rPr sz="1350" b="1">
                          <a:solidFill>
                            <a:srgbClr val="FFFFFF"/>
                          </a:solidFill>
                          <a:latin typeface="Microsoft JhengHei"/>
                          <a:ea typeface="Microsoft JhengHei"/>
                        </a:rPr>
                        <a:t>分組方式</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排除標的</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期末強平率</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平均 Sharpe</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等權年化</a:t>
                      </a:r>
                    </a:p>
                  </a:txBody>
                  <a:tcPr marT="27432" marB="27432" marL="73152" marR="73152" anchor="ctr">
                    <a:solidFill>
                      <a:srgbClr val="0B2A5B"/>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不分組</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33.5%</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+0.109</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+0.676%</a:t>
                      </a:r>
                    </a:p>
                  </a:txBody>
                  <a:tcPr marT="27432" marB="27432" marL="73152" marR="73152" anchor="ctr">
                    <a:solidFill>
                      <a:srgbClr val="FFFFFF"/>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GICS 產業</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15.1%</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36.1%</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+0.062</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+0.461%</a:t>
                      </a:r>
                    </a:p>
                  </a:txBody>
                  <a:tcPr marT="27432" marB="27432" marL="73152" marR="73152" anchor="ctr">
                    <a:solidFill>
                      <a:srgbClr val="E8EDF5"/>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HDBSCAN</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26.4%</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36.7%</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−0.053</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+0.019%</a:t>
                      </a:r>
                    </a:p>
                  </a:txBody>
                  <a:tcPr marT="27432" marB="27432" marL="73152" marR="73152" anchor="ctr">
                    <a:solidFill>
                      <a:srgbClr val="FFFFFF"/>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Agglomerative</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35.3%</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37.9%</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+0.010</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+0.236%</a:t>
                      </a:r>
                    </a:p>
                  </a:txBody>
                  <a:tcPr marT="27432" marB="27432" marL="73152" marR="73152" anchor="ctr">
                    <a:solidFill>
                      <a:srgbClr val="E8EDF5"/>
                    </a:solidFill>
                  </a:tcPr>
                </a:tc>
              </a:tr>
              <a:tr h="365760">
                <a:tc>
                  <a:txBody>
                    <a:bodyPr wrap="square"/>
                    <a:lstStyle/>
                    <a:p>
                      <a:pPr algn="l">
                        <a:lnSpc>
                          <a:spcPct val="110000"/>
                        </a:lnSpc>
                        <a:spcAft>
                          <a:spcPts val="0"/>
                        </a:spcAft>
                      </a:pPr>
                      <a:r>
                        <a:rPr sz="1350" b="0">
                          <a:solidFill>
                            <a:srgbClr val="1A1A1A"/>
                          </a:solidFill>
                          <a:latin typeface="Microsoft JhengHei"/>
                          <a:ea typeface="Microsoft JhengHei"/>
                        </a:rPr>
                        <a:t>K-means</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42.0%</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39.0%</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−0.179</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−0.386%</a:t>
                      </a:r>
                    </a:p>
                  </a:txBody>
                  <a:tcPr marT="27432" marB="27432" marL="73152" marR="73152" anchor="ctr">
                    <a:solidFill>
                      <a:srgbClr val="FFFFFF"/>
                    </a:solidFill>
                  </a:tcPr>
                </a:tc>
              </a:tr>
            </a:tbl>
          </a:graphicData>
        </a:graphic>
      </p:graphicFrame>
      <p:sp>
        <p:nvSpPr>
          <p:cNvPr id="6" name="TextBox 5"/>
          <p:cNvSpPr txBox="1"/>
          <p:nvPr/>
        </p:nvSpPr>
        <p:spPr>
          <a:xfrm>
            <a:off x="640080" y="4069080"/>
            <a:ext cx="7498079" cy="822960"/>
          </a:xfrm>
          <a:prstGeom prst="rect">
            <a:avLst/>
          </a:prstGeom>
          <a:noFill/>
        </p:spPr>
        <p:txBody>
          <a:bodyPr wrap="square" lIns="0" rIns="0" tIns="0" bIns="0" anchor="t">
            <a:spAutoFit/>
          </a:bodyPr>
          <a:lstStyle/>
          <a:p>
            <a:pPr algn="l">
              <a:lnSpc>
                <a:spcPct val="125000"/>
              </a:lnSpc>
              <a:spcAft>
                <a:spcPts val="600"/>
              </a:spcAft>
            </a:pPr>
            <a:r>
              <a:rPr sz="1400" b="0">
                <a:solidFill>
                  <a:srgbClr val="1A1A1A"/>
                </a:solidFill>
                <a:latin typeface="Microsoft JhengHei"/>
                <a:ea typeface="Microsoft JhengHei"/>
              </a:rPr>
              <a:t>趨勢：排除越多、強平越多、績效越差——</a:t>
            </a:r>
            <a:r>
              <a:rPr sz="1400" b="1">
                <a:solidFill>
                  <a:srgbClr val="1A1A1A"/>
                </a:solidFill>
                <a:latin typeface="Microsoft JhengHei"/>
                <a:ea typeface="Microsoft JhengHei"/>
              </a:rPr>
              <a:t>但不是嚴格單調</a:t>
            </a:r>
            <a:r>
              <a:rPr sz="1400" b="0">
                <a:solidFill>
                  <a:srgbClr val="1A1A1A"/>
                </a:solidFill>
                <a:latin typeface="Microsoft JhengHei"/>
                <a:ea typeface="Microsoft JhengHei"/>
              </a:rPr>
              <a:t>（Agglomerative 排除得比 HDBSCAN 多，表現卻比較好）。所以是趨勢，不是定律。</a:t>
            </a:r>
          </a:p>
        </p:txBody>
      </p:sp>
      <p:sp>
        <p:nvSpPr>
          <p:cNvPr id="7" name="Rounded Rectangle 6"/>
          <p:cNvSpPr/>
          <p:nvPr/>
        </p:nvSpPr>
        <p:spPr>
          <a:xfrm>
            <a:off x="8183879" y="1691640"/>
            <a:ext cx="3337560" cy="40690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為什麼只能描述？</a:t>
            </a:r>
          </a:p>
          <a:p>
            <a:pPr algn="l">
              <a:lnSpc>
                <a:spcPct val="125000"/>
              </a:lnSpc>
              <a:spcAft>
                <a:spcPts val="600"/>
              </a:spcAft>
            </a:pPr>
            <a:r>
              <a:rPr sz="1300" b="0">
                <a:solidFill>
                  <a:srgbClr val="1A1A1A"/>
                </a:solidFill>
                <a:latin typeface="Microsoft JhengHei"/>
                <a:ea typeface="Microsoft JhengHei"/>
              </a:rPr>
              <a:t>形成期層的檢定，</a:t>
            </a:r>
            <a:r>
              <a:rPr sz="1300" b="1">
                <a:solidFill>
                  <a:srgbClr val="1A1A1A"/>
                </a:solidFill>
                <a:latin typeface="Microsoft JhengHei"/>
                <a:ea typeface="Microsoft JhengHei"/>
              </a:rPr>
              <a:t>最小可偵測效果 1.14%</a:t>
            </a:r>
            <a:r>
              <a:rPr sz="1300" b="0">
                <a:solidFill>
                  <a:srgbClr val="1A1A1A"/>
                </a:solidFill>
                <a:latin typeface="Microsoft JhengHei"/>
                <a:ea typeface="Microsoft JhengHei"/>
              </a:rPr>
              <a:t>，比參照臂自己的績效（0.461%）還大——對 0.3% 的真實效果，</a:t>
            </a:r>
            <a:r>
              <a:rPr sz="1300" b="1">
                <a:solidFill>
                  <a:srgbClr val="1A1A1A"/>
                </a:solidFill>
                <a:latin typeface="Microsoft JhengHei"/>
                <a:ea typeface="Microsoft JhengHei"/>
              </a:rPr>
              <a:t>檢定力只有 11%</a:t>
            </a:r>
            <a:r>
              <a:rPr sz="1300" b="0">
                <a:solidFill>
                  <a:srgbClr val="1A1A1A"/>
                </a:solidFill>
                <a:latin typeface="Microsoft JhengHei"/>
                <a:ea typeface="Microsoft JhengHei"/>
              </a:rPr>
              <a:t>。</a:t>
            </a:r>
          </a:p>
          <a:p>
            <a:pPr algn="l">
              <a:lnSpc>
                <a:spcPct val="125000"/>
              </a:lnSpc>
              <a:spcAft>
                <a:spcPts val="600"/>
              </a:spcAft>
            </a:pPr>
            <a:r>
              <a:rPr sz="1300" b="0">
                <a:solidFill>
                  <a:srgbClr val="1A1A1A"/>
                </a:solidFill>
                <a:latin typeface="Microsoft JhengHei"/>
                <a:ea typeface="Microsoft JhengHei"/>
              </a:rPr>
              <a:t>原因是結構性的：兩臂持有</a:t>
            </a:r>
            <a:r>
              <a:rPr sz="1300" b="1">
                <a:solidFill>
                  <a:srgbClr val="1A1A1A"/>
                </a:solidFill>
                <a:latin typeface="Microsoft JhengHei"/>
                <a:ea typeface="Microsoft JhengHei"/>
              </a:rPr>
              <a:t>不同的配對</a:t>
            </a:r>
            <a:r>
              <a:rPr sz="1300" b="0">
                <a:solidFill>
                  <a:srgbClr val="1A1A1A"/>
                </a:solidFill>
                <a:latin typeface="Microsoft JhengHei"/>
                <a:ea typeface="Microsoft JhengHei"/>
              </a:rPr>
              <a:t>，標準誤是交易期層的 1.83 倍；要把可偵測效果壓到 0.3%，需要約 </a:t>
            </a:r>
            <a:r>
              <a:rPr sz="1300" b="1">
                <a:solidFill>
                  <a:srgbClr val="1A1A1A"/>
                </a:solidFill>
                <a:latin typeface="Microsoft JhengHei"/>
                <a:ea typeface="Microsoft JhengHei"/>
              </a:rPr>
              <a:t>14.5 倍樣本</a:t>
            </a:r>
            <a:r>
              <a:rPr sz="1300" b="0">
                <a:solidFill>
                  <a:srgbClr val="1A1A1A"/>
                </a:solidFill>
                <a:latin typeface="Microsoft JhengHei"/>
                <a:ea typeface="Microsoft JhengHei"/>
              </a:rPr>
              <a:t>——三個半世紀的日資料。</a:t>
            </a:r>
          </a:p>
        </p:txBody>
      </p:sp>
      <p:sp>
        <p:nvSpPr>
          <p:cNvPr id="8" name="TextBox 7"/>
          <p:cNvSpPr txBox="1"/>
          <p:nvPr/>
        </p:nvSpPr>
        <p:spPr>
          <a:xfrm>
            <a:off x="640080" y="4983480"/>
            <a:ext cx="7498079" cy="82296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早期版本做過 9 組直接對照：9/9 方向偏 GICS、校正後 0/9 顯著。把這一節從「結論」降成「描述」，是我最不情願、但最必要的決定。</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第五部分 · 能不能賺錢　｜　§5.4</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研究限制（依對結論的影響排序）</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53</a:t>
            </a:r>
          </a:p>
        </p:txBody>
      </p:sp>
      <p:sp>
        <p:nvSpPr>
          <p:cNvPr id="5" name="TextBox 4"/>
          <p:cNvSpPr txBox="1"/>
          <p:nvPr/>
        </p:nvSpPr>
        <p:spPr>
          <a:xfrm>
            <a:off x="640080" y="1691640"/>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一</a:t>
            </a:r>
          </a:p>
        </p:txBody>
      </p:sp>
      <p:sp>
        <p:nvSpPr>
          <p:cNvPr id="6" name="TextBox 5"/>
          <p:cNvSpPr txBox="1"/>
          <p:nvPr/>
        </p:nvSpPr>
        <p:spPr>
          <a:xfrm>
            <a:off x="1207007" y="1691640"/>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消融範圍窄</a:t>
            </a:r>
          </a:p>
          <a:p>
            <a:pPr algn="l">
              <a:lnSpc>
                <a:spcPct val="125000"/>
              </a:lnSpc>
              <a:spcAft>
                <a:spcPts val="100"/>
              </a:spcAft>
            </a:pPr>
            <a:r>
              <a:rPr sz="1200" b="0">
                <a:solidFill>
                  <a:srgbClr val="1A1A1A"/>
                </a:solidFill>
                <a:latin typeface="Microsoft JhengHei"/>
                <a:ea typeface="Microsoft JhengHei"/>
              </a:rPr>
              <a:t>單一來源、單一格點、108 期；學習臂無種子、每臂一次</a:t>
            </a:r>
          </a:p>
        </p:txBody>
      </p:sp>
      <p:sp>
        <p:nvSpPr>
          <p:cNvPr id="7" name="TextBox 6"/>
          <p:cNvSpPr txBox="1"/>
          <p:nvPr/>
        </p:nvSpPr>
        <p:spPr>
          <a:xfrm>
            <a:off x="640080" y="2368296"/>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二</a:t>
            </a:r>
          </a:p>
        </p:txBody>
      </p:sp>
      <p:sp>
        <p:nvSpPr>
          <p:cNvPr id="8" name="TextBox 7"/>
          <p:cNvSpPr txBox="1"/>
          <p:nvPr/>
        </p:nvSpPr>
        <p:spPr>
          <a:xfrm>
            <a:off x="1207007" y="2368296"/>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母體範圍</a:t>
            </a:r>
          </a:p>
          <a:p>
            <a:pPr algn="l">
              <a:lnSpc>
                <a:spcPct val="125000"/>
              </a:lnSpc>
              <a:spcAft>
                <a:spcPts val="100"/>
              </a:spcAft>
            </a:pPr>
            <a:r>
              <a:rPr sz="1200" b="0">
                <a:solidFill>
                  <a:srgbClr val="1A1A1A"/>
                </a:solidFill>
                <a:latin typeface="Microsoft JhengHei"/>
                <a:ea typeface="Microsoft JhengHei"/>
              </a:rPr>
              <a:t>S&amp;P 500 每期約 600 檔；文獻多用 CRSP 全美股</a:t>
            </a:r>
          </a:p>
        </p:txBody>
      </p:sp>
      <p:sp>
        <p:nvSpPr>
          <p:cNvPr id="9" name="TextBox 8"/>
          <p:cNvSpPr txBox="1"/>
          <p:nvPr/>
        </p:nvSpPr>
        <p:spPr>
          <a:xfrm>
            <a:off x="640080" y="3044952"/>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三</a:t>
            </a:r>
          </a:p>
        </p:txBody>
      </p:sp>
      <p:sp>
        <p:nvSpPr>
          <p:cNvPr id="10" name="TextBox 9"/>
          <p:cNvSpPr txBox="1"/>
          <p:nvPr/>
        </p:nvSpPr>
        <p:spPr>
          <a:xfrm>
            <a:off x="1207007" y="3044952"/>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特徵維度少</a:t>
            </a:r>
          </a:p>
          <a:p>
            <a:pPr algn="l">
              <a:lnSpc>
                <a:spcPct val="125000"/>
              </a:lnSpc>
              <a:spcAft>
                <a:spcPts val="100"/>
              </a:spcAft>
            </a:pPr>
            <a:r>
              <a:rPr sz="1200" b="0">
                <a:solidFill>
                  <a:srgbClr val="1A1A1A"/>
                </a:solidFill>
                <a:latin typeface="Microsoft JhengHei"/>
                <a:ea typeface="Microsoft JhengHei"/>
              </a:rPr>
              <a:t>40 個財報特徵僅 12 個過覆蓋門檻；2000–2008 無財報</a:t>
            </a:r>
          </a:p>
        </p:txBody>
      </p:sp>
      <p:sp>
        <p:nvSpPr>
          <p:cNvPr id="11" name="TextBox 10"/>
          <p:cNvSpPr txBox="1"/>
          <p:nvPr/>
        </p:nvSpPr>
        <p:spPr>
          <a:xfrm>
            <a:off x="640080" y="3721608"/>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四</a:t>
            </a:r>
          </a:p>
        </p:txBody>
      </p:sp>
      <p:sp>
        <p:nvSpPr>
          <p:cNvPr id="12" name="TextBox 11"/>
          <p:cNvSpPr txBox="1"/>
          <p:nvPr/>
        </p:nvSpPr>
        <p:spPr>
          <a:xfrm>
            <a:off x="1207007" y="3721608"/>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存活者偏誤未完全消除</a:t>
            </a:r>
          </a:p>
          <a:p>
            <a:pPr algn="l">
              <a:lnSpc>
                <a:spcPct val="125000"/>
              </a:lnSpc>
              <a:spcAft>
                <a:spcPts val="100"/>
              </a:spcAft>
            </a:pPr>
            <a:r>
              <a:rPr sz="1200" b="0">
                <a:solidFill>
                  <a:srgbClr val="1A1A1A"/>
                </a:solidFill>
                <a:latin typeface="Microsoft JhengHei"/>
                <a:ea typeface="Microsoft JhengHei"/>
              </a:rPr>
              <a:t>170 檔下市者中 49 檔無價格 → 絕對績效偏高估，「不顯著」偏保守</a:t>
            </a:r>
          </a:p>
        </p:txBody>
      </p:sp>
      <p:sp>
        <p:nvSpPr>
          <p:cNvPr id="13" name="TextBox 12"/>
          <p:cNvSpPr txBox="1"/>
          <p:nvPr/>
        </p:nvSpPr>
        <p:spPr>
          <a:xfrm>
            <a:off x="640080" y="4398264"/>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五</a:t>
            </a:r>
          </a:p>
        </p:txBody>
      </p:sp>
      <p:sp>
        <p:nvSpPr>
          <p:cNvPr id="14" name="TextBox 13"/>
          <p:cNvSpPr txBox="1"/>
          <p:nvPr/>
        </p:nvSpPr>
        <p:spPr>
          <a:xfrm>
            <a:off x="1207007" y="4398264"/>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成本假設年代</a:t>
            </a:r>
          </a:p>
          <a:p>
            <a:pPr algn="l">
              <a:lnSpc>
                <a:spcPct val="125000"/>
              </a:lnSpc>
              <a:spcAft>
                <a:spcPts val="100"/>
              </a:spcAft>
            </a:pPr>
            <a:r>
              <a:rPr sz="1200" b="0">
                <a:solidFill>
                  <a:srgbClr val="1A1A1A"/>
                </a:solidFill>
                <a:latin typeface="Microsoft JhengHei"/>
                <a:ea typeface="Microsoft JhengHei"/>
              </a:rPr>
              <a:t>用 1962–2009 的估計套 2000–2025 → 偏保守，另報 break-even</a:t>
            </a:r>
          </a:p>
        </p:txBody>
      </p:sp>
      <p:sp>
        <p:nvSpPr>
          <p:cNvPr id="15" name="TextBox 14"/>
          <p:cNvSpPr txBox="1"/>
          <p:nvPr/>
        </p:nvSpPr>
        <p:spPr>
          <a:xfrm>
            <a:off x="640080" y="5074920"/>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六</a:t>
            </a:r>
          </a:p>
        </p:txBody>
      </p:sp>
      <p:sp>
        <p:nvSpPr>
          <p:cNvPr id="16" name="TextBox 15"/>
          <p:cNvSpPr txBox="1"/>
          <p:nvPr/>
        </p:nvSpPr>
        <p:spPr>
          <a:xfrm>
            <a:off x="1207007" y="5074920"/>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交易層只有單輪逐日序列</a:t>
            </a:r>
          </a:p>
          <a:p>
            <a:pPr algn="l">
              <a:lnSpc>
                <a:spcPct val="125000"/>
              </a:lnSpc>
              <a:spcAft>
                <a:spcPts val="100"/>
              </a:spcAft>
            </a:pPr>
            <a:r>
              <a:rPr sz="1200" b="0">
                <a:solidFill>
                  <a:srgbClr val="1A1A1A"/>
                </a:solidFill>
                <a:latin typeface="Microsoft JhengHei"/>
                <a:ea typeface="Microsoft JhengHei"/>
              </a:rPr>
              <a:t>五輪重訓只有彙總指標；KM-SSD-DRL 不可單獨宣稱</a:t>
            </a:r>
          </a:p>
        </p:txBody>
      </p:sp>
      <p:sp>
        <p:nvSpPr>
          <p:cNvPr id="17" name="TextBox 16"/>
          <p:cNvSpPr txBox="1"/>
          <p:nvPr/>
        </p:nvSpPr>
        <p:spPr>
          <a:xfrm>
            <a:off x="6263640" y="1691640"/>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七</a:t>
            </a:r>
          </a:p>
        </p:txBody>
      </p:sp>
      <p:sp>
        <p:nvSpPr>
          <p:cNvPr id="18" name="TextBox 17"/>
          <p:cNvSpPr txBox="1"/>
          <p:nvPr/>
        </p:nvSpPr>
        <p:spPr>
          <a:xfrm>
            <a:off x="6830568" y="1691640"/>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槽位週轉假說未直接驗證</a:t>
            </a:r>
          </a:p>
          <a:p>
            <a:pPr algn="l">
              <a:lnSpc>
                <a:spcPct val="125000"/>
              </a:lnSpc>
              <a:spcAft>
                <a:spcPts val="100"/>
              </a:spcAft>
            </a:pPr>
            <a:r>
              <a:rPr sz="1200" b="0">
                <a:solidFill>
                  <a:srgbClr val="1A1A1A"/>
                </a:solidFill>
                <a:latin typeface="Microsoft JhengHei"/>
                <a:ea typeface="Microsoft JhengHei"/>
              </a:rPr>
              <a:t>三項置換檢定都是事後重抽，不含再配置效應</a:t>
            </a:r>
          </a:p>
        </p:txBody>
      </p:sp>
      <p:sp>
        <p:nvSpPr>
          <p:cNvPr id="19" name="TextBox 18"/>
          <p:cNvSpPr txBox="1"/>
          <p:nvPr/>
        </p:nvSpPr>
        <p:spPr>
          <a:xfrm>
            <a:off x="6263640" y="2368296"/>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八</a:t>
            </a:r>
          </a:p>
        </p:txBody>
      </p:sp>
      <p:sp>
        <p:nvSpPr>
          <p:cNvPr id="20" name="TextBox 19"/>
          <p:cNvSpPr txBox="1"/>
          <p:nvPr/>
        </p:nvSpPr>
        <p:spPr>
          <a:xfrm>
            <a:off x="6830568" y="2368296"/>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門檻水準沒窮盡</a:t>
            </a:r>
          </a:p>
          <a:p>
            <a:pPr algn="l">
              <a:lnSpc>
                <a:spcPct val="125000"/>
              </a:lnSpc>
              <a:spcAft>
                <a:spcPts val="100"/>
              </a:spcAft>
            </a:pPr>
            <a:r>
              <a:rPr sz="1200" b="0">
                <a:solidFill>
                  <a:srgbClr val="1A1A1A"/>
                </a:solidFill>
                <a:latin typeface="Microsoft JhengHei"/>
                <a:ea typeface="Microsoft JhengHei"/>
              </a:rPr>
              <a:t>entry_z 下界 1.5 從未執行，不得推論最適門檻</a:t>
            </a:r>
          </a:p>
        </p:txBody>
      </p:sp>
      <p:sp>
        <p:nvSpPr>
          <p:cNvPr id="21" name="TextBox 20"/>
          <p:cNvSpPr txBox="1"/>
          <p:nvPr/>
        </p:nvSpPr>
        <p:spPr>
          <a:xfrm>
            <a:off x="6263640" y="3044952"/>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九</a:t>
            </a:r>
          </a:p>
        </p:txBody>
      </p:sp>
      <p:sp>
        <p:nvSpPr>
          <p:cNvPr id="22" name="TextBox 21"/>
          <p:cNvSpPr txBox="1"/>
          <p:nvPr/>
        </p:nvSpPr>
        <p:spPr>
          <a:xfrm>
            <a:off x="6830568" y="3044952"/>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形成期層檢定力不足</a:t>
            </a:r>
          </a:p>
          <a:p>
            <a:pPr algn="l">
              <a:lnSpc>
                <a:spcPct val="125000"/>
              </a:lnSpc>
              <a:spcAft>
                <a:spcPts val="100"/>
              </a:spcAft>
            </a:pPr>
            <a:r>
              <a:rPr sz="1200" b="0">
                <a:solidFill>
                  <a:srgbClr val="1A1A1A"/>
                </a:solidFill>
                <a:latin typeface="Microsoft JhengHei"/>
                <a:ea typeface="Microsoft JhengHei"/>
              </a:rPr>
              <a:t>只描述、不檢定（MDE 1.14% &gt; 0.461%）</a:t>
            </a:r>
          </a:p>
        </p:txBody>
      </p:sp>
      <p:sp>
        <p:nvSpPr>
          <p:cNvPr id="23" name="TextBox 22"/>
          <p:cNvSpPr txBox="1"/>
          <p:nvPr/>
        </p:nvSpPr>
        <p:spPr>
          <a:xfrm>
            <a:off x="6263640" y="3721608"/>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十</a:t>
            </a:r>
          </a:p>
        </p:txBody>
      </p:sp>
      <p:sp>
        <p:nvSpPr>
          <p:cNvPr id="24" name="TextBox 23"/>
          <p:cNvSpPr txBox="1"/>
          <p:nvPr/>
        </p:nvSpPr>
        <p:spPr>
          <a:xfrm>
            <a:off x="6830568" y="3721608"/>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樣本限於大型股</a:t>
            </a:r>
          </a:p>
          <a:p>
            <a:pPr algn="l">
              <a:lnSpc>
                <a:spcPct val="125000"/>
              </a:lnSpc>
              <a:spcAft>
                <a:spcPts val="100"/>
              </a:spcAft>
            </a:pPr>
            <a:r>
              <a:rPr sz="1200" b="0">
                <a:solidFill>
                  <a:srgbClr val="1A1A1A"/>
                </a:solidFill>
                <a:latin typeface="Microsoft JhengHei"/>
                <a:ea typeface="Microsoft JhengHei"/>
              </a:rPr>
              <a:t>衰減在大型股最嚴重，結論未必外推到中小型股或其他市場</a:t>
            </a:r>
          </a:p>
        </p:txBody>
      </p:sp>
      <p:sp>
        <p:nvSpPr>
          <p:cNvPr id="25" name="TextBox 24"/>
          <p:cNvSpPr txBox="1"/>
          <p:nvPr/>
        </p:nvSpPr>
        <p:spPr>
          <a:xfrm>
            <a:off x="6263640" y="4398264"/>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十一</a:t>
            </a:r>
          </a:p>
        </p:txBody>
      </p:sp>
      <p:sp>
        <p:nvSpPr>
          <p:cNvPr id="26" name="TextBox 25"/>
          <p:cNvSpPr txBox="1"/>
          <p:nvPr/>
        </p:nvSpPr>
        <p:spPr>
          <a:xfrm>
            <a:off x="6830568" y="4398264"/>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與前行研究的差距</a:t>
            </a:r>
          </a:p>
          <a:p>
            <a:pPr algn="l">
              <a:lnSpc>
                <a:spcPct val="125000"/>
              </a:lnSpc>
              <a:spcAft>
                <a:spcPts val="100"/>
              </a:spcAft>
            </a:pPr>
            <a:r>
              <a:rPr sz="1200" b="0">
                <a:solidFill>
                  <a:srgbClr val="1A1A1A"/>
                </a:solidFill>
                <a:latin typeface="Microsoft JhengHei"/>
                <a:ea typeface="Microsoft JhengHei"/>
              </a:rPr>
              <a:t>八項實作差異只隔離了一項（進場時點），差距仍未解釋（附錄 A）</a:t>
            </a:r>
          </a:p>
        </p:txBody>
      </p:sp>
      <p:sp>
        <p:nvSpPr>
          <p:cNvPr id="27" name="TextBox 26"/>
          <p:cNvSpPr txBox="1"/>
          <p:nvPr/>
        </p:nvSpPr>
        <p:spPr>
          <a:xfrm>
            <a:off x="6263640" y="5074920"/>
            <a:ext cx="640080" cy="365760"/>
          </a:xfrm>
          <a:prstGeom prst="rect">
            <a:avLst/>
          </a:prstGeom>
          <a:noFill/>
        </p:spPr>
        <p:txBody>
          <a:bodyPr wrap="square" lIns="0" rIns="0" tIns="0" bIns="0" anchor="t">
            <a:spAutoFit/>
          </a:bodyPr>
          <a:lstStyle/>
          <a:p>
            <a:pPr algn="l">
              <a:lnSpc>
                <a:spcPct val="125000"/>
              </a:lnSpc>
              <a:spcAft>
                <a:spcPts val="600"/>
              </a:spcAft>
            </a:pPr>
            <a:r>
              <a:rPr sz="1400" b="1">
                <a:solidFill>
                  <a:srgbClr val="C4553B"/>
                </a:solidFill>
                <a:latin typeface="Microsoft JhengHei"/>
                <a:ea typeface="Microsoft JhengHei"/>
              </a:rPr>
              <a:t>十二</a:t>
            </a:r>
          </a:p>
        </p:txBody>
      </p:sp>
      <p:sp>
        <p:nvSpPr>
          <p:cNvPr id="28" name="TextBox 27"/>
          <p:cNvSpPr txBox="1"/>
          <p:nvPr/>
        </p:nvSpPr>
        <p:spPr>
          <a:xfrm>
            <a:off x="6830568" y="5074920"/>
            <a:ext cx="4663440" cy="685800"/>
          </a:xfrm>
          <a:prstGeom prst="rect">
            <a:avLst/>
          </a:prstGeom>
          <a:noFill/>
        </p:spPr>
        <p:txBody>
          <a:bodyPr wrap="square" lIns="0" rIns="0" tIns="0" bIns="0" anchor="t">
            <a:spAutoFit/>
          </a:bodyPr>
          <a:lstStyle/>
          <a:p>
            <a:pPr algn="l">
              <a:lnSpc>
                <a:spcPct val="125000"/>
              </a:lnSpc>
              <a:spcAft>
                <a:spcPts val="100"/>
              </a:spcAft>
            </a:pPr>
            <a:r>
              <a:rPr sz="1400" b="1">
                <a:solidFill>
                  <a:srgbClr val="0B2A5B"/>
                </a:solidFill>
                <a:latin typeface="Microsoft JhengHei"/>
                <a:ea typeface="Microsoft JhengHei"/>
              </a:rPr>
              <a:t>演算法穩健性只有探索性證據</a:t>
            </a:r>
          </a:p>
          <a:p>
            <a:pPr algn="l">
              <a:lnSpc>
                <a:spcPct val="125000"/>
              </a:lnSpc>
              <a:spcAft>
                <a:spcPts val="100"/>
              </a:spcAft>
            </a:pPr>
            <a:r>
              <a:rPr sz="1200" b="0">
                <a:solidFill>
                  <a:srgbClr val="1A1A1A"/>
                </a:solidFill>
                <a:latin typeface="Microsoft JhengHei"/>
                <a:ea typeface="Microsoft JhengHei"/>
              </a:rPr>
              <a:t>附錄 E 未預先登記、每臂一次、無檢定</a:t>
            </a:r>
          </a:p>
        </p:txBody>
      </p:sp>
      <p:sp>
        <p:nvSpPr>
          <p:cNvPr id="29" name="TextBox 28"/>
          <p:cNvSpPr txBox="1"/>
          <p:nvPr/>
        </p:nvSpPr>
        <p:spPr>
          <a:xfrm>
            <a:off x="640080" y="6053328"/>
            <a:ext cx="10332720" cy="27432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Do, B., &amp; Faff, R. (2010). Does simple pairs trading still work? Financial Analysts Journal, 66(4), 83–95.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B2A5B"/>
        </a:solidFill>
        <a:effectLst/>
      </p:bgPr>
    </p:bg>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E8EDF5"/>
                </a:solidFill>
                <a:latin typeface="Microsoft JhengHei"/>
                <a:ea typeface="Microsoft JhengHei"/>
              </a:rPr>
              <a:t>第六部分 · 結論　｜　§6.1、§6.4</a:t>
            </a:r>
          </a:p>
        </p:txBody>
      </p:sp>
      <p:sp>
        <p:nvSpPr>
          <p:cNvPr id="3" name="TextBox 2"/>
          <p:cNvSpPr txBox="1"/>
          <p:nvPr/>
        </p:nvSpPr>
        <p:spPr>
          <a:xfrm>
            <a:off x="914400" y="1417320"/>
            <a:ext cx="10332720" cy="457200"/>
          </a:xfrm>
          <a:prstGeom prst="rect">
            <a:avLst/>
          </a:prstGeom>
          <a:noFill/>
        </p:spPr>
        <p:txBody>
          <a:bodyPr wrap="square" lIns="0" rIns="0" tIns="0" bIns="0" anchor="t">
            <a:spAutoFit/>
          </a:bodyPr>
          <a:lstStyle/>
          <a:p>
            <a:pPr algn="l">
              <a:lnSpc>
                <a:spcPct val="125000"/>
              </a:lnSpc>
              <a:spcAft>
                <a:spcPts val="600"/>
              </a:spcAft>
            </a:pPr>
            <a:r>
              <a:rPr sz="1800" b="0">
                <a:solidFill>
                  <a:srgbClr val="E8EDF5"/>
                </a:solidFill>
                <a:latin typeface="Microsoft JhengHei"/>
                <a:ea typeface="Microsoft JhengHei"/>
              </a:rPr>
              <a:t>如果今天只能記住一句話：</a:t>
            </a:r>
          </a:p>
        </p:txBody>
      </p:sp>
      <p:sp>
        <p:nvSpPr>
          <p:cNvPr id="4" name="TextBox 3"/>
          <p:cNvSpPr txBox="1"/>
          <p:nvPr/>
        </p:nvSpPr>
        <p:spPr>
          <a:xfrm>
            <a:off x="914400" y="2057400"/>
            <a:ext cx="10332720" cy="2286000"/>
          </a:xfrm>
          <a:prstGeom prst="rect">
            <a:avLst/>
          </a:prstGeom>
          <a:noFill/>
        </p:spPr>
        <p:txBody>
          <a:bodyPr wrap="square" lIns="0" rIns="0" tIns="0" bIns="0" anchor="t">
            <a:spAutoFit/>
          </a:bodyPr>
          <a:lstStyle/>
          <a:p>
            <a:pPr algn="l">
              <a:lnSpc>
                <a:spcPct val="125000"/>
              </a:lnSpc>
              <a:spcAft>
                <a:spcPts val="400"/>
              </a:spcAft>
            </a:pPr>
            <a:r>
              <a:rPr sz="3400" b="1">
                <a:solidFill>
                  <a:srgbClr val="FFFFFF"/>
                </a:solidFill>
                <a:latin typeface="Microsoft JhengHei"/>
                <a:ea typeface="Microsoft JhengHei"/>
              </a:rPr>
              <a:t>決定學習式交易端成敗的，</a:t>
            </a:r>
          </a:p>
          <a:p>
            <a:pPr algn="l">
              <a:lnSpc>
                <a:spcPct val="125000"/>
              </a:lnSpc>
              <a:spcAft>
                <a:spcPts val="400"/>
              </a:spcAft>
            </a:pPr>
            <a:r>
              <a:rPr sz="3400" b="1">
                <a:solidFill>
                  <a:srgbClr val="FFFFFF"/>
                </a:solidFill>
                <a:latin typeface="Microsoft JhengHei"/>
                <a:ea typeface="Microsoft JhengHei"/>
              </a:rPr>
              <a:t>是</a:t>
            </a:r>
            <a:r>
              <a:rPr sz="3400" b="1">
                <a:solidFill>
                  <a:srgbClr val="FFFFFF"/>
                </a:solidFill>
                <a:latin typeface="Microsoft JhengHei"/>
                <a:ea typeface="Microsoft JhengHei"/>
              </a:rPr>
              <a:t>動作空間的形狀</a:t>
            </a:r>
            <a:r>
              <a:rPr sz="3400" b="1">
                <a:solidFill>
                  <a:srgbClr val="FFFFFF"/>
                </a:solidFill>
                <a:latin typeface="Microsoft JhengHei"/>
                <a:ea typeface="Microsoft JhengHei"/>
              </a:rPr>
              <a:t>，</a:t>
            </a:r>
          </a:p>
          <a:p>
            <a:pPr algn="l">
              <a:lnSpc>
                <a:spcPct val="125000"/>
              </a:lnSpc>
              <a:spcAft>
                <a:spcPts val="600"/>
              </a:spcAft>
            </a:pPr>
            <a:r>
              <a:rPr sz="2600" b="1">
                <a:solidFill>
                  <a:srgbClr val="FFFFFF"/>
                </a:solidFill>
                <a:latin typeface="Microsoft JhengHei"/>
                <a:ea typeface="Microsoft JhengHei"/>
              </a:rPr>
              <a:t>不是演算法的強弱，也不是模型能不能看懂每一組配對。</a:t>
            </a:r>
          </a:p>
        </p:txBody>
      </p:sp>
      <p:sp>
        <p:nvSpPr>
          <p:cNvPr id="5" name="TextBox 4"/>
          <p:cNvSpPr txBox="1"/>
          <p:nvPr/>
        </p:nvSpPr>
        <p:spPr>
          <a:xfrm>
            <a:off x="914400" y="4754880"/>
            <a:ext cx="10332720" cy="914400"/>
          </a:xfrm>
          <a:prstGeom prst="rect">
            <a:avLst/>
          </a:prstGeom>
          <a:noFill/>
        </p:spPr>
        <p:txBody>
          <a:bodyPr wrap="square" lIns="0" rIns="0" tIns="0" bIns="0" anchor="t">
            <a:spAutoFit/>
          </a:bodyPr>
          <a:lstStyle/>
          <a:p>
            <a:pPr algn="l">
              <a:lnSpc>
                <a:spcPct val="125000"/>
              </a:lnSpc>
              <a:spcAft>
                <a:spcPts val="600"/>
              </a:spcAft>
            </a:pPr>
            <a:r>
              <a:rPr sz="1900" b="0">
                <a:solidFill>
                  <a:srgbClr val="E8EDF5"/>
                </a:solidFill>
                <a:latin typeface="Microsoft JhengHei"/>
                <a:ea typeface="Microsoft JhengHei"/>
              </a:rPr>
              <a:t>至於那個形狀帶來的增益——它是真的、方向一致、機制可歸因，</a:t>
            </a:r>
            <a:r>
              <a:rPr sz="1900" b="1">
                <a:solidFill>
                  <a:srgbClr val="E8EDF5"/>
                </a:solidFill>
                <a:latin typeface="Microsoft JhengHei"/>
                <a:ea typeface="Microsoft JhengHei"/>
              </a:rPr>
              <a:t>但它不夠大</a:t>
            </a:r>
            <a:r>
              <a:rPr sz="1900" b="0">
                <a:solidFill>
                  <a:srgbClr val="E8EDF5"/>
                </a:solidFill>
                <a:latin typeface="Microsoft JhengHei"/>
                <a:ea typeface="Microsoft JhengHei"/>
              </a:rPr>
              <a:t>。</a:t>
            </a:r>
          </a:p>
        </p:txBody>
      </p:sp>
      <p:sp>
        <p:nvSpPr>
          <p:cNvPr id="6" name="TextBox 5"/>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E8EDF5"/>
                </a:solidFill>
                <a:latin typeface="Microsoft JhengHei"/>
                <a:ea typeface="Microsoft JhengHe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第六部分 · 結論　｜　§6.2</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這篇研究貢獻了什麼</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55</a:t>
            </a:r>
          </a:p>
        </p:txBody>
      </p:sp>
      <p:sp>
        <p:nvSpPr>
          <p:cNvPr id="5" name="TextBox 4"/>
          <p:cNvSpPr txBox="1"/>
          <p:nvPr/>
        </p:nvSpPr>
        <p:spPr>
          <a:xfrm>
            <a:off x="640080" y="1691640"/>
            <a:ext cx="1088136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① 把動作空間設為唯一變因，並完整預先登記</a:t>
            </a:r>
          </a:p>
          <a:p>
            <a:pPr algn="l">
              <a:lnSpc>
                <a:spcPct val="125000"/>
              </a:lnSpc>
              <a:spcAft>
                <a:spcPts val="200"/>
              </a:spcAft>
            </a:pPr>
            <a:r>
              <a:rPr sz="1350" b="0">
                <a:solidFill>
                  <a:srgbClr val="1A1A1A"/>
                </a:solidFill>
                <a:latin typeface="Microsoft JhengHei"/>
                <a:ea typeface="Microsoft JhengHei"/>
              </a:rPr>
              <a:t>文獻各自選一種動作空間報告績效；我在同一條管線內只變動它，判準與七項核對在開跑前提交。</a:t>
            </a:r>
          </a:p>
        </p:txBody>
      </p:sp>
      <p:sp>
        <p:nvSpPr>
          <p:cNvPr id="6" name="TextBox 5"/>
          <p:cNvSpPr txBox="1"/>
          <p:nvPr/>
        </p:nvSpPr>
        <p:spPr>
          <a:xfrm>
            <a:off x="640080" y="2478024"/>
            <a:ext cx="1088136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② 分離「動作空間的形狀」與「逐對辨識能力」</a:t>
            </a:r>
          </a:p>
          <a:p>
            <a:pPr algn="l">
              <a:lnSpc>
                <a:spcPct val="125000"/>
              </a:lnSpc>
              <a:spcAft>
                <a:spcPts val="200"/>
              </a:spcAft>
            </a:pPr>
            <a:r>
              <a:rPr sz="1350" b="0">
                <a:solidFill>
                  <a:srgbClr val="1A1A1A"/>
                </a:solidFill>
                <a:latin typeface="Microsoft JhengHei"/>
                <a:ea typeface="Microsoft JhengHei"/>
              </a:rPr>
              <a:t>兩者實務意涵相反：前者指向更好的選單，後者指向更好的特徵。結論是增益來自前者。</a:t>
            </a:r>
          </a:p>
        </p:txBody>
      </p:sp>
      <p:sp>
        <p:nvSpPr>
          <p:cNvPr id="7" name="TextBox 6"/>
          <p:cNvSpPr txBox="1"/>
          <p:nvPr/>
        </p:nvSpPr>
        <p:spPr>
          <a:xfrm>
            <a:off x="640080" y="3264408"/>
            <a:ext cx="1088136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③ 釐清增益的「非來源」</a:t>
            </a:r>
          </a:p>
          <a:p>
            <a:pPr algn="l">
              <a:lnSpc>
                <a:spcPct val="125000"/>
              </a:lnSpc>
              <a:spcAft>
                <a:spcPts val="200"/>
              </a:spcAft>
            </a:pPr>
            <a:r>
              <a:rPr sz="1350" b="0">
                <a:solidFill>
                  <a:srgbClr val="1A1A1A"/>
                </a:solidFill>
                <a:latin typeface="Microsoft JhengHei"/>
                <a:ea typeface="Microsoft JhengHei"/>
              </a:rPr>
              <a:t>指出「SKIP 貢獻」是會計恆等式而非技巧——底層期望為負時，隨機跳過也會避損；兩個來源的技巧成分是負的。</a:t>
            </a:r>
          </a:p>
        </p:txBody>
      </p:sp>
      <p:sp>
        <p:nvSpPr>
          <p:cNvPr id="8" name="TextBox 7"/>
          <p:cNvSpPr txBox="1"/>
          <p:nvPr/>
        </p:nvSpPr>
        <p:spPr>
          <a:xfrm>
            <a:off x="640080" y="4050791"/>
            <a:ext cx="1088136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④ 指出 AI 成功案例的頻率相依，並補上日頻對照</a:t>
            </a:r>
          </a:p>
          <a:p>
            <a:pPr algn="l">
              <a:lnSpc>
                <a:spcPct val="125000"/>
              </a:lnSpc>
              <a:spcAft>
                <a:spcPts val="200"/>
              </a:spcAft>
            </a:pPr>
            <a:r>
              <a:rPr sz="1350" b="0">
                <a:solidFill>
                  <a:srgbClr val="1A1A1A"/>
                </a:solidFill>
                <a:latin typeface="Microsoft JhengHei"/>
                <a:ea typeface="Microsoft JhengHei"/>
              </a:rPr>
              <a:t>成功案例集中在日內；同構想搬到日頻都沒成立。</a:t>
            </a:r>
          </a:p>
        </p:txBody>
      </p:sp>
      <p:sp>
        <p:nvSpPr>
          <p:cNvPr id="9" name="TextBox 8"/>
          <p:cNvSpPr txBox="1"/>
          <p:nvPr/>
        </p:nvSpPr>
        <p:spPr>
          <a:xfrm>
            <a:off x="640080" y="4837176"/>
            <a:ext cx="1088136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⑤ 記錄實作錯誤及其影響</a:t>
            </a:r>
          </a:p>
          <a:p>
            <a:pPr algn="l">
              <a:lnSpc>
                <a:spcPct val="125000"/>
              </a:lnSpc>
              <a:spcAft>
                <a:spcPts val="200"/>
              </a:spcAft>
            </a:pPr>
            <a:r>
              <a:rPr sz="1350" b="0">
                <a:solidFill>
                  <a:srgbClr val="1A1A1A"/>
                </a:solidFill>
                <a:latin typeface="Microsoft JhengHei"/>
                <a:ea typeface="Microsoft JhengHei"/>
              </a:rPr>
              <a:t>修正後主軸 13 格中 12 格改善（ΔSharpe 中位 +0.236）；被錯誤篩掉的，系統性地是較好的配對。</a:t>
            </a:r>
          </a:p>
        </p:txBody>
      </p:sp>
      <p:sp>
        <p:nvSpPr>
          <p:cNvPr id="10" name="TextBox 9"/>
          <p:cNvSpPr txBox="1"/>
          <p:nvPr/>
        </p:nvSpPr>
        <p:spPr>
          <a:xfrm>
            <a:off x="640080" y="5669280"/>
            <a:ext cx="10881360" cy="365760"/>
          </a:xfrm>
          <a:prstGeom prst="rect">
            <a:avLst/>
          </a:prstGeom>
          <a:noFill/>
        </p:spPr>
        <p:txBody>
          <a:bodyPr wrap="square" lIns="0" rIns="0" tIns="0" bIns="0" anchor="t">
            <a:spAutoFit/>
          </a:bodyPr>
          <a:lstStyle/>
          <a:p>
            <a:pPr algn="l">
              <a:lnSpc>
                <a:spcPct val="125000"/>
              </a:lnSpc>
              <a:spcAft>
                <a:spcPts val="600"/>
              </a:spcAft>
            </a:pPr>
            <a:r>
              <a:rPr sz="1250" b="0">
                <a:solidFill>
                  <a:srgbClr val="6B7280"/>
                </a:solidFill>
                <a:latin typeface="Microsoft JhengHei"/>
                <a:ea typeface="Microsoft JhengHei"/>
              </a:rPr>
              <a:t>方法上的作法（時間為抽樣單位、區間寬度判讀「不顯著」等）都是既有標準，我不宣稱是方法論創見。</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第六部分 · 結論　｜　§6.3</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給後續研究，也給想實際做配對交易的人</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56</a:t>
            </a:r>
          </a:p>
        </p:txBody>
      </p:sp>
      <p:sp>
        <p:nvSpPr>
          <p:cNvPr id="5" name="Rounded Rectangle 4"/>
          <p:cNvSpPr/>
          <p:nvPr/>
        </p:nvSpPr>
        <p:spPr>
          <a:xfrm>
            <a:off x="640080" y="1691640"/>
            <a:ext cx="5760720" cy="40690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0B2A5B"/>
                </a:solidFill>
                <a:latin typeface="Microsoft JhengHei"/>
                <a:ea typeface="Microsoft JhengHei"/>
              </a:rPr>
              <a:t>對後續研究</a:t>
            </a:r>
          </a:p>
          <a:p>
            <a:pPr algn="l">
              <a:lnSpc>
                <a:spcPct val="125000"/>
              </a:lnSpc>
              <a:spcAft>
                <a:spcPts val="600"/>
              </a:spcAft>
            </a:pPr>
            <a:r>
              <a:rPr sz="1300" b="1">
                <a:solidFill>
                  <a:srgbClr val="1A1A1A"/>
                </a:solidFill>
                <a:latin typeface="Microsoft JhengHei"/>
                <a:ea typeface="Microsoft JhengHei"/>
              </a:rPr>
              <a:t>在其他來源與格點上重複消融</a:t>
            </a:r>
            <a:r>
              <a:rPr sz="1300" b="0">
                <a:solidFill>
                  <a:srgbClr val="1A1A1A"/>
                </a:solidFill>
                <a:latin typeface="Microsoft JhengHei"/>
                <a:ea typeface="Microsoft JhengHei"/>
              </a:rPr>
              <a:t>——可先用成本較低的 v3（FQI）擴大覆蓋</a:t>
            </a:r>
          </a:p>
          <a:p>
            <a:pPr algn="l">
              <a:lnSpc>
                <a:spcPct val="125000"/>
              </a:lnSpc>
              <a:spcAft>
                <a:spcPts val="600"/>
              </a:spcAft>
            </a:pPr>
            <a:r>
              <a:rPr sz="1300" b="1">
                <a:solidFill>
                  <a:srgbClr val="1A1A1A"/>
                </a:solidFill>
                <a:latin typeface="Microsoft JhengHei"/>
                <a:ea typeface="Microsoft JhengHei"/>
              </a:rPr>
              <a:t>為學習臂固定種子、跑多輪</a:t>
            </a:r>
            <a:r>
              <a:rPr sz="1300" b="0">
                <a:solidFill>
                  <a:srgbClr val="1A1A1A"/>
                </a:solidFill>
                <a:latin typeface="Microsoft JhengHei"/>
                <a:ea typeface="Microsoft JhengHei"/>
              </a:rPr>
              <a:t>——比較小的設計差異時的前提</a:t>
            </a:r>
          </a:p>
          <a:p>
            <a:pPr algn="l">
              <a:lnSpc>
                <a:spcPct val="125000"/>
              </a:lnSpc>
              <a:spcAft>
                <a:spcPts val="600"/>
              </a:spcAft>
            </a:pPr>
            <a:r>
              <a:rPr sz="1300" b="1">
                <a:solidFill>
                  <a:srgbClr val="1A1A1A"/>
                </a:solidFill>
                <a:latin typeface="Microsoft JhengHei"/>
                <a:ea typeface="Microsoft JhengHei"/>
              </a:rPr>
              <a:t>補完門檻掃描</a:t>
            </a:r>
            <a:r>
              <a:rPr sz="1300" b="0">
                <a:solidFill>
                  <a:srgbClr val="1A1A1A"/>
                </a:solidFill>
                <a:latin typeface="Microsoft JhengHei"/>
                <a:ea typeface="Microsoft JhengHei"/>
              </a:rPr>
              <a:t>——下界 1.5 從未執行；最佳常數多數期選中 3.0</a:t>
            </a:r>
          </a:p>
          <a:p>
            <a:pPr algn="l">
              <a:lnSpc>
                <a:spcPct val="125000"/>
              </a:lnSpc>
              <a:spcAft>
                <a:spcPts val="600"/>
              </a:spcAft>
            </a:pPr>
            <a:r>
              <a:rPr sz="1300" b="1">
                <a:solidFill>
                  <a:srgbClr val="1A1A1A"/>
                </a:solidFill>
                <a:latin typeface="Microsoft JhengHei"/>
                <a:ea typeface="Microsoft JhengHei"/>
              </a:rPr>
              <a:t>直接驗證槽位週轉假說</a:t>
            </a:r>
            <a:r>
              <a:rPr sz="1300" b="0">
                <a:solidFill>
                  <a:srgbClr val="1A1A1A"/>
                </a:solidFill>
                <a:latin typeface="Microsoft JhengHei"/>
                <a:ea typeface="Microsoft JhengHei"/>
              </a:rPr>
              <a:t>——需要重跑回測，事後重抽涵蓋不了</a:t>
            </a:r>
          </a:p>
          <a:p>
            <a:pPr algn="l">
              <a:lnSpc>
                <a:spcPct val="125000"/>
              </a:lnSpc>
              <a:spcAft>
                <a:spcPts val="600"/>
              </a:spcAft>
            </a:pPr>
            <a:r>
              <a:rPr sz="1300" b="1">
                <a:solidFill>
                  <a:srgbClr val="1A1A1A"/>
                </a:solidFill>
                <a:latin typeface="Microsoft JhengHei"/>
                <a:ea typeface="Microsoft JhengHei"/>
              </a:rPr>
              <a:t>形成期要比較，先解決檢定力</a:t>
            </a:r>
            <a:r>
              <a:rPr sz="1300" b="0">
                <a:solidFill>
                  <a:srgbClr val="1A1A1A"/>
                </a:solidFill>
                <a:latin typeface="Microsoft JhengHei"/>
                <a:ea typeface="Microsoft JhengHei"/>
              </a:rPr>
              <a:t>——構造「兩臂同一批標的」的配對設計</a:t>
            </a:r>
          </a:p>
          <a:p>
            <a:pPr algn="l">
              <a:lnSpc>
                <a:spcPct val="125000"/>
              </a:lnSpc>
              <a:spcAft>
                <a:spcPts val="600"/>
              </a:spcAft>
            </a:pPr>
            <a:r>
              <a:rPr sz="1300" b="1">
                <a:solidFill>
                  <a:srgbClr val="1A1A1A"/>
                </a:solidFill>
                <a:latin typeface="Microsoft JhengHei"/>
                <a:ea typeface="Microsoft JhengHei"/>
              </a:rPr>
              <a:t>把演算法穩健性正式化</a:t>
            </a:r>
            <a:r>
              <a:rPr sz="1300" b="0">
                <a:solidFill>
                  <a:srgbClr val="1A1A1A"/>
                </a:solidFill>
                <a:latin typeface="Microsoft JhengHei"/>
                <a:ea typeface="Microsoft JhengHei"/>
              </a:rPr>
              <a:t>——種子多輪＋策略梯度法（REINFORCE、PPO）＋預先登記</a:t>
            </a:r>
          </a:p>
        </p:txBody>
      </p:sp>
      <p:sp>
        <p:nvSpPr>
          <p:cNvPr id="6" name="Rounded Rectangle 5"/>
          <p:cNvSpPr/>
          <p:nvPr/>
        </p:nvSpPr>
        <p:spPr>
          <a:xfrm>
            <a:off x="6629400" y="1691640"/>
            <a:ext cx="4892040" cy="40690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700" b="1">
                <a:solidFill>
                  <a:srgbClr val="C4553B"/>
                </a:solidFill>
                <a:latin typeface="Microsoft JhengHei"/>
                <a:ea typeface="Microsoft JhengHei"/>
              </a:rPr>
              <a:t>對實務</a:t>
            </a:r>
          </a:p>
          <a:p>
            <a:pPr algn="l">
              <a:lnSpc>
                <a:spcPct val="125000"/>
              </a:lnSpc>
              <a:spcAft>
                <a:spcPts val="600"/>
              </a:spcAft>
            </a:pPr>
            <a:r>
              <a:rPr sz="1300" b="1">
                <a:solidFill>
                  <a:srgbClr val="1A1A1A"/>
                </a:solidFill>
                <a:latin typeface="Microsoft JhengHei"/>
                <a:ea typeface="Microsoft JhengHei"/>
              </a:rPr>
              <a:t>不建議直接採用</a:t>
            </a:r>
            <a:r>
              <a:rPr sz="1300" b="0">
                <a:solidFill>
                  <a:srgbClr val="1A1A1A"/>
                </a:solidFill>
                <a:latin typeface="Microsoft JhengHei"/>
                <a:ea typeface="Microsoft JhengHei"/>
              </a:rPr>
              <a:t>所檢驗的策略（絕對績效、DSR 兩道界線）。</a:t>
            </a:r>
          </a:p>
          <a:p>
            <a:pPr algn="l">
              <a:lnSpc>
                <a:spcPct val="125000"/>
              </a:lnSpc>
              <a:spcAft>
                <a:spcPts val="600"/>
              </a:spcAft>
            </a:pPr>
            <a:r>
              <a:rPr sz="1300" b="0">
                <a:solidFill>
                  <a:srgbClr val="1A1A1A"/>
                </a:solidFill>
                <a:latin typeface="Microsoft JhengHei"/>
                <a:ea typeface="Microsoft JhengHei"/>
              </a:rPr>
              <a:t>如果還是要做，證據支持：</a:t>
            </a:r>
          </a:p>
          <a:p>
            <a:pPr algn="l">
              <a:lnSpc>
                <a:spcPct val="125000"/>
              </a:lnSpc>
              <a:spcAft>
                <a:spcPts val="600"/>
              </a:spcAft>
            </a:pPr>
            <a:r>
              <a:rPr sz="1300" b="0">
                <a:solidFill>
                  <a:srgbClr val="1A1A1A"/>
                </a:solidFill>
                <a:latin typeface="Microsoft JhengHei"/>
                <a:ea typeface="Microsoft JhengHei"/>
              </a:rPr>
              <a:t>① 動作空間設計成「</a:t>
            </a:r>
            <a:r>
              <a:rPr sz="1300" b="1">
                <a:solidFill>
                  <a:srgbClr val="1A1A1A"/>
                </a:solidFill>
                <a:latin typeface="Microsoft JhengHei"/>
                <a:ea typeface="Microsoft JhengHei"/>
              </a:rPr>
              <a:t>每期少數次決策</a:t>
            </a:r>
            <a:r>
              <a:rPr sz="1300" b="0">
                <a:solidFill>
                  <a:srgbClr val="1A1A1A"/>
                </a:solidFill>
                <a:latin typeface="Microsoft JhengHei"/>
                <a:ea typeface="Microsoft JhengHei"/>
              </a:rPr>
              <a:t>」，而不是天天決定——這是我證據最強的一項；而且要有「</a:t>
            </a:r>
            <a:r>
              <a:rPr sz="1300" b="1">
                <a:solidFill>
                  <a:srgbClr val="1A1A1A"/>
                </a:solidFill>
                <a:latin typeface="Microsoft JhengHei"/>
                <a:ea typeface="Microsoft JhengHei"/>
              </a:rPr>
              <a:t>拒絕交易</a:t>
            </a:r>
            <a:r>
              <a:rPr sz="1300" b="0">
                <a:solidFill>
                  <a:srgbClr val="1A1A1A"/>
                </a:solidFill>
                <a:latin typeface="Microsoft JhengHei"/>
                <a:ea typeface="Microsoft JhengHei"/>
              </a:rPr>
              <a:t>」的選項。</a:t>
            </a:r>
          </a:p>
          <a:p>
            <a:pPr algn="l">
              <a:lnSpc>
                <a:spcPct val="125000"/>
              </a:lnSpc>
              <a:spcAft>
                <a:spcPts val="600"/>
              </a:spcAft>
            </a:pPr>
            <a:r>
              <a:rPr sz="1300" b="0">
                <a:solidFill>
                  <a:srgbClr val="1A1A1A"/>
                </a:solidFill>
                <a:latin typeface="Microsoft JhengHei"/>
                <a:ea typeface="Microsoft JhengHei"/>
              </a:rPr>
              <a:t>② </a:t>
            </a:r>
            <a:r>
              <a:rPr sz="1300" b="1">
                <a:solidFill>
                  <a:srgbClr val="1A1A1A"/>
                </a:solidFill>
                <a:latin typeface="Microsoft JhengHei"/>
                <a:ea typeface="Microsoft JhengHei"/>
              </a:rPr>
              <a:t>不要期待模型能逐對辨識</a:t>
            </a:r>
            <a:r>
              <a:rPr sz="1300" b="0">
                <a:solidFill>
                  <a:srgbClr val="1A1A1A"/>
                </a:solidFill>
                <a:latin typeface="Microsoft JhengHei"/>
                <a:ea typeface="Microsoft JhengHei"/>
              </a:rPr>
              <a:t>：把力氣放在選單設計，比放在特徵工程更可能有回報。</a:t>
            </a:r>
          </a:p>
          <a:p>
            <a:pPr algn="l">
              <a:lnSpc>
                <a:spcPct val="125000"/>
              </a:lnSpc>
              <a:spcAft>
                <a:spcPts val="600"/>
              </a:spcAft>
            </a:pPr>
            <a:r>
              <a:rPr sz="1300" b="0">
                <a:solidFill>
                  <a:srgbClr val="1A1A1A"/>
                </a:solidFill>
                <a:latin typeface="Microsoft JhengHei"/>
                <a:ea typeface="Microsoft JhengHei"/>
              </a:rPr>
              <a:t>③ 記得獲利</a:t>
            </a:r>
            <a:r>
              <a:rPr sz="1300" b="1">
                <a:solidFill>
                  <a:srgbClr val="1A1A1A"/>
                </a:solidFill>
                <a:latin typeface="Microsoft JhengHei"/>
                <a:ea typeface="Microsoft JhengHei"/>
              </a:rPr>
              <a:t>高度集中在動盪期</a:t>
            </a:r>
            <a:r>
              <a:rPr sz="1300" b="0">
                <a:solidFill>
                  <a:srgbClr val="1A1A1A"/>
                </a:solidFill>
                <a:latin typeface="Microsoft JhengHei"/>
                <a:ea typeface="Microsoft JhengHei"/>
              </a:rPr>
              <a:t>：這個策略實質上是在賣出波動率的均值回歸選擇權。</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第六部分 · 結論　｜　§6.4 結語</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這趟研究，我學到的五件事</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57</a:t>
            </a:r>
          </a:p>
        </p:txBody>
      </p:sp>
      <p:sp>
        <p:nvSpPr>
          <p:cNvPr id="5" name="TextBox 4"/>
          <p:cNvSpPr txBox="1"/>
          <p:nvPr/>
        </p:nvSpPr>
        <p:spPr>
          <a:xfrm>
            <a:off x="640080" y="1691640"/>
            <a:ext cx="548640" cy="457200"/>
          </a:xfrm>
          <a:prstGeom prst="rect">
            <a:avLst/>
          </a:prstGeom>
          <a:noFill/>
        </p:spPr>
        <p:txBody>
          <a:bodyPr wrap="square" lIns="0" rIns="0" tIns="0" bIns="0" anchor="t">
            <a:spAutoFit/>
          </a:bodyPr>
          <a:lstStyle/>
          <a:p>
            <a:pPr algn="l">
              <a:lnSpc>
                <a:spcPct val="125000"/>
              </a:lnSpc>
              <a:spcAft>
                <a:spcPts val="600"/>
              </a:spcAft>
            </a:pPr>
            <a:r>
              <a:rPr sz="2400" b="1">
                <a:solidFill>
                  <a:srgbClr val="C4553B"/>
                </a:solidFill>
                <a:latin typeface="Microsoft JhengHei"/>
                <a:ea typeface="Microsoft JhengHei"/>
              </a:rPr>
              <a:t>1</a:t>
            </a:r>
          </a:p>
        </p:txBody>
      </p:sp>
      <p:sp>
        <p:nvSpPr>
          <p:cNvPr id="6" name="TextBox 5"/>
          <p:cNvSpPr txBox="1"/>
          <p:nvPr/>
        </p:nvSpPr>
        <p:spPr>
          <a:xfrm>
            <a:off x="1280160" y="1709928"/>
            <a:ext cx="1024128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表達能力更強的設計，可以系統性地更差</a:t>
            </a:r>
          </a:p>
          <a:p>
            <a:pPr algn="l">
              <a:lnSpc>
                <a:spcPct val="125000"/>
              </a:lnSpc>
              <a:spcAft>
                <a:spcPts val="200"/>
              </a:spcAft>
            </a:pPr>
            <a:r>
              <a:rPr sz="1350" b="0">
                <a:solidFill>
                  <a:srgbClr val="1A1A1A"/>
                </a:solidFill>
                <a:latin typeface="Microsoft JhengHei"/>
                <a:ea typeface="Microsoft JhengHei"/>
              </a:rPr>
              <a:t>決策越多次，訊號越短、雜訊越多、成本越高——這個取捨在日頻上是決定性的。</a:t>
            </a:r>
          </a:p>
        </p:txBody>
      </p:sp>
      <p:sp>
        <p:nvSpPr>
          <p:cNvPr id="7" name="TextBox 6"/>
          <p:cNvSpPr txBox="1"/>
          <p:nvPr/>
        </p:nvSpPr>
        <p:spPr>
          <a:xfrm>
            <a:off x="640080" y="2496312"/>
            <a:ext cx="548640" cy="457200"/>
          </a:xfrm>
          <a:prstGeom prst="rect">
            <a:avLst/>
          </a:prstGeom>
          <a:noFill/>
        </p:spPr>
        <p:txBody>
          <a:bodyPr wrap="square" lIns="0" rIns="0" tIns="0" bIns="0" anchor="t">
            <a:spAutoFit/>
          </a:bodyPr>
          <a:lstStyle/>
          <a:p>
            <a:pPr algn="l">
              <a:lnSpc>
                <a:spcPct val="125000"/>
              </a:lnSpc>
              <a:spcAft>
                <a:spcPts val="600"/>
              </a:spcAft>
            </a:pPr>
            <a:r>
              <a:rPr sz="2400" b="1">
                <a:solidFill>
                  <a:srgbClr val="C4553B"/>
                </a:solidFill>
                <a:latin typeface="Microsoft JhengHei"/>
                <a:ea typeface="Microsoft JhengHei"/>
              </a:rPr>
              <a:t>2</a:t>
            </a:r>
          </a:p>
        </p:txBody>
      </p:sp>
      <p:sp>
        <p:nvSpPr>
          <p:cNvPr id="8" name="TextBox 7"/>
          <p:cNvSpPr txBox="1"/>
          <p:nvPr/>
        </p:nvSpPr>
        <p:spPr>
          <a:xfrm>
            <a:off x="1280160" y="2514600"/>
            <a:ext cx="1024128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判準必須早於資料，而且要能承受自己的錯誤</a:t>
            </a:r>
          </a:p>
          <a:p>
            <a:pPr algn="l">
              <a:lnSpc>
                <a:spcPct val="125000"/>
              </a:lnSpc>
              <a:spcAft>
                <a:spcPts val="200"/>
              </a:spcAft>
            </a:pPr>
            <a:r>
              <a:rPr sz="1350" b="0">
                <a:solidFill>
                  <a:srgbClr val="1A1A1A"/>
                </a:solidFill>
                <a:latin typeface="Microsoft JhengHei"/>
                <a:ea typeface="Microsoft JhengHei"/>
              </a:rPr>
              <a:t>核對程式自己寫錯、更正後由失敗轉通過——我把它寫進偏離紀錄。預先登記的價值不在不出錯，而在出錯時留下痕跡。</a:t>
            </a:r>
          </a:p>
        </p:txBody>
      </p:sp>
      <p:sp>
        <p:nvSpPr>
          <p:cNvPr id="9" name="TextBox 8"/>
          <p:cNvSpPr txBox="1"/>
          <p:nvPr/>
        </p:nvSpPr>
        <p:spPr>
          <a:xfrm>
            <a:off x="640080" y="3300984"/>
            <a:ext cx="548640" cy="457200"/>
          </a:xfrm>
          <a:prstGeom prst="rect">
            <a:avLst/>
          </a:prstGeom>
          <a:noFill/>
        </p:spPr>
        <p:txBody>
          <a:bodyPr wrap="square" lIns="0" rIns="0" tIns="0" bIns="0" anchor="t">
            <a:spAutoFit/>
          </a:bodyPr>
          <a:lstStyle/>
          <a:p>
            <a:pPr algn="l">
              <a:lnSpc>
                <a:spcPct val="125000"/>
              </a:lnSpc>
              <a:spcAft>
                <a:spcPts val="600"/>
              </a:spcAft>
            </a:pPr>
            <a:r>
              <a:rPr sz="2400" b="1">
                <a:solidFill>
                  <a:srgbClr val="C4553B"/>
                </a:solidFill>
                <a:latin typeface="Microsoft JhengHei"/>
                <a:ea typeface="Microsoft JhengHei"/>
              </a:rPr>
              <a:t>3</a:t>
            </a:r>
          </a:p>
        </p:txBody>
      </p:sp>
      <p:sp>
        <p:nvSpPr>
          <p:cNvPr id="10" name="TextBox 9"/>
          <p:cNvSpPr txBox="1"/>
          <p:nvPr/>
        </p:nvSpPr>
        <p:spPr>
          <a:xfrm>
            <a:off x="1280160" y="3319272"/>
            <a:ext cx="1024128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「未獲支持」和「無效」不是同一件事</a:t>
            </a:r>
          </a:p>
          <a:p>
            <a:pPr algn="l">
              <a:lnSpc>
                <a:spcPct val="125000"/>
              </a:lnSpc>
              <a:spcAft>
                <a:spcPts val="200"/>
              </a:spcAft>
            </a:pPr>
            <a:r>
              <a:rPr sz="1350" b="0">
                <a:solidFill>
                  <a:srgbClr val="1A1A1A"/>
                </a:solidFill>
                <a:latin typeface="Microsoft JhengHei"/>
                <a:ea typeface="Microsoft JhengHei"/>
              </a:rPr>
              <a:t>區分它們需要代價：設計的可偵測效果大於參照臂自身績效時，只能說「驗證不了」。</a:t>
            </a:r>
          </a:p>
        </p:txBody>
      </p:sp>
      <p:sp>
        <p:nvSpPr>
          <p:cNvPr id="11" name="TextBox 10"/>
          <p:cNvSpPr txBox="1"/>
          <p:nvPr/>
        </p:nvSpPr>
        <p:spPr>
          <a:xfrm>
            <a:off x="640080" y="4105656"/>
            <a:ext cx="548640" cy="457200"/>
          </a:xfrm>
          <a:prstGeom prst="rect">
            <a:avLst/>
          </a:prstGeom>
          <a:noFill/>
        </p:spPr>
        <p:txBody>
          <a:bodyPr wrap="square" lIns="0" rIns="0" tIns="0" bIns="0" anchor="t">
            <a:spAutoFit/>
          </a:bodyPr>
          <a:lstStyle/>
          <a:p>
            <a:pPr algn="l">
              <a:lnSpc>
                <a:spcPct val="125000"/>
              </a:lnSpc>
              <a:spcAft>
                <a:spcPts val="600"/>
              </a:spcAft>
            </a:pPr>
            <a:r>
              <a:rPr sz="2400" b="1">
                <a:solidFill>
                  <a:srgbClr val="C4553B"/>
                </a:solidFill>
                <a:latin typeface="Microsoft JhengHei"/>
                <a:ea typeface="Microsoft JhengHei"/>
              </a:rPr>
              <a:t>4</a:t>
            </a:r>
          </a:p>
        </p:txBody>
      </p:sp>
      <p:sp>
        <p:nvSpPr>
          <p:cNvPr id="12" name="TextBox 11"/>
          <p:cNvSpPr txBox="1"/>
          <p:nvPr/>
        </p:nvSpPr>
        <p:spPr>
          <a:xfrm>
            <a:off x="1280160" y="4123944"/>
            <a:ext cx="1024128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設計選擇會以意想不到的方式攜帶資訊</a:t>
            </a:r>
          </a:p>
          <a:p>
            <a:pPr algn="l">
              <a:lnSpc>
                <a:spcPct val="125000"/>
              </a:lnSpc>
              <a:spcAft>
                <a:spcPts val="200"/>
              </a:spcAft>
            </a:pPr>
            <a:r>
              <a:rPr sz="1350" b="0">
                <a:solidFill>
                  <a:srgbClr val="1A1A1A"/>
                </a:solidFill>
                <a:latin typeface="Microsoft JhengHei"/>
                <a:ea typeface="Microsoft JhengHei"/>
              </a:rPr>
              <a:t>產業先驗不只在 one-hot 裡，也藏在缺值插補規則和距離準則裡。</a:t>
            </a:r>
          </a:p>
        </p:txBody>
      </p:sp>
      <p:sp>
        <p:nvSpPr>
          <p:cNvPr id="13" name="TextBox 12"/>
          <p:cNvSpPr txBox="1"/>
          <p:nvPr/>
        </p:nvSpPr>
        <p:spPr>
          <a:xfrm>
            <a:off x="640080" y="4910328"/>
            <a:ext cx="548640" cy="457200"/>
          </a:xfrm>
          <a:prstGeom prst="rect">
            <a:avLst/>
          </a:prstGeom>
          <a:noFill/>
        </p:spPr>
        <p:txBody>
          <a:bodyPr wrap="square" lIns="0" rIns="0" tIns="0" bIns="0" anchor="t">
            <a:spAutoFit/>
          </a:bodyPr>
          <a:lstStyle/>
          <a:p>
            <a:pPr algn="l">
              <a:lnSpc>
                <a:spcPct val="125000"/>
              </a:lnSpc>
              <a:spcAft>
                <a:spcPts val="600"/>
              </a:spcAft>
            </a:pPr>
            <a:r>
              <a:rPr sz="2400" b="1">
                <a:solidFill>
                  <a:srgbClr val="C4553B"/>
                </a:solidFill>
                <a:latin typeface="Microsoft JhengHei"/>
                <a:ea typeface="Microsoft JhengHei"/>
              </a:rPr>
              <a:t>5</a:t>
            </a:r>
          </a:p>
        </p:txBody>
      </p:sp>
      <p:sp>
        <p:nvSpPr>
          <p:cNvPr id="14" name="TextBox 13"/>
          <p:cNvSpPr txBox="1"/>
          <p:nvPr/>
        </p:nvSpPr>
        <p:spPr>
          <a:xfrm>
            <a:off x="1280160" y="4928616"/>
            <a:ext cx="10241280" cy="777240"/>
          </a:xfrm>
          <a:prstGeom prst="rect">
            <a:avLst/>
          </a:prstGeom>
          <a:noFill/>
        </p:spPr>
        <p:txBody>
          <a:bodyPr wrap="square" lIns="0" rIns="0" tIns="0" bIns="0" anchor="t">
            <a:spAutoFit/>
          </a:bodyPr>
          <a:lstStyle/>
          <a:p>
            <a:pPr algn="l">
              <a:lnSpc>
                <a:spcPct val="125000"/>
              </a:lnSpc>
              <a:spcAft>
                <a:spcPts val="200"/>
              </a:spcAft>
            </a:pPr>
            <a:r>
              <a:rPr sz="1600" b="1">
                <a:solidFill>
                  <a:srgbClr val="0B2A5B"/>
                </a:solidFill>
                <a:latin typeface="Microsoft JhengHei"/>
                <a:ea typeface="Microsoft JhengHei"/>
              </a:rPr>
              <a:t>方法章寫了什麼，跟程式做了什麼，是兩件要分別驗證的事</a:t>
            </a:r>
          </a:p>
          <a:p>
            <a:pPr algn="l">
              <a:lnSpc>
                <a:spcPct val="125000"/>
              </a:lnSpc>
              <a:spcAft>
                <a:spcPts val="200"/>
              </a:spcAft>
            </a:pPr>
            <a:r>
              <a:rPr sz="1350" b="0">
                <a:solidFill>
                  <a:srgbClr val="1A1A1A"/>
                </a:solidFill>
                <a:latin typeface="Microsoft JhengHei"/>
                <a:ea typeface="Microsoft JhengHei"/>
              </a:rPr>
              <a:t>修正實作錯誤後，交易層從 0/5 顯著變成 3/5 顯著。</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B2A5B"/>
        </a:solidFill>
        <a:effectLst/>
      </p:bgPr>
    </p:bg>
    <p:spTree>
      <p:nvGrpSpPr>
        <p:cNvPr id="1" name=""/>
        <p:cNvGrpSpPr/>
        <p:nvPr/>
      </p:nvGrpSpPr>
      <p:grpSpPr/>
      <p:sp>
        <p:nvSpPr>
          <p:cNvPr id="2" name="TextBox 1"/>
          <p:cNvSpPr txBox="1"/>
          <p:nvPr/>
        </p:nvSpPr>
        <p:spPr>
          <a:xfrm>
            <a:off x="640080" y="2148840"/>
            <a:ext cx="10881360" cy="914400"/>
          </a:xfrm>
          <a:prstGeom prst="rect">
            <a:avLst/>
          </a:prstGeom>
          <a:noFill/>
        </p:spPr>
        <p:txBody>
          <a:bodyPr wrap="square" lIns="0" rIns="0" tIns="0" bIns="0" anchor="t">
            <a:spAutoFit/>
          </a:bodyPr>
          <a:lstStyle/>
          <a:p>
            <a:pPr algn="l">
              <a:lnSpc>
                <a:spcPct val="125000"/>
              </a:lnSpc>
              <a:spcAft>
                <a:spcPts val="600"/>
              </a:spcAft>
            </a:pPr>
            <a:r>
              <a:rPr sz="4000" b="1">
                <a:solidFill>
                  <a:srgbClr val="FFFFFF"/>
                </a:solidFill>
                <a:latin typeface="Microsoft JhengHei"/>
                <a:ea typeface="Microsoft JhengHei"/>
              </a:rPr>
              <a:t>謝謝各位老師</a:t>
            </a:r>
          </a:p>
        </p:txBody>
      </p:sp>
      <p:sp>
        <p:nvSpPr>
          <p:cNvPr id="3" name="TextBox 2"/>
          <p:cNvSpPr txBox="1"/>
          <p:nvPr/>
        </p:nvSpPr>
        <p:spPr>
          <a:xfrm>
            <a:off x="640080" y="3154680"/>
            <a:ext cx="10881360" cy="548640"/>
          </a:xfrm>
          <a:prstGeom prst="rect">
            <a:avLst/>
          </a:prstGeom>
          <a:noFill/>
        </p:spPr>
        <p:txBody>
          <a:bodyPr wrap="square" lIns="0" rIns="0" tIns="0" bIns="0" anchor="t">
            <a:spAutoFit/>
          </a:bodyPr>
          <a:lstStyle/>
          <a:p>
            <a:pPr algn="l">
              <a:lnSpc>
                <a:spcPct val="125000"/>
              </a:lnSpc>
              <a:spcAft>
                <a:spcPts val="600"/>
              </a:spcAft>
            </a:pPr>
            <a:r>
              <a:rPr sz="2200" b="0">
                <a:solidFill>
                  <a:srgbClr val="E8EDF5"/>
                </a:solidFill>
                <a:latin typeface="Microsoft JhengHei"/>
                <a:ea typeface="Microsoft JhengHei"/>
              </a:rPr>
              <a:t>敬請指教</a:t>
            </a:r>
          </a:p>
        </p:txBody>
      </p:sp>
      <p:sp>
        <p:nvSpPr>
          <p:cNvPr id="4" name="TextBox 3"/>
          <p:cNvSpPr txBox="1"/>
          <p:nvPr/>
        </p:nvSpPr>
        <p:spPr>
          <a:xfrm>
            <a:off x="640080" y="4892040"/>
            <a:ext cx="10881360" cy="731520"/>
          </a:xfrm>
          <a:prstGeom prst="rect">
            <a:avLst/>
          </a:prstGeom>
          <a:noFill/>
        </p:spPr>
        <p:txBody>
          <a:bodyPr wrap="square" lIns="0" rIns="0" tIns="0" bIns="0" anchor="t">
            <a:spAutoFit/>
          </a:bodyPr>
          <a:lstStyle/>
          <a:p>
            <a:pPr algn="l">
              <a:lnSpc>
                <a:spcPct val="125000"/>
              </a:lnSpc>
              <a:spcAft>
                <a:spcPts val="600"/>
              </a:spcAft>
            </a:pPr>
            <a:r>
              <a:rPr sz="1300" b="0">
                <a:solidFill>
                  <a:srgbClr val="9FB3D1"/>
                </a:solidFill>
                <a:latin typeface="Microsoft JhengHei"/>
                <a:ea typeface="Microsoft JhengHei"/>
              </a:rPr>
              <a:t>備用投影片：預先登記核對、五輪重訓、三個報酬口徑、實作修正、市況分層、交易端改良否證、前行研究差異、參數敏感性、分組穩定度、多重檢定、附錄 E 完整表、兩年形成期延伸</a:t>
            </a:r>
          </a:p>
        </p:txBody>
      </p:sp>
      <p:sp>
        <p:nvSpPr>
          <p:cNvPr id="5" name="TextBox 4"/>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E8EDF5"/>
                </a:solidFill>
                <a:latin typeface="Microsoft JhengHei"/>
                <a:ea typeface="Microsoft JhengHe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t">
            <a:spAutoFit/>
          </a:bodyPr>
          <a:lstStyle/>
          <a:p>
            <a:pPr algn="l">
              <a:lnSpc>
                <a:spcPct val="125000"/>
              </a:lnSpc>
              <a:spcAft>
                <a:spcPts val="600"/>
              </a:spcAft>
            </a:pPr>
            <a:r>
              <a:rPr sz="3000" b="1">
                <a:solidFill>
                  <a:srgbClr val="0B2A5B"/>
                </a:solidFill>
                <a:latin typeface="Microsoft JhengHei"/>
                <a:ea typeface="Microsoft JhengHei"/>
              </a:rPr>
              <a:t>備用投影片</a:t>
            </a:r>
          </a:p>
        </p:txBody>
      </p:sp>
      <p:sp>
        <p:nvSpPr>
          <p:cNvPr id="3" name="TextBox 2"/>
          <p:cNvSpPr txBox="1"/>
          <p:nvPr/>
        </p:nvSpPr>
        <p:spPr>
          <a:xfrm>
            <a:off x="640080" y="1508760"/>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B1</a:t>
            </a:r>
          </a:p>
        </p:txBody>
      </p:sp>
      <p:sp>
        <p:nvSpPr>
          <p:cNvPr id="4" name="TextBox 3"/>
          <p:cNvSpPr txBox="1"/>
          <p:nvPr/>
        </p:nvSpPr>
        <p:spPr>
          <a:xfrm>
            <a:off x="1417319" y="1508760"/>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預先登記的七項執行核對</a:t>
            </a:r>
          </a:p>
          <a:p>
            <a:pPr algn="l">
              <a:lnSpc>
                <a:spcPct val="125000"/>
              </a:lnSpc>
              <a:spcAft>
                <a:spcPts val="0"/>
              </a:spcAft>
            </a:pPr>
            <a:r>
              <a:rPr sz="1200" b="0">
                <a:solidFill>
                  <a:srgbClr val="6B7280"/>
                </a:solidFill>
                <a:latin typeface="Microsoft JhengHei"/>
                <a:ea typeface="Microsoft JhengHei"/>
              </a:rPr>
              <a:t>§3.3.5、附錄 D</a:t>
            </a:r>
          </a:p>
        </p:txBody>
      </p:sp>
      <p:sp>
        <p:nvSpPr>
          <p:cNvPr id="5" name="TextBox 4"/>
          <p:cNvSpPr txBox="1"/>
          <p:nvPr/>
        </p:nvSpPr>
        <p:spPr>
          <a:xfrm>
            <a:off x="640080" y="2112264"/>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B2</a:t>
            </a:r>
          </a:p>
        </p:txBody>
      </p:sp>
      <p:sp>
        <p:nvSpPr>
          <p:cNvPr id="6" name="TextBox 5"/>
          <p:cNvSpPr txBox="1"/>
          <p:nvPr/>
        </p:nvSpPr>
        <p:spPr>
          <a:xfrm>
            <a:off x="1417319" y="2112264"/>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五輪獨立重訓：位移是否超出訓練雜訊</a:t>
            </a:r>
          </a:p>
          <a:p>
            <a:pPr algn="l">
              <a:lnSpc>
                <a:spcPct val="125000"/>
              </a:lnSpc>
              <a:spcAft>
                <a:spcPts val="0"/>
              </a:spcAft>
            </a:pPr>
            <a:r>
              <a:rPr sz="1200" b="0">
                <a:solidFill>
                  <a:srgbClr val="6B7280"/>
                </a:solidFill>
                <a:latin typeface="Microsoft JhengHei"/>
                <a:ea typeface="Microsoft JhengHei"/>
              </a:rPr>
              <a:t>§4.6.1</a:t>
            </a:r>
          </a:p>
        </p:txBody>
      </p:sp>
      <p:sp>
        <p:nvSpPr>
          <p:cNvPr id="7" name="TextBox 6"/>
          <p:cNvSpPr txBox="1"/>
          <p:nvPr/>
        </p:nvSpPr>
        <p:spPr>
          <a:xfrm>
            <a:off x="640080" y="2715768"/>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B3</a:t>
            </a:r>
          </a:p>
        </p:txBody>
      </p:sp>
      <p:sp>
        <p:nvSpPr>
          <p:cNvPr id="8" name="TextBox 7"/>
          <p:cNvSpPr txBox="1"/>
          <p:nvPr/>
        </p:nvSpPr>
        <p:spPr>
          <a:xfrm>
            <a:off x="1417319" y="2715768"/>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三個報酬口徑的完整數字</a:t>
            </a:r>
          </a:p>
          <a:p>
            <a:pPr algn="l">
              <a:lnSpc>
                <a:spcPct val="125000"/>
              </a:lnSpc>
              <a:spcAft>
                <a:spcPts val="0"/>
              </a:spcAft>
            </a:pPr>
            <a:r>
              <a:rPr sz="1200" b="0">
                <a:solidFill>
                  <a:srgbClr val="6B7280"/>
                </a:solidFill>
                <a:latin typeface="Microsoft JhengHei"/>
                <a:ea typeface="Microsoft JhengHei"/>
              </a:rPr>
              <a:t>§5.1.1</a:t>
            </a:r>
          </a:p>
        </p:txBody>
      </p:sp>
      <p:sp>
        <p:nvSpPr>
          <p:cNvPr id="9" name="TextBox 8"/>
          <p:cNvSpPr txBox="1"/>
          <p:nvPr/>
        </p:nvSpPr>
        <p:spPr>
          <a:xfrm>
            <a:off x="640080" y="3319272"/>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B4</a:t>
            </a:r>
          </a:p>
        </p:txBody>
      </p:sp>
      <p:sp>
        <p:nvSpPr>
          <p:cNvPr id="10" name="TextBox 9"/>
          <p:cNvSpPr txBox="1"/>
          <p:nvPr/>
        </p:nvSpPr>
        <p:spPr>
          <a:xfrm>
            <a:off x="1417319" y="3319272"/>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實作與宣告不符的修正記錄</a:t>
            </a:r>
          </a:p>
          <a:p>
            <a:pPr algn="l">
              <a:lnSpc>
                <a:spcPct val="125000"/>
              </a:lnSpc>
              <a:spcAft>
                <a:spcPts val="0"/>
              </a:spcAft>
            </a:pPr>
            <a:r>
              <a:rPr sz="1200" b="0">
                <a:solidFill>
                  <a:srgbClr val="6B7280"/>
                </a:solidFill>
                <a:latin typeface="Microsoft JhengHei"/>
                <a:ea typeface="Microsoft JhengHei"/>
              </a:rPr>
              <a:t>附錄 B</a:t>
            </a:r>
          </a:p>
        </p:txBody>
      </p:sp>
      <p:sp>
        <p:nvSpPr>
          <p:cNvPr id="11" name="TextBox 10"/>
          <p:cNvSpPr txBox="1"/>
          <p:nvPr/>
        </p:nvSpPr>
        <p:spPr>
          <a:xfrm>
            <a:off x="640080" y="3922776"/>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B5</a:t>
            </a:r>
          </a:p>
        </p:txBody>
      </p:sp>
      <p:sp>
        <p:nvSpPr>
          <p:cNvPr id="12" name="TextBox 11"/>
          <p:cNvSpPr txBox="1"/>
          <p:nvPr/>
        </p:nvSpPr>
        <p:spPr>
          <a:xfrm>
            <a:off x="1417319" y="3922776"/>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市況分層：獲利集中在什麼時候</a:t>
            </a:r>
          </a:p>
          <a:p>
            <a:pPr algn="l">
              <a:lnSpc>
                <a:spcPct val="125000"/>
              </a:lnSpc>
              <a:spcAft>
                <a:spcPts val="0"/>
              </a:spcAft>
            </a:pPr>
            <a:r>
              <a:rPr sz="1200" b="0">
                <a:solidFill>
                  <a:srgbClr val="6B7280"/>
                </a:solidFill>
                <a:latin typeface="Microsoft JhengHei"/>
                <a:ea typeface="Microsoft JhengHei"/>
              </a:rPr>
              <a:t>附錄 C.1、§4.6.2</a:t>
            </a:r>
          </a:p>
        </p:txBody>
      </p:sp>
      <p:sp>
        <p:nvSpPr>
          <p:cNvPr id="13" name="TextBox 12"/>
          <p:cNvSpPr txBox="1"/>
          <p:nvPr/>
        </p:nvSpPr>
        <p:spPr>
          <a:xfrm>
            <a:off x="640080" y="4526280"/>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B6</a:t>
            </a:r>
          </a:p>
        </p:txBody>
      </p:sp>
      <p:sp>
        <p:nvSpPr>
          <p:cNvPr id="14" name="TextBox 13"/>
          <p:cNvSpPr txBox="1"/>
          <p:nvPr/>
        </p:nvSpPr>
        <p:spPr>
          <a:xfrm>
            <a:off x="1417319" y="4526280"/>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交易端三項改良的受控否證</a:t>
            </a:r>
          </a:p>
          <a:p>
            <a:pPr algn="l">
              <a:lnSpc>
                <a:spcPct val="125000"/>
              </a:lnSpc>
              <a:spcAft>
                <a:spcPts val="0"/>
              </a:spcAft>
            </a:pPr>
            <a:r>
              <a:rPr sz="1200" b="0">
                <a:solidFill>
                  <a:srgbClr val="6B7280"/>
                </a:solidFill>
                <a:latin typeface="Microsoft JhengHei"/>
                <a:ea typeface="Microsoft JhengHei"/>
              </a:rPr>
              <a:t>附錄 C</a:t>
            </a:r>
          </a:p>
        </p:txBody>
      </p:sp>
      <p:sp>
        <p:nvSpPr>
          <p:cNvPr id="15" name="TextBox 14"/>
          <p:cNvSpPr txBox="1"/>
          <p:nvPr/>
        </p:nvSpPr>
        <p:spPr>
          <a:xfrm>
            <a:off x="640080" y="5129783"/>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B7</a:t>
            </a:r>
          </a:p>
        </p:txBody>
      </p:sp>
      <p:sp>
        <p:nvSpPr>
          <p:cNvPr id="16" name="TextBox 15"/>
          <p:cNvSpPr txBox="1"/>
          <p:nvPr/>
        </p:nvSpPr>
        <p:spPr>
          <a:xfrm>
            <a:off x="1417319" y="5129783"/>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與前行研究的差異定位</a:t>
            </a:r>
          </a:p>
          <a:p>
            <a:pPr algn="l">
              <a:lnSpc>
                <a:spcPct val="125000"/>
              </a:lnSpc>
              <a:spcAft>
                <a:spcPts val="0"/>
              </a:spcAft>
            </a:pPr>
            <a:r>
              <a:rPr sz="1200" b="0">
                <a:solidFill>
                  <a:srgbClr val="6B7280"/>
                </a:solidFill>
                <a:latin typeface="Microsoft JhengHei"/>
                <a:ea typeface="Microsoft JhengHei"/>
              </a:rPr>
              <a:t>附錄 A</a:t>
            </a:r>
          </a:p>
        </p:txBody>
      </p:sp>
      <p:sp>
        <p:nvSpPr>
          <p:cNvPr id="17" name="TextBox 16"/>
          <p:cNvSpPr txBox="1"/>
          <p:nvPr/>
        </p:nvSpPr>
        <p:spPr>
          <a:xfrm>
            <a:off x="6217920" y="1508760"/>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B8</a:t>
            </a:r>
          </a:p>
        </p:txBody>
      </p:sp>
      <p:sp>
        <p:nvSpPr>
          <p:cNvPr id="18" name="TextBox 17"/>
          <p:cNvSpPr txBox="1"/>
          <p:nvPr/>
        </p:nvSpPr>
        <p:spPr>
          <a:xfrm>
            <a:off x="6995159" y="1508760"/>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參數敏感性（OFAT）</a:t>
            </a:r>
          </a:p>
          <a:p>
            <a:pPr algn="l">
              <a:lnSpc>
                <a:spcPct val="125000"/>
              </a:lnSpc>
              <a:spcAft>
                <a:spcPts val="0"/>
              </a:spcAft>
            </a:pPr>
            <a:r>
              <a:rPr sz="1200" b="0">
                <a:solidFill>
                  <a:srgbClr val="6B7280"/>
                </a:solidFill>
                <a:latin typeface="Microsoft JhengHei"/>
                <a:ea typeface="Microsoft JhengHei"/>
              </a:rPr>
              <a:t>§3.7</a:t>
            </a:r>
          </a:p>
        </p:txBody>
      </p:sp>
      <p:sp>
        <p:nvSpPr>
          <p:cNvPr id="19" name="TextBox 18"/>
          <p:cNvSpPr txBox="1"/>
          <p:nvPr/>
        </p:nvSpPr>
        <p:spPr>
          <a:xfrm>
            <a:off x="6217920" y="2112264"/>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B9</a:t>
            </a:r>
          </a:p>
        </p:txBody>
      </p:sp>
      <p:sp>
        <p:nvSpPr>
          <p:cNvPr id="20" name="TextBox 19"/>
          <p:cNvSpPr txBox="1"/>
          <p:nvPr/>
        </p:nvSpPr>
        <p:spPr>
          <a:xfrm>
            <a:off x="6995159" y="2112264"/>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分組結構的跨期穩定度</a:t>
            </a:r>
          </a:p>
          <a:p>
            <a:pPr algn="l">
              <a:lnSpc>
                <a:spcPct val="125000"/>
              </a:lnSpc>
              <a:spcAft>
                <a:spcPts val="0"/>
              </a:spcAft>
            </a:pPr>
            <a:r>
              <a:rPr sz="1200" b="0">
                <a:solidFill>
                  <a:srgbClr val="6B7280"/>
                </a:solidFill>
                <a:latin typeface="Microsoft JhengHei"/>
                <a:ea typeface="Microsoft JhengHei"/>
              </a:rPr>
              <a:t>§3.2.4</a:t>
            </a:r>
          </a:p>
        </p:txBody>
      </p:sp>
      <p:sp>
        <p:nvSpPr>
          <p:cNvPr id="21" name="TextBox 20"/>
          <p:cNvSpPr txBox="1"/>
          <p:nvPr/>
        </p:nvSpPr>
        <p:spPr>
          <a:xfrm>
            <a:off x="6217920" y="2715768"/>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B10</a:t>
            </a:r>
          </a:p>
        </p:txBody>
      </p:sp>
      <p:sp>
        <p:nvSpPr>
          <p:cNvPr id="22" name="TextBox 21"/>
          <p:cNvSpPr txBox="1"/>
          <p:nvPr/>
        </p:nvSpPr>
        <p:spPr>
          <a:xfrm>
            <a:off x="6995159" y="2715768"/>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多重檢定：為什麼控制 FDR</a:t>
            </a:r>
          </a:p>
          <a:p>
            <a:pPr algn="l">
              <a:lnSpc>
                <a:spcPct val="125000"/>
              </a:lnSpc>
              <a:spcAft>
                <a:spcPts val="0"/>
              </a:spcAft>
            </a:pPr>
            <a:r>
              <a:rPr sz="1200" b="0">
                <a:solidFill>
                  <a:srgbClr val="6B7280"/>
                </a:solidFill>
                <a:latin typeface="Microsoft JhengHei"/>
                <a:ea typeface="Microsoft JhengHei"/>
              </a:rPr>
              <a:t>§3.6.5</a:t>
            </a:r>
          </a:p>
        </p:txBody>
      </p:sp>
      <p:sp>
        <p:nvSpPr>
          <p:cNvPr id="23" name="TextBox 22"/>
          <p:cNvSpPr txBox="1"/>
          <p:nvPr/>
        </p:nvSpPr>
        <p:spPr>
          <a:xfrm>
            <a:off x="6217920" y="3319272"/>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B11</a:t>
            </a:r>
          </a:p>
        </p:txBody>
      </p:sp>
      <p:sp>
        <p:nvSpPr>
          <p:cNvPr id="24" name="TextBox 23"/>
          <p:cNvSpPr txBox="1"/>
          <p:nvPr/>
        </p:nvSpPr>
        <p:spPr>
          <a:xfrm>
            <a:off x="6995159" y="3319272"/>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附錄 E 完整九臂表</a:t>
            </a:r>
          </a:p>
          <a:p>
            <a:pPr algn="l">
              <a:lnSpc>
                <a:spcPct val="125000"/>
              </a:lnSpc>
              <a:spcAft>
                <a:spcPts val="0"/>
              </a:spcAft>
            </a:pPr>
            <a:r>
              <a:rPr sz="1200" b="0">
                <a:solidFill>
                  <a:srgbClr val="6B7280"/>
                </a:solidFill>
                <a:latin typeface="Microsoft JhengHei"/>
                <a:ea typeface="Microsoft JhengHei"/>
              </a:rPr>
              <a:t>附錄 E</a:t>
            </a:r>
          </a:p>
        </p:txBody>
      </p:sp>
      <p:sp>
        <p:nvSpPr>
          <p:cNvPr id="25" name="TextBox 24"/>
          <p:cNvSpPr txBox="1"/>
          <p:nvPr/>
        </p:nvSpPr>
        <p:spPr>
          <a:xfrm>
            <a:off x="6217920" y="3922776"/>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B12</a:t>
            </a:r>
          </a:p>
        </p:txBody>
      </p:sp>
      <p:sp>
        <p:nvSpPr>
          <p:cNvPr id="26" name="TextBox 25"/>
          <p:cNvSpPr txBox="1"/>
          <p:nvPr/>
        </p:nvSpPr>
        <p:spPr>
          <a:xfrm>
            <a:off x="6995159" y="3922776"/>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15 格基準的三個報酬口徑</a:t>
            </a:r>
          </a:p>
          <a:p>
            <a:pPr algn="l">
              <a:lnSpc>
                <a:spcPct val="125000"/>
              </a:lnSpc>
              <a:spcAft>
                <a:spcPts val="0"/>
              </a:spcAft>
            </a:pPr>
            <a:r>
              <a:rPr sz="1200" b="0">
                <a:solidFill>
                  <a:srgbClr val="6B7280"/>
                </a:solidFill>
                <a:latin typeface="Microsoft JhengHei"/>
                <a:ea typeface="Microsoft JhengHei"/>
              </a:rPr>
              <a:t>§5.1.1</a:t>
            </a:r>
          </a:p>
        </p:txBody>
      </p:sp>
      <p:sp>
        <p:nvSpPr>
          <p:cNvPr id="27" name="TextBox 26"/>
          <p:cNvSpPr txBox="1"/>
          <p:nvPr/>
        </p:nvSpPr>
        <p:spPr>
          <a:xfrm>
            <a:off x="6217920" y="4526280"/>
            <a:ext cx="731520" cy="457200"/>
          </a:xfrm>
          <a:prstGeom prst="rect">
            <a:avLst/>
          </a:prstGeom>
          <a:noFill/>
        </p:spPr>
        <p:txBody>
          <a:bodyPr wrap="square" lIns="0" rIns="0" tIns="0" bIns="0" anchor="t">
            <a:spAutoFit/>
          </a:bodyPr>
          <a:lstStyle/>
          <a:p>
            <a:pPr algn="l">
              <a:lnSpc>
                <a:spcPct val="125000"/>
              </a:lnSpc>
              <a:spcAft>
                <a:spcPts val="600"/>
              </a:spcAft>
            </a:pPr>
            <a:r>
              <a:rPr sz="1600" b="1">
                <a:solidFill>
                  <a:srgbClr val="C4553B"/>
                </a:solidFill>
                <a:latin typeface="Microsoft JhengHei"/>
                <a:ea typeface="Microsoft JhengHei"/>
              </a:rPr>
              <a:t>B13</a:t>
            </a:r>
          </a:p>
        </p:txBody>
      </p:sp>
      <p:sp>
        <p:nvSpPr>
          <p:cNvPr id="28" name="TextBox 27"/>
          <p:cNvSpPr txBox="1"/>
          <p:nvPr/>
        </p:nvSpPr>
        <p:spPr>
          <a:xfrm>
            <a:off x="6995159" y="4526280"/>
            <a:ext cx="4663440" cy="640080"/>
          </a:xfrm>
          <a:prstGeom prst="rect">
            <a:avLst/>
          </a:prstGeom>
          <a:noFill/>
        </p:spPr>
        <p:txBody>
          <a:bodyPr wrap="square" lIns="0" rIns="0" tIns="0" bIns="0" anchor="t">
            <a:spAutoFit/>
          </a:bodyPr>
          <a:lstStyle/>
          <a:p>
            <a:pPr algn="l">
              <a:lnSpc>
                <a:spcPct val="125000"/>
              </a:lnSpc>
              <a:spcAft>
                <a:spcPts val="0"/>
              </a:spcAft>
            </a:pPr>
            <a:r>
              <a:rPr sz="1500" b="1">
                <a:solidFill>
                  <a:srgbClr val="0B2A5B"/>
                </a:solidFill>
                <a:latin typeface="Microsoft JhengHei"/>
                <a:ea typeface="Microsoft JhengHei"/>
              </a:rPr>
              <a:t>延伸：核心策略改用兩年形成期</a:t>
            </a:r>
          </a:p>
          <a:p>
            <a:pPr algn="l">
              <a:lnSpc>
                <a:spcPct val="125000"/>
              </a:lnSpc>
              <a:spcAft>
                <a:spcPts val="0"/>
              </a:spcAft>
            </a:pPr>
            <a:r>
              <a:rPr sz="1200" b="0">
                <a:solidFill>
                  <a:srgbClr val="6B7280"/>
                </a:solidFill>
                <a:latin typeface="Microsoft JhengHei"/>
                <a:ea typeface="Microsoft JhengHei"/>
              </a:rPr>
              <a:t>附錄 F</a:t>
            </a:r>
          </a:p>
        </p:txBody>
      </p:sp>
      <p:sp>
        <p:nvSpPr>
          <p:cNvPr id="29" name="TextBox 28"/>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§3.3.5 執行核對、附錄 D</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B1　預先登記的七項執行核對</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60</a:t>
            </a:r>
          </a:p>
        </p:txBody>
      </p:sp>
      <p:graphicFrame>
        <p:nvGraphicFramePr>
          <p:cNvPr id="5" name="Table 4"/>
          <p:cNvGraphicFramePr>
            <a:graphicFrameLocks noGrp="1"/>
          </p:cNvGraphicFramePr>
          <p:nvPr/>
        </p:nvGraphicFramePr>
        <p:xfrm>
          <a:off x="640080" y="1691640"/>
          <a:ext cx="10881360" cy="2779776"/>
        </p:xfrm>
        <a:graphic>
          <a:graphicData uri="http://schemas.openxmlformats.org/drawingml/2006/table">
            <a:tbl>
              <a:tblPr firstRow="1" bandRow="1">
                <a:tableStyleId>{5C22544A-7EE6-4342-B048-85BDC9FD1C3A}</a:tableStyleId>
              </a:tblPr>
              <a:tblGrid>
                <a:gridCol w="548640"/>
                <a:gridCol w="6949440"/>
                <a:gridCol w="3383280"/>
              </a:tblGrid>
              <a:tr h="347472">
                <a:tc>
                  <a:txBody>
                    <a:bodyPr wrap="square"/>
                    <a:lstStyle/>
                    <a:p>
                      <a:pPr algn="ctr">
                        <a:lnSpc>
                          <a:spcPct val="110000"/>
                        </a:lnSpc>
                        <a:spcAft>
                          <a:spcPts val="0"/>
                        </a:spcAft>
                      </a:pPr>
                      <a:r>
                        <a:rPr sz="1400" b="1">
                          <a:solidFill>
                            <a:srgbClr val="FFFFFF"/>
                          </a:solidFill>
                          <a:latin typeface="Microsoft JhengHei"/>
                          <a:ea typeface="Microsoft JhengHei"/>
                        </a:rPr>
                        <a:t>#</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核對項目</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實測</a:t>
                      </a:r>
                    </a:p>
                  </a:txBody>
                  <a:tcPr marT="27432" marB="27432" marL="73152" marR="73152" anchor="ctr">
                    <a:solidFill>
                      <a:srgbClr val="0B2A5B"/>
                    </a:solidFill>
                  </a:tcPr>
                </a:tc>
              </a:tr>
              <a:tr h="347472">
                <a:tc>
                  <a:txBody>
                    <a:bodyPr wrap="square"/>
                    <a:lstStyle/>
                    <a:p>
                      <a:pPr algn="ctr">
                        <a:lnSpc>
                          <a:spcPct val="110000"/>
                        </a:lnSpc>
                        <a:spcAft>
                          <a:spcPts val="0"/>
                        </a:spcAft>
                      </a:pPr>
                      <a:r>
                        <a:rPr sz="1400" b="0">
                          <a:solidFill>
                            <a:srgbClr val="1A1A1A"/>
                          </a:solidFill>
                          <a:latin typeface="Microsoft JhengHei"/>
                          <a:ea typeface="Microsoft JhengHei"/>
                        </a:rPr>
                        <a:t>1</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每期交易日列數完整</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 五臂皆 0 異常</a:t>
                      </a:r>
                    </a:p>
                  </a:txBody>
                  <a:tcPr marT="27432" marB="27432" marL="73152" marR="73152" anchor="ctr">
                    <a:solidFill>
                      <a:srgbClr val="FFFFFF"/>
                    </a:solidFill>
                  </a:tcPr>
                </a:tc>
              </a:tr>
              <a:tr h="347472">
                <a:tc>
                  <a:txBody>
                    <a:bodyPr wrap="square"/>
                    <a:lstStyle/>
                    <a:p>
                      <a:pPr algn="ctr">
                        <a:lnSpc>
                          <a:spcPct val="110000"/>
                        </a:lnSpc>
                        <a:spcAft>
                          <a:spcPts val="0"/>
                        </a:spcAft>
                      </a:pPr>
                      <a:r>
                        <a:rPr sz="1400" b="0">
                          <a:solidFill>
                            <a:srgbClr val="1A1A1A"/>
                          </a:solidFill>
                          <a:latin typeface="Microsoft JhengHei"/>
                          <a:ea typeface="Microsoft JhengHei"/>
                        </a:rPr>
                        <a:t>2</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缺期僅限左緣，且非 v1 的四臂一致</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a:t>
                      </a:r>
                    </a:p>
                  </a:txBody>
                  <a:tcPr marT="27432" marB="27432" marL="73152" marR="73152" anchor="ctr">
                    <a:solidFill>
                      <a:srgbClr val="E8EDF5"/>
                    </a:solidFill>
                  </a:tcPr>
                </a:tc>
              </a:tr>
              <a:tr h="347472">
                <a:tc>
                  <a:txBody>
                    <a:bodyPr wrap="square"/>
                    <a:lstStyle/>
                    <a:p>
                      <a:pPr algn="ctr">
                        <a:lnSpc>
                          <a:spcPct val="110000"/>
                        </a:lnSpc>
                        <a:spcAft>
                          <a:spcPts val="0"/>
                        </a:spcAft>
                      </a:pPr>
                      <a:r>
                        <a:rPr sz="1400" b="0">
                          <a:solidFill>
                            <a:srgbClr val="1A1A1A"/>
                          </a:solidFill>
                          <a:latin typeface="Microsoft JhengHei"/>
                          <a:ea typeface="Microsoft JhengHei"/>
                        </a:rPr>
                        <a:t>3</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五臂共同期 ≥ 100</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 108</a:t>
                      </a:r>
                    </a:p>
                  </a:txBody>
                  <a:tcPr marT="27432" marB="27432" marL="73152" marR="73152" anchor="ctr">
                    <a:solidFill>
                      <a:srgbClr val="FFFFFF"/>
                    </a:solidFill>
                  </a:tcPr>
                </a:tc>
              </a:tr>
              <a:tr h="347472">
                <a:tc>
                  <a:txBody>
                    <a:bodyPr wrap="square"/>
                    <a:lstStyle/>
                    <a:p>
                      <a:pPr algn="ctr">
                        <a:lnSpc>
                          <a:spcPct val="110000"/>
                        </a:lnSpc>
                        <a:spcAft>
                          <a:spcPts val="0"/>
                        </a:spcAft>
                      </a:pPr>
                      <a:r>
                        <a:rPr sz="1400" b="0">
                          <a:solidFill>
                            <a:srgbClr val="1A1A1A"/>
                          </a:solidFill>
                          <a:latin typeface="Microsoft JhengHei"/>
                          <a:ea typeface="Microsoft JhengHei"/>
                        </a:rPr>
                        <a:t>4</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v1／v2 逐期耗時中位 ≥ 60 分（確認模型真的在訓練）</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 69.7／71.0 分</a:t>
                      </a:r>
                    </a:p>
                  </a:txBody>
                  <a:tcPr marT="27432" marB="27432" marL="73152" marR="73152" anchor="ctr">
                    <a:solidFill>
                      <a:srgbClr val="E8EDF5"/>
                    </a:solidFill>
                  </a:tcPr>
                </a:tc>
              </a:tr>
              <a:tr h="347472">
                <a:tc>
                  <a:txBody>
                    <a:bodyPr wrap="square"/>
                    <a:lstStyle/>
                    <a:p>
                      <a:pPr algn="ctr">
                        <a:lnSpc>
                          <a:spcPct val="110000"/>
                        </a:lnSpc>
                        <a:spcAft>
                          <a:spcPts val="0"/>
                        </a:spcAft>
                      </a:pPr>
                      <a:r>
                        <a:rPr sz="1400" b="0">
                          <a:solidFill>
                            <a:srgbClr val="1A1A1A"/>
                          </a:solidFill>
                          <a:latin typeface="Microsoft JhengHei"/>
                          <a:ea typeface="Microsoft JhengHei"/>
                        </a:rPr>
                        <a:t>5</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五臂皆 dollar 對沖口徑</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a:t>
                      </a:r>
                    </a:p>
                  </a:txBody>
                  <a:tcPr marT="27432" marB="27432" marL="73152" marR="73152" anchor="ctr">
                    <a:solidFill>
                      <a:srgbClr val="FFFFFF"/>
                    </a:solidFill>
                  </a:tcPr>
                </a:tc>
              </a:tr>
              <a:tr h="347472">
                <a:tc>
                  <a:txBody>
                    <a:bodyPr wrap="square"/>
                    <a:lstStyle/>
                    <a:p>
                      <a:pPr algn="ctr">
                        <a:lnSpc>
                          <a:spcPct val="110000"/>
                        </a:lnSpc>
                        <a:spcAft>
                          <a:spcPts val="0"/>
                        </a:spcAft>
                      </a:pPr>
                      <a:r>
                        <a:rPr sz="1400" b="0">
                          <a:solidFill>
                            <a:srgbClr val="1A1A1A"/>
                          </a:solidFill>
                          <a:latin typeface="Microsoft JhengHei"/>
                          <a:ea typeface="Microsoft JhengHei"/>
                        </a:rPr>
                        <a:t>6</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db_method 無測試後綴</a:t>
                      </a:r>
                    </a:p>
                  </a:txBody>
                  <a:tcPr marT="27432" marB="27432" marL="73152" marR="73152" anchor="ctr">
                    <a:solidFill>
                      <a:srgbClr val="E8EDF5"/>
                    </a:solidFill>
                  </a:tcPr>
                </a:tc>
                <a:tc>
                  <a:txBody>
                    <a:bodyPr wrap="square"/>
                    <a:lstStyle/>
                    <a:p>
                      <a:pPr algn="l">
                        <a:lnSpc>
                          <a:spcPct val="110000"/>
                        </a:lnSpc>
                        <a:spcAft>
                          <a:spcPts val="0"/>
                        </a:spcAft>
                      </a:pPr>
                      <a:r>
                        <a:rPr sz="1400" b="0">
                          <a:solidFill>
                            <a:srgbClr val="1A1A1A"/>
                          </a:solidFill>
                          <a:latin typeface="Microsoft JhengHei"/>
                          <a:ea typeface="Microsoft JhengHei"/>
                        </a:rPr>
                        <a:t>✔</a:t>
                      </a:r>
                    </a:p>
                  </a:txBody>
                  <a:tcPr marT="27432" marB="27432" marL="73152" marR="73152" anchor="ctr">
                    <a:solidFill>
                      <a:srgbClr val="E8EDF5"/>
                    </a:solidFill>
                  </a:tcPr>
                </a:tc>
              </a:tr>
              <a:tr h="347472">
                <a:tc>
                  <a:txBody>
                    <a:bodyPr wrap="square"/>
                    <a:lstStyle/>
                    <a:p>
                      <a:pPr algn="ctr">
                        <a:lnSpc>
                          <a:spcPct val="110000"/>
                        </a:lnSpc>
                        <a:spcAft>
                          <a:spcPts val="0"/>
                        </a:spcAft>
                      </a:pPr>
                      <a:r>
                        <a:rPr sz="1400" b="0">
                          <a:solidFill>
                            <a:srgbClr val="1A1A1A"/>
                          </a:solidFill>
                          <a:latin typeface="Microsoft JhengHei"/>
                          <a:ea typeface="Microsoft JhengHei"/>
                        </a:rPr>
                        <a:t>7</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落庫配對期中段無缺期</a:t>
                      </a:r>
                    </a:p>
                  </a:txBody>
                  <a:tcPr marT="27432" marB="27432" marL="73152" marR="73152" anchor="ctr">
                    <a:solidFill>
                      <a:srgbClr val="FFFFFF"/>
                    </a:solidFill>
                  </a:tcPr>
                </a:tc>
                <a:tc>
                  <a:txBody>
                    <a:bodyPr wrap="square"/>
                    <a:lstStyle/>
                    <a:p>
                      <a:pPr algn="l">
                        <a:lnSpc>
                          <a:spcPct val="110000"/>
                        </a:lnSpc>
                        <a:spcAft>
                          <a:spcPts val="0"/>
                        </a:spcAft>
                      </a:pPr>
                      <a:r>
                        <a:rPr sz="1400" b="0">
                          <a:solidFill>
                            <a:srgbClr val="1A1A1A"/>
                          </a:solidFill>
                          <a:latin typeface="Microsoft JhengHei"/>
                          <a:ea typeface="Microsoft JhengHei"/>
                        </a:rPr>
                        <a:t>✔ 五臂皆 0</a:t>
                      </a:r>
                    </a:p>
                  </a:txBody>
                  <a:tcPr marT="27432" marB="27432" marL="73152" marR="73152" anchor="ctr">
                    <a:solidFill>
                      <a:srgbClr val="FFFFFF"/>
                    </a:solidFill>
                  </a:tcPr>
                </a:tc>
              </a:tr>
            </a:tbl>
          </a:graphicData>
        </a:graphic>
      </p:graphicFrame>
      <p:sp>
        <p:nvSpPr>
          <p:cNvPr id="6" name="Rounded Rectangle 5"/>
          <p:cNvSpPr/>
          <p:nvPr/>
        </p:nvSpPr>
        <p:spPr>
          <a:xfrm>
            <a:off x="640080" y="4480560"/>
            <a:ext cx="10881360" cy="14630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一項必須揭露的事後更正</a:t>
            </a:r>
          </a:p>
          <a:p>
            <a:pPr algn="l">
              <a:lnSpc>
                <a:spcPct val="125000"/>
              </a:lnSpc>
              <a:spcAft>
                <a:spcPts val="600"/>
              </a:spcAft>
            </a:pPr>
            <a:r>
              <a:rPr sz="1300" b="0">
                <a:solidFill>
                  <a:srgbClr val="1A1A1A"/>
                </a:solidFill>
                <a:latin typeface="Microsoft JhengHei"/>
                <a:ea typeface="Microsoft JhengHei"/>
              </a:rPr>
              <a:t>分析程式第一次執行時第 2、7 項沒過——原因不在回測，而在</a:t>
            </a:r>
            <a:r>
              <a:rPr sz="1300" b="1">
                <a:solidFill>
                  <a:srgbClr val="1A1A1A"/>
                </a:solidFill>
                <a:latin typeface="Microsoft JhengHei"/>
                <a:ea typeface="Microsoft JhengHei"/>
              </a:rPr>
              <a:t>核對程式把「左緣」寫成單一期</a:t>
            </a:r>
            <a:r>
              <a:rPr sz="1300" b="0">
                <a:solidFill>
                  <a:srgbClr val="1A1A1A"/>
                </a:solidFill>
                <a:latin typeface="Microsoft JhengHei"/>
                <a:ea typeface="Microsoft JhengHei"/>
              </a:rPr>
              <a:t>，而不是整個 12 期的區塊。更正後由失敗轉為通過。依據全部來自早於資料的原文、只用日期不涉結果；但它確實是看到失敗之後才改的，所以逐條記在附錄 D。</a:t>
            </a:r>
            <a:r>
              <a:rPr sz="1300" b="1">
                <a:solidFill>
                  <a:srgbClr val="1A1A1A"/>
                </a:solidFill>
                <a:latin typeface="Microsoft JhengHei"/>
                <a:ea typeface="Microsoft JhengHei"/>
              </a:rPr>
              <a:t>預先登記的價值不在不出錯，而在出錯時留下痕跡。</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§4.6.1 五輪獨立重訓</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B2　五輪獨立重訓：位移是否超出訓練雜訊</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61</a:t>
            </a:r>
          </a:p>
        </p:txBody>
      </p:sp>
      <p:graphicFrame>
        <p:nvGraphicFramePr>
          <p:cNvPr id="5" name="Table 4"/>
          <p:cNvGraphicFramePr>
            <a:graphicFrameLocks noGrp="1"/>
          </p:cNvGraphicFramePr>
          <p:nvPr/>
        </p:nvGraphicFramePr>
        <p:xfrm>
          <a:off x="640080" y="1737360"/>
          <a:ext cx="7132320" cy="2304288"/>
        </p:xfrm>
        <a:graphic>
          <a:graphicData uri="http://schemas.openxmlformats.org/drawingml/2006/table">
            <a:tbl>
              <a:tblPr firstRow="1" bandRow="1">
                <a:tableStyleId>{5C22544A-7EE6-4342-B048-85BDC9FD1C3A}</a:tableStyleId>
              </a:tblPr>
              <a:tblGrid>
                <a:gridCol w="4754880"/>
                <a:gridCol w="2377440"/>
              </a:tblGrid>
              <a:tr h="384048">
                <a:tc>
                  <a:txBody>
                    <a:bodyPr wrap="square"/>
                    <a:lstStyle/>
                    <a:p>
                      <a:pPr algn="l">
                        <a:lnSpc>
                          <a:spcPct val="110000"/>
                        </a:lnSpc>
                        <a:spcAft>
                          <a:spcPts val="0"/>
                        </a:spcAft>
                      </a:pPr>
                      <a:r>
                        <a:rPr sz="1450" b="1">
                          <a:solidFill>
                            <a:srgbClr val="FFFFFF"/>
                          </a:solidFill>
                          <a:latin typeface="Microsoft JhengHei"/>
                          <a:ea typeface="Microsoft JhengHei"/>
                        </a:rPr>
                        <a:t>指標</a:t>
                      </a:r>
                    </a:p>
                  </a:txBody>
                  <a:tcPr marT="27432" marB="27432" marL="73152" marR="73152" anchor="ctr">
                    <a:solidFill>
                      <a:srgbClr val="0B2A5B"/>
                    </a:solidFill>
                  </a:tcPr>
                </a:tc>
                <a:tc>
                  <a:txBody>
                    <a:bodyPr wrap="square"/>
                    <a:lstStyle/>
                    <a:p>
                      <a:pPr algn="l">
                        <a:lnSpc>
                          <a:spcPct val="110000"/>
                        </a:lnSpc>
                        <a:spcAft>
                          <a:spcPts val="0"/>
                        </a:spcAft>
                      </a:pPr>
                      <a:r>
                        <a:rPr sz="1450" b="1">
                          <a:solidFill>
                            <a:srgbClr val="FFFFFF"/>
                          </a:solidFill>
                          <a:latin typeface="Microsoft JhengHei"/>
                          <a:ea typeface="Microsoft JhengHei"/>
                        </a:rPr>
                        <a:t>結果</a:t>
                      </a:r>
                    </a:p>
                  </a:txBody>
                  <a:tcPr marT="27432" marB="27432" marL="73152" marR="73152" anchor="ctr">
                    <a:solidFill>
                      <a:srgbClr val="0B2A5B"/>
                    </a:solidFill>
                  </a:tcPr>
                </a:tc>
              </a:tr>
              <a:tr h="384048">
                <a:tc>
                  <a:txBody>
                    <a:bodyPr wrap="square"/>
                    <a:lstStyle/>
                    <a:p>
                      <a:pPr algn="l">
                        <a:lnSpc>
                          <a:spcPct val="110000"/>
                        </a:lnSpc>
                        <a:spcAft>
                          <a:spcPts val="0"/>
                        </a:spcAft>
                      </a:pPr>
                      <a:r>
                        <a:rPr sz="1450" b="0">
                          <a:solidFill>
                            <a:srgbClr val="1A1A1A"/>
                          </a:solidFill>
                          <a:latin typeface="Microsoft JhengHei"/>
                          <a:ea typeface="Microsoft JhengHei"/>
                        </a:rPr>
                        <a:t>修正前 Sharpe 低於修正後四輪最小值</a:t>
                      </a:r>
                    </a:p>
                  </a:txBody>
                  <a:tcPr marT="27432" marB="27432" marL="73152" marR="73152" anchor="ctr">
                    <a:solidFill>
                      <a:srgbClr val="FFFFFF"/>
                    </a:solidFill>
                  </a:tcPr>
                </a:tc>
                <a:tc>
                  <a:txBody>
                    <a:bodyPr wrap="square"/>
                    <a:lstStyle/>
                    <a:p>
                      <a:pPr algn="r">
                        <a:lnSpc>
                          <a:spcPct val="110000"/>
                        </a:lnSpc>
                        <a:spcAft>
                          <a:spcPts val="0"/>
                        </a:spcAft>
                      </a:pPr>
                      <a:r>
                        <a:rPr sz="1450" b="0">
                          <a:solidFill>
                            <a:srgbClr val="1A1A1A"/>
                          </a:solidFill>
                          <a:latin typeface="Microsoft JhengHei"/>
                          <a:ea typeface="Microsoft JhengHei"/>
                        </a:rPr>
                        <a:t>88 / 120（73.3%）</a:t>
                      </a:r>
                    </a:p>
                  </a:txBody>
                  <a:tcPr marT="27432" marB="27432" marL="73152" marR="73152" anchor="ctr">
                    <a:solidFill>
                      <a:srgbClr val="FFFFFF"/>
                    </a:solidFill>
                  </a:tcPr>
                </a:tc>
              </a:tr>
              <a:tr h="384048">
                <a:tc>
                  <a:txBody>
                    <a:bodyPr wrap="square"/>
                    <a:lstStyle/>
                    <a:p>
                      <a:pPr algn="l">
                        <a:lnSpc>
                          <a:spcPct val="110000"/>
                        </a:lnSpc>
                        <a:spcAft>
                          <a:spcPts val="0"/>
                        </a:spcAft>
                      </a:pPr>
                      <a:r>
                        <a:rPr sz="1450" b="0">
                          <a:solidFill>
                            <a:srgbClr val="1A1A1A"/>
                          </a:solidFill>
                          <a:latin typeface="Microsoft JhengHei"/>
                          <a:ea typeface="Microsoft JhengHei"/>
                        </a:rPr>
                        <a:t>二項檢定（虛無率 1/5）</a:t>
                      </a:r>
                    </a:p>
                  </a:txBody>
                  <a:tcPr marT="27432" marB="27432" marL="73152" marR="73152" anchor="ctr">
                    <a:solidFill>
                      <a:srgbClr val="E8EDF5"/>
                    </a:solidFill>
                  </a:tcPr>
                </a:tc>
                <a:tc>
                  <a:txBody>
                    <a:bodyPr wrap="square"/>
                    <a:lstStyle/>
                    <a:p>
                      <a:pPr algn="r">
                        <a:lnSpc>
                          <a:spcPct val="110000"/>
                        </a:lnSpc>
                        <a:spcAft>
                          <a:spcPts val="0"/>
                        </a:spcAft>
                      </a:pPr>
                      <a:r>
                        <a:rPr sz="1450" b="0">
                          <a:solidFill>
                            <a:srgbClr val="1A1A1A"/>
                          </a:solidFill>
                          <a:latin typeface="Microsoft JhengHei"/>
                          <a:ea typeface="Microsoft JhengHei"/>
                        </a:rPr>
                        <a:t>p = 3.7 × 10⁻³⁶</a:t>
                      </a:r>
                    </a:p>
                  </a:txBody>
                  <a:tcPr marT="27432" marB="27432" marL="73152" marR="73152" anchor="ctr">
                    <a:solidFill>
                      <a:srgbClr val="E8EDF5"/>
                    </a:solidFill>
                  </a:tcPr>
                </a:tc>
              </a:tr>
              <a:tr h="384048">
                <a:tc>
                  <a:txBody>
                    <a:bodyPr wrap="square"/>
                    <a:lstStyle/>
                    <a:p>
                      <a:pPr algn="l">
                        <a:lnSpc>
                          <a:spcPct val="110000"/>
                        </a:lnSpc>
                        <a:spcAft>
                          <a:spcPts val="0"/>
                        </a:spcAft>
                      </a:pPr>
                      <a:r>
                        <a:rPr sz="1450" b="0">
                          <a:solidFill>
                            <a:srgbClr val="1A1A1A"/>
                          </a:solidFill>
                          <a:latin typeface="Microsoft JhengHei"/>
                          <a:ea typeface="Microsoft JhengHei"/>
                        </a:rPr>
                        <a:t>反向（修正後更差）</a:t>
                      </a:r>
                    </a:p>
                  </a:txBody>
                  <a:tcPr marT="27432" marB="27432" marL="73152" marR="73152" anchor="ctr">
                    <a:solidFill>
                      <a:srgbClr val="FFFFFF"/>
                    </a:solidFill>
                  </a:tcPr>
                </a:tc>
                <a:tc>
                  <a:txBody>
                    <a:bodyPr wrap="square"/>
                    <a:lstStyle/>
                    <a:p>
                      <a:pPr algn="r">
                        <a:lnSpc>
                          <a:spcPct val="110000"/>
                        </a:lnSpc>
                        <a:spcAft>
                          <a:spcPts val="0"/>
                        </a:spcAft>
                      </a:pPr>
                      <a:r>
                        <a:rPr sz="1450" b="0">
                          <a:solidFill>
                            <a:srgbClr val="1A1A1A"/>
                          </a:solidFill>
                          <a:latin typeface="Microsoft JhengHei"/>
                          <a:ea typeface="Microsoft JhengHei"/>
                        </a:rPr>
                        <a:t>1 / 120</a:t>
                      </a:r>
                    </a:p>
                  </a:txBody>
                  <a:tcPr marT="27432" marB="27432" marL="73152" marR="73152" anchor="ctr">
                    <a:solidFill>
                      <a:srgbClr val="FFFFFF"/>
                    </a:solidFill>
                  </a:tcPr>
                </a:tc>
              </a:tr>
              <a:tr h="384048">
                <a:tc>
                  <a:txBody>
                    <a:bodyPr wrap="square"/>
                    <a:lstStyle/>
                    <a:p>
                      <a:pPr algn="l">
                        <a:lnSpc>
                          <a:spcPct val="110000"/>
                        </a:lnSpc>
                        <a:spcAft>
                          <a:spcPts val="0"/>
                        </a:spcAft>
                      </a:pPr>
                      <a:r>
                        <a:rPr sz="1450" b="0">
                          <a:solidFill>
                            <a:srgbClr val="1A1A1A"/>
                          </a:solidFill>
                          <a:latin typeface="Microsoft JhengHei"/>
                          <a:ea typeface="Microsoft JhengHei"/>
                        </a:rPr>
                        <a:t>跨輪 Sharpe 標準差（中位）</a:t>
                      </a:r>
                    </a:p>
                  </a:txBody>
                  <a:tcPr marT="27432" marB="27432" marL="73152" marR="73152" anchor="ctr">
                    <a:solidFill>
                      <a:srgbClr val="E8EDF5"/>
                    </a:solidFill>
                  </a:tcPr>
                </a:tc>
                <a:tc>
                  <a:txBody>
                    <a:bodyPr wrap="square"/>
                    <a:lstStyle/>
                    <a:p>
                      <a:pPr algn="r">
                        <a:lnSpc>
                          <a:spcPct val="110000"/>
                        </a:lnSpc>
                        <a:spcAft>
                          <a:spcPts val="0"/>
                        </a:spcAft>
                      </a:pPr>
                      <a:r>
                        <a:rPr sz="1450" b="0">
                          <a:solidFill>
                            <a:srgbClr val="1A1A1A"/>
                          </a:solidFill>
                          <a:latin typeface="Microsoft JhengHei"/>
                          <a:ea typeface="Microsoft JhengHei"/>
                        </a:rPr>
                        <a:t>0.031</a:t>
                      </a:r>
                    </a:p>
                  </a:txBody>
                  <a:tcPr marT="27432" marB="27432" marL="73152" marR="73152" anchor="ctr">
                    <a:solidFill>
                      <a:srgbClr val="E8EDF5"/>
                    </a:solidFill>
                  </a:tcPr>
                </a:tc>
              </a:tr>
              <a:tr h="384048">
                <a:tc>
                  <a:txBody>
                    <a:bodyPr wrap="square"/>
                    <a:lstStyle/>
                    <a:p>
                      <a:pPr algn="l">
                        <a:lnSpc>
                          <a:spcPct val="110000"/>
                        </a:lnSpc>
                        <a:spcAft>
                          <a:spcPts val="0"/>
                        </a:spcAft>
                      </a:pPr>
                      <a:r>
                        <a:rPr sz="1450" b="0">
                          <a:solidFill>
                            <a:srgbClr val="1A1A1A"/>
                          </a:solidFill>
                          <a:latin typeface="Microsoft JhengHei"/>
                          <a:ea typeface="Microsoft JhengHei"/>
                        </a:rPr>
                        <a:t>跨輪 Sharpe 全距（中位）</a:t>
                      </a:r>
                    </a:p>
                  </a:txBody>
                  <a:tcPr marT="27432" marB="27432" marL="73152" marR="73152" anchor="ctr">
                    <a:solidFill>
                      <a:srgbClr val="FFFFFF"/>
                    </a:solidFill>
                  </a:tcPr>
                </a:tc>
                <a:tc>
                  <a:txBody>
                    <a:bodyPr wrap="square"/>
                    <a:lstStyle/>
                    <a:p>
                      <a:pPr algn="r">
                        <a:lnSpc>
                          <a:spcPct val="110000"/>
                        </a:lnSpc>
                        <a:spcAft>
                          <a:spcPts val="0"/>
                        </a:spcAft>
                      </a:pPr>
                      <a:r>
                        <a:rPr sz="1450" b="0">
                          <a:solidFill>
                            <a:srgbClr val="1A1A1A"/>
                          </a:solidFill>
                          <a:latin typeface="Microsoft JhengHei"/>
                          <a:ea typeface="Microsoft JhengHei"/>
                        </a:rPr>
                        <a:t>0.069</a:t>
                      </a:r>
                    </a:p>
                  </a:txBody>
                  <a:tcPr marT="27432" marB="27432" marL="73152" marR="73152" anchor="ctr">
                    <a:solidFill>
                      <a:srgbClr val="FFFFFF"/>
                    </a:solidFill>
                  </a:tcPr>
                </a:tc>
              </a:tr>
            </a:tbl>
          </a:graphicData>
        </a:graphic>
      </p:graphicFrame>
      <p:sp>
        <p:nvSpPr>
          <p:cNvPr id="6" name="Rounded Rectangle 5"/>
          <p:cNvSpPr/>
          <p:nvPr/>
        </p:nvSpPr>
        <p:spPr>
          <a:xfrm>
            <a:off x="7909560" y="1737360"/>
            <a:ext cx="3611880" cy="329184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為什麼要做這件事</a:t>
            </a:r>
          </a:p>
          <a:p>
            <a:pPr algn="l">
              <a:lnSpc>
                <a:spcPct val="125000"/>
              </a:lnSpc>
              <a:spcAft>
                <a:spcPts val="600"/>
              </a:spcAft>
            </a:pPr>
            <a:r>
              <a:rPr sz="1350" b="0">
                <a:solidFill>
                  <a:srgbClr val="1A1A1A"/>
                </a:solidFill>
                <a:latin typeface="Microsoft JhengHei"/>
                <a:ea typeface="Microsoft JhengHei"/>
              </a:rPr>
              <a:t>DL-THR 的網路沒固定種子。不檢驗的話，「修正前後的差異」可能只是重訓雜訊。</a:t>
            </a:r>
          </a:p>
          <a:p>
            <a:pPr algn="l">
              <a:lnSpc>
                <a:spcPct val="125000"/>
              </a:lnSpc>
              <a:spcAft>
                <a:spcPts val="600"/>
              </a:spcAft>
            </a:pPr>
            <a:r>
              <a:rPr sz="1350" b="0">
                <a:solidFill>
                  <a:srgbClr val="1A1A1A"/>
                </a:solidFill>
                <a:latin typeface="Microsoft JhengHei"/>
                <a:ea typeface="Microsoft JhengHei"/>
              </a:rPr>
              <a:t>位移（ΔSharpe 中位 </a:t>
            </a:r>
            <a:r>
              <a:rPr sz="1350" b="1">
                <a:solidFill>
                  <a:srgbClr val="1A1A1A"/>
                </a:solidFill>
                <a:latin typeface="Microsoft JhengHei"/>
                <a:ea typeface="Microsoft JhengHei"/>
              </a:rPr>
              <a:t>+0.236</a:t>
            </a:r>
            <a:r>
              <a:rPr sz="1350" b="0">
                <a:solidFill>
                  <a:srgbClr val="1A1A1A"/>
                </a:solidFill>
                <a:latin typeface="Microsoft JhengHei"/>
                <a:ea typeface="Microsoft JhengHei"/>
              </a:rPr>
              <a:t>）遠大於跨輪雜訊（標準差 </a:t>
            </a:r>
            <a:r>
              <a:rPr sz="1350" b="1">
                <a:solidFill>
                  <a:srgbClr val="1A1A1A"/>
                </a:solidFill>
                <a:latin typeface="Microsoft JhengHei"/>
                <a:ea typeface="Microsoft JhengHei"/>
              </a:rPr>
              <a:t>0.031</a:t>
            </a:r>
            <a:r>
              <a:rPr sz="1350" b="0">
                <a:solidFill>
                  <a:srgbClr val="1A1A1A"/>
                </a:solidFill>
                <a:latin typeface="Microsoft JhengHei"/>
                <a:ea typeface="Microsoft JhengHei"/>
              </a:rPr>
              <a:t>）。</a:t>
            </a:r>
          </a:p>
          <a:p>
            <a:pPr algn="l">
              <a:lnSpc>
                <a:spcPct val="125000"/>
              </a:lnSpc>
              <a:spcAft>
                <a:spcPts val="600"/>
              </a:spcAft>
            </a:pPr>
            <a:r>
              <a:rPr sz="1350" b="0">
                <a:solidFill>
                  <a:srgbClr val="1A1A1A"/>
                </a:solidFill>
                <a:latin typeface="Microsoft JhengHei"/>
                <a:ea typeface="Microsoft JhengHei"/>
              </a:rPr>
              <a:t>唯一例外：</a:t>
            </a:r>
            <a:r>
              <a:rPr sz="1350" b="1">
                <a:solidFill>
                  <a:srgbClr val="1A1A1A"/>
                </a:solidFill>
                <a:latin typeface="Microsoft JhengHei"/>
                <a:ea typeface="Microsoft JhengHei"/>
              </a:rPr>
              <a:t>KM-SSD-DRL 6/15</a:t>
            </a:r>
            <a:r>
              <a:rPr sz="1350" b="0">
                <a:solidFill>
                  <a:srgbClr val="1A1A1A"/>
                </a:solidFill>
                <a:latin typeface="Microsoft JhengHei"/>
                <a:ea typeface="Microsoft JhengHei"/>
              </a:rPr>
              <a:t>（p = 0.061），該臂不可單獨宣稱。</a:t>
            </a:r>
          </a:p>
        </p:txBody>
      </p:sp>
      <p:sp>
        <p:nvSpPr>
          <p:cNvPr id="7" name="TextBox 6"/>
          <p:cNvSpPr txBox="1"/>
          <p:nvPr/>
        </p:nvSpPr>
        <p:spPr>
          <a:xfrm>
            <a:off x="640080" y="4297680"/>
            <a:ext cx="7132320" cy="548640"/>
          </a:xfrm>
          <a:prstGeom prst="rect">
            <a:avLst/>
          </a:prstGeom>
          <a:noFill/>
        </p:spPr>
        <p:txBody>
          <a:bodyPr wrap="square" lIns="0" rIns="0" tIns="0" bIns="0" anchor="t">
            <a:spAutoFit/>
          </a:bodyPr>
          <a:lstStyle/>
          <a:p>
            <a:pPr algn="l">
              <a:lnSpc>
                <a:spcPct val="125000"/>
              </a:lnSpc>
              <a:spcAft>
                <a:spcPts val="600"/>
              </a:spcAft>
            </a:pPr>
            <a:r>
              <a:rPr sz="1250" b="0">
                <a:solidFill>
                  <a:srgbClr val="6B7280"/>
                </a:solidFill>
                <a:latin typeface="Microsoft JhengHei"/>
                <a:ea typeface="Microsoft JhengHei"/>
              </a:rPr>
              <a:t>判準另行預先登記（dev/drl_hedge/PREREGISTRATION.md），獨立於 4.3 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§5.1.1 年化的三個口徑</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B3　三個報酬口徑的完整數字</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62</a:t>
            </a:r>
          </a:p>
        </p:txBody>
      </p:sp>
      <p:graphicFrame>
        <p:nvGraphicFramePr>
          <p:cNvPr id="5" name="Table 4"/>
          <p:cNvGraphicFramePr>
            <a:graphicFrameLocks noGrp="1"/>
          </p:cNvGraphicFramePr>
          <p:nvPr/>
        </p:nvGraphicFramePr>
        <p:xfrm>
          <a:off x="640080" y="1691640"/>
          <a:ext cx="6766560" cy="1828800"/>
        </p:xfrm>
        <a:graphic>
          <a:graphicData uri="http://schemas.openxmlformats.org/drawingml/2006/table">
            <a:tbl>
              <a:tblPr firstRow="1" bandRow="1">
                <a:tableStyleId>{5C22544A-7EE6-4342-B048-85BDC9FD1C3A}</a:tableStyleId>
              </a:tblPr>
              <a:tblGrid>
                <a:gridCol w="3108960"/>
                <a:gridCol w="1828800"/>
                <a:gridCol w="1828800"/>
              </a:tblGrid>
              <a:tr h="365760">
                <a:tc>
                  <a:txBody>
                    <a:bodyPr wrap="square"/>
                    <a:lstStyle/>
                    <a:p>
                      <a:pPr algn="l">
                        <a:lnSpc>
                          <a:spcPct val="110000"/>
                        </a:lnSpc>
                        <a:spcAft>
                          <a:spcPts val="0"/>
                        </a:spcAft>
                      </a:pPr>
                      <a:r>
                        <a:rPr sz="1400" b="1">
                          <a:solidFill>
                            <a:srgbClr val="FFFFFF"/>
                          </a:solidFill>
                          <a:latin typeface="Microsoft JhengHei"/>
                          <a:ea typeface="Microsoft JhengHei"/>
                        </a:rPr>
                        <a:t>口徑</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GICS-SSD＋DL-THR</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GICS-SDP＋DL-THR</a:t>
                      </a:r>
                    </a:p>
                  </a:txBody>
                  <a:tcPr marT="27432" marB="27432" marL="73152" marR="73152" anchor="ctr">
                    <a:solidFill>
                      <a:srgbClr val="0B2A5B"/>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帳面年化（閒置現金計 0%）</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+1.026%</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+1.016%</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動用資本年化</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+2.793%</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+2.697%</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rf 超額年化</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+0.375%</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+0.390%</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平均資金利用率</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42.6%</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43.2%</a:t>
                      </a:r>
                    </a:p>
                  </a:txBody>
                  <a:tcPr marT="27432" marB="27432" marL="73152" marR="73152" anchor="ctr">
                    <a:solidFill>
                      <a:srgbClr val="E8EDF5"/>
                    </a:solidFill>
                  </a:tcPr>
                </a:tc>
              </a:tr>
            </a:tbl>
          </a:graphicData>
        </a:graphic>
      </p:graphicFrame>
      <p:graphicFrame>
        <p:nvGraphicFramePr>
          <p:cNvPr id="6" name="Table 5"/>
          <p:cNvGraphicFramePr>
            <a:graphicFrameLocks noGrp="1"/>
          </p:cNvGraphicFramePr>
          <p:nvPr/>
        </p:nvGraphicFramePr>
        <p:xfrm>
          <a:off x="640080" y="3794760"/>
          <a:ext cx="6766560" cy="1097280"/>
        </p:xfrm>
        <a:graphic>
          <a:graphicData uri="http://schemas.openxmlformats.org/drawingml/2006/table">
            <a:tbl>
              <a:tblPr firstRow="1" bandRow="1">
                <a:tableStyleId>{5C22544A-7EE6-4342-B048-85BDC9FD1C3A}</a:tableStyleId>
              </a:tblPr>
              <a:tblGrid>
                <a:gridCol w="3108960"/>
                <a:gridCol w="1828800"/>
                <a:gridCol w="1828800"/>
              </a:tblGrid>
              <a:tr h="365760">
                <a:tc>
                  <a:txBody>
                    <a:bodyPr wrap="square"/>
                    <a:lstStyle/>
                    <a:p>
                      <a:pPr algn="l">
                        <a:lnSpc>
                          <a:spcPct val="110000"/>
                        </a:lnSpc>
                        <a:spcAft>
                          <a:spcPts val="0"/>
                        </a:spcAft>
                      </a:pPr>
                      <a:r>
                        <a:rPr sz="1400" b="1">
                          <a:solidFill>
                            <a:srgbClr val="FFFFFF"/>
                          </a:solidFill>
                          <a:latin typeface="Microsoft JhengHei"/>
                          <a:ea typeface="Microsoft JhengHei"/>
                        </a:rPr>
                        <a:t>Δ rf 超額拆解</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真實報酬差</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閒置現金利息</a:t>
                      </a:r>
                    </a:p>
                  </a:txBody>
                  <a:tcPr marT="27432" marB="27432" marL="73152" marR="73152" anchor="ctr">
                    <a:solidFill>
                      <a:srgbClr val="0B2A5B"/>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GICS-SSD（DL-THR − ZS）+1.080%</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+0.798%</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+0.282%</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GICS-SDP（DL-THR − ZS）+0.861%</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+0.579%</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+0.282%</a:t>
                      </a:r>
                    </a:p>
                  </a:txBody>
                  <a:tcPr marT="27432" marB="27432" marL="73152" marR="73152" anchor="ctr">
                    <a:solidFill>
                      <a:srgbClr val="E8EDF5"/>
                    </a:solidFill>
                  </a:tcPr>
                </a:tc>
              </a:tr>
            </a:tbl>
          </a:graphicData>
        </a:graphic>
      </p:graphicFrame>
      <p:sp>
        <p:nvSpPr>
          <p:cNvPr id="7" name="Rounded Rectangle 6"/>
          <p:cNvSpPr/>
          <p:nvPr/>
        </p:nvSpPr>
        <p:spPr>
          <a:xfrm>
            <a:off x="7635240" y="1691640"/>
            <a:ext cx="3886200" cy="40233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內部一致性檢查</a:t>
            </a:r>
          </a:p>
          <a:p>
            <a:pPr algn="l">
              <a:lnSpc>
                <a:spcPct val="125000"/>
              </a:lnSpc>
              <a:spcAft>
                <a:spcPts val="600"/>
              </a:spcAft>
            </a:pPr>
            <a:r>
              <a:rPr sz="1300" b="0">
                <a:solidFill>
                  <a:srgbClr val="1A1A1A"/>
                </a:solidFill>
                <a:latin typeface="Microsoft JhengHei"/>
                <a:ea typeface="Microsoft JhengHei"/>
              </a:rPr>
              <a:t>拆出來的真實報酬差 +0.798、+0.579，跟第三段主檢定的年化Δ</a:t>
            </a:r>
            <a:r>
              <a:rPr sz="1300" b="1">
                <a:solidFill>
                  <a:srgbClr val="1A1A1A"/>
                </a:solidFill>
                <a:latin typeface="Microsoft JhengHei"/>
                <a:ea typeface="Microsoft JhengHei"/>
              </a:rPr>
              <a:t>逐位相同</a:t>
            </a:r>
            <a:r>
              <a:rPr sz="1300" b="0">
                <a:solidFill>
                  <a:srgbClr val="1A1A1A"/>
                </a:solidFill>
                <a:latin typeface="Microsoft JhengHei"/>
                <a:ea typeface="Microsoft JhengHei"/>
              </a:rPr>
              <a:t>。</a:t>
            </a:r>
          </a:p>
          <a:p>
            <a:pPr algn="l">
              <a:lnSpc>
                <a:spcPct val="125000"/>
              </a:lnSpc>
              <a:spcAft>
                <a:spcPts val="600"/>
              </a:spcAft>
            </a:pPr>
            <a:r>
              <a:rPr sz="1300" b="0">
                <a:solidFill>
                  <a:srgbClr val="1A1A1A"/>
                </a:solidFill>
                <a:latin typeface="Microsoft JhengHei"/>
                <a:ea typeface="Microsoft JhengHei"/>
              </a:rPr>
              <a:t>不是湊的：rf 超額 = 算術年化 − rf × 利用率，對逐日損益是線性的，所以拆解是代數恆等式。</a:t>
            </a:r>
          </a:p>
          <a:p>
            <a:pPr algn="l">
              <a:lnSpc>
                <a:spcPct val="125000"/>
              </a:lnSpc>
              <a:spcAft>
                <a:spcPts val="600"/>
              </a:spcAft>
            </a:pPr>
            <a:r>
              <a:rPr sz="1300" b="0">
                <a:solidFill>
                  <a:srgbClr val="1A1A1A"/>
                </a:solidFill>
                <a:latin typeface="Microsoft JhengHei"/>
                <a:ea typeface="Microsoft JhengHei"/>
              </a:rPr>
              <a:t>那 +0.282% 不應計為技巧——它和「總曝險減少」那項替代解釋是同一件事的另一面。</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附錄 B 實作修正記錄</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B4　實作與宣告不符的修正記錄</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63</a:t>
            </a:r>
          </a:p>
        </p:txBody>
      </p:sp>
      <p:graphicFrame>
        <p:nvGraphicFramePr>
          <p:cNvPr id="5" name="Table 4"/>
          <p:cNvGraphicFramePr>
            <a:graphicFrameLocks noGrp="1"/>
          </p:cNvGraphicFramePr>
          <p:nvPr/>
        </p:nvGraphicFramePr>
        <p:xfrm>
          <a:off x="640080" y="1691640"/>
          <a:ext cx="10881360" cy="3044952"/>
        </p:xfrm>
        <a:graphic>
          <a:graphicData uri="http://schemas.openxmlformats.org/drawingml/2006/table">
            <a:tbl>
              <a:tblPr firstRow="1" bandRow="1">
                <a:tableStyleId>{5C22544A-7EE6-4342-B048-85BDC9FD1C3A}</a:tableStyleId>
              </a:tblPr>
              <a:tblGrid>
                <a:gridCol w="5120640"/>
                <a:gridCol w="5760720"/>
              </a:tblGrid>
              <a:tr h="338328">
                <a:tc>
                  <a:txBody>
                    <a:bodyPr wrap="square"/>
                    <a:lstStyle/>
                    <a:p>
                      <a:pPr algn="l">
                        <a:lnSpc>
                          <a:spcPct val="110000"/>
                        </a:lnSpc>
                        <a:spcAft>
                          <a:spcPts val="0"/>
                        </a:spcAft>
                      </a:pPr>
                      <a:r>
                        <a:rPr sz="1300" b="1">
                          <a:solidFill>
                            <a:srgbClr val="FFFFFF"/>
                          </a:solidFill>
                          <a:latin typeface="Microsoft JhengHei"/>
                          <a:ea typeface="Microsoft JhengHei"/>
                        </a:rPr>
                        <a:t>缺陷</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後果</a:t>
                      </a:r>
                    </a:p>
                  </a:txBody>
                  <a:tcPr marT="27432" marB="27432" marL="73152" marR="73152" anchor="ctr">
                    <a:solidFill>
                      <a:srgbClr val="0B2A5B"/>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共整合檢定誤用 Dickey-Fuller 臨界值</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通過率虛高至 77%（改用 EG 後約 9.5%）</a:t>
                      </a:r>
                    </a:p>
                  </a:txBody>
                  <a:tcPr marT="27432" marB="27432" marL="73152" marR="73152" anchor="ctr">
                    <a:solidFill>
                      <a:srgbClr val="FFFFFF"/>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Hurst 指數測錯對象（R/S 施於水準值而非增量）</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該關卡沒有發揮宣稱的功能</a:t>
                      </a:r>
                    </a:p>
                  </a:txBody>
                  <a:tcPr marT="27432" marB="27432" marL="73152" marR="73152" anchor="ctr">
                    <a:solidFill>
                      <a:srgbClr val="E8EDF5"/>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HDBSCAN 的噪音標記被當成一個群</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每期可達兩成標的被誤併為一群</a:t>
                      </a:r>
                    </a:p>
                  </a:txBody>
                  <a:tcPr marT="27432" marB="27432" marL="73152" marR="73152" anchor="ctr">
                    <a:solidFill>
                      <a:srgbClr val="FFFFFF"/>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缺失值以產業中位數插補</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構成一條隱性的產業資訊管道</a:t>
                      </a:r>
                    </a:p>
                  </a:txBody>
                  <a:tcPr marT="27432" marB="27432" marL="73152" marR="73152" anchor="ctr">
                    <a:solidFill>
                      <a:srgbClr val="E8EDF5"/>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候選截斷使排序先於篩選</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距離偏大的組可能一組都輪不到檢定</a:t>
                      </a:r>
                    </a:p>
                  </a:txBody>
                  <a:tcPr marT="27432" marB="27432" marL="73152" marR="73152" anchor="ctr">
                    <a:solidFill>
                      <a:srgbClr val="FFFFFF"/>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交易統計計數器的兩項錯誤</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進場次數高估約 3.4 倍、勝率低估約 20%</a:t>
                      </a:r>
                    </a:p>
                  </a:txBody>
                  <a:tcPr marT="27432" marB="27432" marL="73152" marR="73152" anchor="ctr">
                    <a:solidFill>
                      <a:srgbClr val="E8EDF5"/>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對沖權重口徑不一致</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交易端實際執行與方法章所述不符</a:t>
                      </a:r>
                    </a:p>
                  </a:txBody>
                  <a:tcPr marT="27432" marB="27432" marL="73152" marR="73152" anchor="ctr">
                    <a:solidFill>
                      <a:srgbClr val="FFFFFF"/>
                    </a:solidFill>
                  </a:tcPr>
                </a:tc>
              </a:tr>
              <a:tr h="338328">
                <a:tc>
                  <a:txBody>
                    <a:bodyPr wrap="square"/>
                    <a:lstStyle/>
                    <a:p>
                      <a:pPr algn="l">
                        <a:lnSpc>
                          <a:spcPct val="110000"/>
                        </a:lnSpc>
                        <a:spcAft>
                          <a:spcPts val="0"/>
                        </a:spcAft>
                      </a:pPr>
                      <a:r>
                        <a:rPr sz="1300" b="0">
                          <a:solidFill>
                            <a:srgbClr val="1A1A1A"/>
                          </a:solidFill>
                          <a:latin typeface="Microsoft JhengHei"/>
                          <a:ea typeface="Microsoft JhengHei"/>
                        </a:rPr>
                        <a:t>子視窗回測的槽位洩漏</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某一期零配對且不報錯</a:t>
                      </a:r>
                    </a:p>
                  </a:txBody>
                  <a:tcPr marT="27432" marB="27432" marL="73152" marR="73152" anchor="ctr">
                    <a:solidFill>
                      <a:srgbClr val="E8EDF5"/>
                    </a:solidFill>
                  </a:tcPr>
                </a:tc>
              </a:tr>
            </a:tbl>
          </a:graphicData>
        </a:graphic>
      </p:graphicFrame>
      <p:sp>
        <p:nvSpPr>
          <p:cNvPr id="6" name="Rounded Rectangle 5"/>
          <p:cNvSpPr/>
          <p:nvPr/>
        </p:nvSpPr>
        <p:spPr>
          <a:xfrm>
            <a:off x="640080" y="4892040"/>
            <a:ext cx="10881360" cy="9601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600"/>
              </a:spcAft>
            </a:pPr>
            <a:r>
              <a:rPr sz="1300" b="0">
                <a:solidFill>
                  <a:srgbClr val="1A1A1A"/>
                </a:solidFill>
                <a:latin typeface="Microsoft JhengHei"/>
                <a:ea typeface="Microsoft JhengHei"/>
              </a:rPr>
              <a:t>修正後，交易層的相對效果自 </a:t>
            </a:r>
            <a:r>
              <a:rPr sz="1300" b="1">
                <a:solidFill>
                  <a:srgbClr val="1A1A1A"/>
                </a:solidFill>
                <a:latin typeface="Microsoft JhengHei"/>
                <a:ea typeface="Microsoft JhengHei"/>
              </a:rPr>
              <a:t>0/5 顯著變為 3/5</a:t>
            </a:r>
            <a:r>
              <a:rPr sz="1300" b="0">
                <a:solidFill>
                  <a:srgbClr val="1A1A1A"/>
                </a:solidFill>
                <a:latin typeface="Microsoft JhengHei"/>
                <a:ea typeface="Microsoft JhengHei"/>
              </a:rPr>
              <a:t>；主軸 13 格中 12 格改善（ΔSharpe 中位 +0.236）。一項可陳述的觀察：用錯誤臨界值與測錯對象的估計量所篩掉的，</a:t>
            </a:r>
            <a:r>
              <a:rPr sz="1300" b="1">
                <a:solidFill>
                  <a:srgbClr val="1A1A1A"/>
                </a:solidFill>
                <a:latin typeface="Microsoft JhengHei"/>
                <a:ea typeface="Microsoft JhengHei"/>
              </a:rPr>
              <a:t>系統性地是較好的配對</a:t>
            </a:r>
            <a:r>
              <a:rPr sz="1300" b="0">
                <a:solidFill>
                  <a:srgbClr val="1A1A1A"/>
                </a:solidFill>
                <a:latin typeface="Microsoft JhengHei"/>
                <a:ea typeface="Microsoft JhengHei"/>
              </a:rPr>
              <a:t>。今天報告的每一個數字都產自修正後的管線。</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附錄 C.1 市況分層（walk-forward）、§4.6.2</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B5　市況分層：獲利集中在什麼時候</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64</a:t>
            </a:r>
          </a:p>
        </p:txBody>
      </p:sp>
      <p:graphicFrame>
        <p:nvGraphicFramePr>
          <p:cNvPr id="5" name="Table 4"/>
          <p:cNvGraphicFramePr>
            <a:graphicFrameLocks noGrp="1"/>
          </p:cNvGraphicFramePr>
          <p:nvPr/>
        </p:nvGraphicFramePr>
        <p:xfrm>
          <a:off x="640080" y="1737360"/>
          <a:ext cx="7406640" cy="1828800"/>
        </p:xfrm>
        <a:graphic>
          <a:graphicData uri="http://schemas.openxmlformats.org/drawingml/2006/table">
            <a:tbl>
              <a:tblPr firstRow="1" bandRow="1">
                <a:tableStyleId>{5C22544A-7EE6-4342-B048-85BDC9FD1C3A}</a:tableStyleId>
              </a:tblPr>
              <a:tblGrid>
                <a:gridCol w="2377440"/>
                <a:gridCol w="1188720"/>
                <a:gridCol w="1188720"/>
                <a:gridCol w="1280160"/>
                <a:gridCol w="1371600"/>
              </a:tblGrid>
              <a:tr h="365760">
                <a:tc>
                  <a:txBody>
                    <a:bodyPr wrap="square"/>
                    <a:lstStyle/>
                    <a:p>
                      <a:pPr algn="l">
                        <a:lnSpc>
                          <a:spcPct val="110000"/>
                        </a:lnSpc>
                        <a:spcAft>
                          <a:spcPts val="0"/>
                        </a:spcAft>
                      </a:pPr>
                      <a:r>
                        <a:rPr sz="1400" b="1">
                          <a:solidFill>
                            <a:srgbClr val="FFFFFF"/>
                          </a:solidFill>
                          <a:latin typeface="Microsoft JhengHei"/>
                          <a:ea typeface="Microsoft JhengHei"/>
                        </a:rPr>
                        <a:t>臂（walk-forward 門檻）</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Calm</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Normal</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Turbulent</a:t>
                      </a:r>
                    </a:p>
                  </a:txBody>
                  <a:tcPr marT="27432" marB="27432" marL="73152" marR="73152" anchor="ctr">
                    <a:solidFill>
                      <a:srgbClr val="0B2A5B"/>
                    </a:solidFill>
                  </a:tcPr>
                </a:tc>
                <a:tc>
                  <a:txBody>
                    <a:bodyPr wrap="square"/>
                    <a:lstStyle/>
                    <a:p>
                      <a:pPr algn="l">
                        <a:lnSpc>
                          <a:spcPct val="110000"/>
                        </a:lnSpc>
                        <a:spcAft>
                          <a:spcPts val="0"/>
                        </a:spcAft>
                      </a:pPr>
                      <a:r>
                        <a:rPr sz="1400" b="1">
                          <a:solidFill>
                            <a:srgbClr val="FFFFFF"/>
                          </a:solidFill>
                          <a:latin typeface="Microsoft JhengHei"/>
                          <a:ea typeface="Microsoft JhengHei"/>
                        </a:rPr>
                        <a:t>動盪期年化</a:t>
                      </a:r>
                    </a:p>
                  </a:txBody>
                  <a:tcPr marT="27432" marB="27432" marL="73152" marR="73152" anchor="ctr">
                    <a:solidFill>
                      <a:srgbClr val="0B2A5B"/>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AGG-DTW</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−0.386</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−0.616</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+0.893</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+3.49%</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GICS-DTW</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−0.282</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−0.307</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+0.754</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+3.34%</a:t>
                      </a:r>
                    </a:p>
                  </a:txBody>
                  <a:tcPr marT="27432" marB="27432" marL="73152" marR="73152" anchor="ctr">
                    <a:solidFill>
                      <a:srgbClr val="E8EDF5"/>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GICS-SSD</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−0.463</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−0.097</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+0.737</a:t>
                      </a:r>
                    </a:p>
                  </a:txBody>
                  <a:tcPr marT="27432" marB="27432" marL="73152" marR="73152" anchor="ctr">
                    <a:solidFill>
                      <a:srgbClr val="FFFFFF"/>
                    </a:solidFill>
                  </a:tcPr>
                </a:tc>
                <a:tc>
                  <a:txBody>
                    <a:bodyPr wrap="square"/>
                    <a:lstStyle/>
                    <a:p>
                      <a:pPr algn="r">
                        <a:lnSpc>
                          <a:spcPct val="110000"/>
                        </a:lnSpc>
                        <a:spcAft>
                          <a:spcPts val="0"/>
                        </a:spcAft>
                      </a:pPr>
                      <a:r>
                        <a:rPr sz="1400" b="0">
                          <a:solidFill>
                            <a:srgbClr val="1A1A1A"/>
                          </a:solidFill>
                          <a:latin typeface="Microsoft JhengHei"/>
                          <a:ea typeface="Microsoft JhengHei"/>
                        </a:rPr>
                        <a:t>+3.33%</a:t>
                      </a:r>
                    </a:p>
                  </a:txBody>
                  <a:tcPr marT="27432" marB="27432" marL="73152" marR="73152" anchor="ctr">
                    <a:solidFill>
                      <a:srgbClr val="FFFFFF"/>
                    </a:solidFill>
                  </a:tcPr>
                </a:tc>
              </a:tr>
              <a:tr h="365760">
                <a:tc>
                  <a:txBody>
                    <a:bodyPr wrap="square"/>
                    <a:lstStyle/>
                    <a:p>
                      <a:pPr algn="l">
                        <a:lnSpc>
                          <a:spcPct val="110000"/>
                        </a:lnSpc>
                        <a:spcAft>
                          <a:spcPts val="0"/>
                        </a:spcAft>
                      </a:pPr>
                      <a:r>
                        <a:rPr sz="1400" b="0">
                          <a:solidFill>
                            <a:srgbClr val="1A1A1A"/>
                          </a:solidFill>
                          <a:latin typeface="Microsoft JhengHei"/>
                          <a:ea typeface="Microsoft JhengHei"/>
                        </a:rPr>
                        <a:t>GICS-SDP</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−0.324</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−0.058</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+0.702</a:t>
                      </a:r>
                    </a:p>
                  </a:txBody>
                  <a:tcPr marT="27432" marB="27432" marL="73152" marR="73152" anchor="ctr">
                    <a:solidFill>
                      <a:srgbClr val="E8EDF5"/>
                    </a:solidFill>
                  </a:tcPr>
                </a:tc>
                <a:tc>
                  <a:txBody>
                    <a:bodyPr wrap="square"/>
                    <a:lstStyle/>
                    <a:p>
                      <a:pPr algn="r">
                        <a:lnSpc>
                          <a:spcPct val="110000"/>
                        </a:lnSpc>
                        <a:spcAft>
                          <a:spcPts val="0"/>
                        </a:spcAft>
                      </a:pPr>
                      <a:r>
                        <a:rPr sz="1400" b="0">
                          <a:solidFill>
                            <a:srgbClr val="1A1A1A"/>
                          </a:solidFill>
                          <a:latin typeface="Microsoft JhengHei"/>
                          <a:ea typeface="Microsoft JhengHei"/>
                        </a:rPr>
                        <a:t>+3.26%</a:t>
                      </a:r>
                    </a:p>
                  </a:txBody>
                  <a:tcPr marT="27432" marB="27432" marL="73152" marR="73152" anchor="ctr">
                    <a:solidFill>
                      <a:srgbClr val="E8EDF5"/>
                    </a:solidFill>
                  </a:tcPr>
                </a:tc>
              </a:tr>
            </a:tbl>
          </a:graphicData>
        </a:graphic>
      </p:graphicFrame>
      <p:sp>
        <p:nvSpPr>
          <p:cNvPr id="6" name="TextBox 5"/>
          <p:cNvSpPr txBox="1"/>
          <p:nvPr/>
        </p:nvSpPr>
        <p:spPr>
          <a:xfrm>
            <a:off x="640080" y="3749039"/>
            <a:ext cx="7406640" cy="457200"/>
          </a:xfrm>
          <a:prstGeom prst="rect">
            <a:avLst/>
          </a:prstGeom>
          <a:noFill/>
        </p:spPr>
        <p:txBody>
          <a:bodyPr wrap="square" lIns="0" rIns="0" tIns="0" bIns="0" anchor="t">
            <a:spAutoFit/>
          </a:bodyPr>
          <a:lstStyle/>
          <a:p>
            <a:pPr algn="l">
              <a:lnSpc>
                <a:spcPct val="125000"/>
              </a:lnSpc>
              <a:spcAft>
                <a:spcPts val="600"/>
              </a:spcAft>
            </a:pPr>
            <a:r>
              <a:rPr sz="1250" b="0">
                <a:solidFill>
                  <a:srgbClr val="6B7280"/>
                </a:solidFill>
                <a:latin typeface="Microsoft JhengHei"/>
                <a:ea typeface="Microsoft JhengHei"/>
              </a:rPr>
              <a:t>12 臂中前四名；全部 12 臂型態相同。與全樣本分位的一致率 82.6%。</a:t>
            </a:r>
          </a:p>
        </p:txBody>
      </p:sp>
      <p:sp>
        <p:nvSpPr>
          <p:cNvPr id="7" name="Rounded Rectangle 6"/>
          <p:cNvSpPr/>
          <p:nvPr/>
        </p:nvSpPr>
        <p:spPr>
          <a:xfrm>
            <a:off x="8092440" y="1737360"/>
            <a:ext cx="3429000" cy="40233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型態一致，但不能拿來建策略</a:t>
            </a:r>
          </a:p>
          <a:p>
            <a:pPr algn="l">
              <a:lnSpc>
                <a:spcPct val="125000"/>
              </a:lnSpc>
              <a:spcAft>
                <a:spcPts val="600"/>
              </a:spcAft>
            </a:pPr>
            <a:r>
              <a:rPr sz="1250" b="0">
                <a:solidFill>
                  <a:srgbClr val="1A1A1A"/>
                </a:solidFill>
                <a:latin typeface="Microsoft JhengHei"/>
                <a:ea typeface="Microsoft JhengHei"/>
              </a:rPr>
              <a:t>12 臂全部：動盪期為正，平靜與一般期為負。</a:t>
            </a:r>
          </a:p>
          <a:p>
            <a:pPr algn="l">
              <a:lnSpc>
                <a:spcPct val="125000"/>
              </a:lnSpc>
              <a:spcAft>
                <a:spcPts val="600"/>
              </a:spcAft>
            </a:pPr>
            <a:r>
              <a:rPr sz="1250" b="0">
                <a:solidFill>
                  <a:srgbClr val="1A1A1A"/>
                </a:solidFill>
                <a:latin typeface="Microsoft JhengHei"/>
                <a:ea typeface="Microsoft JhengHei"/>
              </a:rPr>
              <a:t>但動盪期報酬 </a:t>
            </a:r>
            <a:r>
              <a:rPr sz="1250" b="1">
                <a:solidFill>
                  <a:srgbClr val="1A1A1A"/>
                </a:solidFill>
                <a:latin typeface="Microsoft JhengHei"/>
                <a:ea typeface="Microsoft JhengHei"/>
              </a:rPr>
              <a:t>54%–87%</a:t>
            </a:r>
            <a:r>
              <a:rPr sz="1250" b="0">
                <a:solidFill>
                  <a:srgbClr val="1A1A1A"/>
                </a:solidFill>
                <a:latin typeface="Microsoft JhengHei"/>
                <a:ea typeface="Microsoft JhengHei"/>
              </a:rPr>
              <a:t> 集中在 2008–2009 兩年。</a:t>
            </a:r>
          </a:p>
          <a:p>
            <a:pPr algn="l">
              <a:lnSpc>
                <a:spcPct val="125000"/>
              </a:lnSpc>
              <a:spcAft>
                <a:spcPts val="600"/>
              </a:spcAft>
            </a:pPr>
            <a:r>
              <a:rPr sz="1250" b="0">
                <a:solidFill>
                  <a:srgbClr val="1A1A1A"/>
                </a:solidFill>
                <a:latin typeface="Microsoft JhengHei"/>
                <a:ea typeface="Microsoft JhengHei"/>
              </a:rPr>
              <a:t>2022 年動盪日數最多（225 日）卻只有 −0.18% ~ +1.45%——那波動來自趨勢性方向移動，價差偏離後不一定回歸。</a:t>
            </a:r>
          </a:p>
          <a:p>
            <a:pPr algn="l">
              <a:lnSpc>
                <a:spcPct val="125000"/>
              </a:lnSpc>
              <a:spcAft>
                <a:spcPts val="600"/>
              </a:spcAft>
            </a:pPr>
            <a:r>
              <a:rPr sz="1250" b="0">
                <a:solidFill>
                  <a:srgbClr val="1A1A1A"/>
                </a:solidFill>
                <a:latin typeface="Microsoft JhengHei"/>
                <a:ea typeface="Microsoft JhengHei"/>
              </a:rPr>
              <a:t>→ 策略實質上在</a:t>
            </a:r>
            <a:r>
              <a:rPr sz="1250" b="1">
                <a:solidFill>
                  <a:srgbClr val="1A1A1A"/>
                </a:solidFill>
                <a:latin typeface="Microsoft JhengHei"/>
                <a:ea typeface="Microsoft JhengHei"/>
              </a:rPr>
              <a:t>賣出波動率的均值回歸選擇權</a:t>
            </a:r>
            <a:r>
              <a:rPr sz="1250" b="0">
                <a:solidFill>
                  <a:srgbClr val="1A1A1A"/>
                </a:solidFill>
                <a:latin typeface="Microsoft JhengHei"/>
                <a:ea typeface="Microsoft JhengHei"/>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附錄 C 交易端改良的受控否證</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B6　交易端三項改良的受控否證</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65</a:t>
            </a:r>
          </a:p>
        </p:txBody>
      </p:sp>
      <p:graphicFrame>
        <p:nvGraphicFramePr>
          <p:cNvPr id="5" name="Table 4"/>
          <p:cNvGraphicFramePr>
            <a:graphicFrameLocks noGrp="1"/>
          </p:cNvGraphicFramePr>
          <p:nvPr/>
        </p:nvGraphicFramePr>
        <p:xfrm>
          <a:off x="640080" y="1737360"/>
          <a:ext cx="10881360" cy="2066544"/>
        </p:xfrm>
        <a:graphic>
          <a:graphicData uri="http://schemas.openxmlformats.org/drawingml/2006/table">
            <a:tbl>
              <a:tblPr firstRow="1" bandRow="1">
                <a:tableStyleId>{5C22544A-7EE6-4342-B048-85BDC9FD1C3A}</a:tableStyleId>
              </a:tblPr>
              <a:tblGrid>
                <a:gridCol w="2743200"/>
                <a:gridCol w="1097280"/>
                <a:gridCol w="7040880"/>
              </a:tblGrid>
              <a:tr h="365760">
                <a:tc>
                  <a:txBody>
                    <a:bodyPr wrap="square"/>
                    <a:lstStyle/>
                    <a:p>
                      <a:pPr algn="l">
                        <a:lnSpc>
                          <a:spcPct val="110000"/>
                        </a:lnSpc>
                        <a:spcAft>
                          <a:spcPts val="0"/>
                        </a:spcAft>
                      </a:pPr>
                      <a:r>
                        <a:rPr sz="1350" b="1">
                          <a:solidFill>
                            <a:srgbClr val="FFFFFF"/>
                          </a:solidFill>
                          <a:latin typeface="Microsoft JhengHei"/>
                          <a:ea typeface="Microsoft JhengHei"/>
                        </a:rPr>
                        <a:t>改良</a:t>
                      </a:r>
                    </a:p>
                  </a:txBody>
                  <a:tcPr marT="27432" marB="27432" marL="73152" marR="73152" anchor="ctr">
                    <a:solidFill>
                      <a:srgbClr val="0B2A5B"/>
                    </a:solidFill>
                  </a:tcPr>
                </a:tc>
                <a:tc>
                  <a:txBody>
                    <a:bodyPr wrap="square"/>
                    <a:lstStyle/>
                    <a:p>
                      <a:pPr algn="ctr">
                        <a:lnSpc>
                          <a:spcPct val="110000"/>
                        </a:lnSpc>
                        <a:spcAft>
                          <a:spcPts val="0"/>
                        </a:spcAft>
                      </a:pPr>
                      <a:r>
                        <a:rPr sz="1350" b="1">
                          <a:solidFill>
                            <a:srgbClr val="FFFFFF"/>
                          </a:solidFill>
                          <a:latin typeface="Microsoft JhengHei"/>
                          <a:ea typeface="Microsoft JhengHei"/>
                        </a:rPr>
                        <a:t>結果</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機制</a:t>
                      </a:r>
                    </a:p>
                  </a:txBody>
                  <a:tcPr marT="27432" marB="27432" marL="73152" marR="73152" anchor="ctr">
                    <a:solidFill>
                      <a:srgbClr val="0B2A5B"/>
                    </a:solidFill>
                  </a:tcPr>
                </a:tc>
              </a:tr>
              <a:tr h="566928">
                <a:tc>
                  <a:txBody>
                    <a:bodyPr wrap="square"/>
                    <a:lstStyle/>
                    <a:p>
                      <a:pPr algn="l">
                        <a:lnSpc>
                          <a:spcPct val="110000"/>
                        </a:lnSpc>
                        <a:spcAft>
                          <a:spcPts val="0"/>
                        </a:spcAft>
                      </a:pPr>
                      <a:r>
                        <a:rPr sz="1350" b="0">
                          <a:solidFill>
                            <a:srgbClr val="1A1A1A"/>
                          </a:solidFill>
                          <a:latin typeface="Microsoft JhengHei"/>
                          <a:ea typeface="Microsoft JhengHei"/>
                        </a:rPr>
                        <a:t>波動 regime 條件式進場</a:t>
                      </a:r>
                    </a:p>
                  </a:txBody>
                  <a:tcPr marT="27432" marB="27432" marL="73152" marR="73152" anchor="ctr">
                    <a:solidFill>
                      <a:srgbClr val="FFFFFF"/>
                    </a:solidFill>
                  </a:tcPr>
                </a:tc>
                <a:tc>
                  <a:txBody>
                    <a:bodyPr wrap="square"/>
                    <a:lstStyle/>
                    <a:p>
                      <a:pPr algn="ctr">
                        <a:lnSpc>
                          <a:spcPct val="110000"/>
                        </a:lnSpc>
                        <a:spcAft>
                          <a:spcPts val="0"/>
                        </a:spcAft>
                      </a:pPr>
                      <a:r>
                        <a:rPr sz="1350" b="0">
                          <a:solidFill>
                            <a:srgbClr val="1A1A1A"/>
                          </a:solidFill>
                          <a:latin typeface="Microsoft JhengHei"/>
                          <a:ea typeface="Microsoft JhengHei"/>
                        </a:rPr>
                        <a:t>否證</a:t>
                      </a:r>
                    </a:p>
                  </a:txBody>
                  <a:tcPr marT="27432" marB="27432" marL="73152" marR="73152" anchor="ctr">
                    <a:solidFill>
                      <a:srgbClr val="FFFFFF"/>
                    </a:solidFill>
                  </a:tcPr>
                </a:tc>
                <a:tc>
                  <a:txBody>
                    <a:bodyPr wrap="square"/>
                    <a:lstStyle/>
                    <a:p>
                      <a:pPr algn="l">
                        <a:lnSpc>
                          <a:spcPct val="110000"/>
                        </a:lnSpc>
                        <a:spcAft>
                          <a:spcPts val="0"/>
                        </a:spcAft>
                      </a:pPr>
                      <a:r>
                        <a:rPr sz="1350" b="0">
                          <a:solidFill>
                            <a:srgbClr val="1A1A1A"/>
                          </a:solidFill>
                          <a:latin typeface="Microsoft JhengHei"/>
                          <a:ea typeface="Microsoft JhengHei"/>
                        </a:rPr>
                        <a:t>動盪期報酬 54–87% 集中於 2008–2009；波動水準無法區分波動來源</a:t>
                      </a:r>
                    </a:p>
                  </a:txBody>
                  <a:tcPr marT="27432" marB="27432" marL="73152" marR="73152" anchor="ctr">
                    <a:solidFill>
                      <a:srgbClr val="FFFFFF"/>
                    </a:solidFill>
                  </a:tcPr>
                </a:tc>
              </a:tr>
              <a:tr h="566928">
                <a:tc>
                  <a:txBody>
                    <a:bodyPr wrap="square"/>
                    <a:lstStyle/>
                    <a:p>
                      <a:pPr algn="l">
                        <a:lnSpc>
                          <a:spcPct val="110000"/>
                        </a:lnSpc>
                        <a:spcAft>
                          <a:spcPts val="0"/>
                        </a:spcAft>
                      </a:pPr>
                      <a:r>
                        <a:rPr sz="1350" b="0">
                          <a:solidFill>
                            <a:srgbClr val="1A1A1A"/>
                          </a:solidFill>
                          <a:latin typeface="Microsoft JhengHei"/>
                          <a:ea typeface="Microsoft JhengHei"/>
                        </a:rPr>
                        <a:t>時間停損</a:t>
                      </a:r>
                    </a:p>
                  </a:txBody>
                  <a:tcPr marT="27432" marB="27432" marL="73152" marR="73152" anchor="ctr">
                    <a:solidFill>
                      <a:srgbClr val="E8EDF5"/>
                    </a:solidFill>
                  </a:tcPr>
                </a:tc>
                <a:tc>
                  <a:txBody>
                    <a:bodyPr wrap="square"/>
                    <a:lstStyle/>
                    <a:p>
                      <a:pPr algn="ctr">
                        <a:lnSpc>
                          <a:spcPct val="110000"/>
                        </a:lnSpc>
                        <a:spcAft>
                          <a:spcPts val="0"/>
                        </a:spcAft>
                      </a:pPr>
                      <a:r>
                        <a:rPr sz="1350" b="0">
                          <a:solidFill>
                            <a:srgbClr val="1A1A1A"/>
                          </a:solidFill>
                          <a:latin typeface="Microsoft JhengHei"/>
                          <a:ea typeface="Microsoft JhengHei"/>
                        </a:rPr>
                        <a:t>否證</a:t>
                      </a:r>
                    </a:p>
                  </a:txBody>
                  <a:tcPr marT="27432" marB="27432" marL="73152" marR="73152" anchor="ctr">
                    <a:solidFill>
                      <a:srgbClr val="E8EDF5"/>
                    </a:solidFill>
                  </a:tcPr>
                </a:tc>
                <a:tc>
                  <a:txBody>
                    <a:bodyPr wrap="square"/>
                    <a:lstStyle/>
                    <a:p>
                      <a:pPr algn="l">
                        <a:lnSpc>
                          <a:spcPct val="110000"/>
                        </a:lnSpc>
                        <a:spcAft>
                          <a:spcPts val="0"/>
                        </a:spcAft>
                      </a:pPr>
                      <a:r>
                        <a:rPr sz="1350" b="0">
                          <a:solidFill>
                            <a:srgbClr val="1A1A1A"/>
                          </a:solidFill>
                          <a:latin typeface="Microsoft JhengHei"/>
                          <a:ea typeface="Microsoft JhengHei"/>
                        </a:rPr>
                        <a:t>4 臂 × 5 門檻＝20 格全部劣於現行；回歸集中於持倉後期，中途平倉系統性地在最不利時點認賠</a:t>
                      </a:r>
                    </a:p>
                  </a:txBody>
                  <a:tcPr marT="27432" marB="27432" marL="73152" marR="73152" anchor="ctr">
                    <a:solidFill>
                      <a:srgbClr val="E8EDF5"/>
                    </a:solidFill>
                  </a:tcPr>
                </a:tc>
              </a:tr>
              <a:tr h="566928">
                <a:tc>
                  <a:txBody>
                    <a:bodyPr wrap="square"/>
                    <a:lstStyle/>
                    <a:p>
                      <a:pPr algn="l">
                        <a:lnSpc>
                          <a:spcPct val="110000"/>
                        </a:lnSpc>
                        <a:spcAft>
                          <a:spcPts val="0"/>
                        </a:spcAft>
                      </a:pPr>
                      <a:r>
                        <a:rPr sz="1350" b="0">
                          <a:solidFill>
                            <a:srgbClr val="1A1A1A"/>
                          </a:solidFill>
                          <a:latin typeface="Microsoft JhengHei"/>
                          <a:ea typeface="Microsoft JhengHei"/>
                        </a:rPr>
                        <a:t>延長交易期</a:t>
                      </a:r>
                    </a:p>
                  </a:txBody>
                  <a:tcPr marT="27432" marB="27432" marL="73152" marR="73152" anchor="ctr">
                    <a:solidFill>
                      <a:srgbClr val="FFFFFF"/>
                    </a:solidFill>
                  </a:tcPr>
                </a:tc>
                <a:tc>
                  <a:txBody>
                    <a:bodyPr wrap="square"/>
                    <a:lstStyle/>
                    <a:p>
                      <a:pPr algn="ctr">
                        <a:lnSpc>
                          <a:spcPct val="110000"/>
                        </a:lnSpc>
                        <a:spcAft>
                          <a:spcPts val="0"/>
                        </a:spcAft>
                      </a:pPr>
                      <a:r>
                        <a:rPr sz="1350" b="0">
                          <a:solidFill>
                            <a:srgbClr val="1A1A1A"/>
                          </a:solidFill>
                          <a:latin typeface="Microsoft JhengHei"/>
                          <a:ea typeface="Microsoft JhengHei"/>
                        </a:rPr>
                        <a:t>否證</a:t>
                      </a:r>
                    </a:p>
                  </a:txBody>
                  <a:tcPr marT="27432" marB="27432" marL="73152" marR="73152" anchor="ctr">
                    <a:solidFill>
                      <a:srgbClr val="FFFFFF"/>
                    </a:solidFill>
                  </a:tcPr>
                </a:tc>
                <a:tc>
                  <a:txBody>
                    <a:bodyPr wrap="square"/>
                    <a:lstStyle/>
                    <a:p>
                      <a:pPr algn="l">
                        <a:lnSpc>
                          <a:spcPct val="110000"/>
                        </a:lnSpc>
                        <a:spcAft>
                          <a:spcPts val="0"/>
                        </a:spcAft>
                      </a:pPr>
                      <a:r>
                        <a:rPr sz="1350" b="0">
                          <a:solidFill>
                            <a:srgbClr val="1A1A1A"/>
                          </a:solidFill>
                          <a:latin typeface="Microsoft JhengHei"/>
                          <a:ea typeface="Microsoft JhengHei"/>
                        </a:rPr>
                        <a:t>期末仍持倉者追蹤 126 日僅 45.4% 回歸；未回歸的 54.6% 其 |z| 自 4.57 擴大至 6.82</a:t>
                      </a:r>
                    </a:p>
                  </a:txBody>
                  <a:tcPr marT="27432" marB="27432" marL="73152" marR="73152" anchor="ctr">
                    <a:solidFill>
                      <a:srgbClr val="FFFFFF"/>
                    </a:solidFill>
                  </a:tcPr>
                </a:tc>
              </a:tr>
            </a:tbl>
          </a:graphicData>
        </a:graphic>
      </p:graphicFrame>
      <p:sp>
        <p:nvSpPr>
          <p:cNvPr id="6" name="Rounded Rectangle 5"/>
          <p:cNvSpPr/>
          <p:nvPr/>
        </p:nvSpPr>
        <p:spPr>
          <a:xfrm>
            <a:off x="640080" y="4069080"/>
            <a:ext cx="10881360" cy="17373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600"/>
              </a:spcAft>
            </a:pPr>
            <a:r>
              <a:rPr sz="1350" b="0">
                <a:solidFill>
                  <a:srgbClr val="1A1A1A"/>
                </a:solidFill>
                <a:latin typeface="Microsoft JhengHei"/>
                <a:ea typeface="Microsoft JhengHei"/>
              </a:rPr>
              <a:t>三項都是針對「</a:t>
            </a:r>
            <a:r>
              <a:rPr sz="1350" b="1">
                <a:solidFill>
                  <a:srgbClr val="1A1A1A"/>
                </a:solidFill>
                <a:latin typeface="Microsoft JhengHei"/>
                <a:ea typeface="Microsoft JhengHei"/>
              </a:rPr>
              <a:t>期末強制平倉佔進場 40.3%</a:t>
            </a:r>
            <a:r>
              <a:rPr sz="1350" b="0">
                <a:solidFill>
                  <a:srgbClr val="1A1A1A"/>
                </a:solidFill>
                <a:latin typeface="Microsoft JhengHei"/>
                <a:ea typeface="Microsoft JhengHei"/>
              </a:rPr>
              <a:t>」設計的。結論：這個現象沒辦法靠調整持有期或進場時機消除，因為沒回歸的配對多數是真發散。要降低它，需要的是形成期能預測樣本外收斂的篩選訊號。</a:t>
            </a:r>
          </a:p>
          <a:p>
            <a:pPr algn="l">
              <a:lnSpc>
                <a:spcPct val="125000"/>
              </a:lnSpc>
              <a:spcAft>
                <a:spcPts val="600"/>
              </a:spcAft>
            </a:pPr>
            <a:r>
              <a:rPr sz="1250" b="0">
                <a:solidFill>
                  <a:srgbClr val="6B7280"/>
                </a:solidFill>
                <a:latin typeface="Microsoft JhengHei"/>
                <a:ea typeface="Microsoft JhengHei"/>
              </a:rPr>
              <a:t>與 4.1 的分工：4.1 變動的是「每期可做幾次決策」；本附錄變動的是「那條固定規則本身的形狀」——決策次數始終為 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附錄 A 前行研究差異定位</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B7　與前行研究（許鈞翔，2025）的差異定位</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66</a:t>
            </a:r>
          </a:p>
        </p:txBody>
      </p:sp>
      <p:graphicFrame>
        <p:nvGraphicFramePr>
          <p:cNvPr id="5" name="Table 4"/>
          <p:cNvGraphicFramePr>
            <a:graphicFrameLocks noGrp="1"/>
          </p:cNvGraphicFramePr>
          <p:nvPr/>
        </p:nvGraphicFramePr>
        <p:xfrm>
          <a:off x="640080" y="1645920"/>
          <a:ext cx="6858000" cy="2798064"/>
        </p:xfrm>
        <a:graphic>
          <a:graphicData uri="http://schemas.openxmlformats.org/drawingml/2006/table">
            <a:tbl>
              <a:tblPr firstRow="1" bandRow="1">
                <a:tableStyleId>{5C22544A-7EE6-4342-B048-85BDC9FD1C3A}</a:tableStyleId>
              </a:tblPr>
              <a:tblGrid>
                <a:gridCol w="411480"/>
                <a:gridCol w="1463040"/>
                <a:gridCol w="2834640"/>
                <a:gridCol w="2148840"/>
              </a:tblGrid>
              <a:tr h="310896">
                <a:tc>
                  <a:txBody>
                    <a:bodyPr wrap="square"/>
                    <a:lstStyle/>
                    <a:p>
                      <a:pPr algn="ctr">
                        <a:lnSpc>
                          <a:spcPct val="110000"/>
                        </a:lnSpc>
                        <a:spcAft>
                          <a:spcPts val="0"/>
                        </a:spcAft>
                      </a:pPr>
                      <a:r>
                        <a:rPr sz="1200" b="1">
                          <a:solidFill>
                            <a:srgbClr val="FFFFFF"/>
                          </a:solidFill>
                          <a:latin typeface="Microsoft JhengHei"/>
                          <a:ea typeface="Microsoft JhengHei"/>
                        </a:rPr>
                        <a:t>#</a:t>
                      </a:r>
                    </a:p>
                  </a:txBody>
                  <a:tcPr marT="27432" marB="27432" marL="73152" marR="73152" anchor="ctr">
                    <a:solidFill>
                      <a:srgbClr val="0B2A5B"/>
                    </a:solidFill>
                  </a:tcPr>
                </a:tc>
                <a:tc>
                  <a:txBody>
                    <a:bodyPr wrap="square"/>
                    <a:lstStyle/>
                    <a:p>
                      <a:pPr algn="l">
                        <a:lnSpc>
                          <a:spcPct val="110000"/>
                        </a:lnSpc>
                        <a:spcAft>
                          <a:spcPts val="0"/>
                        </a:spcAft>
                      </a:pPr>
                      <a:r>
                        <a:rPr sz="1200" b="1">
                          <a:solidFill>
                            <a:srgbClr val="FFFFFF"/>
                          </a:solidFill>
                          <a:latin typeface="Microsoft JhengHei"/>
                          <a:ea typeface="Microsoft JhengHei"/>
                        </a:rPr>
                        <a:t>面向</a:t>
                      </a:r>
                    </a:p>
                  </a:txBody>
                  <a:tcPr marT="27432" marB="27432" marL="73152" marR="73152" anchor="ctr">
                    <a:solidFill>
                      <a:srgbClr val="0B2A5B"/>
                    </a:solidFill>
                  </a:tcPr>
                </a:tc>
                <a:tc>
                  <a:txBody>
                    <a:bodyPr wrap="square"/>
                    <a:lstStyle/>
                    <a:p>
                      <a:pPr algn="l">
                        <a:lnSpc>
                          <a:spcPct val="110000"/>
                        </a:lnSpc>
                        <a:spcAft>
                          <a:spcPts val="0"/>
                        </a:spcAft>
                      </a:pPr>
                      <a:r>
                        <a:rPr sz="1200" b="1">
                          <a:solidFill>
                            <a:srgbClr val="FFFFFF"/>
                          </a:solidFill>
                          <a:latin typeface="Microsoft JhengHei"/>
                          <a:ea typeface="Microsoft JhengHei"/>
                        </a:rPr>
                        <a:t>本研究</a:t>
                      </a:r>
                    </a:p>
                  </a:txBody>
                  <a:tcPr marT="27432" marB="27432" marL="73152" marR="73152" anchor="ctr">
                    <a:solidFill>
                      <a:srgbClr val="0B2A5B"/>
                    </a:solidFill>
                  </a:tcPr>
                </a:tc>
                <a:tc>
                  <a:txBody>
                    <a:bodyPr wrap="square"/>
                    <a:lstStyle/>
                    <a:p>
                      <a:pPr algn="l">
                        <a:lnSpc>
                          <a:spcPct val="110000"/>
                        </a:lnSpc>
                        <a:spcAft>
                          <a:spcPts val="0"/>
                        </a:spcAft>
                      </a:pPr>
                      <a:r>
                        <a:rPr sz="1200" b="1">
                          <a:solidFill>
                            <a:srgbClr val="FFFFFF"/>
                          </a:solidFill>
                          <a:latin typeface="Microsoft JhengHei"/>
                          <a:ea typeface="Microsoft JhengHei"/>
                        </a:rPr>
                        <a:t>許鈞翔（2025）</a:t>
                      </a:r>
                    </a:p>
                  </a:txBody>
                  <a:tcPr marT="27432" marB="27432" marL="73152" marR="73152" anchor="ctr">
                    <a:solidFill>
                      <a:srgbClr val="0B2A5B"/>
                    </a:solidFill>
                  </a:tcPr>
                </a:tc>
              </a:tr>
              <a:tr h="310896">
                <a:tc>
                  <a:txBody>
                    <a:bodyPr wrap="square"/>
                    <a:lstStyle/>
                    <a:p>
                      <a:pPr algn="ctr">
                        <a:lnSpc>
                          <a:spcPct val="110000"/>
                        </a:lnSpc>
                        <a:spcAft>
                          <a:spcPts val="0"/>
                        </a:spcAft>
                      </a:pPr>
                      <a:r>
                        <a:rPr sz="1200" b="0">
                          <a:solidFill>
                            <a:srgbClr val="1A1A1A"/>
                          </a:solidFill>
                          <a:latin typeface="Microsoft JhengHei"/>
                          <a:ea typeface="Microsoft JhengHei"/>
                        </a:rPr>
                        <a:t>1</a:t>
                      </a:r>
                    </a:p>
                  </a:txBody>
                  <a:tcPr marT="27432" marB="27432" marL="73152" marR="73152" anchor="ctr">
                    <a:solidFill>
                      <a:srgbClr val="FFFFFF"/>
                    </a:solidFill>
                  </a:tcPr>
                </a:tc>
                <a:tc>
                  <a:txBody>
                    <a:bodyPr wrap="square"/>
                    <a:lstStyle/>
                    <a:p>
                      <a:pPr algn="l">
                        <a:lnSpc>
                          <a:spcPct val="110000"/>
                        </a:lnSpc>
                        <a:spcAft>
                          <a:spcPts val="0"/>
                        </a:spcAft>
                      </a:pPr>
                      <a:r>
                        <a:rPr sz="1200" b="0">
                          <a:solidFill>
                            <a:srgbClr val="1A1A1A"/>
                          </a:solidFill>
                          <a:latin typeface="Microsoft JhengHei"/>
                          <a:ea typeface="Microsoft JhengHei"/>
                        </a:rPr>
                        <a:t>樣本期間</a:t>
                      </a:r>
                    </a:p>
                  </a:txBody>
                  <a:tcPr marT="27432" marB="27432" marL="73152" marR="73152" anchor="ctr">
                    <a:solidFill>
                      <a:srgbClr val="FFFFFF"/>
                    </a:solidFill>
                  </a:tcPr>
                </a:tc>
                <a:tc>
                  <a:txBody>
                    <a:bodyPr wrap="square"/>
                    <a:lstStyle/>
                    <a:p>
                      <a:pPr algn="l">
                        <a:lnSpc>
                          <a:spcPct val="110000"/>
                        </a:lnSpc>
                        <a:spcAft>
                          <a:spcPts val="0"/>
                        </a:spcAft>
                      </a:pPr>
                      <a:r>
                        <a:rPr sz="1200" b="0">
                          <a:solidFill>
                            <a:srgbClr val="1A1A1A"/>
                          </a:solidFill>
                          <a:latin typeface="Microsoft JhengHei"/>
                          <a:ea typeface="Microsoft JhengHei"/>
                        </a:rPr>
                        <a:t>2000–2025</a:t>
                      </a:r>
                    </a:p>
                  </a:txBody>
                  <a:tcPr marT="27432" marB="27432" marL="73152" marR="73152" anchor="ctr">
                    <a:solidFill>
                      <a:srgbClr val="FFFFFF"/>
                    </a:solidFill>
                  </a:tcPr>
                </a:tc>
                <a:tc>
                  <a:txBody>
                    <a:bodyPr wrap="square"/>
                    <a:lstStyle/>
                    <a:p>
                      <a:pPr algn="l">
                        <a:lnSpc>
                          <a:spcPct val="110000"/>
                        </a:lnSpc>
                        <a:spcAft>
                          <a:spcPts val="0"/>
                        </a:spcAft>
                      </a:pPr>
                      <a:r>
                        <a:rPr sz="1200" b="0">
                          <a:solidFill>
                            <a:srgbClr val="1A1A1A"/>
                          </a:solidFill>
                          <a:latin typeface="Microsoft JhengHei"/>
                          <a:ea typeface="Microsoft JhengHei"/>
                        </a:rPr>
                        <a:t>較短且較晚</a:t>
                      </a:r>
                    </a:p>
                  </a:txBody>
                  <a:tcPr marT="27432" marB="27432" marL="73152" marR="73152" anchor="ctr">
                    <a:solidFill>
                      <a:srgbClr val="FFFFFF"/>
                    </a:solidFill>
                  </a:tcPr>
                </a:tc>
              </a:tr>
              <a:tr h="310896">
                <a:tc>
                  <a:txBody>
                    <a:bodyPr wrap="square"/>
                    <a:lstStyle/>
                    <a:p>
                      <a:pPr algn="ctr">
                        <a:lnSpc>
                          <a:spcPct val="110000"/>
                        </a:lnSpc>
                        <a:spcAft>
                          <a:spcPts val="0"/>
                        </a:spcAft>
                      </a:pPr>
                      <a:r>
                        <a:rPr sz="1200" b="0">
                          <a:solidFill>
                            <a:srgbClr val="1A1A1A"/>
                          </a:solidFill>
                          <a:latin typeface="Microsoft JhengHei"/>
                          <a:ea typeface="Microsoft JhengHei"/>
                        </a:rPr>
                        <a:t>2</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母體與分組</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S&amp;P 500，分群／GICS</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不分組</a:t>
                      </a:r>
                    </a:p>
                  </a:txBody>
                  <a:tcPr marT="27432" marB="27432" marL="73152" marR="73152" anchor="ctr">
                    <a:solidFill>
                      <a:srgbClr val="E8EDF5"/>
                    </a:solidFill>
                  </a:tcPr>
                </a:tc>
              </a:tr>
              <a:tr h="310896">
                <a:tc>
                  <a:txBody>
                    <a:bodyPr wrap="square"/>
                    <a:lstStyle/>
                    <a:p>
                      <a:pPr algn="ctr">
                        <a:lnSpc>
                          <a:spcPct val="110000"/>
                        </a:lnSpc>
                        <a:spcAft>
                          <a:spcPts val="0"/>
                        </a:spcAft>
                      </a:pPr>
                      <a:r>
                        <a:rPr sz="1200" b="0">
                          <a:solidFill>
                            <a:srgbClr val="1A1A1A"/>
                          </a:solidFill>
                          <a:latin typeface="Microsoft JhengHei"/>
                          <a:ea typeface="Microsoft JhengHei"/>
                        </a:rPr>
                        <a:t>3</a:t>
                      </a:r>
                    </a:p>
                  </a:txBody>
                  <a:tcPr marT="27432" marB="27432" marL="73152" marR="73152" anchor="ctr">
                    <a:solidFill>
                      <a:srgbClr val="FFFFFF"/>
                    </a:solidFill>
                  </a:tcPr>
                </a:tc>
                <a:tc>
                  <a:txBody>
                    <a:bodyPr wrap="square"/>
                    <a:lstStyle/>
                    <a:p>
                      <a:pPr algn="l">
                        <a:lnSpc>
                          <a:spcPct val="110000"/>
                        </a:lnSpc>
                        <a:spcAft>
                          <a:spcPts val="0"/>
                        </a:spcAft>
                      </a:pPr>
                      <a:r>
                        <a:rPr sz="1200" b="0">
                          <a:solidFill>
                            <a:srgbClr val="1A1A1A"/>
                          </a:solidFill>
                          <a:latin typeface="Microsoft JhengHei"/>
                          <a:ea typeface="Microsoft JhengHei"/>
                        </a:rPr>
                        <a:t>配對數</a:t>
                      </a:r>
                    </a:p>
                  </a:txBody>
                  <a:tcPr marT="27432" marB="27432" marL="73152" marR="73152" anchor="ctr">
                    <a:solidFill>
                      <a:srgbClr val="FFFFFF"/>
                    </a:solidFill>
                  </a:tcPr>
                </a:tc>
                <a:tc>
                  <a:txBody>
                    <a:bodyPr wrap="square"/>
                    <a:lstStyle/>
                    <a:p>
                      <a:pPr algn="l">
                        <a:lnSpc>
                          <a:spcPct val="110000"/>
                        </a:lnSpc>
                        <a:spcAft>
                          <a:spcPts val="0"/>
                        </a:spcAft>
                      </a:pPr>
                      <a:r>
                        <a:rPr sz="1200" b="0">
                          <a:solidFill>
                            <a:srgbClr val="1A1A1A"/>
                          </a:solidFill>
                          <a:latin typeface="Microsoft JhengHei"/>
                          <a:ea typeface="Microsoft JhengHei"/>
                        </a:rPr>
                        <a:t>top_n＝1/3/5/10/20</a:t>
                      </a:r>
                    </a:p>
                  </a:txBody>
                  <a:tcPr marT="27432" marB="27432" marL="73152" marR="73152" anchor="ctr">
                    <a:solidFill>
                      <a:srgbClr val="FFFFFF"/>
                    </a:solidFill>
                  </a:tcPr>
                </a:tc>
                <a:tc>
                  <a:txBody>
                    <a:bodyPr wrap="square"/>
                    <a:lstStyle/>
                    <a:p>
                      <a:pPr algn="l">
                        <a:lnSpc>
                          <a:spcPct val="110000"/>
                        </a:lnSpc>
                        <a:spcAft>
                          <a:spcPts val="0"/>
                        </a:spcAft>
                      </a:pPr>
                      <a:r>
                        <a:rPr sz="1200" b="0">
                          <a:solidFill>
                            <a:srgbClr val="1A1A1A"/>
                          </a:solidFill>
                          <a:latin typeface="Microsoft JhengHei"/>
                          <a:ea typeface="Microsoft JhengHei"/>
                        </a:rPr>
                        <a:t>固定少數配對</a:t>
                      </a:r>
                    </a:p>
                  </a:txBody>
                  <a:tcPr marT="27432" marB="27432" marL="73152" marR="73152" anchor="ctr">
                    <a:solidFill>
                      <a:srgbClr val="FFFFFF"/>
                    </a:solidFill>
                  </a:tcPr>
                </a:tc>
              </a:tr>
              <a:tr h="310896">
                <a:tc>
                  <a:txBody>
                    <a:bodyPr wrap="square"/>
                    <a:lstStyle/>
                    <a:p>
                      <a:pPr algn="ctr">
                        <a:lnSpc>
                          <a:spcPct val="110000"/>
                        </a:lnSpc>
                        <a:spcAft>
                          <a:spcPts val="0"/>
                        </a:spcAft>
                      </a:pPr>
                      <a:r>
                        <a:rPr sz="1200" b="0">
                          <a:solidFill>
                            <a:srgbClr val="1A1A1A"/>
                          </a:solidFill>
                          <a:latin typeface="Microsoft JhengHei"/>
                          <a:ea typeface="Microsoft JhengHei"/>
                        </a:rPr>
                        <a:t>4</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統計篩選</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共整合（ADF）</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ADF p &lt; 0.01</a:t>
                      </a:r>
                    </a:p>
                  </a:txBody>
                  <a:tcPr marT="27432" marB="27432" marL="73152" marR="73152" anchor="ctr">
                    <a:solidFill>
                      <a:srgbClr val="E8EDF5"/>
                    </a:solidFill>
                  </a:tcPr>
                </a:tc>
              </a:tr>
              <a:tr h="310896">
                <a:tc>
                  <a:txBody>
                    <a:bodyPr wrap="square"/>
                    <a:lstStyle/>
                    <a:p>
                      <a:pPr algn="ctr">
                        <a:lnSpc>
                          <a:spcPct val="110000"/>
                        </a:lnSpc>
                        <a:spcAft>
                          <a:spcPts val="0"/>
                        </a:spcAft>
                      </a:pPr>
                      <a:r>
                        <a:rPr sz="1200" b="0">
                          <a:solidFill>
                            <a:srgbClr val="1A1A1A"/>
                          </a:solidFill>
                          <a:latin typeface="Microsoft JhengHei"/>
                          <a:ea typeface="Microsoft JhengHei"/>
                        </a:rPr>
                        <a:t>5</a:t>
                      </a:r>
                    </a:p>
                  </a:txBody>
                  <a:tcPr marT="27432" marB="27432" marL="73152" marR="73152" anchor="ctr">
                    <a:solidFill>
                      <a:srgbClr val="F6DED7"/>
                    </a:solidFill>
                  </a:tcPr>
                </a:tc>
                <a:tc>
                  <a:txBody>
                    <a:bodyPr wrap="square"/>
                    <a:lstStyle/>
                    <a:p>
                      <a:pPr algn="l">
                        <a:lnSpc>
                          <a:spcPct val="110000"/>
                        </a:lnSpc>
                        <a:spcAft>
                          <a:spcPts val="0"/>
                        </a:spcAft>
                      </a:pPr>
                      <a:r>
                        <a:rPr sz="1200" b="0">
                          <a:solidFill>
                            <a:srgbClr val="1A1A1A"/>
                          </a:solidFill>
                          <a:latin typeface="Microsoft JhengHei"/>
                          <a:ea typeface="Microsoft JhengHei"/>
                        </a:rPr>
                        <a:t>進場時點</a:t>
                      </a:r>
                    </a:p>
                  </a:txBody>
                  <a:tcPr marT="27432" marB="27432" marL="73152" marR="73152" anchor="ctr">
                    <a:solidFill>
                      <a:srgbClr val="F6DED7"/>
                    </a:solidFill>
                  </a:tcPr>
                </a:tc>
                <a:tc>
                  <a:txBody>
                    <a:bodyPr wrap="square"/>
                    <a:lstStyle/>
                    <a:p>
                      <a:pPr algn="l">
                        <a:lnSpc>
                          <a:spcPct val="110000"/>
                        </a:lnSpc>
                        <a:spcAft>
                          <a:spcPts val="0"/>
                        </a:spcAft>
                      </a:pPr>
                      <a:r>
                        <a:rPr sz="1200" b="0">
                          <a:solidFill>
                            <a:srgbClr val="1A1A1A"/>
                          </a:solidFill>
                          <a:latin typeface="Microsoft JhengHei"/>
                          <a:ea typeface="Microsoft JhengHei"/>
                        </a:rPr>
                        <a:t>突破式</a:t>
                      </a:r>
                    </a:p>
                  </a:txBody>
                  <a:tcPr marT="27432" marB="27432" marL="73152" marR="73152" anchor="ctr">
                    <a:solidFill>
                      <a:srgbClr val="F6DED7"/>
                    </a:solidFill>
                  </a:tcPr>
                </a:tc>
                <a:tc>
                  <a:txBody>
                    <a:bodyPr wrap="square"/>
                    <a:lstStyle/>
                    <a:p>
                      <a:pPr algn="l">
                        <a:lnSpc>
                          <a:spcPct val="110000"/>
                        </a:lnSpc>
                        <a:spcAft>
                          <a:spcPts val="0"/>
                        </a:spcAft>
                      </a:pPr>
                      <a:r>
                        <a:rPr sz="1200" b="0">
                          <a:solidFill>
                            <a:srgbClr val="1A1A1A"/>
                          </a:solidFill>
                          <a:latin typeface="Microsoft JhengHei"/>
                          <a:ea typeface="Microsoft JhengHei"/>
                        </a:rPr>
                        <a:t>回歸式</a:t>
                      </a:r>
                    </a:p>
                  </a:txBody>
                  <a:tcPr marT="27432" marB="27432" marL="73152" marR="73152" anchor="ctr">
                    <a:solidFill>
                      <a:srgbClr val="F6DED7"/>
                    </a:solidFill>
                  </a:tcPr>
                </a:tc>
              </a:tr>
              <a:tr h="310896">
                <a:tc>
                  <a:txBody>
                    <a:bodyPr wrap="square"/>
                    <a:lstStyle/>
                    <a:p>
                      <a:pPr algn="ctr">
                        <a:lnSpc>
                          <a:spcPct val="110000"/>
                        </a:lnSpc>
                        <a:spcAft>
                          <a:spcPts val="0"/>
                        </a:spcAft>
                      </a:pPr>
                      <a:r>
                        <a:rPr sz="1200" b="0">
                          <a:solidFill>
                            <a:srgbClr val="1A1A1A"/>
                          </a:solidFill>
                          <a:latin typeface="Microsoft JhengHei"/>
                          <a:ea typeface="Microsoft JhengHei"/>
                        </a:rPr>
                        <a:t>6</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交易成本</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單邊 0.29%</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單邊 0.10%</a:t>
                      </a:r>
                    </a:p>
                  </a:txBody>
                  <a:tcPr marT="27432" marB="27432" marL="73152" marR="73152" anchor="ctr">
                    <a:solidFill>
                      <a:srgbClr val="E8EDF5"/>
                    </a:solidFill>
                  </a:tcPr>
                </a:tc>
              </a:tr>
              <a:tr h="310896">
                <a:tc>
                  <a:txBody>
                    <a:bodyPr wrap="square"/>
                    <a:lstStyle/>
                    <a:p>
                      <a:pPr algn="ctr">
                        <a:lnSpc>
                          <a:spcPct val="110000"/>
                        </a:lnSpc>
                        <a:spcAft>
                          <a:spcPts val="0"/>
                        </a:spcAft>
                      </a:pPr>
                      <a:r>
                        <a:rPr sz="1200" b="0">
                          <a:solidFill>
                            <a:srgbClr val="1A1A1A"/>
                          </a:solidFill>
                          <a:latin typeface="Microsoft JhengHei"/>
                          <a:ea typeface="Microsoft JhengHei"/>
                        </a:rPr>
                        <a:t>7</a:t>
                      </a:r>
                    </a:p>
                  </a:txBody>
                  <a:tcPr marT="27432" marB="27432" marL="73152" marR="73152" anchor="ctr">
                    <a:solidFill>
                      <a:srgbClr val="FFFFFF"/>
                    </a:solidFill>
                  </a:tcPr>
                </a:tc>
                <a:tc>
                  <a:txBody>
                    <a:bodyPr wrap="square"/>
                    <a:lstStyle/>
                    <a:p>
                      <a:pPr algn="l">
                        <a:lnSpc>
                          <a:spcPct val="110000"/>
                        </a:lnSpc>
                        <a:spcAft>
                          <a:spcPts val="0"/>
                        </a:spcAft>
                      </a:pPr>
                      <a:r>
                        <a:rPr sz="1200" b="0">
                          <a:solidFill>
                            <a:srgbClr val="1A1A1A"/>
                          </a:solidFill>
                          <a:latin typeface="Microsoft JhengHei"/>
                          <a:ea typeface="Microsoft JhengHei"/>
                        </a:rPr>
                        <a:t>報酬口徑</a:t>
                      </a:r>
                    </a:p>
                  </a:txBody>
                  <a:tcPr marT="27432" marB="27432" marL="73152" marR="73152" anchor="ctr">
                    <a:solidFill>
                      <a:srgbClr val="FFFFFF"/>
                    </a:solidFill>
                  </a:tcPr>
                </a:tc>
                <a:tc>
                  <a:txBody>
                    <a:bodyPr wrap="square"/>
                    <a:lstStyle/>
                    <a:p>
                      <a:pPr algn="l">
                        <a:lnSpc>
                          <a:spcPct val="110000"/>
                        </a:lnSpc>
                        <a:spcAft>
                          <a:spcPts val="0"/>
                        </a:spcAft>
                      </a:pPr>
                      <a:r>
                        <a:rPr sz="1200" b="0">
                          <a:solidFill>
                            <a:srgbClr val="1A1A1A"/>
                          </a:solidFill>
                          <a:latin typeface="Microsoft JhengHei"/>
                          <a:ea typeface="Microsoft JhengHei"/>
                        </a:rPr>
                        <a:t>承諾資本</a:t>
                      </a:r>
                    </a:p>
                  </a:txBody>
                  <a:tcPr marT="27432" marB="27432" marL="73152" marR="73152" anchor="ctr">
                    <a:solidFill>
                      <a:srgbClr val="FFFFFF"/>
                    </a:solidFill>
                  </a:tcPr>
                </a:tc>
                <a:tc>
                  <a:txBody>
                    <a:bodyPr wrap="square"/>
                    <a:lstStyle/>
                    <a:p>
                      <a:pPr algn="l">
                        <a:lnSpc>
                          <a:spcPct val="110000"/>
                        </a:lnSpc>
                        <a:spcAft>
                          <a:spcPts val="0"/>
                        </a:spcAft>
                      </a:pPr>
                      <a:r>
                        <a:rPr sz="1200" b="0">
                          <a:solidFill>
                            <a:srgbClr val="1A1A1A"/>
                          </a:solidFill>
                          <a:latin typeface="Microsoft JhengHei"/>
                          <a:ea typeface="Microsoft JhengHei"/>
                        </a:rPr>
                        <a:t>動用資本</a:t>
                      </a:r>
                    </a:p>
                  </a:txBody>
                  <a:tcPr marT="27432" marB="27432" marL="73152" marR="73152" anchor="ctr">
                    <a:solidFill>
                      <a:srgbClr val="FFFFFF"/>
                    </a:solidFill>
                  </a:tcPr>
                </a:tc>
              </a:tr>
              <a:tr h="310896">
                <a:tc>
                  <a:txBody>
                    <a:bodyPr wrap="square"/>
                    <a:lstStyle/>
                    <a:p>
                      <a:pPr algn="ctr">
                        <a:lnSpc>
                          <a:spcPct val="110000"/>
                        </a:lnSpc>
                        <a:spcAft>
                          <a:spcPts val="0"/>
                        </a:spcAft>
                      </a:pPr>
                      <a:r>
                        <a:rPr sz="1200" b="0">
                          <a:solidFill>
                            <a:srgbClr val="1A1A1A"/>
                          </a:solidFill>
                          <a:latin typeface="Microsoft JhengHei"/>
                          <a:ea typeface="Microsoft JhengHei"/>
                        </a:rPr>
                        <a:t>8</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停損</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三檔網格</a:t>
                      </a:r>
                    </a:p>
                  </a:txBody>
                  <a:tcPr marT="27432" marB="27432" marL="73152" marR="73152" anchor="ctr">
                    <a:solidFill>
                      <a:srgbClr val="E8EDF5"/>
                    </a:solidFill>
                  </a:tcPr>
                </a:tc>
                <a:tc>
                  <a:txBody>
                    <a:bodyPr wrap="square"/>
                    <a:lstStyle/>
                    <a:p>
                      <a:pPr algn="l">
                        <a:lnSpc>
                          <a:spcPct val="110000"/>
                        </a:lnSpc>
                        <a:spcAft>
                          <a:spcPts val="0"/>
                        </a:spcAft>
                      </a:pPr>
                      <a:r>
                        <a:rPr sz="1200" b="0">
                          <a:solidFill>
                            <a:srgbClr val="1A1A1A"/>
                          </a:solidFill>
                          <a:latin typeface="Microsoft JhengHei"/>
                          <a:ea typeface="Microsoft JhengHei"/>
                        </a:rPr>
                        <a:t>單一設定</a:t>
                      </a:r>
                    </a:p>
                  </a:txBody>
                  <a:tcPr marT="27432" marB="27432" marL="73152" marR="73152" anchor="ctr">
                    <a:solidFill>
                      <a:srgbClr val="E8EDF5"/>
                    </a:solidFill>
                  </a:tcPr>
                </a:tc>
              </a:tr>
            </a:tbl>
          </a:graphicData>
        </a:graphic>
      </p:graphicFrame>
      <p:graphicFrame>
        <p:nvGraphicFramePr>
          <p:cNvPr id="6" name="Table 5"/>
          <p:cNvGraphicFramePr>
            <a:graphicFrameLocks noGrp="1"/>
          </p:cNvGraphicFramePr>
          <p:nvPr/>
        </p:nvGraphicFramePr>
        <p:xfrm>
          <a:off x="7543800" y="1645920"/>
          <a:ext cx="3977640" cy="1316736"/>
        </p:xfrm>
        <a:graphic>
          <a:graphicData uri="http://schemas.openxmlformats.org/drawingml/2006/table">
            <a:tbl>
              <a:tblPr firstRow="1" bandRow="1">
                <a:tableStyleId>{5C22544A-7EE6-4342-B048-85BDC9FD1C3A}</a:tableStyleId>
              </a:tblPr>
              <a:tblGrid>
                <a:gridCol w="1188720"/>
                <a:gridCol w="1371600"/>
                <a:gridCol w="1417320"/>
              </a:tblGrid>
              <a:tr h="329184">
                <a:tc>
                  <a:txBody>
                    <a:bodyPr wrap="square"/>
                    <a:lstStyle/>
                    <a:p>
                      <a:pPr algn="l">
                        <a:lnSpc>
                          <a:spcPct val="110000"/>
                        </a:lnSpc>
                        <a:spcAft>
                          <a:spcPts val="0"/>
                        </a:spcAft>
                      </a:pPr>
                      <a:r>
                        <a:rPr sz="1250" b="1">
                          <a:solidFill>
                            <a:srgbClr val="FFFFFF"/>
                          </a:solidFill>
                          <a:latin typeface="Microsoft JhengHei"/>
                          <a:ea typeface="Microsoft JhengHei"/>
                        </a:rPr>
                        <a:t>排序</a:t>
                      </a:r>
                    </a:p>
                  </a:txBody>
                  <a:tcPr marT="27432" marB="27432" marL="73152" marR="73152" anchor="ctr">
                    <a:solidFill>
                      <a:srgbClr val="0B2A5B"/>
                    </a:solidFill>
                  </a:tcPr>
                </a:tc>
                <a:tc>
                  <a:txBody>
                    <a:bodyPr wrap="square"/>
                    <a:lstStyle/>
                    <a:p>
                      <a:pPr algn="l">
                        <a:lnSpc>
                          <a:spcPct val="110000"/>
                        </a:lnSpc>
                        <a:spcAft>
                          <a:spcPts val="0"/>
                        </a:spcAft>
                      </a:pPr>
                      <a:r>
                        <a:rPr sz="1250" b="1">
                          <a:solidFill>
                            <a:srgbClr val="FFFFFF"/>
                          </a:solidFill>
                          <a:latin typeface="Microsoft JhengHei"/>
                          <a:ea typeface="Microsoft JhengHei"/>
                        </a:rPr>
                        <a:t>年化Δ（%）</a:t>
                      </a:r>
                    </a:p>
                  </a:txBody>
                  <a:tcPr marT="27432" marB="27432" marL="73152" marR="73152" anchor="ctr">
                    <a:solidFill>
                      <a:srgbClr val="0B2A5B"/>
                    </a:solidFill>
                  </a:tcPr>
                </a:tc>
                <a:tc>
                  <a:txBody>
                    <a:bodyPr wrap="square"/>
                    <a:lstStyle/>
                    <a:p>
                      <a:pPr algn="l">
                        <a:lnSpc>
                          <a:spcPct val="110000"/>
                        </a:lnSpc>
                        <a:spcAft>
                          <a:spcPts val="0"/>
                        </a:spcAft>
                      </a:pPr>
                      <a:r>
                        <a:rPr sz="1250" b="1">
                          <a:solidFill>
                            <a:srgbClr val="FFFFFF"/>
                          </a:solidFill>
                          <a:latin typeface="Microsoft JhengHei"/>
                          <a:ea typeface="Microsoft JhengHei"/>
                        </a:rPr>
                        <a:t>p</a:t>
                      </a:r>
                    </a:p>
                  </a:txBody>
                  <a:tcPr marT="27432" marB="27432" marL="73152" marR="73152" anchor="ctr">
                    <a:solidFill>
                      <a:srgbClr val="0B2A5B"/>
                    </a:solidFill>
                  </a:tcPr>
                </a:tc>
              </a:tr>
              <a:tr h="329184">
                <a:tc>
                  <a:txBody>
                    <a:bodyPr wrap="square"/>
                    <a:lstStyle/>
                    <a:p>
                      <a:pPr algn="l">
                        <a:lnSpc>
                          <a:spcPct val="110000"/>
                        </a:lnSpc>
                        <a:spcAft>
                          <a:spcPts val="0"/>
                        </a:spcAft>
                      </a:pPr>
                      <a:r>
                        <a:rPr sz="1250" b="0">
                          <a:solidFill>
                            <a:srgbClr val="1A1A1A"/>
                          </a:solidFill>
                          <a:latin typeface="Microsoft JhengHei"/>
                          <a:ea typeface="Microsoft JhengHei"/>
                        </a:rPr>
                        <a:t>SSD</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−0.764</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0.197</a:t>
                      </a:r>
                    </a:p>
                  </a:txBody>
                  <a:tcPr marT="27432" marB="27432" marL="73152" marR="73152" anchor="ctr">
                    <a:solidFill>
                      <a:srgbClr val="FFFFFF"/>
                    </a:solidFill>
                  </a:tcPr>
                </a:tc>
              </a:tr>
              <a:tr h="329184">
                <a:tc>
                  <a:txBody>
                    <a:bodyPr wrap="square"/>
                    <a:lstStyle/>
                    <a:p>
                      <a:pPr algn="l">
                        <a:lnSpc>
                          <a:spcPct val="110000"/>
                        </a:lnSpc>
                        <a:spcAft>
                          <a:spcPts val="0"/>
                        </a:spcAft>
                      </a:pPr>
                      <a:r>
                        <a:rPr sz="1250" b="0">
                          <a:solidFill>
                            <a:srgbClr val="1A1A1A"/>
                          </a:solidFill>
                          <a:latin typeface="Microsoft JhengHei"/>
                          <a:ea typeface="Microsoft JhengHei"/>
                        </a:rPr>
                        <a:t>DTW</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−0.192</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0.577</a:t>
                      </a:r>
                    </a:p>
                  </a:txBody>
                  <a:tcPr marT="27432" marB="27432" marL="73152" marR="73152" anchor="ctr">
                    <a:solidFill>
                      <a:srgbClr val="E8EDF5"/>
                    </a:solidFill>
                  </a:tcPr>
                </a:tc>
              </a:tr>
              <a:tr h="329184">
                <a:tc>
                  <a:txBody>
                    <a:bodyPr wrap="square"/>
                    <a:lstStyle/>
                    <a:p>
                      <a:pPr algn="l">
                        <a:lnSpc>
                          <a:spcPct val="110000"/>
                        </a:lnSpc>
                        <a:spcAft>
                          <a:spcPts val="0"/>
                        </a:spcAft>
                      </a:pPr>
                      <a:r>
                        <a:rPr sz="1250" b="0">
                          <a:solidFill>
                            <a:srgbClr val="1A1A1A"/>
                          </a:solidFill>
                          <a:latin typeface="Microsoft JhengHei"/>
                          <a:ea typeface="Microsoft JhengHei"/>
                        </a:rPr>
                        <a:t>SDP</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−0.480</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0.293</a:t>
                      </a:r>
                    </a:p>
                  </a:txBody>
                  <a:tcPr marT="27432" marB="27432" marL="73152" marR="73152" anchor="ctr">
                    <a:solidFill>
                      <a:srgbClr val="FFFFFF"/>
                    </a:solidFill>
                  </a:tcPr>
                </a:tc>
              </a:tr>
            </a:tbl>
          </a:graphicData>
        </a:graphic>
      </p:graphicFrame>
      <p:sp>
        <p:nvSpPr>
          <p:cNvPr id="7" name="Rounded Rectangle 6"/>
          <p:cNvSpPr/>
          <p:nvPr/>
        </p:nvSpPr>
        <p:spPr>
          <a:xfrm>
            <a:off x="7543800" y="3063240"/>
            <a:ext cx="3977639" cy="26974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只隔離第 5 項：改成回歸式進場</a:t>
            </a:r>
          </a:p>
          <a:p>
            <a:pPr algn="l">
              <a:lnSpc>
                <a:spcPct val="125000"/>
              </a:lnSpc>
              <a:spcAft>
                <a:spcPts val="600"/>
              </a:spcAft>
            </a:pPr>
            <a:r>
              <a:rPr sz="1250" b="0">
                <a:solidFill>
                  <a:srgbClr val="1A1A1A"/>
                </a:solidFill>
                <a:latin typeface="Microsoft JhengHei"/>
                <a:ea typeface="Microsoft JhengHei"/>
              </a:rPr>
              <a:t>三組</a:t>
            </a:r>
            <a:r>
              <a:rPr sz="1250" b="1">
                <a:solidFill>
                  <a:srgbClr val="1A1A1A"/>
                </a:solidFill>
                <a:latin typeface="Microsoft JhengHei"/>
                <a:ea typeface="Microsoft JhengHei"/>
              </a:rPr>
              <a:t>方向一致為負</a:t>
            </a:r>
            <a:r>
              <a:rPr sz="1250" b="0">
                <a:solidFill>
                  <a:srgbClr val="1A1A1A"/>
                </a:solidFill>
                <a:latin typeface="Microsoft JhengHei"/>
                <a:ea typeface="Microsoft JhengHei"/>
              </a:rPr>
              <a:t>（都不顯著）——方向跟待解釋的差距</a:t>
            </a:r>
            <a:r>
              <a:rPr sz="1250" b="1">
                <a:solidFill>
                  <a:srgbClr val="1A1A1A"/>
                </a:solidFill>
                <a:latin typeface="Microsoft JhengHei"/>
                <a:ea typeface="Microsoft JhengHei"/>
              </a:rPr>
              <a:t>相反</a:t>
            </a:r>
            <a:r>
              <a:rPr sz="1250" b="0">
                <a:solidFill>
                  <a:srgbClr val="1A1A1A"/>
                </a:solidFill>
                <a:latin typeface="Microsoft JhengHei"/>
                <a:ea typeface="Microsoft JhengHei"/>
              </a:rPr>
              <a:t>，所以它不是差距來源。</a:t>
            </a:r>
          </a:p>
          <a:p>
            <a:pPr algn="l">
              <a:lnSpc>
                <a:spcPct val="125000"/>
              </a:lnSpc>
              <a:spcAft>
                <a:spcPts val="600"/>
              </a:spcAft>
            </a:pPr>
            <a:r>
              <a:rPr sz="1250" b="0">
                <a:solidFill>
                  <a:srgbClr val="1A1A1A"/>
                </a:solidFill>
                <a:latin typeface="Microsoft JhengHei"/>
                <a:ea typeface="Microsoft JhengHei"/>
              </a:rPr>
              <a:t>機制：回歸式進場次數 0.87 倍、資金利用率降為 0.66 倍，主要是</a:t>
            </a:r>
            <a:r>
              <a:rPr sz="1250" b="1">
                <a:solidFill>
                  <a:srgbClr val="1A1A1A"/>
                </a:solidFill>
                <a:latin typeface="Microsoft JhengHei"/>
                <a:ea typeface="Microsoft JhengHei"/>
              </a:rPr>
              <a:t>放棄帶外報酬</a:t>
            </a:r>
            <a:r>
              <a:rPr sz="1250" b="0">
                <a:solidFill>
                  <a:srgbClr val="1A1A1A"/>
                </a:solidFill>
                <a:latin typeface="Microsoft JhengHei"/>
                <a:ea typeface="Microsoft JhengHei"/>
              </a:rPr>
              <a:t>。</a:t>
            </a:r>
          </a:p>
          <a:p>
            <a:pPr algn="l">
              <a:lnSpc>
                <a:spcPct val="125000"/>
              </a:lnSpc>
              <a:spcAft>
                <a:spcPts val="600"/>
              </a:spcAft>
            </a:pPr>
            <a:r>
              <a:rPr sz="1200" b="0">
                <a:solidFill>
                  <a:srgbClr val="6B7280"/>
                </a:solidFill>
                <a:latin typeface="Microsoft JhengHei"/>
                <a:ea typeface="Microsoft JhengHei"/>
              </a:rPr>
              <a:t>最可能主導差距的是第 6、7 項（成本 2.9 倍、報酬口徑）。</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§3.7 參數敏感性分析</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B8　參數敏感性（OFAT：一次只動一個）</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67</a:t>
            </a:r>
          </a:p>
        </p:txBody>
      </p:sp>
      <p:graphicFrame>
        <p:nvGraphicFramePr>
          <p:cNvPr id="5" name="Table 4"/>
          <p:cNvGraphicFramePr>
            <a:graphicFrameLocks noGrp="1"/>
          </p:cNvGraphicFramePr>
          <p:nvPr/>
        </p:nvGraphicFramePr>
        <p:xfrm>
          <a:off x="640080" y="1691640"/>
          <a:ext cx="9692640" cy="2560320"/>
        </p:xfrm>
        <a:graphic>
          <a:graphicData uri="http://schemas.openxmlformats.org/drawingml/2006/table">
            <a:tbl>
              <a:tblPr firstRow="1" bandRow="1">
                <a:tableStyleId>{5C22544A-7EE6-4342-B048-85BDC9FD1C3A}</a:tableStyleId>
              </a:tblPr>
              <a:tblGrid>
                <a:gridCol w="3291840"/>
                <a:gridCol w="1097280"/>
                <a:gridCol w="3474720"/>
                <a:gridCol w="1828800"/>
              </a:tblGrid>
              <a:tr h="365760">
                <a:tc>
                  <a:txBody>
                    <a:bodyPr wrap="square"/>
                    <a:lstStyle/>
                    <a:p>
                      <a:pPr algn="l">
                        <a:lnSpc>
                          <a:spcPct val="110000"/>
                        </a:lnSpc>
                        <a:spcAft>
                          <a:spcPts val="0"/>
                        </a:spcAft>
                      </a:pPr>
                      <a:r>
                        <a:rPr sz="1300" b="1">
                          <a:solidFill>
                            <a:srgbClr val="FFFFFF"/>
                          </a:solidFill>
                          <a:latin typeface="Microsoft JhengHei"/>
                          <a:ea typeface="Microsoft JhengHei"/>
                        </a:rPr>
                        <a:t>參數</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基準值</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掃描值</a:t>
                      </a:r>
                    </a:p>
                  </a:txBody>
                  <a:tcPr marT="27432" marB="27432" marL="73152" marR="73152" anchor="ctr">
                    <a:solidFill>
                      <a:srgbClr val="0B2A5B"/>
                    </a:solidFill>
                  </a:tcPr>
                </a:tc>
                <a:tc>
                  <a:txBody>
                    <a:bodyPr wrap="square"/>
                    <a:lstStyle/>
                    <a:p>
                      <a:pPr algn="l">
                        <a:lnSpc>
                          <a:spcPct val="110000"/>
                        </a:lnSpc>
                        <a:spcAft>
                          <a:spcPts val="0"/>
                        </a:spcAft>
                      </a:pPr>
                      <a:r>
                        <a:rPr sz="1300" b="1">
                          <a:solidFill>
                            <a:srgbClr val="FFFFFF"/>
                          </a:solidFill>
                          <a:latin typeface="Microsoft JhengHei"/>
                          <a:ea typeface="Microsoft JhengHei"/>
                        </a:rPr>
                        <a:t>屬於哪一層</a:t>
                      </a:r>
                    </a:p>
                  </a:txBody>
                  <a:tcPr marT="27432" marB="27432" marL="73152" marR="73152" anchor="ctr">
                    <a:solidFill>
                      <a:srgbClr val="0B2A5B"/>
                    </a:solidFill>
                  </a:tcPr>
                </a:tc>
              </a:tr>
              <a:tr h="365760">
                <a:tc>
                  <a:txBody>
                    <a:bodyPr wrap="square"/>
                    <a:lstStyle/>
                    <a:p>
                      <a:pPr algn="l">
                        <a:lnSpc>
                          <a:spcPct val="110000"/>
                        </a:lnSpc>
                        <a:spcAft>
                          <a:spcPts val="0"/>
                        </a:spcAft>
                      </a:pPr>
                      <a:r>
                        <a:rPr sz="1300" b="0">
                          <a:solidFill>
                            <a:srgbClr val="1A1A1A"/>
                          </a:solidFill>
                          <a:latin typeface="Microsoft JhengHei"/>
                          <a:ea typeface="Microsoft JhengHei"/>
                        </a:rPr>
                        <a:t>hdbscan_min_cluster_size</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3, 5, 10, 15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分組</a:t>
                      </a:r>
                    </a:p>
                  </a:txBody>
                  <a:tcPr marT="27432" marB="27432" marL="73152" marR="73152" anchor="ctr">
                    <a:solidFill>
                      <a:srgbClr val="FFFFFF"/>
                    </a:solidFill>
                  </a:tcPr>
                </a:tc>
              </a:tr>
              <a:tr h="365760">
                <a:tc>
                  <a:txBody>
                    <a:bodyPr wrap="square"/>
                    <a:lstStyle/>
                    <a:p>
                      <a:pPr algn="l">
                        <a:lnSpc>
                          <a:spcPct val="110000"/>
                        </a:lnSpc>
                        <a:spcAft>
                          <a:spcPts val="0"/>
                        </a:spcAft>
                      </a:pPr>
                      <a:r>
                        <a:rPr sz="1300" b="0">
                          <a:solidFill>
                            <a:srgbClr val="1A1A1A"/>
                          </a:solidFill>
                          <a:latin typeface="Microsoft JhengHei"/>
                          <a:ea typeface="Microsoft JhengHei"/>
                        </a:rPr>
                        <a:t>min_cluster_size（過小群門檻）</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5</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3, 5, 10, 15</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分組</a:t>
                      </a:r>
                    </a:p>
                  </a:txBody>
                  <a:tcPr marT="27432" marB="27432" marL="73152" marR="73152" anchor="ctr">
                    <a:solidFill>
                      <a:srgbClr val="E8EDF5"/>
                    </a:solidFill>
                  </a:tcPr>
                </a:tc>
              </a:tr>
              <a:tr h="365760">
                <a:tc>
                  <a:txBody>
                    <a:bodyPr wrap="square"/>
                    <a:lstStyle/>
                    <a:p>
                      <a:pPr algn="l">
                        <a:lnSpc>
                          <a:spcPct val="110000"/>
                        </a:lnSpc>
                        <a:spcAft>
                          <a:spcPts val="0"/>
                        </a:spcAft>
                      </a:pPr>
                      <a:r>
                        <a:rPr sz="1300" b="0">
                          <a:solidFill>
                            <a:srgbClr val="1A1A1A"/>
                          </a:solidFill>
                          <a:latin typeface="Microsoft JhengHei"/>
                          <a:ea typeface="Microsoft JhengHei"/>
                        </a:rPr>
                        <a:t>adf_pvalue_threshold</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0.05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0.01, 0.05, 0.10</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篩選</a:t>
                      </a:r>
                    </a:p>
                  </a:txBody>
                  <a:tcPr marT="27432" marB="27432" marL="73152" marR="73152" anchor="ctr">
                    <a:solidFill>
                      <a:srgbClr val="FFFFFF"/>
                    </a:solidFill>
                  </a:tcPr>
                </a:tc>
              </a:tr>
              <a:tr h="365760">
                <a:tc>
                  <a:txBody>
                    <a:bodyPr wrap="square"/>
                    <a:lstStyle/>
                    <a:p>
                      <a:pPr algn="l">
                        <a:lnSpc>
                          <a:spcPct val="110000"/>
                        </a:lnSpc>
                        <a:spcAft>
                          <a:spcPts val="0"/>
                        </a:spcAft>
                      </a:pPr>
                      <a:r>
                        <a:rPr sz="1300" b="0">
                          <a:solidFill>
                            <a:srgbClr val="1A1A1A"/>
                          </a:solidFill>
                          <a:latin typeface="Microsoft JhengHei"/>
                          <a:ea typeface="Microsoft JhengHei"/>
                        </a:rPr>
                        <a:t>pca_n_components</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5</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3, 5, 10, 15</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特徵</a:t>
                      </a:r>
                    </a:p>
                  </a:txBody>
                  <a:tcPr marT="27432" marB="27432" marL="73152" marR="73152" anchor="ctr">
                    <a:solidFill>
                      <a:srgbClr val="E8EDF5"/>
                    </a:solidFill>
                  </a:tcPr>
                </a:tc>
              </a:tr>
              <a:tr h="365760">
                <a:tc>
                  <a:txBody>
                    <a:bodyPr wrap="square"/>
                    <a:lstStyle/>
                    <a:p>
                      <a:pPr algn="l">
                        <a:lnSpc>
                          <a:spcPct val="110000"/>
                        </a:lnSpc>
                        <a:spcAft>
                          <a:spcPts val="0"/>
                        </a:spcAft>
                      </a:pPr>
                      <a:r>
                        <a:rPr sz="1300" b="0">
                          <a:solidFill>
                            <a:srgbClr val="1A1A1A"/>
                          </a:solidFill>
                          <a:latin typeface="Microsoft JhengHei"/>
                          <a:ea typeface="Microsoft JhengHei"/>
                        </a:rPr>
                        <a:t>agg_threshold_percentile</a:t>
                      </a:r>
                    </a:p>
                  </a:txBody>
                  <a:tcPr marT="27432" marB="27432" marL="73152" marR="73152" anchor="ctr">
                    <a:solidFill>
                      <a:srgbClr val="FFFFFF"/>
                    </a:solidFill>
                  </a:tcPr>
                </a:tc>
                <a:tc>
                  <a:txBody>
                    <a:bodyPr wrap="square"/>
                    <a:lstStyle/>
                    <a:p>
                      <a:pPr algn="r">
                        <a:lnSpc>
                          <a:spcPct val="110000"/>
                        </a:lnSpc>
                        <a:spcAft>
                          <a:spcPts val="0"/>
                        </a:spcAft>
                      </a:pPr>
                      <a:r>
                        <a:rPr sz="1300" b="0">
                          <a:solidFill>
                            <a:srgbClr val="1A1A1A"/>
                          </a:solidFill>
                          <a:latin typeface="Microsoft JhengHei"/>
                          <a:ea typeface="Microsoft JhengHei"/>
                        </a:rPr>
                        <a:t>75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50, 60, 75, 90, 95</a:t>
                      </a:r>
                    </a:p>
                  </a:txBody>
                  <a:tcPr marT="27432" marB="27432" marL="73152" marR="73152" anchor="ctr">
                    <a:solidFill>
                      <a:srgbClr val="FFFFFF"/>
                    </a:solidFill>
                  </a:tcPr>
                </a:tc>
                <a:tc>
                  <a:txBody>
                    <a:bodyPr wrap="square"/>
                    <a:lstStyle/>
                    <a:p>
                      <a:pPr algn="l">
                        <a:lnSpc>
                          <a:spcPct val="110000"/>
                        </a:lnSpc>
                        <a:spcAft>
                          <a:spcPts val="0"/>
                        </a:spcAft>
                      </a:pPr>
                      <a:r>
                        <a:rPr sz="1300" b="0">
                          <a:solidFill>
                            <a:srgbClr val="1A1A1A"/>
                          </a:solidFill>
                          <a:latin typeface="Microsoft JhengHei"/>
                          <a:ea typeface="Microsoft JhengHei"/>
                        </a:rPr>
                        <a:t>分組（粒度）</a:t>
                      </a:r>
                    </a:p>
                  </a:txBody>
                  <a:tcPr marT="27432" marB="27432" marL="73152" marR="73152" anchor="ctr">
                    <a:solidFill>
                      <a:srgbClr val="FFFFFF"/>
                    </a:solidFill>
                  </a:tcPr>
                </a:tc>
              </a:tr>
              <a:tr h="365760">
                <a:tc>
                  <a:txBody>
                    <a:bodyPr wrap="square"/>
                    <a:lstStyle/>
                    <a:p>
                      <a:pPr algn="l">
                        <a:lnSpc>
                          <a:spcPct val="110000"/>
                        </a:lnSpc>
                        <a:spcAft>
                          <a:spcPts val="0"/>
                        </a:spcAft>
                      </a:pPr>
                      <a:r>
                        <a:rPr sz="1300" b="0">
                          <a:solidFill>
                            <a:srgbClr val="1A1A1A"/>
                          </a:solidFill>
                          <a:latin typeface="Microsoft JhengHei"/>
                          <a:ea typeface="Microsoft JhengHei"/>
                        </a:rPr>
                        <a:t>entry_z</a:t>
                      </a:r>
                    </a:p>
                  </a:txBody>
                  <a:tcPr marT="27432" marB="27432" marL="73152" marR="73152" anchor="ctr">
                    <a:solidFill>
                      <a:srgbClr val="E8EDF5"/>
                    </a:solidFill>
                  </a:tcPr>
                </a:tc>
                <a:tc>
                  <a:txBody>
                    <a:bodyPr wrap="square"/>
                    <a:lstStyle/>
                    <a:p>
                      <a:pPr algn="r">
                        <a:lnSpc>
                          <a:spcPct val="110000"/>
                        </a:lnSpc>
                        <a:spcAft>
                          <a:spcPts val="0"/>
                        </a:spcAft>
                      </a:pPr>
                      <a:r>
                        <a:rPr sz="1300" b="0">
                          <a:solidFill>
                            <a:srgbClr val="1A1A1A"/>
                          </a:solidFill>
                          <a:latin typeface="Microsoft JhengHei"/>
                          <a:ea typeface="Microsoft JhengHei"/>
                        </a:rPr>
                        <a:t>2.0</a:t>
                      </a:r>
                    </a:p>
                  </a:txBody>
                  <a:tcPr marT="27432" marB="27432" marL="73152" marR="73152" anchor="ctr">
                    <a:solidFill>
                      <a:srgbClr val="E8EDF5"/>
                    </a:solidFill>
                  </a:tcPr>
                </a:tc>
                <a:tc>
                  <a:txBody>
                    <a:bodyPr wrap="square"/>
                    <a:lstStyle/>
                    <a:p>
                      <a:pPr algn="l">
                        <a:lnSpc>
                          <a:spcPct val="110000"/>
                        </a:lnSpc>
                        <a:spcAft>
                          <a:spcPts val="0"/>
                        </a:spcAft>
                      </a:pPr>
                      <a:r>
                        <a:rPr sz="1300" b="1">
                          <a:solidFill>
                            <a:srgbClr val="C4553B"/>
                          </a:solidFill>
                          <a:latin typeface="Microsoft JhengHei"/>
                          <a:ea typeface="Microsoft JhengHei"/>
                        </a:rPr>
                        <a:t>2.0, 2.1, 2.2, 2.3, 2.5, 3.0（1.5 未執行）</a:t>
                      </a:r>
                    </a:p>
                  </a:txBody>
                  <a:tcPr marT="27432" marB="27432" marL="73152" marR="73152" anchor="ctr">
                    <a:solidFill>
                      <a:srgbClr val="E8EDF5"/>
                    </a:solidFill>
                  </a:tcPr>
                </a:tc>
                <a:tc>
                  <a:txBody>
                    <a:bodyPr wrap="square"/>
                    <a:lstStyle/>
                    <a:p>
                      <a:pPr algn="l">
                        <a:lnSpc>
                          <a:spcPct val="110000"/>
                        </a:lnSpc>
                        <a:spcAft>
                          <a:spcPts val="0"/>
                        </a:spcAft>
                      </a:pPr>
                      <a:r>
                        <a:rPr sz="1300" b="0">
                          <a:solidFill>
                            <a:srgbClr val="1A1A1A"/>
                          </a:solidFill>
                          <a:latin typeface="Microsoft JhengHei"/>
                          <a:ea typeface="Microsoft JhengHei"/>
                        </a:rPr>
                        <a:t>交易</a:t>
                      </a:r>
                    </a:p>
                  </a:txBody>
                  <a:tcPr marT="27432" marB="27432" marL="73152" marR="73152" anchor="ctr">
                    <a:solidFill>
                      <a:srgbClr val="E8EDF5"/>
                    </a:solidFill>
                  </a:tcPr>
                </a:tc>
              </a:tr>
            </a:tbl>
          </a:graphicData>
        </a:graphic>
      </p:graphicFrame>
      <p:sp>
        <p:nvSpPr>
          <p:cNvPr id="6" name="Rounded Rectangle 5"/>
          <p:cNvSpPr/>
          <p:nvPr/>
        </p:nvSpPr>
        <p:spPr>
          <a:xfrm>
            <a:off x="640080" y="4480560"/>
            <a:ext cx="10881360" cy="132588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entry_z 的覆蓋不均，要據實交代</a:t>
            </a:r>
          </a:p>
          <a:p>
            <a:pPr algn="l">
              <a:lnSpc>
                <a:spcPct val="125000"/>
              </a:lnSpc>
              <a:spcAft>
                <a:spcPts val="600"/>
              </a:spcAft>
            </a:pPr>
            <a:r>
              <a:rPr sz="1350" b="0">
                <a:solidFill>
                  <a:srgbClr val="1A1A1A"/>
                </a:solidFill>
                <a:latin typeface="Microsoft JhengHei"/>
                <a:ea typeface="Microsoft JhengHei"/>
              </a:rPr>
              <a:t>實跑分布：2.0 共 53 個方法；2.1／2.2／2.3 各 5 個；2.5／3.0 各 4 個；</a:t>
            </a:r>
            <a:r>
              <a:rPr sz="1350" b="1">
                <a:solidFill>
                  <a:srgbClr val="1A1A1A"/>
                </a:solidFill>
                <a:latin typeface="Microsoft JhengHei"/>
                <a:ea typeface="Microsoft JhengHei"/>
              </a:rPr>
              <a:t>1.5 從未執行</a:t>
            </a:r>
            <a:r>
              <a:rPr sz="1350" b="0">
                <a:solidFill>
                  <a:srgbClr val="1A1A1A"/>
                </a:solidFill>
                <a:latin typeface="Microsoft JhengHei"/>
                <a:ea typeface="Microsoft JhengHei"/>
              </a:rPr>
              <a:t>。所以任何關於「最適門檻在哪」的陳述都不得外推到 1.5。OFAT 的限制是抓不到參數間的交互作用。</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§3.2.4 分組結構的跨期穩定度</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B9　分組結構的跨期穩定度（ARI）</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68</a:t>
            </a:r>
          </a:p>
        </p:txBody>
      </p:sp>
      <p:graphicFrame>
        <p:nvGraphicFramePr>
          <p:cNvPr id="5" name="Table 4"/>
          <p:cNvGraphicFramePr>
            <a:graphicFrameLocks noGrp="1"/>
          </p:cNvGraphicFramePr>
          <p:nvPr/>
        </p:nvGraphicFramePr>
        <p:xfrm>
          <a:off x="640080" y="1691640"/>
          <a:ext cx="9052560" cy="1920240"/>
        </p:xfrm>
        <a:graphic>
          <a:graphicData uri="http://schemas.openxmlformats.org/drawingml/2006/table">
            <a:tbl>
              <a:tblPr firstRow="1" bandRow="1">
                <a:tableStyleId>{5C22544A-7EE6-4342-B048-85BDC9FD1C3A}</a:tableStyleId>
              </a:tblPr>
              <a:tblGrid>
                <a:gridCol w="2377440"/>
                <a:gridCol w="1371600"/>
                <a:gridCol w="2651760"/>
                <a:gridCol w="2651760"/>
              </a:tblGrid>
              <a:tr h="384048">
                <a:tc>
                  <a:txBody>
                    <a:bodyPr wrap="square"/>
                    <a:lstStyle/>
                    <a:p>
                      <a:pPr algn="l">
                        <a:lnSpc>
                          <a:spcPct val="110000"/>
                        </a:lnSpc>
                        <a:spcAft>
                          <a:spcPts val="0"/>
                        </a:spcAft>
                      </a:pPr>
                      <a:r>
                        <a:rPr sz="1350" b="1">
                          <a:solidFill>
                            <a:srgbClr val="FFFFFF"/>
                          </a:solidFill>
                          <a:latin typeface="Microsoft JhengHei"/>
                          <a:ea typeface="Microsoft JhengHei"/>
                        </a:rPr>
                        <a:t>分組方式</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群數（中位）</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相隔 1 期（21 日）</a:t>
                      </a:r>
                    </a:p>
                  </a:txBody>
                  <a:tcPr marT="27432" marB="27432" marL="73152" marR="73152" anchor="ctr">
                    <a:solidFill>
                      <a:srgbClr val="0B2A5B"/>
                    </a:solidFill>
                  </a:tcPr>
                </a:tc>
                <a:tc>
                  <a:txBody>
                    <a:bodyPr wrap="square"/>
                    <a:lstStyle/>
                    <a:p>
                      <a:pPr algn="l">
                        <a:lnSpc>
                          <a:spcPct val="110000"/>
                        </a:lnSpc>
                        <a:spcAft>
                          <a:spcPts val="0"/>
                        </a:spcAft>
                      </a:pPr>
                      <a:r>
                        <a:rPr sz="1350" b="1">
                          <a:solidFill>
                            <a:srgbClr val="FFFFFF"/>
                          </a:solidFill>
                          <a:latin typeface="Microsoft JhengHei"/>
                          <a:ea typeface="Microsoft JhengHei"/>
                        </a:rPr>
                        <a:t>相隔 6 期（126 日）</a:t>
                      </a:r>
                    </a:p>
                  </a:txBody>
                  <a:tcPr marT="27432" marB="27432" marL="73152" marR="73152" anchor="ctr">
                    <a:solidFill>
                      <a:srgbClr val="0B2A5B"/>
                    </a:solidFill>
                  </a:tcPr>
                </a:tc>
              </a:tr>
              <a:tr h="384048">
                <a:tc>
                  <a:txBody>
                    <a:bodyPr wrap="square"/>
                    <a:lstStyle/>
                    <a:p>
                      <a:pPr algn="l">
                        <a:lnSpc>
                          <a:spcPct val="110000"/>
                        </a:lnSpc>
                        <a:spcAft>
                          <a:spcPts val="0"/>
                        </a:spcAft>
                      </a:pPr>
                      <a:r>
                        <a:rPr sz="1350" b="0">
                          <a:solidFill>
                            <a:srgbClr val="1A1A1A"/>
                          </a:solidFill>
                          <a:latin typeface="Microsoft JhengHei"/>
                          <a:ea typeface="Microsoft JhengHei"/>
                        </a:rPr>
                        <a:t>Agglomerative</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27</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0.809（0.70–0.91）</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0.676（0.56–0.82）</a:t>
                      </a:r>
                    </a:p>
                  </a:txBody>
                  <a:tcPr marT="27432" marB="27432" marL="73152" marR="73152" anchor="ctr">
                    <a:solidFill>
                      <a:srgbClr val="FFFFFF"/>
                    </a:solidFill>
                  </a:tcPr>
                </a:tc>
              </a:tr>
              <a:tr h="384048">
                <a:tc>
                  <a:txBody>
                    <a:bodyPr wrap="square"/>
                    <a:lstStyle/>
                    <a:p>
                      <a:pPr algn="l">
                        <a:lnSpc>
                          <a:spcPct val="110000"/>
                        </a:lnSpc>
                        <a:spcAft>
                          <a:spcPts val="0"/>
                        </a:spcAft>
                      </a:pPr>
                      <a:r>
                        <a:rPr sz="1350" b="0">
                          <a:solidFill>
                            <a:srgbClr val="1A1A1A"/>
                          </a:solidFill>
                          <a:latin typeface="Microsoft JhengHei"/>
                          <a:ea typeface="Microsoft JhengHei"/>
                        </a:rPr>
                        <a:t>HDBSCAN</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14</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0.936（0.06–0.99）</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0.881（0.54–0.95）</a:t>
                      </a:r>
                    </a:p>
                  </a:txBody>
                  <a:tcPr marT="27432" marB="27432" marL="73152" marR="73152" anchor="ctr">
                    <a:solidFill>
                      <a:srgbClr val="E8EDF5"/>
                    </a:solidFill>
                  </a:tcPr>
                </a:tc>
              </a:tr>
              <a:tr h="384048">
                <a:tc>
                  <a:txBody>
                    <a:bodyPr wrap="square"/>
                    <a:lstStyle/>
                    <a:p>
                      <a:pPr algn="l">
                        <a:lnSpc>
                          <a:spcPct val="110000"/>
                        </a:lnSpc>
                        <a:spcAft>
                          <a:spcPts val="0"/>
                        </a:spcAft>
                      </a:pPr>
                      <a:r>
                        <a:rPr sz="1350" b="0">
                          <a:solidFill>
                            <a:srgbClr val="1A1A1A"/>
                          </a:solidFill>
                          <a:latin typeface="Microsoft JhengHei"/>
                          <a:ea typeface="Microsoft JhengHei"/>
                        </a:rPr>
                        <a:t>K-means</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36</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0.663（0.55–0.80）</a:t>
                      </a:r>
                    </a:p>
                  </a:txBody>
                  <a:tcPr marT="27432" marB="27432" marL="73152" marR="73152" anchor="ctr">
                    <a:solidFill>
                      <a:srgbClr val="FFFFFF"/>
                    </a:solidFill>
                  </a:tcPr>
                </a:tc>
                <a:tc>
                  <a:txBody>
                    <a:bodyPr wrap="square"/>
                    <a:lstStyle/>
                    <a:p>
                      <a:pPr algn="r">
                        <a:lnSpc>
                          <a:spcPct val="110000"/>
                        </a:lnSpc>
                        <a:spcAft>
                          <a:spcPts val="0"/>
                        </a:spcAft>
                      </a:pPr>
                      <a:r>
                        <a:rPr sz="1350" b="0">
                          <a:solidFill>
                            <a:srgbClr val="1A1A1A"/>
                          </a:solidFill>
                          <a:latin typeface="Microsoft JhengHei"/>
                          <a:ea typeface="Microsoft JhengHei"/>
                        </a:rPr>
                        <a:t>0.519（0.42–0.62）</a:t>
                      </a:r>
                    </a:p>
                  </a:txBody>
                  <a:tcPr marT="27432" marB="27432" marL="73152" marR="73152" anchor="ctr">
                    <a:solidFill>
                      <a:srgbClr val="FFFFFF"/>
                    </a:solidFill>
                  </a:tcPr>
                </a:tc>
              </a:tr>
              <a:tr h="384048">
                <a:tc>
                  <a:txBody>
                    <a:bodyPr wrap="square"/>
                    <a:lstStyle/>
                    <a:p>
                      <a:pPr algn="l">
                        <a:lnSpc>
                          <a:spcPct val="110000"/>
                        </a:lnSpc>
                        <a:spcAft>
                          <a:spcPts val="0"/>
                        </a:spcAft>
                      </a:pPr>
                      <a:r>
                        <a:rPr sz="1350" b="0">
                          <a:solidFill>
                            <a:srgbClr val="1A1A1A"/>
                          </a:solidFill>
                          <a:latin typeface="Microsoft JhengHei"/>
                          <a:ea typeface="Microsoft JhengHei"/>
                        </a:rPr>
                        <a:t>GICS（靜態）</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13</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1.000</a:t>
                      </a:r>
                    </a:p>
                  </a:txBody>
                  <a:tcPr marT="27432" marB="27432" marL="73152" marR="73152" anchor="ctr">
                    <a:solidFill>
                      <a:srgbClr val="E8EDF5"/>
                    </a:solidFill>
                  </a:tcPr>
                </a:tc>
                <a:tc>
                  <a:txBody>
                    <a:bodyPr wrap="square"/>
                    <a:lstStyle/>
                    <a:p>
                      <a:pPr algn="r">
                        <a:lnSpc>
                          <a:spcPct val="110000"/>
                        </a:lnSpc>
                        <a:spcAft>
                          <a:spcPts val="0"/>
                        </a:spcAft>
                      </a:pPr>
                      <a:r>
                        <a:rPr sz="1350" b="0">
                          <a:solidFill>
                            <a:srgbClr val="1A1A1A"/>
                          </a:solidFill>
                          <a:latin typeface="Microsoft JhengHei"/>
                          <a:ea typeface="Microsoft JhengHei"/>
                        </a:rPr>
                        <a:t>1.000</a:t>
                      </a:r>
                    </a:p>
                  </a:txBody>
                  <a:tcPr marT="27432" marB="27432" marL="73152" marR="73152" anchor="ctr">
                    <a:solidFill>
                      <a:srgbClr val="E8EDF5"/>
                    </a:solidFill>
                  </a:tcPr>
                </a:tc>
              </a:tr>
            </a:tbl>
          </a:graphicData>
        </a:graphic>
      </p:graphicFrame>
      <p:sp>
        <p:nvSpPr>
          <p:cNvPr id="6" name="TextBox 5"/>
          <p:cNvSpPr txBox="1"/>
          <p:nvPr/>
        </p:nvSpPr>
        <p:spPr>
          <a:xfrm>
            <a:off x="640080" y="3703320"/>
            <a:ext cx="9052560" cy="274320"/>
          </a:xfrm>
          <a:prstGeom prst="rect">
            <a:avLst/>
          </a:prstGeom>
          <a:noFill/>
        </p:spPr>
        <p:txBody>
          <a:bodyPr wrap="square" lIns="0" rIns="0" tIns="0" bIns="0" anchor="t">
            <a:spAutoFit/>
          </a:bodyPr>
          <a:lstStyle/>
          <a:p>
            <a:pPr algn="l">
              <a:lnSpc>
                <a:spcPct val="125000"/>
              </a:lnSpc>
              <a:spcAft>
                <a:spcPts val="600"/>
              </a:spcAft>
            </a:pPr>
            <a:r>
              <a:rPr sz="1200" b="0">
                <a:solidFill>
                  <a:srgbClr val="6B7280"/>
                </a:solidFill>
                <a:latin typeface="Microsoft JhengHei"/>
                <a:ea typeface="Microsoft JhengHei"/>
              </a:rPr>
              <a:t>中位數；括號內為 10–90 百分位。ARI 已對隨機一致作期望值校正。</a:t>
            </a:r>
          </a:p>
        </p:txBody>
      </p:sp>
      <p:sp>
        <p:nvSpPr>
          <p:cNvPr id="7" name="Rounded Rectangle 6"/>
          <p:cNvSpPr/>
          <p:nvPr/>
        </p:nvSpPr>
        <p:spPr>
          <a:xfrm>
            <a:off x="640080" y="4160520"/>
            <a:ext cx="10881360" cy="16459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HDBSCAN 是雙峰，中位數描述不了它</a:t>
            </a:r>
          </a:p>
          <a:p>
            <a:pPr algn="l">
              <a:lnSpc>
                <a:spcPct val="125000"/>
              </a:lnSpc>
              <a:spcAft>
                <a:spcPts val="600"/>
              </a:spcAft>
            </a:pPr>
            <a:r>
              <a:rPr sz="1350" b="0">
                <a:solidFill>
                  <a:srgbClr val="1A1A1A"/>
                </a:solidFill>
                <a:latin typeface="Microsoft JhengHei"/>
                <a:ea typeface="Microsoft JhengHei"/>
              </a:rPr>
              <a:t>相鄰期有 </a:t>
            </a:r>
            <a:r>
              <a:rPr sz="1350" b="1">
                <a:solidFill>
                  <a:srgbClr val="1A1A1A"/>
                </a:solidFill>
                <a:latin typeface="Microsoft JhengHei"/>
                <a:ea typeface="Microsoft JhengHei"/>
              </a:rPr>
              <a:t>69.3%</a:t>
            </a:r>
            <a:r>
              <a:rPr sz="1350" b="0">
                <a:solidFill>
                  <a:srgbClr val="1A1A1A"/>
                </a:solidFill>
                <a:latin typeface="Microsoft JhengHei"/>
                <a:ea typeface="Microsoft JhengHei"/>
              </a:rPr>
              <a:t> 的比較 ARI &gt; 0.9，同時有 </a:t>
            </a:r>
            <a:r>
              <a:rPr sz="1350" b="1">
                <a:solidFill>
                  <a:srgbClr val="1A1A1A"/>
                </a:solidFill>
                <a:latin typeface="Microsoft JhengHei"/>
                <a:ea typeface="Microsoft JhengHei"/>
              </a:rPr>
              <a:t>10.6%</a:t>
            </a:r>
            <a:r>
              <a:rPr sz="1350" b="0">
                <a:solidFill>
                  <a:srgbClr val="1A1A1A"/>
                </a:solidFill>
                <a:latin typeface="Microsoft JhengHei"/>
                <a:ea typeface="Microsoft JhengHei"/>
              </a:rPr>
              <a:t> 的比較 ARI &lt; 0.3（最低 −0.006，跟隨機一樣），群數在 2 到 22 之間跳動。</a:t>
            </a:r>
          </a:p>
          <a:p>
            <a:pPr algn="l">
              <a:lnSpc>
                <a:spcPct val="125000"/>
              </a:lnSpc>
              <a:spcAft>
                <a:spcPts val="600"/>
              </a:spcAft>
            </a:pPr>
            <a:r>
              <a:rPr sz="1250" b="0">
                <a:solidFill>
                  <a:srgbClr val="6B7280"/>
                </a:solidFill>
                <a:latin typeface="Microsoft JhengHei"/>
                <a:ea typeface="Microsoft JhengHei"/>
              </a:rPr>
              <a:t>範圍聲明：只刻畫穩定度，沒有檢定穩定與否何者有益；配對週轉率不可用來推論分組層。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§3.6.5 多重檢定校正</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B10　多重檢定：為什麼控制 FDR，以及它的前提</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69</a:t>
            </a:r>
          </a:p>
        </p:txBody>
      </p:sp>
      <p:sp>
        <p:nvSpPr>
          <p:cNvPr id="5" name="Rounded Rectangle 4"/>
          <p:cNvSpPr/>
          <p:nvPr/>
        </p:nvSpPr>
        <p:spPr>
          <a:xfrm>
            <a:off x="640080" y="1691640"/>
            <a:ext cx="5257800" cy="22860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為什麼 FDR 而不是 FWER</a:t>
            </a:r>
          </a:p>
          <a:p>
            <a:pPr algn="l">
              <a:lnSpc>
                <a:spcPct val="125000"/>
              </a:lnSpc>
              <a:spcAft>
                <a:spcPts val="600"/>
              </a:spcAft>
            </a:pPr>
            <a:r>
              <a:rPr sz="1350" b="0">
                <a:solidFill>
                  <a:srgbClr val="1A1A1A"/>
                </a:solidFill>
                <a:latin typeface="Microsoft JhengHei"/>
                <a:ea typeface="Microsoft JhengHei"/>
              </a:rPr>
              <a:t>Bonferroni 一類控制「至少錯一次」的機率；在只有 6 個、而且彼此高度相關的比較上</a:t>
            </a:r>
            <a:r>
              <a:rPr sz="1350" b="1">
                <a:solidFill>
                  <a:srgbClr val="1A1A1A"/>
                </a:solidFill>
                <a:latin typeface="Microsoft JhengHei"/>
                <a:ea typeface="Microsoft JhengHei"/>
              </a:rPr>
              <a:t>過於保守</a:t>
            </a:r>
            <a:r>
              <a:rPr sz="1350" b="0">
                <a:solidFill>
                  <a:srgbClr val="1A1A1A"/>
                </a:solidFill>
                <a:latin typeface="Microsoft JhengHei"/>
                <a:ea typeface="Microsoft JhengHei"/>
              </a:rPr>
              <a:t>，會把檢定力壓到偵測不到預設的效果量。</a:t>
            </a:r>
          </a:p>
          <a:p>
            <a:pPr algn="l">
              <a:lnSpc>
                <a:spcPct val="125000"/>
              </a:lnSpc>
              <a:spcAft>
                <a:spcPts val="600"/>
              </a:spcAft>
            </a:pPr>
            <a:r>
              <a:rPr sz="1350" b="0">
                <a:solidFill>
                  <a:srgbClr val="1A1A1A"/>
                </a:solidFill>
                <a:latin typeface="Microsoft JhengHei"/>
                <a:ea typeface="Microsoft JhengHei"/>
              </a:rPr>
              <a:t>FDR 控制「被拒絕的虛無裡，偽陽性的期望比例」——比較彼此相關、單一偽陽性不是災難時較適切。</a:t>
            </a:r>
          </a:p>
        </p:txBody>
      </p:sp>
      <p:sp>
        <p:nvSpPr>
          <p:cNvPr id="6" name="Rounded Rectangle 5"/>
          <p:cNvSpPr/>
          <p:nvPr/>
        </p:nvSpPr>
        <p:spPr>
          <a:xfrm>
            <a:off x="6263640" y="1691640"/>
            <a:ext cx="5257800" cy="228600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C4553B"/>
                </a:solidFill>
                <a:latin typeface="Microsoft JhengHei"/>
                <a:ea typeface="Microsoft JhengHei"/>
              </a:rPr>
              <a:t>一個要揭露的前提：比較族不獨立</a:t>
            </a:r>
          </a:p>
          <a:p>
            <a:pPr algn="l">
              <a:lnSpc>
                <a:spcPct val="125000"/>
              </a:lnSpc>
              <a:spcAft>
                <a:spcPts val="600"/>
              </a:spcAft>
            </a:pPr>
            <a:r>
              <a:rPr sz="1350" b="0">
                <a:solidFill>
                  <a:srgbClr val="1A1A1A"/>
                </a:solidFill>
                <a:latin typeface="Microsoft JhengHei"/>
                <a:ea typeface="Microsoft JhengHei"/>
              </a:rPr>
              <a:t>BH 原始證明假設獨立；但同一處理臂對兩個基準各比一次、三臂又共用基準 → 正相關。</a:t>
            </a:r>
          </a:p>
          <a:p>
            <a:pPr algn="l">
              <a:lnSpc>
                <a:spcPct val="125000"/>
              </a:lnSpc>
              <a:spcAft>
                <a:spcPts val="600"/>
              </a:spcAft>
            </a:pPr>
            <a:r>
              <a:rPr sz="1350" b="0">
                <a:solidFill>
                  <a:srgbClr val="1A1A1A"/>
                </a:solidFill>
                <a:latin typeface="Microsoft JhengHei"/>
                <a:ea typeface="Microsoft JhengHei"/>
              </a:rPr>
              <a:t>Benjamini &amp; Yekutieli（2001）：在</a:t>
            </a:r>
            <a:r>
              <a:rPr sz="1350" b="1">
                <a:solidFill>
                  <a:srgbClr val="1A1A1A"/>
                </a:solidFill>
                <a:latin typeface="Microsoft JhengHei"/>
                <a:ea typeface="Microsoft JhengHei"/>
              </a:rPr>
              <a:t>正迴歸相依（PRDS）</a:t>
            </a:r>
            <a:r>
              <a:rPr sz="1350" b="0">
                <a:solidFill>
                  <a:srgbClr val="1A1A1A"/>
                </a:solidFill>
                <a:latin typeface="Microsoft JhengHei"/>
                <a:ea typeface="Microsoft JhengHei"/>
              </a:rPr>
              <a:t>下 BH 仍控制 FDR——但 PRDS 在這裡</a:t>
            </a:r>
            <a:r>
              <a:rPr sz="1350" b="1">
                <a:solidFill>
                  <a:srgbClr val="1A1A1A"/>
                </a:solidFill>
                <a:latin typeface="Microsoft JhengHei"/>
                <a:ea typeface="Microsoft JhengHei"/>
              </a:rPr>
              <a:t>沒有形式化驗證</a:t>
            </a:r>
            <a:r>
              <a:rPr sz="1350" b="0">
                <a:solidFill>
                  <a:srgbClr val="1A1A1A"/>
                </a:solidFill>
                <a:latin typeface="Microsoft JhengHei"/>
                <a:ea typeface="Microsoft JhengHei"/>
              </a:rPr>
              <a:t>，照實標為前提。</a:t>
            </a:r>
          </a:p>
        </p:txBody>
      </p:sp>
      <p:sp>
        <p:nvSpPr>
          <p:cNvPr id="7" name="Rounded Rectangle 6"/>
          <p:cNvSpPr/>
          <p:nvPr/>
        </p:nvSpPr>
        <p:spPr>
          <a:xfrm>
            <a:off x="640080" y="4206240"/>
            <a:ext cx="10881360" cy="1325880"/>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FFFFFF"/>
                </a:solidFill>
                <a:latin typeface="Microsoft JhengHei"/>
                <a:ea typeface="Microsoft JhengHei"/>
              </a:rPr>
              <a:t>就算改用任意相依都成立的保守版本，結論也不變</a:t>
            </a:r>
          </a:p>
          <a:p>
            <a:pPr algn="l">
              <a:lnSpc>
                <a:spcPct val="125000"/>
              </a:lnSpc>
              <a:spcAft>
                <a:spcPts val="600"/>
              </a:spcAft>
            </a:pPr>
            <a:r>
              <a:rPr sz="1400" b="0">
                <a:solidFill>
                  <a:srgbClr val="E8EDF5"/>
                </a:solidFill>
                <a:latin typeface="Microsoft JhengHei"/>
                <a:ea typeface="Microsoft JhengHei"/>
              </a:rPr>
              <a:t>保守變體把門檻再除以 Σ1/i（m＝6 時約緊縮 2.45 倍）。消融主要族校正後 p ≤ 0.0004 → 0.0004 × 2.45 ≈ 0.001 &lt; 0.05，</a:t>
            </a:r>
            <a:r>
              <a:rPr sz="1400" b="1">
                <a:solidFill>
                  <a:srgbClr val="E8EDF5"/>
                </a:solidFill>
                <a:latin typeface="Microsoft JhengHei"/>
                <a:ea typeface="Microsoft JhengHei"/>
              </a:rPr>
              <a:t>仍全數顯著</a:t>
            </a:r>
            <a:r>
              <a:rPr sz="1400" b="0">
                <a:solidFill>
                  <a:srgbClr val="E8EDF5"/>
                </a:solidFill>
                <a:latin typeface="Microsoft JhengHei"/>
                <a:ea typeface="Microsoft JhengHei"/>
              </a:rPr>
              <a:t>。</a:t>
            </a:r>
          </a:p>
        </p:txBody>
      </p:sp>
      <p:sp>
        <p:nvSpPr>
          <p:cNvPr id="8" name="TextBox 7"/>
          <p:cNvSpPr txBox="1"/>
          <p:nvPr/>
        </p:nvSpPr>
        <p:spPr>
          <a:xfrm>
            <a:off x="640080" y="5760720"/>
            <a:ext cx="10332720" cy="548640"/>
          </a:xfrm>
          <a:prstGeom prst="rect">
            <a:avLst/>
          </a:prstGeom>
          <a:noFill/>
        </p:spPr>
        <p:txBody>
          <a:bodyPr wrap="square" lIns="0" rIns="0" tIns="0" bIns="0" anchor="t">
            <a:spAutoFit/>
          </a:bodyPr>
          <a:lstStyle/>
          <a:p>
            <a:pPr algn="l">
              <a:lnSpc>
                <a:spcPct val="105000"/>
              </a:lnSpc>
              <a:spcAft>
                <a:spcPts val="100"/>
              </a:spcAft>
            </a:pPr>
            <a:r>
              <a:rPr sz="900" b="0">
                <a:solidFill>
                  <a:srgbClr val="6B7280"/>
                </a:solidFill>
                <a:latin typeface="Microsoft JhengHei"/>
                <a:ea typeface="Microsoft JhengHei"/>
              </a:rPr>
              <a:t>Benjamini, Y., &amp; Hochberg, Y. (1995). Controlling the false discovery rate: A practical and powerful approach to multiple testing. Journal of the Royal Statistical Society: Series B, 57(1), 289–300.</a:t>
            </a:r>
          </a:p>
          <a:p>
            <a:pPr algn="l">
              <a:lnSpc>
                <a:spcPct val="105000"/>
              </a:lnSpc>
              <a:spcAft>
                <a:spcPts val="100"/>
              </a:spcAft>
            </a:pPr>
            <a:r>
              <a:rPr sz="900" b="0">
                <a:solidFill>
                  <a:srgbClr val="6B7280"/>
                </a:solidFill>
                <a:latin typeface="Microsoft JhengHei"/>
                <a:ea typeface="Microsoft JhengHei"/>
              </a:rPr>
              <a:t>Benjamini, Y., &amp; Yekutieli, D. (2001). The control of the false discovery rate in multiple testing under dependency. The Annals of Statistics, 29(4), 1165–1188.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附錄 E（探索性，未預先登記）</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B11　附錄 E 完整九臂表（108 個共同期）</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70</a:t>
            </a:r>
          </a:p>
        </p:txBody>
      </p:sp>
      <p:graphicFrame>
        <p:nvGraphicFramePr>
          <p:cNvPr id="5" name="Table 4"/>
          <p:cNvGraphicFramePr>
            <a:graphicFrameLocks noGrp="1"/>
          </p:cNvGraphicFramePr>
          <p:nvPr/>
        </p:nvGraphicFramePr>
        <p:xfrm>
          <a:off x="640080" y="1691640"/>
          <a:ext cx="10058400" cy="3108960"/>
        </p:xfrm>
        <a:graphic>
          <a:graphicData uri="http://schemas.openxmlformats.org/drawingml/2006/table">
            <a:tbl>
              <a:tblPr firstRow="1" bandRow="1">
                <a:tableStyleId>{5C22544A-7EE6-4342-B048-85BDC9FD1C3A}</a:tableStyleId>
              </a:tblPr>
              <a:tblGrid>
                <a:gridCol w="3017520"/>
                <a:gridCol w="2651760"/>
                <a:gridCol w="1645920"/>
                <a:gridCol w="1645920"/>
                <a:gridCol w="1097280"/>
              </a:tblGrid>
              <a:tr h="310896">
                <a:tc>
                  <a:txBody>
                    <a:bodyPr wrap="square"/>
                    <a:lstStyle/>
                    <a:p>
                      <a:pPr algn="l">
                        <a:lnSpc>
                          <a:spcPct val="110000"/>
                        </a:lnSpc>
                        <a:spcAft>
                          <a:spcPts val="0"/>
                        </a:spcAft>
                      </a:pPr>
                      <a:r>
                        <a:rPr sz="1250" b="1">
                          <a:solidFill>
                            <a:srgbClr val="FFFFFF"/>
                          </a:solidFill>
                          <a:latin typeface="Microsoft JhengHei"/>
                          <a:ea typeface="Microsoft JhengHei"/>
                        </a:rPr>
                        <a:t>臂</a:t>
                      </a:r>
                    </a:p>
                  </a:txBody>
                  <a:tcPr marT="27432" marB="27432" marL="73152" marR="73152" anchor="ctr">
                    <a:solidFill>
                      <a:srgbClr val="0B2A5B"/>
                    </a:solidFill>
                  </a:tcPr>
                </a:tc>
                <a:tc>
                  <a:txBody>
                    <a:bodyPr wrap="square"/>
                    <a:lstStyle/>
                    <a:p>
                      <a:pPr algn="l">
                        <a:lnSpc>
                          <a:spcPct val="110000"/>
                        </a:lnSpc>
                        <a:spcAft>
                          <a:spcPts val="0"/>
                        </a:spcAft>
                      </a:pPr>
                      <a:r>
                        <a:rPr sz="1250" b="1">
                          <a:solidFill>
                            <a:srgbClr val="FFFFFF"/>
                          </a:solidFill>
                          <a:latin typeface="Microsoft JhengHei"/>
                          <a:ea typeface="Microsoft JhengHei"/>
                        </a:rPr>
                        <a:t>演算法家族</a:t>
                      </a:r>
                    </a:p>
                  </a:txBody>
                  <a:tcPr marT="27432" marB="27432" marL="73152" marR="73152" anchor="ctr">
                    <a:solidFill>
                      <a:srgbClr val="0B2A5B"/>
                    </a:solidFill>
                  </a:tcPr>
                </a:tc>
                <a:tc>
                  <a:txBody>
                    <a:bodyPr wrap="square"/>
                    <a:lstStyle/>
                    <a:p>
                      <a:pPr algn="l">
                        <a:lnSpc>
                          <a:spcPct val="110000"/>
                        </a:lnSpc>
                        <a:spcAft>
                          <a:spcPts val="0"/>
                        </a:spcAft>
                      </a:pPr>
                      <a:r>
                        <a:rPr sz="1250" b="1">
                          <a:solidFill>
                            <a:srgbClr val="FFFFFF"/>
                          </a:solidFill>
                          <a:latin typeface="Microsoft JhengHei"/>
                          <a:ea typeface="Microsoft JhengHei"/>
                        </a:rPr>
                        <a:t>官方交集 Sharpe</a:t>
                      </a:r>
                    </a:p>
                  </a:txBody>
                  <a:tcPr marT="27432" marB="27432" marL="73152" marR="73152" anchor="ctr">
                    <a:solidFill>
                      <a:srgbClr val="0B2A5B"/>
                    </a:solidFill>
                  </a:tcPr>
                </a:tc>
                <a:tc>
                  <a:txBody>
                    <a:bodyPr wrap="square"/>
                    <a:lstStyle/>
                    <a:p>
                      <a:pPr algn="l">
                        <a:lnSpc>
                          <a:spcPct val="110000"/>
                        </a:lnSpc>
                        <a:spcAft>
                          <a:spcPts val="0"/>
                        </a:spcAft>
                      </a:pPr>
                      <a:r>
                        <a:rPr sz="1250" b="1">
                          <a:solidFill>
                            <a:srgbClr val="FFFFFF"/>
                          </a:solidFill>
                          <a:latin typeface="Microsoft JhengHei"/>
                          <a:ea typeface="Microsoft JhengHei"/>
                        </a:rPr>
                        <a:t>附錄 E 重算</a:t>
                      </a:r>
                    </a:p>
                  </a:txBody>
                  <a:tcPr marT="27432" marB="27432" marL="73152" marR="73152" anchor="ctr">
                    <a:solidFill>
                      <a:srgbClr val="0B2A5B"/>
                    </a:solidFill>
                  </a:tcPr>
                </a:tc>
                <a:tc>
                  <a:txBody>
                    <a:bodyPr wrap="square"/>
                    <a:lstStyle/>
                    <a:p>
                      <a:pPr algn="l">
                        <a:lnSpc>
                          <a:spcPct val="110000"/>
                        </a:lnSpc>
                        <a:spcAft>
                          <a:spcPts val="0"/>
                        </a:spcAft>
                      </a:pPr>
                      <a:r>
                        <a:rPr sz="1250" b="1">
                          <a:solidFill>
                            <a:srgbClr val="FFFFFF"/>
                          </a:solidFill>
                          <a:latin typeface="Microsoft JhengHei"/>
                          <a:ea typeface="Microsoft JhengHei"/>
                        </a:rPr>
                        <a:t>進場數</a:t>
                      </a:r>
                    </a:p>
                  </a:txBody>
                  <a:tcPr marT="27432" marB="27432" marL="73152" marR="73152" anchor="ctr">
                    <a:solidFill>
                      <a:srgbClr val="0B2A5B"/>
                    </a:solidFill>
                  </a:tcPr>
                </a:tc>
              </a:tr>
              <a:tr h="310896">
                <a:tc>
                  <a:txBody>
                    <a:bodyPr wrap="square"/>
                    <a:lstStyle/>
                    <a:p>
                      <a:pPr algn="l">
                        <a:lnSpc>
                          <a:spcPct val="110000"/>
                        </a:lnSpc>
                        <a:spcAft>
                          <a:spcPts val="0"/>
                        </a:spcAft>
                      </a:pPr>
                      <a:r>
                        <a:rPr sz="1250" b="0">
                          <a:solidFill>
                            <a:srgbClr val="1A1A1A"/>
                          </a:solidFill>
                          <a:latin typeface="Microsoft JhengHei"/>
                          <a:ea typeface="Microsoft JhengHei"/>
                        </a:rPr>
                        <a:t>Z-Score</a:t>
                      </a:r>
                    </a:p>
                  </a:txBody>
                  <a:tcPr marT="27432" marB="27432" marL="73152" marR="73152" anchor="ctr">
                    <a:solidFill>
                      <a:srgbClr val="FFFFFF"/>
                    </a:solidFill>
                  </a:tcPr>
                </a:tc>
                <a:tc>
                  <a:txBody>
                    <a:bodyPr wrap="square"/>
                    <a:lstStyle/>
                    <a:p>
                      <a:pPr algn="l">
                        <a:lnSpc>
                          <a:spcPct val="110000"/>
                        </a:lnSpc>
                        <a:spcAft>
                          <a:spcPts val="0"/>
                        </a:spcAft>
                      </a:pPr>
                      <a:r>
                        <a:rPr sz="1250" b="0">
                          <a:solidFill>
                            <a:srgbClr val="1A1A1A"/>
                          </a:solidFill>
                          <a:latin typeface="Microsoft JhengHei"/>
                          <a:ea typeface="Microsoft JhengHei"/>
                        </a:rPr>
                        <a:t>固定門檻（基準）</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−0.009</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−0.039</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212</a:t>
                      </a:r>
                    </a:p>
                  </a:txBody>
                  <a:tcPr marT="27432" marB="27432" marL="73152" marR="73152" anchor="ctr">
                    <a:solidFill>
                      <a:srgbClr val="FFFFFF"/>
                    </a:solidFill>
                  </a:tcPr>
                </a:tc>
              </a:tr>
              <a:tr h="310896">
                <a:tc>
                  <a:txBody>
                    <a:bodyPr wrap="square"/>
                    <a:lstStyle/>
                    <a:p>
                      <a:pPr algn="l">
                        <a:lnSpc>
                          <a:spcPct val="110000"/>
                        </a:lnSpc>
                        <a:spcAft>
                          <a:spcPts val="0"/>
                        </a:spcAft>
                      </a:pPr>
                      <a:r>
                        <a:rPr sz="1250" b="0">
                          <a:solidFill>
                            <a:srgbClr val="1A1A1A"/>
                          </a:solidFill>
                          <a:latin typeface="Microsoft JhengHei"/>
                          <a:ea typeface="Microsoft JhengHei"/>
                        </a:rPr>
                        <a:t>DL-THR（v4）</a:t>
                      </a:r>
                    </a:p>
                  </a:txBody>
                  <a:tcPr marT="27432" marB="27432" marL="73152" marR="73152" anchor="ctr">
                    <a:solidFill>
                      <a:srgbClr val="E8EDF5"/>
                    </a:solidFill>
                  </a:tcPr>
                </a:tc>
                <a:tc>
                  <a:txBody>
                    <a:bodyPr wrap="square"/>
                    <a:lstStyle/>
                    <a:p>
                      <a:pPr algn="l">
                        <a:lnSpc>
                          <a:spcPct val="110000"/>
                        </a:lnSpc>
                        <a:spcAft>
                          <a:spcPts val="0"/>
                        </a:spcAft>
                      </a:pPr>
                      <a:r>
                        <a:rPr sz="1250" b="0">
                          <a:solidFill>
                            <a:srgbClr val="1A1A1A"/>
                          </a:solidFill>
                          <a:latin typeface="Microsoft JhengHei"/>
                          <a:ea typeface="Microsoft JhengHei"/>
                        </a:rPr>
                        <a:t>門檻選擇（基準）</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−0.012</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−0.042</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210</a:t>
                      </a:r>
                    </a:p>
                  </a:txBody>
                  <a:tcPr marT="27432" marB="27432" marL="73152" marR="73152" anchor="ctr">
                    <a:solidFill>
                      <a:srgbClr val="E8EDF5"/>
                    </a:solidFill>
                  </a:tcPr>
                </a:tc>
              </a:tr>
              <a:tr h="310896">
                <a:tc>
                  <a:txBody>
                    <a:bodyPr wrap="square"/>
                    <a:lstStyle/>
                    <a:p>
                      <a:pPr algn="l">
                        <a:lnSpc>
                          <a:spcPct val="110000"/>
                        </a:lnSpc>
                        <a:spcAft>
                          <a:spcPts val="0"/>
                        </a:spcAft>
                      </a:pPr>
                      <a:r>
                        <a:rPr sz="1250" b="0">
                          <a:solidFill>
                            <a:srgbClr val="1A1A1A"/>
                          </a:solidFill>
                          <a:latin typeface="Microsoft JhengHei"/>
                          <a:ea typeface="Microsoft JhengHei"/>
                        </a:rPr>
                        <a:t>v3（LSTM＋Double-Q）</a:t>
                      </a:r>
                    </a:p>
                  </a:txBody>
                  <a:tcPr marT="27432" marB="27432" marL="73152" marR="73152" anchor="ctr">
                    <a:solidFill>
                      <a:srgbClr val="FFFFFF"/>
                    </a:solidFill>
                  </a:tcPr>
                </a:tc>
                <a:tc>
                  <a:txBody>
                    <a:bodyPr wrap="square"/>
                    <a:lstStyle/>
                    <a:p>
                      <a:pPr algn="l">
                        <a:lnSpc>
                          <a:spcPct val="110000"/>
                        </a:lnSpc>
                        <a:spcAft>
                          <a:spcPts val="0"/>
                        </a:spcAft>
                      </a:pPr>
                      <a:r>
                        <a:rPr sz="1250" b="0">
                          <a:solidFill>
                            <a:srgbClr val="1A1A1A"/>
                          </a:solidFill>
                          <a:latin typeface="Microsoft JhengHei"/>
                          <a:ea typeface="Microsoft JhengHei"/>
                        </a:rPr>
                        <a:t>神經網路＋梯度</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−0.298</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−0.323</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454</a:t>
                      </a:r>
                    </a:p>
                  </a:txBody>
                  <a:tcPr marT="27432" marB="27432" marL="73152" marR="73152" anchor="ctr">
                    <a:solidFill>
                      <a:srgbClr val="FFFFFF"/>
                    </a:solidFill>
                  </a:tcPr>
                </a:tc>
              </a:tr>
              <a:tr h="310896">
                <a:tc>
                  <a:txBody>
                    <a:bodyPr wrap="square"/>
                    <a:lstStyle/>
                    <a:p>
                      <a:pPr algn="l">
                        <a:lnSpc>
                          <a:spcPct val="110000"/>
                        </a:lnSpc>
                        <a:spcAft>
                          <a:spcPts val="0"/>
                        </a:spcAft>
                      </a:pPr>
                      <a:r>
                        <a:rPr sz="1250" b="0">
                          <a:solidFill>
                            <a:srgbClr val="1A1A1A"/>
                          </a:solidFill>
                          <a:latin typeface="Microsoft JhengHei"/>
                          <a:ea typeface="Microsoft JhengHei"/>
                        </a:rPr>
                        <a:t>v3s（LSTM＋單網路）</a:t>
                      </a:r>
                    </a:p>
                  </a:txBody>
                  <a:tcPr marT="27432" marB="27432" marL="73152" marR="73152" anchor="ctr">
                    <a:solidFill>
                      <a:srgbClr val="E8EDF5"/>
                    </a:solidFill>
                  </a:tcPr>
                </a:tc>
                <a:tc>
                  <a:txBody>
                    <a:bodyPr wrap="square"/>
                    <a:lstStyle/>
                    <a:p>
                      <a:pPr algn="l">
                        <a:lnSpc>
                          <a:spcPct val="110000"/>
                        </a:lnSpc>
                        <a:spcAft>
                          <a:spcPts val="0"/>
                        </a:spcAft>
                      </a:pPr>
                      <a:r>
                        <a:rPr sz="1250" b="0">
                          <a:solidFill>
                            <a:srgbClr val="1A1A1A"/>
                          </a:solidFill>
                          <a:latin typeface="Microsoft JhengHei"/>
                          <a:ea typeface="Microsoft JhengHei"/>
                        </a:rPr>
                        <a:t>神經網路＋梯度</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−0.422</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466</a:t>
                      </a:r>
                    </a:p>
                  </a:txBody>
                  <a:tcPr marT="27432" marB="27432" marL="73152" marR="73152" anchor="ctr">
                    <a:solidFill>
                      <a:srgbClr val="E8EDF5"/>
                    </a:solidFill>
                  </a:tcPr>
                </a:tc>
              </a:tr>
              <a:tr h="310896">
                <a:tc>
                  <a:txBody>
                    <a:bodyPr wrap="square"/>
                    <a:lstStyle/>
                    <a:p>
                      <a:pPr algn="l">
                        <a:lnSpc>
                          <a:spcPct val="110000"/>
                        </a:lnSpc>
                        <a:spcAft>
                          <a:spcPts val="0"/>
                        </a:spcAft>
                      </a:pPr>
                      <a:r>
                        <a:rPr sz="1250" b="0">
                          <a:solidFill>
                            <a:srgbClr val="1A1A1A"/>
                          </a:solidFill>
                          <a:latin typeface="Microsoft JhengHei"/>
                          <a:ea typeface="Microsoft JhengHei"/>
                        </a:rPr>
                        <a:t>v1（LSTM-DQN）</a:t>
                      </a:r>
                    </a:p>
                  </a:txBody>
                  <a:tcPr marT="27432" marB="27432" marL="73152" marR="73152" anchor="ctr">
                    <a:solidFill>
                      <a:srgbClr val="FFFFFF"/>
                    </a:solidFill>
                  </a:tcPr>
                </a:tc>
                <a:tc>
                  <a:txBody>
                    <a:bodyPr wrap="square"/>
                    <a:lstStyle/>
                    <a:p>
                      <a:pPr algn="l">
                        <a:lnSpc>
                          <a:spcPct val="110000"/>
                        </a:lnSpc>
                        <a:spcAft>
                          <a:spcPts val="0"/>
                        </a:spcAft>
                      </a:pPr>
                      <a:r>
                        <a:rPr sz="1250" b="0">
                          <a:solidFill>
                            <a:srgbClr val="1A1A1A"/>
                          </a:solidFill>
                          <a:latin typeface="Microsoft JhengHei"/>
                          <a:ea typeface="Microsoft JhengHei"/>
                        </a:rPr>
                        <a:t>神經網路＋梯度</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−0.829</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−0.859</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604</a:t>
                      </a:r>
                    </a:p>
                  </a:txBody>
                  <a:tcPr marT="27432" marB="27432" marL="73152" marR="73152" anchor="ctr">
                    <a:solidFill>
                      <a:srgbClr val="FFFFFF"/>
                    </a:solidFill>
                  </a:tcPr>
                </a:tc>
              </a:tr>
              <a:tr h="310896">
                <a:tc>
                  <a:txBody>
                    <a:bodyPr wrap="square"/>
                    <a:lstStyle/>
                    <a:p>
                      <a:pPr algn="l">
                        <a:lnSpc>
                          <a:spcPct val="110000"/>
                        </a:lnSpc>
                        <a:spcAft>
                          <a:spcPts val="0"/>
                        </a:spcAft>
                      </a:pPr>
                      <a:r>
                        <a:rPr sz="1250" b="0">
                          <a:solidFill>
                            <a:srgbClr val="1A1A1A"/>
                          </a:solidFill>
                          <a:latin typeface="Microsoft JhengHei"/>
                          <a:ea typeface="Microsoft JhengHei"/>
                        </a:rPr>
                        <a:t>v3ms（MLP＋單網路）</a:t>
                      </a:r>
                    </a:p>
                  </a:txBody>
                  <a:tcPr marT="27432" marB="27432" marL="73152" marR="73152" anchor="ctr">
                    <a:solidFill>
                      <a:srgbClr val="E8EDF5"/>
                    </a:solidFill>
                  </a:tcPr>
                </a:tc>
                <a:tc>
                  <a:txBody>
                    <a:bodyPr wrap="square"/>
                    <a:lstStyle/>
                    <a:p>
                      <a:pPr algn="l">
                        <a:lnSpc>
                          <a:spcPct val="110000"/>
                        </a:lnSpc>
                        <a:spcAft>
                          <a:spcPts val="0"/>
                        </a:spcAft>
                      </a:pPr>
                      <a:r>
                        <a:rPr sz="1250" b="0">
                          <a:solidFill>
                            <a:srgbClr val="1A1A1A"/>
                          </a:solidFill>
                          <a:latin typeface="Microsoft JhengHei"/>
                          <a:ea typeface="Microsoft JhengHei"/>
                        </a:rPr>
                        <a:t>神經網路＋梯度</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−1.301</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824</a:t>
                      </a:r>
                    </a:p>
                  </a:txBody>
                  <a:tcPr marT="27432" marB="27432" marL="73152" marR="73152" anchor="ctr">
                    <a:solidFill>
                      <a:srgbClr val="E8EDF5"/>
                    </a:solidFill>
                  </a:tcPr>
                </a:tc>
              </a:tr>
              <a:tr h="310896">
                <a:tc>
                  <a:txBody>
                    <a:bodyPr wrap="square"/>
                    <a:lstStyle/>
                    <a:p>
                      <a:pPr algn="l">
                        <a:lnSpc>
                          <a:spcPct val="110000"/>
                        </a:lnSpc>
                        <a:spcAft>
                          <a:spcPts val="0"/>
                        </a:spcAft>
                      </a:pPr>
                      <a:r>
                        <a:rPr sz="1250" b="0">
                          <a:solidFill>
                            <a:srgbClr val="1A1A1A"/>
                          </a:solidFill>
                          <a:latin typeface="Microsoft JhengHei"/>
                          <a:ea typeface="Microsoft JhengHei"/>
                        </a:rPr>
                        <a:t>v3m（MLP＋Double-Q）</a:t>
                      </a:r>
                    </a:p>
                  </a:txBody>
                  <a:tcPr marT="27432" marB="27432" marL="73152" marR="73152" anchor="ctr">
                    <a:solidFill>
                      <a:srgbClr val="FFFFFF"/>
                    </a:solidFill>
                  </a:tcPr>
                </a:tc>
                <a:tc>
                  <a:txBody>
                    <a:bodyPr wrap="square"/>
                    <a:lstStyle/>
                    <a:p>
                      <a:pPr algn="l">
                        <a:lnSpc>
                          <a:spcPct val="110000"/>
                        </a:lnSpc>
                        <a:spcAft>
                          <a:spcPts val="0"/>
                        </a:spcAft>
                      </a:pPr>
                      <a:r>
                        <a:rPr sz="1250" b="0">
                          <a:solidFill>
                            <a:srgbClr val="1A1A1A"/>
                          </a:solidFill>
                          <a:latin typeface="Microsoft JhengHei"/>
                          <a:ea typeface="Microsoft JhengHei"/>
                        </a:rPr>
                        <a:t>神經網路＋梯度</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−1.528</a:t>
                      </a:r>
                    </a:p>
                  </a:txBody>
                  <a:tcPr marT="27432" marB="27432" marL="73152" marR="73152" anchor="ctr">
                    <a:solidFill>
                      <a:srgbClr val="FFFFFF"/>
                    </a:solidFill>
                  </a:tcPr>
                </a:tc>
                <a:tc>
                  <a:txBody>
                    <a:bodyPr wrap="square"/>
                    <a:lstStyle/>
                    <a:p>
                      <a:pPr algn="r">
                        <a:lnSpc>
                          <a:spcPct val="110000"/>
                        </a:lnSpc>
                        <a:spcAft>
                          <a:spcPts val="0"/>
                        </a:spcAft>
                      </a:pPr>
                      <a:r>
                        <a:rPr sz="1250" b="0">
                          <a:solidFill>
                            <a:srgbClr val="1A1A1A"/>
                          </a:solidFill>
                          <a:latin typeface="Microsoft JhengHei"/>
                          <a:ea typeface="Microsoft JhengHei"/>
                        </a:rPr>
                        <a:t>808</a:t>
                      </a:r>
                    </a:p>
                  </a:txBody>
                  <a:tcPr marT="27432" marB="27432" marL="73152" marR="73152" anchor="ctr">
                    <a:solidFill>
                      <a:srgbClr val="FFFFFF"/>
                    </a:solidFill>
                  </a:tcPr>
                </a:tc>
              </a:tr>
              <a:tr h="310896">
                <a:tc>
                  <a:txBody>
                    <a:bodyPr wrap="square"/>
                    <a:lstStyle/>
                    <a:p>
                      <a:pPr algn="l">
                        <a:lnSpc>
                          <a:spcPct val="110000"/>
                        </a:lnSpc>
                        <a:spcAft>
                          <a:spcPts val="0"/>
                        </a:spcAft>
                      </a:pPr>
                      <a:r>
                        <a:rPr sz="1250" b="0">
                          <a:solidFill>
                            <a:srgbClr val="1A1A1A"/>
                          </a:solidFill>
                          <a:latin typeface="Microsoft JhengHei"/>
                          <a:ea typeface="Microsoft JhengHei"/>
                        </a:rPr>
                        <a:t>v2（LSTM-DQN 修復版）</a:t>
                      </a:r>
                    </a:p>
                  </a:txBody>
                  <a:tcPr marT="27432" marB="27432" marL="73152" marR="73152" anchor="ctr">
                    <a:solidFill>
                      <a:srgbClr val="E8EDF5"/>
                    </a:solidFill>
                  </a:tcPr>
                </a:tc>
                <a:tc>
                  <a:txBody>
                    <a:bodyPr wrap="square"/>
                    <a:lstStyle/>
                    <a:p>
                      <a:pPr algn="l">
                        <a:lnSpc>
                          <a:spcPct val="110000"/>
                        </a:lnSpc>
                        <a:spcAft>
                          <a:spcPts val="0"/>
                        </a:spcAft>
                      </a:pPr>
                      <a:r>
                        <a:rPr sz="1250" b="0">
                          <a:solidFill>
                            <a:srgbClr val="1A1A1A"/>
                          </a:solidFill>
                          <a:latin typeface="Microsoft JhengHei"/>
                          <a:ea typeface="Microsoft JhengHei"/>
                        </a:rPr>
                        <a:t>神經網路＋梯度</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−1.547</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−1.572</a:t>
                      </a:r>
                    </a:p>
                  </a:txBody>
                  <a:tcPr marT="27432" marB="27432" marL="73152" marR="73152" anchor="ctr">
                    <a:solidFill>
                      <a:srgbClr val="E8EDF5"/>
                    </a:solidFill>
                  </a:tcPr>
                </a:tc>
                <a:tc>
                  <a:txBody>
                    <a:bodyPr wrap="square"/>
                    <a:lstStyle/>
                    <a:p>
                      <a:pPr algn="r">
                        <a:lnSpc>
                          <a:spcPct val="110000"/>
                        </a:lnSpc>
                        <a:spcAft>
                          <a:spcPts val="0"/>
                        </a:spcAft>
                      </a:pPr>
                      <a:r>
                        <a:rPr sz="1250" b="0">
                          <a:solidFill>
                            <a:srgbClr val="1A1A1A"/>
                          </a:solidFill>
                          <a:latin typeface="Microsoft JhengHei"/>
                          <a:ea typeface="Microsoft JhengHei"/>
                        </a:rPr>
                        <a:t>854</a:t>
                      </a:r>
                    </a:p>
                  </a:txBody>
                  <a:tcPr marT="27432" marB="27432" marL="73152" marR="73152" anchor="ctr">
                    <a:solidFill>
                      <a:srgbClr val="E8EDF5"/>
                    </a:solidFill>
                  </a:tcPr>
                </a:tc>
              </a:tr>
              <a:tr h="310896">
                <a:tc>
                  <a:txBody>
                    <a:bodyPr wrap="square"/>
                    <a:lstStyle/>
                    <a:p>
                      <a:pPr algn="l">
                        <a:lnSpc>
                          <a:spcPct val="110000"/>
                        </a:lnSpc>
                        <a:spcAft>
                          <a:spcPts val="0"/>
                        </a:spcAft>
                      </a:pPr>
                      <a:r>
                        <a:rPr sz="1250" b="0">
                          <a:solidFill>
                            <a:srgbClr val="1A1A1A"/>
                          </a:solidFill>
                          <a:latin typeface="Microsoft JhengHei"/>
                          <a:ea typeface="Microsoft JhengHei"/>
                        </a:rPr>
                        <a:t>vi（表格價值迭代）</a:t>
                      </a:r>
                    </a:p>
                  </a:txBody>
                  <a:tcPr marT="27432" marB="27432" marL="73152" marR="73152" anchor="ctr">
                    <a:solidFill>
                      <a:srgbClr val="F6DED7"/>
                    </a:solidFill>
                  </a:tcPr>
                </a:tc>
                <a:tc>
                  <a:txBody>
                    <a:bodyPr wrap="square"/>
                    <a:lstStyle/>
                    <a:p>
                      <a:pPr algn="l">
                        <a:lnSpc>
                          <a:spcPct val="110000"/>
                        </a:lnSpc>
                        <a:spcAft>
                          <a:spcPts val="0"/>
                        </a:spcAft>
                      </a:pPr>
                      <a:r>
                        <a:rPr sz="1250" b="0">
                          <a:solidFill>
                            <a:srgbClr val="1A1A1A"/>
                          </a:solidFill>
                          <a:latin typeface="Microsoft JhengHei"/>
                          <a:ea typeface="Microsoft JhengHei"/>
                        </a:rPr>
                        <a:t>表格式動態規劃，無梯度</a:t>
                      </a:r>
                    </a:p>
                  </a:txBody>
                  <a:tcPr marT="27432" marB="27432" marL="73152" marR="73152" anchor="ctr">
                    <a:solidFill>
                      <a:srgbClr val="F6DED7"/>
                    </a:solidFill>
                  </a:tcPr>
                </a:tc>
                <a:tc>
                  <a:txBody>
                    <a:bodyPr wrap="square"/>
                    <a:lstStyle/>
                    <a:p>
                      <a:pPr algn="r">
                        <a:lnSpc>
                          <a:spcPct val="110000"/>
                        </a:lnSpc>
                        <a:spcAft>
                          <a:spcPts val="0"/>
                        </a:spcAft>
                      </a:pPr>
                      <a:r>
                        <a:rPr sz="1250" b="0">
                          <a:solidFill>
                            <a:srgbClr val="1A1A1A"/>
                          </a:solidFill>
                          <a:latin typeface="Microsoft JhengHei"/>
                          <a:ea typeface="Microsoft JhengHei"/>
                        </a:rPr>
                        <a:t>—</a:t>
                      </a:r>
                    </a:p>
                  </a:txBody>
                  <a:tcPr marT="27432" marB="27432" marL="73152" marR="73152" anchor="ctr">
                    <a:solidFill>
                      <a:srgbClr val="F6DED7"/>
                    </a:solidFill>
                  </a:tcPr>
                </a:tc>
                <a:tc>
                  <a:txBody>
                    <a:bodyPr wrap="square"/>
                    <a:lstStyle/>
                    <a:p>
                      <a:pPr algn="r">
                        <a:lnSpc>
                          <a:spcPct val="110000"/>
                        </a:lnSpc>
                        <a:spcAft>
                          <a:spcPts val="0"/>
                        </a:spcAft>
                      </a:pPr>
                      <a:r>
                        <a:rPr sz="1250" b="0">
                          <a:solidFill>
                            <a:srgbClr val="1A1A1A"/>
                          </a:solidFill>
                          <a:latin typeface="Microsoft JhengHei"/>
                          <a:ea typeface="Microsoft JhengHei"/>
                        </a:rPr>
                        <a:t>−2.134</a:t>
                      </a:r>
                    </a:p>
                  </a:txBody>
                  <a:tcPr marT="27432" marB="27432" marL="73152" marR="73152" anchor="ctr">
                    <a:solidFill>
                      <a:srgbClr val="F6DED7"/>
                    </a:solidFill>
                  </a:tcPr>
                </a:tc>
                <a:tc>
                  <a:txBody>
                    <a:bodyPr wrap="square"/>
                    <a:lstStyle/>
                    <a:p>
                      <a:pPr algn="r">
                        <a:lnSpc>
                          <a:spcPct val="110000"/>
                        </a:lnSpc>
                        <a:spcAft>
                          <a:spcPts val="0"/>
                        </a:spcAft>
                      </a:pPr>
                      <a:r>
                        <a:rPr sz="1250" b="0">
                          <a:solidFill>
                            <a:srgbClr val="1A1A1A"/>
                          </a:solidFill>
                          <a:latin typeface="Microsoft JhengHei"/>
                          <a:ea typeface="Microsoft JhengHei"/>
                        </a:rPr>
                        <a:t>798</a:t>
                      </a:r>
                    </a:p>
                  </a:txBody>
                  <a:tcPr marT="27432" marB="27432" marL="73152" marR="73152" anchor="ctr">
                    <a:solidFill>
                      <a:srgbClr val="F6DED7"/>
                    </a:solidFill>
                  </a:tcPr>
                </a:tc>
              </a:tr>
            </a:tbl>
          </a:graphicData>
        </a:graphic>
      </p:graphicFrame>
      <p:sp>
        <p:nvSpPr>
          <p:cNvPr id="6" name="Rounded Rectangle 5"/>
          <p:cNvSpPr/>
          <p:nvPr/>
        </p:nvSpPr>
        <p:spPr>
          <a:xfrm>
            <a:off x="640080" y="4937760"/>
            <a:ext cx="10881360" cy="896112"/>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600"/>
              </a:spcAft>
            </a:pPr>
            <a:r>
              <a:rPr sz="1250" b="0">
                <a:solidFill>
                  <a:srgbClr val="1A1A1A"/>
                </a:solidFill>
                <a:latin typeface="Microsoft JhengHei"/>
                <a:ea typeface="Microsoft JhengHei"/>
              </a:rPr>
              <a:t>兩種 Sharpe 不可互換：重算口徑（逐日損益加總、均值÷標準差年化）與官方口徑差約 0.02–0.03，只用於臂與臂的排序。進場數逐位吻合官方。</a:t>
            </a:r>
            <a:r>
              <a:rPr sz="1250" b="0">
                <a:solidFill>
                  <a:srgbClr val="6B7280"/>
                </a:solidFill>
                <a:latin typeface="Microsoft JhengHei"/>
                <a:ea typeface="Microsoft JhengHei"/>
              </a:rPr>
              <a:t>表格法只用 ZScore 一維狀態，同時換了演算法與狀態表示。</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§5.1.1 第一道界線</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B12　15 格固定門檻基準：三個報酬口徑並列</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71</a:t>
            </a:r>
          </a:p>
        </p:txBody>
      </p:sp>
      <p:graphicFrame>
        <p:nvGraphicFramePr>
          <p:cNvPr id="5" name="Table 4"/>
          <p:cNvGraphicFramePr>
            <a:graphicFrameLocks noGrp="1"/>
          </p:cNvGraphicFramePr>
          <p:nvPr/>
        </p:nvGraphicFramePr>
        <p:xfrm>
          <a:off x="640080" y="1600200"/>
          <a:ext cx="7955280" cy="4169648"/>
        </p:xfrm>
        <a:graphic>
          <a:graphicData uri="http://schemas.openxmlformats.org/drawingml/2006/table">
            <a:tbl>
              <a:tblPr firstRow="1" bandRow="1">
                <a:tableStyleId>{5C22544A-7EE6-4342-B048-85BDC9FD1C3A}</a:tableStyleId>
              </a:tblPr>
              <a:tblGrid>
                <a:gridCol w="2011680"/>
                <a:gridCol w="1005840"/>
                <a:gridCol w="1554480"/>
                <a:gridCol w="1737360"/>
                <a:gridCol w="1645920"/>
              </a:tblGrid>
              <a:tr h="260603">
                <a:tc>
                  <a:txBody>
                    <a:bodyPr wrap="square"/>
                    <a:lstStyle/>
                    <a:p>
                      <a:pPr algn="l">
                        <a:lnSpc>
                          <a:spcPct val="110000"/>
                        </a:lnSpc>
                        <a:spcAft>
                          <a:spcPts val="0"/>
                        </a:spcAft>
                      </a:pPr>
                      <a:r>
                        <a:rPr sz="1150" b="1">
                          <a:solidFill>
                            <a:srgbClr val="FFFFFF"/>
                          </a:solidFill>
                          <a:latin typeface="Microsoft JhengHei"/>
                          <a:ea typeface="Microsoft JhengHei"/>
                        </a:rPr>
                        <a:t>分組</a:t>
                      </a:r>
                    </a:p>
                  </a:txBody>
                  <a:tcPr marT="27432" marB="27432" marL="73152" marR="73152" anchor="ctr">
                    <a:solidFill>
                      <a:srgbClr val="0B2A5B"/>
                    </a:solidFill>
                  </a:tcPr>
                </a:tc>
                <a:tc>
                  <a:txBody>
                    <a:bodyPr wrap="square"/>
                    <a:lstStyle/>
                    <a:p>
                      <a:pPr algn="l">
                        <a:lnSpc>
                          <a:spcPct val="110000"/>
                        </a:lnSpc>
                        <a:spcAft>
                          <a:spcPts val="0"/>
                        </a:spcAft>
                      </a:pPr>
                      <a:r>
                        <a:rPr sz="1150" b="1">
                          <a:solidFill>
                            <a:srgbClr val="FFFFFF"/>
                          </a:solidFill>
                          <a:latin typeface="Microsoft JhengHei"/>
                          <a:ea typeface="Microsoft JhengHei"/>
                        </a:rPr>
                        <a:t>排序</a:t>
                      </a:r>
                    </a:p>
                  </a:txBody>
                  <a:tcPr marT="27432" marB="27432" marL="73152" marR="73152" anchor="ctr">
                    <a:solidFill>
                      <a:srgbClr val="0B2A5B"/>
                    </a:solidFill>
                  </a:tcPr>
                </a:tc>
                <a:tc>
                  <a:txBody>
                    <a:bodyPr wrap="square"/>
                    <a:lstStyle/>
                    <a:p>
                      <a:pPr algn="l">
                        <a:lnSpc>
                          <a:spcPct val="110000"/>
                        </a:lnSpc>
                        <a:spcAft>
                          <a:spcPts val="0"/>
                        </a:spcAft>
                      </a:pPr>
                      <a:r>
                        <a:rPr sz="1150" b="1">
                          <a:solidFill>
                            <a:srgbClr val="FFFFFF"/>
                          </a:solidFill>
                          <a:latin typeface="Microsoft JhengHei"/>
                          <a:ea typeface="Microsoft JhengHei"/>
                        </a:rPr>
                        <a:t>帳面年化</a:t>
                      </a:r>
                    </a:p>
                  </a:txBody>
                  <a:tcPr marT="27432" marB="27432" marL="73152" marR="73152" anchor="ctr">
                    <a:solidFill>
                      <a:srgbClr val="0B2A5B"/>
                    </a:solidFill>
                  </a:tcPr>
                </a:tc>
                <a:tc>
                  <a:txBody>
                    <a:bodyPr wrap="square"/>
                    <a:lstStyle/>
                    <a:p>
                      <a:pPr algn="l">
                        <a:lnSpc>
                          <a:spcPct val="110000"/>
                        </a:lnSpc>
                        <a:spcAft>
                          <a:spcPts val="0"/>
                        </a:spcAft>
                      </a:pPr>
                      <a:r>
                        <a:rPr sz="1150" b="1">
                          <a:solidFill>
                            <a:srgbClr val="FFFFFF"/>
                          </a:solidFill>
                          <a:latin typeface="Microsoft JhengHei"/>
                          <a:ea typeface="Microsoft JhengHei"/>
                        </a:rPr>
                        <a:t>動用資本年化</a:t>
                      </a:r>
                    </a:p>
                  </a:txBody>
                  <a:tcPr marT="27432" marB="27432" marL="73152" marR="73152" anchor="ctr">
                    <a:solidFill>
                      <a:srgbClr val="0B2A5B"/>
                    </a:solidFill>
                  </a:tcPr>
                </a:tc>
                <a:tc>
                  <a:txBody>
                    <a:bodyPr wrap="square"/>
                    <a:lstStyle/>
                    <a:p>
                      <a:pPr algn="l">
                        <a:lnSpc>
                          <a:spcPct val="110000"/>
                        </a:lnSpc>
                        <a:spcAft>
                          <a:spcPts val="0"/>
                        </a:spcAft>
                      </a:pPr>
                      <a:r>
                        <a:rPr sz="1150" b="1">
                          <a:solidFill>
                            <a:srgbClr val="FFFFFF"/>
                          </a:solidFill>
                          <a:latin typeface="Microsoft JhengHei"/>
                          <a:ea typeface="Microsoft JhengHei"/>
                        </a:rPr>
                        <a:t>rf 超額年化</a:t>
                      </a:r>
                    </a:p>
                  </a:txBody>
                  <a:tcPr marT="27432" marB="27432" marL="73152" marR="73152" anchor="ctr">
                    <a:solidFill>
                      <a:srgbClr val="0B2A5B"/>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不分組</a:t>
                      </a:r>
                    </a:p>
                  </a:txBody>
                  <a:tcPr marT="27432" marB="27432" marL="73152" marR="73152" anchor="ctr">
                    <a:solidFill>
                      <a:srgbClr val="FFFFFF"/>
                    </a:solidFill>
                  </a:tcPr>
                </a:tc>
                <a:tc>
                  <a:txBody>
                    <a:bodyPr wrap="square"/>
                    <a:lstStyle/>
                    <a:p>
                      <a:pPr algn="l">
                        <a:lnSpc>
                          <a:spcPct val="110000"/>
                        </a:lnSpc>
                        <a:spcAft>
                          <a:spcPts val="0"/>
                        </a:spcAft>
                      </a:pPr>
                      <a:r>
                        <a:rPr sz="1150" b="0">
                          <a:solidFill>
                            <a:srgbClr val="1A1A1A"/>
                          </a:solidFill>
                          <a:latin typeface="Microsoft JhengHei"/>
                          <a:ea typeface="Microsoft JhengHei"/>
                        </a:rPr>
                        <a:t>SSD</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+0.641%</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+1.268%</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−0.308%</a:t>
                      </a:r>
                    </a:p>
                  </a:txBody>
                  <a:tcPr marT="27432" marB="27432" marL="73152" marR="73152" anchor="ctr">
                    <a:solidFill>
                      <a:srgbClr val="FFFFFF"/>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不分組</a:t>
                      </a:r>
                    </a:p>
                  </a:txBody>
                  <a:tcPr marT="27432" marB="27432" marL="73152" marR="73152" anchor="ctr">
                    <a:solidFill>
                      <a:srgbClr val="E8EDF5"/>
                    </a:solidFill>
                  </a:tcPr>
                </a:tc>
                <a:tc>
                  <a:txBody>
                    <a:bodyPr wrap="square"/>
                    <a:lstStyle/>
                    <a:p>
                      <a:pPr algn="l">
                        <a:lnSpc>
                          <a:spcPct val="110000"/>
                        </a:lnSpc>
                        <a:spcAft>
                          <a:spcPts val="0"/>
                        </a:spcAft>
                      </a:pPr>
                      <a:r>
                        <a:rPr sz="1150" b="0">
                          <a:solidFill>
                            <a:srgbClr val="1A1A1A"/>
                          </a:solidFill>
                          <a:latin typeface="Microsoft JhengHei"/>
                          <a:ea typeface="Microsoft JhengHei"/>
                        </a:rPr>
                        <a:t>DTW</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+0.780%</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+1.819%</a:t>
                      </a:r>
                    </a:p>
                  </a:txBody>
                  <a:tcPr marT="27432" marB="27432" marL="73152" marR="73152" anchor="ctr">
                    <a:solidFill>
                      <a:srgbClr val="E8EDF5"/>
                    </a:solidFill>
                  </a:tcPr>
                </a:tc>
                <a:tc>
                  <a:txBody>
                    <a:bodyPr wrap="square"/>
                    <a:lstStyle/>
                    <a:p>
                      <a:pPr algn="r">
                        <a:lnSpc>
                          <a:spcPct val="110000"/>
                        </a:lnSpc>
                        <a:spcAft>
                          <a:spcPts val="0"/>
                        </a:spcAft>
                      </a:pPr>
                      <a:r>
                        <a:rPr sz="1150" b="1">
                          <a:solidFill>
                            <a:srgbClr val="C4553B"/>
                          </a:solidFill>
                          <a:latin typeface="Microsoft JhengHei"/>
                          <a:ea typeface="Microsoft JhengHei"/>
                        </a:rPr>
                        <a:t>+0.009%</a:t>
                      </a:r>
                    </a:p>
                  </a:txBody>
                  <a:tcPr marT="27432" marB="27432" marL="73152" marR="73152" anchor="ctr">
                    <a:solidFill>
                      <a:srgbClr val="E8EDF5"/>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不分組</a:t>
                      </a:r>
                    </a:p>
                  </a:txBody>
                  <a:tcPr marT="27432" marB="27432" marL="73152" marR="73152" anchor="ctr">
                    <a:solidFill>
                      <a:srgbClr val="FFFFFF"/>
                    </a:solidFill>
                  </a:tcPr>
                </a:tc>
                <a:tc>
                  <a:txBody>
                    <a:bodyPr wrap="square"/>
                    <a:lstStyle/>
                    <a:p>
                      <a:pPr algn="l">
                        <a:lnSpc>
                          <a:spcPct val="110000"/>
                        </a:lnSpc>
                        <a:spcAft>
                          <a:spcPts val="0"/>
                        </a:spcAft>
                      </a:pPr>
                      <a:r>
                        <a:rPr sz="1150" b="0">
                          <a:solidFill>
                            <a:srgbClr val="1A1A1A"/>
                          </a:solidFill>
                          <a:latin typeface="Microsoft JhengHei"/>
                          <a:ea typeface="Microsoft JhengHei"/>
                        </a:rPr>
                        <a:t>SDP</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+0.607%</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+1.150%</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−0.391%</a:t>
                      </a:r>
                    </a:p>
                  </a:txBody>
                  <a:tcPr marT="27432" marB="27432" marL="73152" marR="73152" anchor="ctr">
                    <a:solidFill>
                      <a:srgbClr val="FFFFFF"/>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GICS</a:t>
                      </a:r>
                    </a:p>
                  </a:txBody>
                  <a:tcPr marT="27432" marB="27432" marL="73152" marR="73152" anchor="ctr">
                    <a:solidFill>
                      <a:srgbClr val="E8EDF5"/>
                    </a:solidFill>
                  </a:tcPr>
                </a:tc>
                <a:tc>
                  <a:txBody>
                    <a:bodyPr wrap="square"/>
                    <a:lstStyle/>
                    <a:p>
                      <a:pPr algn="l">
                        <a:lnSpc>
                          <a:spcPct val="110000"/>
                        </a:lnSpc>
                        <a:spcAft>
                          <a:spcPts val="0"/>
                        </a:spcAft>
                      </a:pPr>
                      <a:r>
                        <a:rPr sz="1150" b="0">
                          <a:solidFill>
                            <a:srgbClr val="1A1A1A"/>
                          </a:solidFill>
                          <a:latin typeface="Microsoft JhengHei"/>
                          <a:ea typeface="Microsoft JhengHei"/>
                        </a:rPr>
                        <a:t>SSD</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+0.345%</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+0.633%</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−0.705%</a:t>
                      </a:r>
                    </a:p>
                  </a:txBody>
                  <a:tcPr marT="27432" marB="27432" marL="73152" marR="73152" anchor="ctr">
                    <a:solidFill>
                      <a:srgbClr val="E8EDF5"/>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GICS</a:t>
                      </a:r>
                    </a:p>
                  </a:txBody>
                  <a:tcPr marT="27432" marB="27432" marL="73152" marR="73152" anchor="ctr">
                    <a:solidFill>
                      <a:srgbClr val="FFFFFF"/>
                    </a:solidFill>
                  </a:tcPr>
                </a:tc>
                <a:tc>
                  <a:txBody>
                    <a:bodyPr wrap="square"/>
                    <a:lstStyle/>
                    <a:p>
                      <a:pPr algn="l">
                        <a:lnSpc>
                          <a:spcPct val="110000"/>
                        </a:lnSpc>
                        <a:spcAft>
                          <a:spcPts val="0"/>
                        </a:spcAft>
                      </a:pPr>
                      <a:r>
                        <a:rPr sz="1150" b="0">
                          <a:solidFill>
                            <a:srgbClr val="1A1A1A"/>
                          </a:solidFill>
                          <a:latin typeface="Microsoft JhengHei"/>
                          <a:ea typeface="Microsoft JhengHei"/>
                        </a:rPr>
                        <a:t>DTW</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+0.499%</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+0.979%</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−0.522%</a:t>
                      </a:r>
                    </a:p>
                  </a:txBody>
                  <a:tcPr marT="27432" marB="27432" marL="73152" marR="73152" anchor="ctr">
                    <a:solidFill>
                      <a:srgbClr val="FFFFFF"/>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GICS</a:t>
                      </a:r>
                    </a:p>
                  </a:txBody>
                  <a:tcPr marT="27432" marB="27432" marL="73152" marR="73152" anchor="ctr">
                    <a:solidFill>
                      <a:srgbClr val="E8EDF5"/>
                    </a:solidFill>
                  </a:tcPr>
                </a:tc>
                <a:tc>
                  <a:txBody>
                    <a:bodyPr wrap="square"/>
                    <a:lstStyle/>
                    <a:p>
                      <a:pPr algn="l">
                        <a:lnSpc>
                          <a:spcPct val="110000"/>
                        </a:lnSpc>
                        <a:spcAft>
                          <a:spcPts val="0"/>
                        </a:spcAft>
                      </a:pPr>
                      <a:r>
                        <a:rPr sz="1150" b="0">
                          <a:solidFill>
                            <a:srgbClr val="1A1A1A"/>
                          </a:solidFill>
                          <a:latin typeface="Microsoft JhengHei"/>
                          <a:ea typeface="Microsoft JhengHei"/>
                        </a:rPr>
                        <a:t>SDP</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+0.541%</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+1.075%</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−0.471%</a:t>
                      </a:r>
                    </a:p>
                  </a:txBody>
                  <a:tcPr marT="27432" marB="27432" marL="73152" marR="73152" anchor="ctr">
                    <a:solidFill>
                      <a:srgbClr val="E8EDF5"/>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Agglomerative</a:t>
                      </a:r>
                    </a:p>
                  </a:txBody>
                  <a:tcPr marT="27432" marB="27432" marL="73152" marR="73152" anchor="ctr">
                    <a:solidFill>
                      <a:srgbClr val="FFFFFF"/>
                    </a:solidFill>
                  </a:tcPr>
                </a:tc>
                <a:tc>
                  <a:txBody>
                    <a:bodyPr wrap="square"/>
                    <a:lstStyle/>
                    <a:p>
                      <a:pPr algn="l">
                        <a:lnSpc>
                          <a:spcPct val="110000"/>
                        </a:lnSpc>
                        <a:spcAft>
                          <a:spcPts val="0"/>
                        </a:spcAft>
                      </a:pPr>
                      <a:r>
                        <a:rPr sz="1150" b="0">
                          <a:solidFill>
                            <a:srgbClr val="1A1A1A"/>
                          </a:solidFill>
                          <a:latin typeface="Microsoft JhengHei"/>
                          <a:ea typeface="Microsoft JhengHei"/>
                        </a:rPr>
                        <a:t>SSD</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+0.040%</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+0.116%</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−1.042%</a:t>
                      </a:r>
                    </a:p>
                  </a:txBody>
                  <a:tcPr marT="27432" marB="27432" marL="73152" marR="73152" anchor="ctr">
                    <a:solidFill>
                      <a:srgbClr val="FFFFFF"/>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Agglomerative</a:t>
                      </a:r>
                    </a:p>
                  </a:txBody>
                  <a:tcPr marT="27432" marB="27432" marL="73152" marR="73152" anchor="ctr">
                    <a:solidFill>
                      <a:srgbClr val="E8EDF5"/>
                    </a:solidFill>
                  </a:tcPr>
                </a:tc>
                <a:tc>
                  <a:txBody>
                    <a:bodyPr wrap="square"/>
                    <a:lstStyle/>
                    <a:p>
                      <a:pPr algn="l">
                        <a:lnSpc>
                          <a:spcPct val="110000"/>
                        </a:lnSpc>
                        <a:spcAft>
                          <a:spcPts val="0"/>
                        </a:spcAft>
                      </a:pPr>
                      <a:r>
                        <a:rPr sz="1150" b="0">
                          <a:solidFill>
                            <a:srgbClr val="1A1A1A"/>
                          </a:solidFill>
                          <a:latin typeface="Microsoft JhengHei"/>
                          <a:ea typeface="Microsoft JhengHei"/>
                        </a:rPr>
                        <a:t>DTW</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+0.358%</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+0.695%</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−0.689%</a:t>
                      </a:r>
                    </a:p>
                  </a:txBody>
                  <a:tcPr marT="27432" marB="27432" marL="73152" marR="73152" anchor="ctr">
                    <a:solidFill>
                      <a:srgbClr val="E8EDF5"/>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Agglomerative</a:t>
                      </a:r>
                    </a:p>
                  </a:txBody>
                  <a:tcPr marT="27432" marB="27432" marL="73152" marR="73152" anchor="ctr">
                    <a:solidFill>
                      <a:srgbClr val="FFFFFF"/>
                    </a:solidFill>
                  </a:tcPr>
                </a:tc>
                <a:tc>
                  <a:txBody>
                    <a:bodyPr wrap="square"/>
                    <a:lstStyle/>
                    <a:p>
                      <a:pPr algn="l">
                        <a:lnSpc>
                          <a:spcPct val="110000"/>
                        </a:lnSpc>
                        <a:spcAft>
                          <a:spcPts val="0"/>
                        </a:spcAft>
                      </a:pPr>
                      <a:r>
                        <a:rPr sz="1150" b="0">
                          <a:solidFill>
                            <a:srgbClr val="1A1A1A"/>
                          </a:solidFill>
                          <a:latin typeface="Microsoft JhengHei"/>
                          <a:ea typeface="Microsoft JhengHei"/>
                        </a:rPr>
                        <a:t>SDP</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+0.310%</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+0.594%</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−0.771%</a:t>
                      </a:r>
                    </a:p>
                  </a:txBody>
                  <a:tcPr marT="27432" marB="27432" marL="73152" marR="73152" anchor="ctr">
                    <a:solidFill>
                      <a:srgbClr val="FFFFFF"/>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HDBSCAN</a:t>
                      </a:r>
                    </a:p>
                  </a:txBody>
                  <a:tcPr marT="27432" marB="27432" marL="73152" marR="73152" anchor="ctr">
                    <a:solidFill>
                      <a:srgbClr val="E8EDF5"/>
                    </a:solidFill>
                  </a:tcPr>
                </a:tc>
                <a:tc>
                  <a:txBody>
                    <a:bodyPr wrap="square"/>
                    <a:lstStyle/>
                    <a:p>
                      <a:pPr algn="l">
                        <a:lnSpc>
                          <a:spcPct val="110000"/>
                        </a:lnSpc>
                        <a:spcAft>
                          <a:spcPts val="0"/>
                        </a:spcAft>
                      </a:pPr>
                      <a:r>
                        <a:rPr sz="1150" b="0">
                          <a:solidFill>
                            <a:srgbClr val="1A1A1A"/>
                          </a:solidFill>
                          <a:latin typeface="Microsoft JhengHei"/>
                          <a:ea typeface="Microsoft JhengHei"/>
                        </a:rPr>
                        <a:t>SSD</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−0.287%</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−0.530%</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−1.380%</a:t>
                      </a:r>
                    </a:p>
                  </a:txBody>
                  <a:tcPr marT="27432" marB="27432" marL="73152" marR="73152" anchor="ctr">
                    <a:solidFill>
                      <a:srgbClr val="E8EDF5"/>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HDBSCAN</a:t>
                      </a:r>
                    </a:p>
                  </a:txBody>
                  <a:tcPr marT="27432" marB="27432" marL="73152" marR="73152" anchor="ctr">
                    <a:solidFill>
                      <a:srgbClr val="FFFFFF"/>
                    </a:solidFill>
                  </a:tcPr>
                </a:tc>
                <a:tc>
                  <a:txBody>
                    <a:bodyPr wrap="square"/>
                    <a:lstStyle/>
                    <a:p>
                      <a:pPr algn="l">
                        <a:lnSpc>
                          <a:spcPct val="110000"/>
                        </a:lnSpc>
                        <a:spcAft>
                          <a:spcPts val="0"/>
                        </a:spcAft>
                      </a:pPr>
                      <a:r>
                        <a:rPr sz="1150" b="0">
                          <a:solidFill>
                            <a:srgbClr val="1A1A1A"/>
                          </a:solidFill>
                          <a:latin typeface="Microsoft JhengHei"/>
                          <a:ea typeface="Microsoft JhengHei"/>
                        </a:rPr>
                        <a:t>DTW</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+0.269%</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+0.449%</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−0.822%</a:t>
                      </a:r>
                    </a:p>
                  </a:txBody>
                  <a:tcPr marT="27432" marB="27432" marL="73152" marR="73152" anchor="ctr">
                    <a:solidFill>
                      <a:srgbClr val="FFFFFF"/>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HDBSCAN</a:t>
                      </a:r>
                    </a:p>
                  </a:txBody>
                  <a:tcPr marT="27432" marB="27432" marL="73152" marR="73152" anchor="ctr">
                    <a:solidFill>
                      <a:srgbClr val="E8EDF5"/>
                    </a:solidFill>
                  </a:tcPr>
                </a:tc>
                <a:tc>
                  <a:txBody>
                    <a:bodyPr wrap="square"/>
                    <a:lstStyle/>
                    <a:p>
                      <a:pPr algn="l">
                        <a:lnSpc>
                          <a:spcPct val="110000"/>
                        </a:lnSpc>
                        <a:spcAft>
                          <a:spcPts val="0"/>
                        </a:spcAft>
                      </a:pPr>
                      <a:r>
                        <a:rPr sz="1150" b="0">
                          <a:solidFill>
                            <a:srgbClr val="1A1A1A"/>
                          </a:solidFill>
                          <a:latin typeface="Microsoft JhengHei"/>
                          <a:ea typeface="Microsoft JhengHei"/>
                        </a:rPr>
                        <a:t>SDP</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+0.076%</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+0.126%</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−1.015%</a:t>
                      </a:r>
                    </a:p>
                  </a:txBody>
                  <a:tcPr marT="27432" marB="27432" marL="73152" marR="73152" anchor="ctr">
                    <a:solidFill>
                      <a:srgbClr val="E8EDF5"/>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K-means</a:t>
                      </a:r>
                    </a:p>
                  </a:txBody>
                  <a:tcPr marT="27432" marB="27432" marL="73152" marR="73152" anchor="ctr">
                    <a:solidFill>
                      <a:srgbClr val="FFFFFF"/>
                    </a:solidFill>
                  </a:tcPr>
                </a:tc>
                <a:tc>
                  <a:txBody>
                    <a:bodyPr wrap="square"/>
                    <a:lstStyle/>
                    <a:p>
                      <a:pPr algn="l">
                        <a:lnSpc>
                          <a:spcPct val="110000"/>
                        </a:lnSpc>
                        <a:spcAft>
                          <a:spcPts val="0"/>
                        </a:spcAft>
                      </a:pPr>
                      <a:r>
                        <a:rPr sz="1150" b="0">
                          <a:solidFill>
                            <a:srgbClr val="1A1A1A"/>
                          </a:solidFill>
                          <a:latin typeface="Microsoft JhengHei"/>
                          <a:ea typeface="Microsoft JhengHei"/>
                        </a:rPr>
                        <a:t>SSD</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−0.484%</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−0.901%</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−1.577%</a:t>
                      </a:r>
                    </a:p>
                  </a:txBody>
                  <a:tcPr marT="27432" marB="27432" marL="73152" marR="73152" anchor="ctr">
                    <a:solidFill>
                      <a:srgbClr val="FFFFFF"/>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K-means</a:t>
                      </a:r>
                    </a:p>
                  </a:txBody>
                  <a:tcPr marT="27432" marB="27432" marL="73152" marR="73152" anchor="ctr">
                    <a:solidFill>
                      <a:srgbClr val="E8EDF5"/>
                    </a:solidFill>
                  </a:tcPr>
                </a:tc>
                <a:tc>
                  <a:txBody>
                    <a:bodyPr wrap="square"/>
                    <a:lstStyle/>
                    <a:p>
                      <a:pPr algn="l">
                        <a:lnSpc>
                          <a:spcPct val="110000"/>
                        </a:lnSpc>
                        <a:spcAft>
                          <a:spcPts val="0"/>
                        </a:spcAft>
                      </a:pPr>
                      <a:r>
                        <a:rPr sz="1150" b="0">
                          <a:solidFill>
                            <a:srgbClr val="1A1A1A"/>
                          </a:solidFill>
                          <a:latin typeface="Microsoft JhengHei"/>
                          <a:ea typeface="Microsoft JhengHei"/>
                        </a:rPr>
                        <a:t>DTW</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−0.330%</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−0.656%</a:t>
                      </a:r>
                    </a:p>
                  </a:txBody>
                  <a:tcPr marT="27432" marB="27432" marL="73152" marR="73152" anchor="ctr">
                    <a:solidFill>
                      <a:srgbClr val="E8EDF5"/>
                    </a:solidFill>
                  </a:tcPr>
                </a:tc>
                <a:tc>
                  <a:txBody>
                    <a:bodyPr wrap="square"/>
                    <a:lstStyle/>
                    <a:p>
                      <a:pPr algn="r">
                        <a:lnSpc>
                          <a:spcPct val="110000"/>
                        </a:lnSpc>
                        <a:spcAft>
                          <a:spcPts val="0"/>
                        </a:spcAft>
                      </a:pPr>
                      <a:r>
                        <a:rPr sz="1150" b="0">
                          <a:solidFill>
                            <a:srgbClr val="1A1A1A"/>
                          </a:solidFill>
                          <a:latin typeface="Microsoft JhengHei"/>
                          <a:ea typeface="Microsoft JhengHei"/>
                        </a:rPr>
                        <a:t>−1.435%</a:t>
                      </a:r>
                    </a:p>
                  </a:txBody>
                  <a:tcPr marT="27432" marB="27432" marL="73152" marR="73152" anchor="ctr">
                    <a:solidFill>
                      <a:srgbClr val="E8EDF5"/>
                    </a:solidFill>
                  </a:tcPr>
                </a:tc>
              </a:tr>
              <a:tr h="260603">
                <a:tc>
                  <a:txBody>
                    <a:bodyPr wrap="square"/>
                    <a:lstStyle/>
                    <a:p>
                      <a:pPr algn="l">
                        <a:lnSpc>
                          <a:spcPct val="110000"/>
                        </a:lnSpc>
                        <a:spcAft>
                          <a:spcPts val="0"/>
                        </a:spcAft>
                      </a:pPr>
                      <a:r>
                        <a:rPr sz="1150" b="0">
                          <a:solidFill>
                            <a:srgbClr val="1A1A1A"/>
                          </a:solidFill>
                          <a:latin typeface="Microsoft JhengHei"/>
                          <a:ea typeface="Microsoft JhengHei"/>
                        </a:rPr>
                        <a:t>K-means</a:t>
                      </a:r>
                    </a:p>
                  </a:txBody>
                  <a:tcPr marT="27432" marB="27432" marL="73152" marR="73152" anchor="ctr">
                    <a:solidFill>
                      <a:srgbClr val="FFFFFF"/>
                    </a:solidFill>
                  </a:tcPr>
                </a:tc>
                <a:tc>
                  <a:txBody>
                    <a:bodyPr wrap="square"/>
                    <a:lstStyle/>
                    <a:p>
                      <a:pPr algn="l">
                        <a:lnSpc>
                          <a:spcPct val="110000"/>
                        </a:lnSpc>
                        <a:spcAft>
                          <a:spcPts val="0"/>
                        </a:spcAft>
                      </a:pPr>
                      <a:r>
                        <a:rPr sz="1150" b="0">
                          <a:solidFill>
                            <a:srgbClr val="1A1A1A"/>
                          </a:solidFill>
                          <a:latin typeface="Microsoft JhengHei"/>
                          <a:ea typeface="Microsoft JhengHei"/>
                        </a:rPr>
                        <a:t>SDP</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−0.343%</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−0.661%</a:t>
                      </a:r>
                    </a:p>
                  </a:txBody>
                  <a:tcPr marT="27432" marB="27432" marL="73152" marR="73152" anchor="ctr">
                    <a:solidFill>
                      <a:srgbClr val="FFFFFF"/>
                    </a:solidFill>
                  </a:tcPr>
                </a:tc>
                <a:tc>
                  <a:txBody>
                    <a:bodyPr wrap="square"/>
                    <a:lstStyle/>
                    <a:p>
                      <a:pPr algn="r">
                        <a:lnSpc>
                          <a:spcPct val="110000"/>
                        </a:lnSpc>
                        <a:spcAft>
                          <a:spcPts val="0"/>
                        </a:spcAft>
                      </a:pPr>
                      <a:r>
                        <a:rPr sz="1150" b="0">
                          <a:solidFill>
                            <a:srgbClr val="1A1A1A"/>
                          </a:solidFill>
                          <a:latin typeface="Microsoft JhengHei"/>
                          <a:ea typeface="Microsoft JhengHei"/>
                        </a:rPr>
                        <a:t>−1.456%</a:t>
                      </a:r>
                    </a:p>
                  </a:txBody>
                  <a:tcPr marT="27432" marB="27432" marL="73152" marR="73152" anchor="ctr">
                    <a:solidFill>
                      <a:srgbClr val="FFFFFF"/>
                    </a:solidFill>
                  </a:tcPr>
                </a:tc>
              </a:tr>
            </a:tbl>
          </a:graphicData>
        </a:graphic>
      </p:graphicFrame>
      <p:sp>
        <p:nvSpPr>
          <p:cNvPr id="6" name="Rounded Rectangle 5"/>
          <p:cNvSpPr/>
          <p:nvPr/>
        </p:nvSpPr>
        <p:spPr>
          <a:xfrm>
            <a:off x="8915400" y="1600200"/>
            <a:ext cx="2606040" cy="416052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500" b="1">
                <a:solidFill>
                  <a:srgbClr val="0B2A5B"/>
                </a:solidFill>
                <a:latin typeface="Microsoft JhengHei"/>
                <a:ea typeface="Microsoft JhengHei"/>
              </a:rPr>
              <a:t>讀法</a:t>
            </a:r>
          </a:p>
          <a:p>
            <a:pPr algn="l">
              <a:lnSpc>
                <a:spcPct val="125000"/>
              </a:lnSpc>
              <a:spcAft>
                <a:spcPts val="600"/>
              </a:spcAft>
            </a:pPr>
            <a:r>
              <a:rPr sz="1250" b="0">
                <a:solidFill>
                  <a:srgbClr val="1A1A1A"/>
                </a:solidFill>
                <a:latin typeface="Microsoft JhengHei"/>
                <a:ea typeface="Microsoft JhengHei"/>
              </a:rPr>
              <a:t>15 個配置等權；利用率一律 56.2%–57.6%。</a:t>
            </a:r>
          </a:p>
          <a:p>
            <a:pPr algn="l">
              <a:lnSpc>
                <a:spcPct val="125000"/>
              </a:lnSpc>
              <a:spcAft>
                <a:spcPts val="600"/>
              </a:spcAft>
            </a:pPr>
            <a:r>
              <a:rPr sz="1250" b="0">
                <a:solidFill>
                  <a:srgbClr val="1A1A1A"/>
                </a:solidFill>
                <a:latin typeface="Microsoft JhengHei"/>
                <a:ea typeface="Microsoft JhengHei"/>
              </a:rPr>
              <a:t>rf 超額口徑下</a:t>
            </a:r>
            <a:r>
              <a:rPr sz="1250" b="1">
                <a:solidFill>
                  <a:srgbClr val="1A1A1A"/>
                </a:solidFill>
                <a:latin typeface="Microsoft JhengHei"/>
                <a:ea typeface="Microsoft JhengHei"/>
              </a:rPr>
              <a:t>無一為正</a:t>
            </a:r>
            <a:r>
              <a:rPr sz="1250" b="0">
                <a:solidFill>
                  <a:srgbClr val="1A1A1A"/>
                </a:solidFill>
                <a:latin typeface="Microsoft JhengHei"/>
                <a:ea typeface="Microsoft JhengHei"/>
              </a:rPr>
              <a:t>，最高 +0.009%。</a:t>
            </a:r>
          </a:p>
          <a:p>
            <a:pPr algn="l">
              <a:lnSpc>
                <a:spcPct val="125000"/>
              </a:lnSpc>
              <a:spcAft>
                <a:spcPts val="600"/>
              </a:spcAft>
            </a:pPr>
            <a:r>
              <a:rPr sz="1250" b="0">
                <a:solidFill>
                  <a:srgbClr val="1A1A1A"/>
                </a:solidFill>
                <a:latin typeface="Microsoft JhengHei"/>
                <a:ea typeface="Microsoft JhengHei"/>
              </a:rPr>
              <a:t>網格最佳格可達 +4.607%（不分組 DTW Top1/SL0），但那是 15 選 1 之後的數字。</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nchor="t">
            <a:spAutoFit/>
          </a:bodyPr>
          <a:lstStyle/>
          <a:p>
            <a:pPr algn="l">
              <a:lnSpc>
                <a:spcPct val="125000"/>
              </a:lnSpc>
              <a:spcAft>
                <a:spcPts val="200"/>
              </a:spcAft>
            </a:pPr>
            <a:r>
              <a:rPr sz="1200" b="1">
                <a:solidFill>
                  <a:srgbClr val="6B7280"/>
                </a:solidFill>
                <a:latin typeface="Microsoft JhengHei"/>
                <a:ea typeface="Microsoft JhengHei"/>
              </a:rPr>
              <a:t>備用　｜　附錄 F（判準先於資料，DL-THR 單輪）</a:t>
            </a:r>
          </a:p>
        </p:txBody>
      </p:sp>
      <p:sp>
        <p:nvSpPr>
          <p:cNvPr id="3" name="TextBox 2"/>
          <p:cNvSpPr txBox="1"/>
          <p:nvPr/>
        </p:nvSpPr>
        <p:spPr>
          <a:xfrm>
            <a:off x="640080" y="658368"/>
            <a:ext cx="10881360" cy="822960"/>
          </a:xfrm>
          <a:prstGeom prst="rect">
            <a:avLst/>
          </a:prstGeom>
          <a:noFill/>
        </p:spPr>
        <p:txBody>
          <a:bodyPr wrap="square" lIns="0" rIns="0" tIns="0" bIns="0" anchor="t">
            <a:spAutoFit/>
          </a:bodyPr>
          <a:lstStyle/>
          <a:p>
            <a:pPr algn="l">
              <a:lnSpc>
                <a:spcPct val="125000"/>
              </a:lnSpc>
              <a:spcAft>
                <a:spcPts val="0"/>
              </a:spcAft>
            </a:pPr>
            <a:r>
              <a:rPr sz="3000" b="1">
                <a:solidFill>
                  <a:srgbClr val="0B2A5B"/>
                </a:solidFill>
                <a:latin typeface="Microsoft JhengHei"/>
                <a:ea typeface="Microsoft JhengHei"/>
              </a:rPr>
              <a:t>B13　核心 20 條策略改用兩年形成期（504 日）</a:t>
            </a:r>
          </a:p>
        </p:txBody>
      </p:sp>
      <p:sp>
        <p:nvSpPr>
          <p:cNvPr id="4" name="TextBox 3"/>
          <p:cNvSpPr txBox="1"/>
          <p:nvPr/>
        </p:nvSpPr>
        <p:spPr>
          <a:xfrm>
            <a:off x="11247120" y="6355080"/>
            <a:ext cx="457200" cy="274320"/>
          </a:xfrm>
          <a:prstGeom prst="rect">
            <a:avLst/>
          </a:prstGeom>
          <a:noFill/>
        </p:spPr>
        <p:txBody>
          <a:bodyPr wrap="square" lIns="0" rIns="0" tIns="0" bIns="0" anchor="t">
            <a:spAutoFit/>
          </a:bodyPr>
          <a:lstStyle/>
          <a:p>
            <a:pPr algn="r">
              <a:lnSpc>
                <a:spcPct val="125000"/>
              </a:lnSpc>
              <a:spcAft>
                <a:spcPts val="600"/>
              </a:spcAft>
            </a:pPr>
            <a:r>
              <a:rPr sz="1000" b="0">
                <a:solidFill>
                  <a:srgbClr val="6B7280"/>
                </a:solidFill>
                <a:latin typeface="Microsoft JhengHei"/>
                <a:ea typeface="Microsoft JhengHei"/>
              </a:rPr>
              <a:t>72</a:t>
            </a:r>
          </a:p>
        </p:txBody>
      </p:sp>
      <p:sp>
        <p:nvSpPr>
          <p:cNvPr id="5" name="TextBox 4"/>
          <p:cNvSpPr txBox="1"/>
          <p:nvPr/>
        </p:nvSpPr>
        <p:spPr>
          <a:xfrm>
            <a:off x="640080" y="1600200"/>
            <a:ext cx="10881360" cy="365760"/>
          </a:xfrm>
          <a:prstGeom prst="rect">
            <a:avLst/>
          </a:prstGeom>
          <a:noFill/>
        </p:spPr>
        <p:txBody>
          <a:bodyPr wrap="square" lIns="0" rIns="0" tIns="0" bIns="0" anchor="t">
            <a:spAutoFit/>
          </a:bodyPr>
          <a:lstStyle/>
          <a:p>
            <a:pPr algn="l">
              <a:lnSpc>
                <a:spcPct val="125000"/>
              </a:lnSpc>
              <a:spcAft>
                <a:spcPts val="600"/>
              </a:spcAft>
            </a:pPr>
            <a:r>
              <a:rPr sz="1250" b="0">
                <a:solidFill>
                  <a:srgbClr val="6B7280"/>
                </a:solidFill>
                <a:latin typeface="Microsoft JhengHei"/>
                <a:ea typeface="Microsoft JhengHei"/>
              </a:rPr>
              <a:t>共同期 2002-01-08 ～ 2025-12-31（504 缺 2001 年）；15 格等權；前後半以 2014-01-02 切分</a:t>
            </a:r>
          </a:p>
        </p:txBody>
      </p:sp>
      <p:sp>
        <p:nvSpPr>
          <p:cNvPr id="6" name="TextBox 5"/>
          <p:cNvSpPr txBox="1"/>
          <p:nvPr/>
        </p:nvSpPr>
        <p:spPr>
          <a:xfrm>
            <a:off x="640080" y="2011680"/>
            <a:ext cx="5120640" cy="365760"/>
          </a:xfrm>
          <a:prstGeom prst="rect">
            <a:avLst/>
          </a:prstGeom>
          <a:noFill/>
        </p:spPr>
        <p:txBody>
          <a:bodyPr wrap="square" lIns="0" rIns="0" tIns="0" bIns="0" anchor="t">
            <a:spAutoFit/>
          </a:bodyPr>
          <a:lstStyle/>
          <a:p>
            <a:pPr algn="l">
              <a:lnSpc>
                <a:spcPct val="125000"/>
              </a:lnSpc>
              <a:spcAft>
                <a:spcPts val="600"/>
              </a:spcAft>
            </a:pPr>
            <a:r>
              <a:rPr sz="1500" b="1">
                <a:solidFill>
                  <a:srgbClr val="0B2A5B"/>
                </a:solidFill>
                <a:latin typeface="Microsoft JhengHei"/>
                <a:ea typeface="Microsoft JhengHei"/>
              </a:rPr>
              <a:t>Q-A　主軸 15 臂：504 比較好嗎？</a:t>
            </a:r>
          </a:p>
        </p:txBody>
      </p:sp>
      <p:sp>
        <p:nvSpPr>
          <p:cNvPr id="7" name="TextBox 6"/>
          <p:cNvSpPr txBox="1"/>
          <p:nvPr/>
        </p:nvSpPr>
        <p:spPr>
          <a:xfrm>
            <a:off x="640080" y="2423160"/>
            <a:ext cx="1737360" cy="502920"/>
          </a:xfrm>
          <a:prstGeom prst="rect">
            <a:avLst/>
          </a:prstGeom>
          <a:noFill/>
        </p:spPr>
        <p:txBody>
          <a:bodyPr wrap="square" lIns="0" rIns="0" tIns="0" bIns="0" anchor="t">
            <a:spAutoFit/>
          </a:bodyPr>
          <a:lstStyle/>
          <a:p>
            <a:pPr algn="l">
              <a:lnSpc>
                <a:spcPct val="125000"/>
              </a:lnSpc>
              <a:spcAft>
                <a:spcPts val="600"/>
              </a:spcAft>
            </a:pPr>
            <a:r>
              <a:rPr sz="2400" b="1">
                <a:solidFill>
                  <a:srgbClr val="0B2A5B"/>
                </a:solidFill>
                <a:latin typeface="Microsoft JhengHei"/>
                <a:ea typeface="Microsoft JhengHei"/>
              </a:rPr>
              <a:t>13 / 15</a:t>
            </a:r>
          </a:p>
        </p:txBody>
      </p:sp>
      <p:sp>
        <p:nvSpPr>
          <p:cNvPr id="8" name="TextBox 7"/>
          <p:cNvSpPr txBox="1"/>
          <p:nvPr/>
        </p:nvSpPr>
        <p:spPr>
          <a:xfrm>
            <a:off x="2468880" y="2532888"/>
            <a:ext cx="3291840" cy="41148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臂的 Sharpe 高於 252</a:t>
            </a:r>
          </a:p>
        </p:txBody>
      </p:sp>
      <p:sp>
        <p:nvSpPr>
          <p:cNvPr id="9" name="TextBox 8"/>
          <p:cNvSpPr txBox="1"/>
          <p:nvPr/>
        </p:nvSpPr>
        <p:spPr>
          <a:xfrm>
            <a:off x="640080" y="2990088"/>
            <a:ext cx="1737360" cy="502920"/>
          </a:xfrm>
          <a:prstGeom prst="rect">
            <a:avLst/>
          </a:prstGeom>
          <a:noFill/>
        </p:spPr>
        <p:txBody>
          <a:bodyPr wrap="square" lIns="0" rIns="0" tIns="0" bIns="0" anchor="t">
            <a:spAutoFit/>
          </a:bodyPr>
          <a:lstStyle/>
          <a:p>
            <a:pPr algn="l">
              <a:lnSpc>
                <a:spcPct val="125000"/>
              </a:lnSpc>
              <a:spcAft>
                <a:spcPts val="600"/>
              </a:spcAft>
            </a:pPr>
            <a:r>
              <a:rPr sz="2400" b="1">
                <a:solidFill>
                  <a:srgbClr val="C4553B"/>
                </a:solidFill>
                <a:latin typeface="Microsoft JhengHei"/>
                <a:ea typeface="Microsoft JhengHei"/>
              </a:rPr>
              <a:t>−0.384</a:t>
            </a:r>
          </a:p>
        </p:txBody>
      </p:sp>
      <p:sp>
        <p:nvSpPr>
          <p:cNvPr id="10" name="TextBox 9"/>
          <p:cNvSpPr txBox="1"/>
          <p:nvPr/>
        </p:nvSpPr>
        <p:spPr>
          <a:xfrm>
            <a:off x="2468880" y="3099816"/>
            <a:ext cx="3291840" cy="41148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504 後半期 Sharpe 中位</a:t>
            </a:r>
          </a:p>
        </p:txBody>
      </p:sp>
      <p:sp>
        <p:nvSpPr>
          <p:cNvPr id="11" name="TextBox 10"/>
          <p:cNvSpPr txBox="1"/>
          <p:nvPr/>
        </p:nvSpPr>
        <p:spPr>
          <a:xfrm>
            <a:off x="640080" y="3557016"/>
            <a:ext cx="1737360" cy="502920"/>
          </a:xfrm>
          <a:prstGeom prst="rect">
            <a:avLst/>
          </a:prstGeom>
          <a:noFill/>
        </p:spPr>
        <p:txBody>
          <a:bodyPr wrap="square" lIns="0" rIns="0" tIns="0" bIns="0" anchor="t">
            <a:spAutoFit/>
          </a:bodyPr>
          <a:lstStyle/>
          <a:p>
            <a:pPr algn="l">
              <a:lnSpc>
                <a:spcPct val="125000"/>
              </a:lnSpc>
              <a:spcAft>
                <a:spcPts val="600"/>
              </a:spcAft>
            </a:pPr>
            <a:r>
              <a:rPr sz="2400" b="1">
                <a:solidFill>
                  <a:srgbClr val="0B2A5B"/>
                </a:solidFill>
                <a:latin typeface="Microsoft JhengHei"/>
                <a:ea typeface="Microsoft JhengHei"/>
              </a:rPr>
              <a:t>5 / 15</a:t>
            </a:r>
          </a:p>
        </p:txBody>
      </p:sp>
      <p:sp>
        <p:nvSpPr>
          <p:cNvPr id="12" name="TextBox 11"/>
          <p:cNvSpPr txBox="1"/>
          <p:nvPr/>
        </p:nvSpPr>
        <p:spPr>
          <a:xfrm>
            <a:off x="2468880" y="3666744"/>
            <a:ext cx="3291840" cy="411480"/>
          </a:xfrm>
          <a:prstGeom prst="rect">
            <a:avLst/>
          </a:prstGeom>
          <a:noFill/>
        </p:spPr>
        <p:txBody>
          <a:bodyPr wrap="square" lIns="0" rIns="0" tIns="0" bIns="0" anchor="t">
            <a:spAutoFit/>
          </a:bodyPr>
          <a:lstStyle/>
          <a:p>
            <a:pPr algn="l">
              <a:lnSpc>
                <a:spcPct val="125000"/>
              </a:lnSpc>
              <a:spcAft>
                <a:spcPts val="600"/>
              </a:spcAft>
            </a:pPr>
            <a:r>
              <a:rPr sz="1300" b="0">
                <a:solidFill>
                  <a:srgbClr val="6B7280"/>
                </a:solidFill>
                <a:latin typeface="Microsoft JhengHei"/>
                <a:ea typeface="Microsoft JhengHei"/>
              </a:rPr>
              <a:t>後半期仍優於 252 的臂</a:t>
            </a:r>
          </a:p>
        </p:txBody>
      </p:sp>
      <p:sp>
        <p:nvSpPr>
          <p:cNvPr id="13" name="Rounded Rectangle 12"/>
          <p:cNvSpPr/>
          <p:nvPr/>
        </p:nvSpPr>
        <p:spPr>
          <a:xfrm>
            <a:off x="640080" y="4206240"/>
            <a:ext cx="5120640" cy="1051560"/>
          </a:xfrm>
          <a:prstGeom prst="roundRect">
            <a:avLst>
              <a:gd name="adj" fmla="val 6000"/>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46304" wrap="square"/>
          <a:lstStyle/>
          <a:p>
            <a:pPr algn="l">
              <a:lnSpc>
                <a:spcPct val="125000"/>
              </a:lnSpc>
              <a:spcAft>
                <a:spcPts val="800"/>
              </a:spcAft>
            </a:pPr>
            <a:r>
              <a:rPr sz="1400" b="1">
                <a:solidFill>
                  <a:srgbClr val="C4553B"/>
                </a:solidFill>
                <a:latin typeface="Microsoft JhengHei"/>
                <a:ea typeface="Microsoft JhengHei"/>
              </a:rPr>
              <a:t>裁決：前半期效果，不稱 504 較優</a:t>
            </a:r>
          </a:p>
          <a:p>
            <a:pPr algn="l">
              <a:lnSpc>
                <a:spcPct val="125000"/>
              </a:lnSpc>
              <a:spcAft>
                <a:spcPts val="600"/>
              </a:spcAft>
            </a:pPr>
            <a:r>
              <a:rPr sz="1250" b="0">
                <a:solidFill>
                  <a:srgbClr val="1A1A1A"/>
                </a:solidFill>
                <a:latin typeface="Microsoft JhengHei"/>
                <a:ea typeface="Microsoft JhengHei"/>
              </a:rPr>
              <a:t>判準 (1) 13/15 通過、(2) 後半期中位 ≥ 0 未通過。30 個後半期 Sharpe 全為負；BH 後無一臂顯著。</a:t>
            </a:r>
          </a:p>
        </p:txBody>
      </p:sp>
      <p:sp>
        <p:nvSpPr>
          <p:cNvPr id="14" name="TextBox 13"/>
          <p:cNvSpPr txBox="1"/>
          <p:nvPr/>
        </p:nvSpPr>
        <p:spPr>
          <a:xfrm>
            <a:off x="6172200" y="2011680"/>
            <a:ext cx="5394960" cy="365760"/>
          </a:xfrm>
          <a:prstGeom prst="rect">
            <a:avLst/>
          </a:prstGeom>
          <a:noFill/>
        </p:spPr>
        <p:txBody>
          <a:bodyPr wrap="square" lIns="0" rIns="0" tIns="0" bIns="0" anchor="t">
            <a:spAutoFit/>
          </a:bodyPr>
          <a:lstStyle/>
          <a:p>
            <a:pPr algn="l">
              <a:lnSpc>
                <a:spcPct val="125000"/>
              </a:lnSpc>
              <a:spcAft>
                <a:spcPts val="600"/>
              </a:spcAft>
            </a:pPr>
            <a:r>
              <a:rPr sz="1500" b="1">
                <a:solidFill>
                  <a:srgbClr val="0B2A5B"/>
                </a:solidFill>
                <a:latin typeface="Microsoft JhengHei"/>
                <a:ea typeface="Microsoft JhengHei"/>
              </a:rPr>
              <a:t>Q-B　第三段（DL-THR − Z-Score）重現嗎？</a:t>
            </a:r>
          </a:p>
        </p:txBody>
      </p:sp>
      <p:graphicFrame>
        <p:nvGraphicFramePr>
          <p:cNvPr id="15" name="Table 14"/>
          <p:cNvGraphicFramePr>
            <a:graphicFrameLocks noGrp="1"/>
          </p:cNvGraphicFramePr>
          <p:nvPr/>
        </p:nvGraphicFramePr>
        <p:xfrm>
          <a:off x="6172200" y="2395728"/>
          <a:ext cx="5349240" cy="1810512"/>
        </p:xfrm>
        <a:graphic>
          <a:graphicData uri="http://schemas.openxmlformats.org/drawingml/2006/table">
            <a:tbl>
              <a:tblPr firstRow="1" bandRow="1">
                <a:tableStyleId>{5C22544A-7EE6-4342-B048-85BDC9FD1C3A}</a:tableStyleId>
              </a:tblPr>
              <a:tblGrid>
                <a:gridCol w="1417320"/>
                <a:gridCol w="1234440"/>
                <a:gridCol w="1325880"/>
                <a:gridCol w="1371600"/>
              </a:tblGrid>
              <a:tr h="301752">
                <a:tc>
                  <a:txBody>
                    <a:bodyPr wrap="square"/>
                    <a:lstStyle/>
                    <a:p>
                      <a:pPr algn="l">
                        <a:lnSpc>
                          <a:spcPct val="110000"/>
                        </a:lnSpc>
                        <a:spcAft>
                          <a:spcPts val="0"/>
                        </a:spcAft>
                      </a:pPr>
                      <a:r>
                        <a:rPr sz="1200" b="1">
                          <a:solidFill>
                            <a:srgbClr val="FFFFFF"/>
                          </a:solidFill>
                          <a:latin typeface="Microsoft JhengHei"/>
                          <a:ea typeface="Microsoft JhengHei"/>
                        </a:rPr>
                        <a:t>來源</a:t>
                      </a:r>
                    </a:p>
                  </a:txBody>
                  <a:tcPr marT="27432" marB="27432" marL="73152" marR="73152" anchor="ctr">
                    <a:solidFill>
                      <a:srgbClr val="0B2A5B"/>
                    </a:solidFill>
                  </a:tcPr>
                </a:tc>
                <a:tc>
                  <a:txBody>
                    <a:bodyPr wrap="square"/>
                    <a:lstStyle/>
                    <a:p>
                      <a:pPr algn="l">
                        <a:lnSpc>
                          <a:spcPct val="110000"/>
                        </a:lnSpc>
                        <a:spcAft>
                          <a:spcPts val="0"/>
                        </a:spcAft>
                      </a:pPr>
                      <a:r>
                        <a:rPr sz="1200" b="1">
                          <a:solidFill>
                            <a:srgbClr val="FFFFFF"/>
                          </a:solidFill>
                          <a:latin typeface="Microsoft JhengHei"/>
                          <a:ea typeface="Microsoft JhengHei"/>
                        </a:rPr>
                        <a:t>252（§4.3）</a:t>
                      </a:r>
                    </a:p>
                  </a:txBody>
                  <a:tcPr marT="27432" marB="27432" marL="73152" marR="73152" anchor="ctr">
                    <a:solidFill>
                      <a:srgbClr val="0B2A5B"/>
                    </a:solidFill>
                  </a:tcPr>
                </a:tc>
                <a:tc>
                  <a:txBody>
                    <a:bodyPr wrap="square"/>
                    <a:lstStyle/>
                    <a:p>
                      <a:pPr algn="l">
                        <a:lnSpc>
                          <a:spcPct val="110000"/>
                        </a:lnSpc>
                        <a:spcAft>
                          <a:spcPts val="0"/>
                        </a:spcAft>
                      </a:pPr>
                      <a:r>
                        <a:rPr sz="1200" b="1">
                          <a:solidFill>
                            <a:srgbClr val="FFFFFF"/>
                          </a:solidFill>
                          <a:latin typeface="Microsoft JhengHei"/>
                          <a:ea typeface="Microsoft JhengHei"/>
                        </a:rPr>
                        <a:t>252（2002 起）</a:t>
                      </a:r>
                    </a:p>
                  </a:txBody>
                  <a:tcPr marT="27432" marB="27432" marL="73152" marR="73152" anchor="ctr">
                    <a:solidFill>
                      <a:srgbClr val="0B2A5B"/>
                    </a:solidFill>
                  </a:tcPr>
                </a:tc>
                <a:tc>
                  <a:txBody>
                    <a:bodyPr wrap="square"/>
                    <a:lstStyle/>
                    <a:p>
                      <a:pPr algn="l">
                        <a:lnSpc>
                          <a:spcPct val="110000"/>
                        </a:lnSpc>
                        <a:spcAft>
                          <a:spcPts val="0"/>
                        </a:spcAft>
                      </a:pPr>
                      <a:r>
                        <a:rPr sz="1200" b="1">
                          <a:solidFill>
                            <a:srgbClr val="FFFFFF"/>
                          </a:solidFill>
                          <a:latin typeface="Microsoft JhengHei"/>
                          <a:ea typeface="Microsoft JhengHei"/>
                        </a:rPr>
                        <a:t>504</a:t>
                      </a:r>
                    </a:p>
                  </a:txBody>
                  <a:tcPr marT="27432" marB="27432" marL="73152" marR="73152" anchor="ctr">
                    <a:solidFill>
                      <a:srgbClr val="0B2A5B"/>
                    </a:solidFill>
                  </a:tcPr>
                </a:tc>
              </a:tr>
              <a:tr h="301752">
                <a:tc>
                  <a:txBody>
                    <a:bodyPr wrap="square"/>
                    <a:lstStyle/>
                    <a:p>
                      <a:pPr algn="l">
                        <a:lnSpc>
                          <a:spcPct val="110000"/>
                        </a:lnSpc>
                        <a:spcAft>
                          <a:spcPts val="0"/>
                        </a:spcAft>
                      </a:pPr>
                      <a:r>
                        <a:rPr sz="1200" b="0">
                          <a:solidFill>
                            <a:srgbClr val="1A1A1A"/>
                          </a:solidFill>
                          <a:latin typeface="Microsoft JhengHei"/>
                          <a:ea typeface="Microsoft JhengHei"/>
                        </a:rPr>
                        <a:t>GICS-SSD</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+0.798</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+0.872</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+0.848*</a:t>
                      </a:r>
                    </a:p>
                  </a:txBody>
                  <a:tcPr marT="27432" marB="27432" marL="73152" marR="73152" anchor="ctr">
                    <a:solidFill>
                      <a:srgbClr val="FFFFFF"/>
                    </a:solidFill>
                  </a:tcPr>
                </a:tc>
              </a:tr>
              <a:tr h="301752">
                <a:tc>
                  <a:txBody>
                    <a:bodyPr wrap="square"/>
                    <a:lstStyle/>
                    <a:p>
                      <a:pPr algn="l">
                        <a:lnSpc>
                          <a:spcPct val="110000"/>
                        </a:lnSpc>
                        <a:spcAft>
                          <a:spcPts val="0"/>
                        </a:spcAft>
                      </a:pPr>
                      <a:r>
                        <a:rPr sz="1200" b="0">
                          <a:solidFill>
                            <a:srgbClr val="1A1A1A"/>
                          </a:solidFill>
                          <a:latin typeface="Microsoft JhengHei"/>
                          <a:ea typeface="Microsoft JhengHei"/>
                        </a:rPr>
                        <a:t>GICS-SDP</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+0.579*</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+0.631*</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+1.130*</a:t>
                      </a:r>
                    </a:p>
                  </a:txBody>
                  <a:tcPr marT="27432" marB="27432" marL="73152" marR="73152" anchor="ctr">
                    <a:solidFill>
                      <a:srgbClr val="E8EDF5"/>
                    </a:solidFill>
                  </a:tcPr>
                </a:tc>
              </a:tr>
              <a:tr h="301752">
                <a:tc>
                  <a:txBody>
                    <a:bodyPr wrap="square"/>
                    <a:lstStyle/>
                    <a:p>
                      <a:pPr algn="l">
                        <a:lnSpc>
                          <a:spcPct val="110000"/>
                        </a:lnSpc>
                        <a:spcAft>
                          <a:spcPts val="0"/>
                        </a:spcAft>
                      </a:pPr>
                      <a:r>
                        <a:rPr sz="1200" b="0">
                          <a:solidFill>
                            <a:srgbClr val="1A1A1A"/>
                          </a:solidFill>
                          <a:latin typeface="Microsoft JhengHei"/>
                          <a:ea typeface="Microsoft JhengHei"/>
                        </a:rPr>
                        <a:t>HDB-SDP</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+0.666*</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+0.714*</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+0.601</a:t>
                      </a:r>
                    </a:p>
                  </a:txBody>
                  <a:tcPr marT="27432" marB="27432" marL="73152" marR="73152" anchor="ctr">
                    <a:solidFill>
                      <a:srgbClr val="FFFFFF"/>
                    </a:solidFill>
                  </a:tcPr>
                </a:tc>
              </a:tr>
              <a:tr h="301752">
                <a:tc>
                  <a:txBody>
                    <a:bodyPr wrap="square"/>
                    <a:lstStyle/>
                    <a:p>
                      <a:pPr algn="l">
                        <a:lnSpc>
                          <a:spcPct val="110000"/>
                        </a:lnSpc>
                        <a:spcAft>
                          <a:spcPts val="0"/>
                        </a:spcAft>
                      </a:pPr>
                      <a:r>
                        <a:rPr sz="1200" b="0">
                          <a:solidFill>
                            <a:srgbClr val="1A1A1A"/>
                          </a:solidFill>
                          <a:latin typeface="Microsoft JhengHei"/>
                          <a:ea typeface="Microsoft JhengHei"/>
                        </a:rPr>
                        <a:t>AGG-SSD</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+0.239</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+0.282</a:t>
                      </a:r>
                    </a:p>
                  </a:txBody>
                  <a:tcPr marT="27432" marB="27432" marL="73152" marR="73152" anchor="ctr">
                    <a:solidFill>
                      <a:srgbClr val="E8EDF5"/>
                    </a:solidFill>
                  </a:tcPr>
                </a:tc>
                <a:tc>
                  <a:txBody>
                    <a:bodyPr wrap="square"/>
                    <a:lstStyle/>
                    <a:p>
                      <a:pPr algn="r">
                        <a:lnSpc>
                          <a:spcPct val="110000"/>
                        </a:lnSpc>
                        <a:spcAft>
                          <a:spcPts val="0"/>
                        </a:spcAft>
                      </a:pPr>
                      <a:r>
                        <a:rPr sz="1200" b="0">
                          <a:solidFill>
                            <a:srgbClr val="1A1A1A"/>
                          </a:solidFill>
                          <a:latin typeface="Microsoft JhengHei"/>
                          <a:ea typeface="Microsoft JhengHei"/>
                        </a:rPr>
                        <a:t>+0.525*</a:t>
                      </a:r>
                    </a:p>
                  </a:txBody>
                  <a:tcPr marT="27432" marB="27432" marL="73152" marR="73152" anchor="ctr">
                    <a:solidFill>
                      <a:srgbClr val="E8EDF5"/>
                    </a:solidFill>
                  </a:tcPr>
                </a:tc>
              </a:tr>
              <a:tr h="301752">
                <a:tc>
                  <a:txBody>
                    <a:bodyPr wrap="square"/>
                    <a:lstStyle/>
                    <a:p>
                      <a:pPr algn="l">
                        <a:lnSpc>
                          <a:spcPct val="110000"/>
                        </a:lnSpc>
                        <a:spcAft>
                          <a:spcPts val="0"/>
                        </a:spcAft>
                      </a:pPr>
                      <a:r>
                        <a:rPr sz="1200" b="0">
                          <a:solidFill>
                            <a:srgbClr val="1A1A1A"/>
                          </a:solidFill>
                          <a:latin typeface="Microsoft JhengHei"/>
                          <a:ea typeface="Microsoft JhengHei"/>
                        </a:rPr>
                        <a:t>KM-SSD</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+0.310*</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+0.394*</a:t>
                      </a:r>
                    </a:p>
                  </a:txBody>
                  <a:tcPr marT="27432" marB="27432" marL="73152" marR="73152" anchor="ctr">
                    <a:solidFill>
                      <a:srgbClr val="FFFFFF"/>
                    </a:solidFill>
                  </a:tcPr>
                </a:tc>
                <a:tc>
                  <a:txBody>
                    <a:bodyPr wrap="square"/>
                    <a:lstStyle/>
                    <a:p>
                      <a:pPr algn="r">
                        <a:lnSpc>
                          <a:spcPct val="110000"/>
                        </a:lnSpc>
                        <a:spcAft>
                          <a:spcPts val="0"/>
                        </a:spcAft>
                      </a:pPr>
                      <a:r>
                        <a:rPr sz="1200" b="0">
                          <a:solidFill>
                            <a:srgbClr val="1A1A1A"/>
                          </a:solidFill>
                          <a:latin typeface="Microsoft JhengHei"/>
                          <a:ea typeface="Microsoft JhengHei"/>
                        </a:rPr>
                        <a:t>+0.479*</a:t>
                      </a:r>
                    </a:p>
                  </a:txBody>
                  <a:tcPr marT="27432" marB="27432" marL="73152" marR="73152" anchor="ctr">
                    <a:solidFill>
                      <a:srgbClr val="FFFFFF"/>
                    </a:solidFill>
                  </a:tcPr>
                </a:tc>
              </a:tr>
            </a:tbl>
          </a:graphicData>
        </a:graphic>
      </p:graphicFrame>
      <p:sp>
        <p:nvSpPr>
          <p:cNvPr id="16" name="TextBox 15"/>
          <p:cNvSpPr txBox="1"/>
          <p:nvPr/>
        </p:nvSpPr>
        <p:spPr>
          <a:xfrm>
            <a:off x="6172200" y="4261104"/>
            <a:ext cx="5349240" cy="822960"/>
          </a:xfrm>
          <a:prstGeom prst="rect">
            <a:avLst/>
          </a:prstGeom>
          <a:noFill/>
        </p:spPr>
        <p:txBody>
          <a:bodyPr wrap="square" lIns="0" rIns="0" tIns="0" bIns="0" anchor="t">
            <a:spAutoFit/>
          </a:bodyPr>
          <a:lstStyle/>
          <a:p>
            <a:pPr algn="l">
              <a:lnSpc>
                <a:spcPct val="125000"/>
              </a:lnSpc>
              <a:spcAft>
                <a:spcPts val="300"/>
              </a:spcAft>
            </a:pPr>
            <a:r>
              <a:rPr sz="1200" b="0">
                <a:solidFill>
                  <a:srgbClr val="1A1A1A"/>
                </a:solidFill>
                <a:latin typeface="Microsoft JhengHei"/>
                <a:ea typeface="Microsoft JhengHei"/>
              </a:rPr>
              <a:t>年化 pp；* 為 BH 校正後 p &lt; 0.05。504：</a:t>
            </a:r>
            <a:r>
              <a:rPr sz="1200" b="1">
                <a:solidFill>
                  <a:srgbClr val="1A1A1A"/>
                </a:solidFill>
                <a:latin typeface="Microsoft JhengHei"/>
                <a:ea typeface="Microsoft JhengHei"/>
              </a:rPr>
              <a:t>5/5 為正、4/5 顯著 → 方向重現</a:t>
            </a:r>
            <a:r>
              <a:rPr sz="1200" b="0">
                <a:solidFill>
                  <a:srgbClr val="1A1A1A"/>
                </a:solidFill>
                <a:latin typeface="Microsoft JhengHei"/>
                <a:ea typeface="Microsoft JhengHei"/>
              </a:rPr>
              <a:t>。</a:t>
            </a:r>
          </a:p>
          <a:p>
            <a:pPr algn="l">
              <a:lnSpc>
                <a:spcPct val="125000"/>
              </a:lnSpc>
              <a:spcAft>
                <a:spcPts val="300"/>
              </a:spcAft>
            </a:pPr>
            <a:r>
              <a:rPr sz="1200" b="0">
                <a:solidFill>
                  <a:srgbClr val="6B7280"/>
                </a:solidFill>
                <a:latin typeface="Microsoft JhengHei"/>
                <a:ea typeface="Microsoft JhengHei"/>
              </a:rPr>
              <a:t>3/5 → 4/5 來自拿掉 2001 年（252 同期也是 4/5），不是 504 的功勞。</a:t>
            </a:r>
          </a:p>
        </p:txBody>
      </p:sp>
      <p:sp>
        <p:nvSpPr>
          <p:cNvPr id="17" name="Rounded Rectangle 16"/>
          <p:cNvSpPr/>
          <p:nvPr/>
        </p:nvSpPr>
        <p:spPr>
          <a:xfrm>
            <a:off x="640080" y="5440680"/>
            <a:ext cx="10881360" cy="566928"/>
          </a:xfrm>
          <a:prstGeom prst="roundRect">
            <a:avLst>
              <a:gd name="adj" fmla="val 6000"/>
            </a:avLst>
          </a:prstGeom>
          <a:solidFill>
            <a:srgbClr val="0B2A5B"/>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146304" bIns="146304" wrap="square"/>
          <a:lstStyle/>
          <a:p>
            <a:pPr algn="l">
              <a:lnSpc>
                <a:spcPct val="125000"/>
              </a:lnSpc>
              <a:spcAft>
                <a:spcPts val="600"/>
              </a:spcAft>
            </a:pPr>
            <a:r>
              <a:rPr sz="1300" b="0">
                <a:solidFill>
                  <a:srgbClr val="FFFFFF"/>
                </a:solidFill>
                <a:latin typeface="Microsoft JhengHei"/>
                <a:ea typeface="Microsoft JhengHei"/>
              </a:rPr>
              <a:t>Q-C　19 條新方法計入試驗宇宙：N 53 → 72、門檻 SR₀ 0.408 → 0.546；55 條策略</a:t>
            </a:r>
            <a:r>
              <a:rPr sz="1300" b="1">
                <a:solidFill>
                  <a:srgbClr val="FFFFFF"/>
                </a:solidFill>
                <a:latin typeface="Microsoft JhengHei"/>
                <a:ea typeface="Microsoft JhengHei"/>
              </a:rPr>
              <a:t>仍無一通過 DSR 0.95</a:t>
            </a:r>
            <a:r>
              <a:rPr sz="1300" b="0">
                <a:solidFill>
                  <a:srgbClr val="FFFFFF"/>
                </a:solidFill>
                <a:latin typeface="Microsoft JhengHei"/>
                <a:ea typeface="Microsoft JhengHei"/>
              </a:rPr>
              <a:t>（最高 GICS-SSD-FW504 由 0.885 降為 0.681）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5598</Words>
  <Application>Microsoft Office PowerPoint</Application>
  <PresentationFormat>寬螢幕</PresentationFormat>
  <Paragraphs>1042</Paragraphs>
  <Slides>32</Slides>
  <Notes>32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32</vt:i4>
      </vt:variant>
    </vt:vector>
  </HeadingPairs>
  <TitlesOfParts>
    <vt:vector size="36" baseType="lpstr">
      <vt:lpstr>Microsoft JhengHei</vt: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李伯修</cp:lastModifiedBy>
  <cp:revision>4</cp:revision>
  <dcterms:created xsi:type="dcterms:W3CDTF">2013-01-27T09:14:16Z</dcterms:created>
  <dcterms:modified xsi:type="dcterms:W3CDTF">2026-09-22T07:20:13Z</dcterms:modified>
  <cp:category/>
</cp:coreProperties>
</file>