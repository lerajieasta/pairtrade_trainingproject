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當年在 1962 到 2002 年的樣本裡，報告的年化超額報酬最高可以到 11%。但後面的研究很一致地發現，這個績效在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 個百分點，方向全部是正的；BH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 個百分點。</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第一，五輪獨立重訓。我在研究後期修正了一個對沖口徑的實作錯誤，修正後績效有明顯的位移；但網路沒有固定種子，所以要確認這個位移不是重訓的雜訊。我用一個獨立預先註冊的判準檢查：修正前的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 個百分點，實質上等於零；最低的是負 1.58。換句話說，單靠配對選擇加固定門檻，這 25 年連無風險利率都跑不贏。</a:t>
            </a:r>
          </a:p>
          <a:p/>
          <a:p>
            <a:r>
              <a:t>唯二為正的，是疊加 DL-THR 的兩條 GICS 臂，0.375 跟 0.390 個百分點。但我要自己拆穿一件事：其中 0.282 個百分點，純粹是因為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 個百分點，看起來很漂亮。但這是 15 格裡挑 1 格之後的數字，本身就帶有選擇偏誤。所以我用 Deflated Sharpe Ratio 把它扣回來：試驗宇宙取 53 個策略，門檻 Sharpe 0.408。結果 41 條策略，沒有任何一條通過 0.95。</a:t>
            </a:r>
          </a:p>
          <a:p/>
          <a:p>
            <a:r>
              <a:t>右上是一個很有意思的例子。整個試驗宇宙裡 DSR 最高的，其實不在這張表上：一條形成期拉長到 504 天的對照臂，全期 Sharpe 0.634，DSR 0.885，是全場最高。但你把它的樣本切成前後兩半——前半 Sharpe 將近 1，後半是負 0.389。它的高分完全來自前半期。</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 個百分點，Sharpe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DSR：沒有任何策略通過，最高的那個後半期是負的。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 個百分點，比參照臂自己的年化績效 0.46 還大。也就是說，就算真的有 0.3 個百分點的差異，檢定力也只有 11%。</a:t>
            </a:r>
          </a:p>
          <a:p/>
          <a:p>
            <a:r>
              <a:t>原因是結構性的：交易期層的比較，兩臂用的是同一批配對，差分可以把雜訊消掉；但形成期層的比較，兩臂本來就持有不同的配對，標準誤是 1.83 倍。要把可偵測效果壓到 0.3 個百分點，大約需要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次方。跨輪標準差中位數 0.031，而位移中位數是 0.236，差了將近八倍。</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 個百分點裡，0.798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在 1962–2002 年報告年化超額報酬最高可達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每期成分股（中位數）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A：DRL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B：DRL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pp；ZS(同門檻)＝把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 pp</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bps</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超額年化（個百分點；15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 pp</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 pp。但其中 </a:t>
            </a:r>
            <a:r>
              <a:rPr sz="1350" b="1">
                <a:solidFill>
                  <a:srgbClr val="1A1A1A"/>
                </a:solidFill>
                <a:latin typeface="Microsoft JhengHei"/>
                <a:ea typeface="Microsoft JhengHei"/>
              </a:rPr>
              <a:t>+0.282 pp</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那挑最好的那一格呢？最高分的，剛好是個反例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0.738</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0.598</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0.412</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0.392</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53、門檻 SR₀ ＝ 0.408。</a:t>
            </a:r>
            <a:r>
              <a:rPr sz="1350" b="1">
                <a:solidFill>
                  <a:srgbClr val="1A1A1A"/>
                </a:solidFill>
                <a:latin typeface="Microsoft JhengHei"/>
                <a:ea typeface="Microsoft JhengHei"/>
              </a:rPr>
              <a:t>41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最高的那個：FW504</a:t>
            </a:r>
          </a:p>
          <a:p>
            <a:pPr algn="l">
              <a:lnSpc>
                <a:spcPct val="125000"/>
              </a:lnSpc>
              <a:spcAft>
                <a:spcPts val="600"/>
              </a:spcAft>
            </a:pPr>
            <a:r>
              <a:rPr sz="1300" b="0">
                <a:solidFill>
                  <a:srgbClr val="1A1A1A"/>
                </a:solidFill>
                <a:latin typeface="Microsoft JhengHei"/>
                <a:ea typeface="Microsoft JhengHei"/>
              </a:rPr>
              <a:t>形成窗 504 日的對照臂，全期 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0.885</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 pp、Sharpe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41 條策略無一通過 0.95；最高者後半期為負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 pp</a:t>
            </a:r>
            <a:r>
              <a:rPr sz="1300" b="0">
                <a:solidFill>
                  <a:srgbClr val="1A1A1A"/>
                </a:solidFill>
                <a:latin typeface="Microsoft JhengHei"/>
                <a:ea typeface="Microsoft JhengHei"/>
              </a:rPr>
              <a:t>，比參照臂自己的績效（0.461 pp）還大——對 0.3 pp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 pp，需要約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S&amp;P 500 每期約 600 檔；文獻多用 CRSP 全美股</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pp &gt; 0.461 pp）</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6712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6712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82549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82549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4838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4838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4142231"/>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4142231"/>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80060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80060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216712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216712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82549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82549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34838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34838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4142231"/>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4142231"/>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480060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480060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位移（ΔSharpe 中位 </a:t>
            </a:r>
            <a:r>
              <a:rPr sz="1350" b="1">
                <a:solidFill>
                  <a:srgbClr val="1A1A1A"/>
                </a:solidFill>
                <a:latin typeface="Microsoft JhengHei"/>
                <a:ea typeface="Microsoft JhengHei"/>
              </a:rPr>
              <a:t>+0.236</a:t>
            </a:r>
            <a:r>
              <a:rPr sz="1350" b="0">
                <a:solidFill>
                  <a:srgbClr val="1A1A1A"/>
                </a:solidFill>
                <a:latin typeface="Microsoft JhengHei"/>
                <a:ea typeface="Microsoft JhengHei"/>
              </a:rPr>
              <a:t>）遠大於跨輪雜訊（標準差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判準另行預先註冊（dev/drl_hedge/PREREGISTRATION.md），獨立於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GICS-SSD（DRL−ZS）+1.080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GICS-SDP（DRL−ZS）+0.861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pp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 pp</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未分組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 −34%，主要是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 pp（不分組 DTW Top1/SL0），但那是 15 選 1 之後的數字。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