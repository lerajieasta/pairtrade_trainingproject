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每期進場次數</c:v>
                </c:pt>
              </c:strCache>
            </c:strRef>
          </c:tx>
          <c:spPr>
            <a:solidFill>
              <a:srgbClr val="2E5A92"/>
            </a:solidFill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2E5A92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2E5A92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C4553B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C4553B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C4553B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Z-Score
（0 次決策）</c:v>
                </c:pt>
                <c:pt idx="1">
                  <c:v>DL-THR
（1 次決策）</c:v>
                </c:pt>
                <c:pt idx="2">
                  <c:v>v3 FQI
（≤126 次）</c:v>
                </c:pt>
                <c:pt idx="3">
                  <c:v>v1 DQN
（≤126 次）</c:v>
                </c:pt>
                <c:pt idx="4">
                  <c:v>v2 DQN
（≤126 次）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1.962962962962963</c:v>
                </c:pt>
                <c:pt idx="1">
                  <c:v>1.9444444444444444</c:v>
                </c:pt>
                <c:pt idx="2">
                  <c:v>4.203703703703703</c:v>
                </c:pt>
                <c:pt idx="3">
                  <c:v>5.592592592592593</c:v>
                </c:pt>
                <c:pt idx="4">
                  <c:v>7.907407407407407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 b="1"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icrosoft Jheng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＋DL-THR 門檻選擇</c:v>
                </c:pt>
              </c:strCache>
            </c:strRef>
          </c:tx>
          <c:spPr>
            <a:ln w="31750">
              <a:solidFill>
                <a:srgbClr val="C4553B"/>
              </a:solidFill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  <c:pt idx="4">
                  <c:v>2005</c:v>
                </c:pt>
                <c:pt idx="5">
                  <c:v>2006</c:v>
                </c:pt>
                <c:pt idx="6">
                  <c:v>2007</c:v>
                </c:pt>
                <c:pt idx="7">
                  <c:v>2008</c:v>
                </c:pt>
                <c:pt idx="8">
                  <c:v>2009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9918.0</c:v>
                </c:pt>
                <c:pt idx="1">
                  <c:v>10179.0</c:v>
                </c:pt>
                <c:pt idx="2">
                  <c:v>10135.0</c:v>
                </c:pt>
                <c:pt idx="3">
                  <c:v>10141.0</c:v>
                </c:pt>
                <c:pt idx="4">
                  <c:v>10311.0</c:v>
                </c:pt>
                <c:pt idx="5">
                  <c:v>10679.0</c:v>
                </c:pt>
                <c:pt idx="6">
                  <c:v>11116.0</c:v>
                </c:pt>
                <c:pt idx="7">
                  <c:v>13340.0</c:v>
                </c:pt>
                <c:pt idx="8">
                  <c:v>14344.0</c:v>
                </c:pt>
                <c:pt idx="9">
                  <c:v>14241.0</c:v>
                </c:pt>
                <c:pt idx="10">
                  <c:v>13916.0</c:v>
                </c:pt>
                <c:pt idx="11">
                  <c:v>14090.0</c:v>
                </c:pt>
                <c:pt idx="12">
                  <c:v>13926.0</c:v>
                </c:pt>
                <c:pt idx="13">
                  <c:v>13795.0</c:v>
                </c:pt>
                <c:pt idx="14">
                  <c:v>13694.0</c:v>
                </c:pt>
                <c:pt idx="15">
                  <c:v>13783.0</c:v>
                </c:pt>
                <c:pt idx="16">
                  <c:v>13684.0</c:v>
                </c:pt>
                <c:pt idx="17">
                  <c:v>13530.0</c:v>
                </c:pt>
                <c:pt idx="18">
                  <c:v>13353.0</c:v>
                </c:pt>
                <c:pt idx="19">
                  <c:v>13416.0</c:v>
                </c:pt>
                <c:pt idx="20">
                  <c:v>13406.0</c:v>
                </c:pt>
                <c:pt idx="21">
                  <c:v>13396.0</c:v>
                </c:pt>
                <c:pt idx="22">
                  <c:v>13442.0</c:v>
                </c:pt>
                <c:pt idx="23">
                  <c:v>13021.0</c:v>
                </c:pt>
                <c:pt idx="24">
                  <c:v>13062.0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Z-Score 固定門檻</c:v>
                </c:pt>
              </c:strCache>
            </c:strRef>
          </c:tx>
          <c:spPr>
            <a:ln w="31750">
              <a:solidFill>
                <a:srgbClr val="2E5A92"/>
              </a:solidFill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2001</c:v>
                </c:pt>
                <c:pt idx="1">
                  <c:v>2002</c:v>
                </c:pt>
                <c:pt idx="2">
                  <c:v>2003</c:v>
                </c:pt>
                <c:pt idx="3">
                  <c:v>2004</c:v>
                </c:pt>
                <c:pt idx="4">
                  <c:v>2005</c:v>
                </c:pt>
                <c:pt idx="5">
                  <c:v>2006</c:v>
                </c:pt>
                <c:pt idx="6">
                  <c:v>2007</c:v>
                </c:pt>
                <c:pt idx="7">
                  <c:v>2008</c:v>
                </c:pt>
                <c:pt idx="8">
                  <c:v>2009</c:v>
                </c:pt>
                <c:pt idx="9">
                  <c:v>2010</c:v>
                </c:pt>
                <c:pt idx="10">
                  <c:v>2011</c:v>
                </c:pt>
                <c:pt idx="11">
                  <c:v>2012</c:v>
                </c:pt>
                <c:pt idx="12">
                  <c:v>2013</c:v>
                </c:pt>
                <c:pt idx="13">
                  <c:v>2014</c:v>
                </c:pt>
                <c:pt idx="14">
                  <c:v>2015</c:v>
                </c:pt>
                <c:pt idx="15">
                  <c:v>2016</c:v>
                </c:pt>
                <c:pt idx="16">
                  <c:v>2017</c:v>
                </c:pt>
                <c:pt idx="17">
                  <c:v>2018</c:v>
                </c:pt>
                <c:pt idx="18">
                  <c:v>2019</c:v>
                </c:pt>
                <c:pt idx="19">
                  <c:v>2020</c:v>
                </c:pt>
                <c:pt idx="20">
                  <c:v>2021</c:v>
                </c:pt>
                <c:pt idx="21">
                  <c:v>2022</c:v>
                </c:pt>
                <c:pt idx="22">
                  <c:v>2023</c:v>
                </c:pt>
                <c:pt idx="23">
                  <c:v>2024</c:v>
                </c:pt>
                <c:pt idx="24">
                  <c:v>2025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10023.0</c:v>
                </c:pt>
                <c:pt idx="1">
                  <c:v>10293.0</c:v>
                </c:pt>
                <c:pt idx="2">
                  <c:v>10210.0</c:v>
                </c:pt>
                <c:pt idx="3">
                  <c:v>10123.0</c:v>
                </c:pt>
                <c:pt idx="4">
                  <c:v>10219.0</c:v>
                </c:pt>
                <c:pt idx="5">
                  <c:v>10588.0</c:v>
                </c:pt>
                <c:pt idx="6">
                  <c:v>11081.0</c:v>
                </c:pt>
                <c:pt idx="7">
                  <c:v>12088.0</c:v>
                </c:pt>
                <c:pt idx="8">
                  <c:v>12796.0</c:v>
                </c:pt>
                <c:pt idx="9">
                  <c:v>12926.0</c:v>
                </c:pt>
                <c:pt idx="10">
                  <c:v>12570.0</c:v>
                </c:pt>
                <c:pt idx="11">
                  <c:v>12697.0</c:v>
                </c:pt>
                <c:pt idx="12">
                  <c:v>12478.0</c:v>
                </c:pt>
                <c:pt idx="13">
                  <c:v>12284.0</c:v>
                </c:pt>
                <c:pt idx="14">
                  <c:v>12189.0</c:v>
                </c:pt>
                <c:pt idx="15">
                  <c:v>12214.0</c:v>
                </c:pt>
                <c:pt idx="16">
                  <c:v>12097.0</c:v>
                </c:pt>
                <c:pt idx="17">
                  <c:v>11888.0</c:v>
                </c:pt>
                <c:pt idx="18">
                  <c:v>11615.0</c:v>
                </c:pt>
                <c:pt idx="19">
                  <c:v>11691.0</c:v>
                </c:pt>
                <c:pt idx="20">
                  <c:v>11630.0</c:v>
                </c:pt>
                <c:pt idx="21">
                  <c:v>11638.0</c:v>
                </c:pt>
                <c:pt idx="22">
                  <c:v>11590.0</c:v>
                </c:pt>
                <c:pt idx="23">
                  <c:v>11047.0</c:v>
                </c:pt>
                <c:pt idx="24">
                  <c:v>11072.0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5000.0"/>
          <c:min val="9000.0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Microsoft Jheng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rf 超額年化（個百分點）</c:v>
                </c:pt>
              </c:strCache>
            </c:strRef>
          </c:tx>
          <c:spPr>
            <a:solidFill>
              <a:srgbClr val="2E5A92"/>
            </a:solidFill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2E5A92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2E5A92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2E5A92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2E5A92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2E5A92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2E5A92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2E5A92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2E5A92"/>
              </a:solidFill>
              <a:ln>
                <a:noFill/>
              </a:ln>
            </c:spPr>
          </c:dPt>
          <c:dPt>
            <c:idx val="8"/>
            <c:invertIfNegative val="0"/>
            <c:spPr>
              <a:solidFill>
                <a:srgbClr val="2E5A92"/>
              </a:solidFill>
              <a:ln>
                <a:noFill/>
              </a:ln>
            </c:spPr>
          </c:dPt>
          <c:dPt>
            <c:idx val="9"/>
            <c:invertIfNegative val="0"/>
            <c:spPr>
              <a:solidFill>
                <a:srgbClr val="2E5A92"/>
              </a:solidFill>
              <a:ln>
                <a:noFill/>
              </a:ln>
            </c:spPr>
          </c:dPt>
          <c:dPt>
            <c:idx val="10"/>
            <c:invertIfNegative val="0"/>
            <c:spPr>
              <a:solidFill>
                <a:srgbClr val="2E5A92"/>
              </a:solidFill>
              <a:ln>
                <a:noFill/>
              </a:ln>
            </c:spPr>
          </c:dPt>
          <c:dPt>
            <c:idx val="11"/>
            <c:invertIfNegative val="0"/>
            <c:spPr>
              <a:solidFill>
                <a:srgbClr val="2E5A92"/>
              </a:solidFill>
              <a:ln>
                <a:noFill/>
              </a:ln>
            </c:spPr>
          </c:dPt>
          <c:dPt>
            <c:idx val="12"/>
            <c:invertIfNegative val="0"/>
            <c:spPr>
              <a:solidFill>
                <a:srgbClr val="2E5A92"/>
              </a:solidFill>
              <a:ln>
                <a:noFill/>
              </a:ln>
            </c:spPr>
          </c:dPt>
          <c:dPt>
            <c:idx val="13"/>
            <c:invertIfNegative val="0"/>
            <c:spPr>
              <a:solidFill>
                <a:srgbClr val="C4553B"/>
              </a:solidFill>
              <a:ln>
                <a:noFill/>
              </a:ln>
            </c:spPr>
          </c:dPt>
          <c:dPt>
            <c:idx val="14"/>
            <c:invertIfNegative val="0"/>
            <c:spPr>
              <a:solidFill>
                <a:srgbClr val="2E5A92"/>
              </a:solidFill>
              <a:ln>
                <a:noFill/>
              </a:ln>
            </c:spPr>
          </c:dPt>
          <c:cat>
            <c:strRef>
              <c:f>Sheet1!$A$2:$A$16</c:f>
              <c:strCache>
                <c:ptCount val="15"/>
                <c:pt idx="0">
                  <c:v>KM SDP</c:v>
                </c:pt>
                <c:pt idx="1">
                  <c:v>KM DTW</c:v>
                </c:pt>
                <c:pt idx="2">
                  <c:v>KM SSD</c:v>
                </c:pt>
                <c:pt idx="3">
                  <c:v>HDB SDP</c:v>
                </c:pt>
                <c:pt idx="4">
                  <c:v>HDB DTW</c:v>
                </c:pt>
                <c:pt idx="5">
                  <c:v>HDB SSD</c:v>
                </c:pt>
                <c:pt idx="6">
                  <c:v>AGG SDP</c:v>
                </c:pt>
                <c:pt idx="7">
                  <c:v>AGG DTW</c:v>
                </c:pt>
                <c:pt idx="8">
                  <c:v>AGG SSD</c:v>
                </c:pt>
                <c:pt idx="9">
                  <c:v>GICS SDP</c:v>
                </c:pt>
                <c:pt idx="10">
                  <c:v>GICS DTW</c:v>
                </c:pt>
                <c:pt idx="11">
                  <c:v>GICS SSD</c:v>
                </c:pt>
                <c:pt idx="12">
                  <c:v>不分組 SDP</c:v>
                </c:pt>
                <c:pt idx="13">
                  <c:v>不分組 DTW</c:v>
                </c:pt>
                <c:pt idx="14">
                  <c:v>不分組 SSD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-1.456</c:v>
                </c:pt>
                <c:pt idx="1">
                  <c:v>-1.435</c:v>
                </c:pt>
                <c:pt idx="2">
                  <c:v>-1.577</c:v>
                </c:pt>
                <c:pt idx="3">
                  <c:v>-1.015</c:v>
                </c:pt>
                <c:pt idx="4">
                  <c:v>-0.822</c:v>
                </c:pt>
                <c:pt idx="5">
                  <c:v>-1.38</c:v>
                </c:pt>
                <c:pt idx="6">
                  <c:v>-0.771</c:v>
                </c:pt>
                <c:pt idx="7">
                  <c:v>-0.689</c:v>
                </c:pt>
                <c:pt idx="8">
                  <c:v>-1.042</c:v>
                </c:pt>
                <c:pt idx="9">
                  <c:v>-0.471</c:v>
                </c:pt>
                <c:pt idx="10">
                  <c:v>-0.522</c:v>
                </c:pt>
                <c:pt idx="11">
                  <c:v>-0.705</c:v>
                </c:pt>
                <c:pt idx="12">
                  <c:v>-0.391</c:v>
                </c:pt>
                <c:pt idx="13">
                  <c:v>0.009</c:v>
                </c:pt>
                <c:pt idx="14">
                  <c:v>-0.308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 b="1">
                  <a:latin typeface="Microsoft Jheng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Microsoft Jheng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開場：各位老師好，我是李伯修，論文題目是「結合配對來源組裝與動作空間設計之</a:t>
            </a:r>
          </a:p>
          <a:p>
            <a:r>
              <a:t>配對交易系統建構與實證」。</a:t>
            </a:r>
          </a:p>
          <a:p/>
          <a:p>
            <a:r>
              <a:t>今天二十分鐘，我會從配對交易這個策略本身講起，說明我發現文獻裡有一個從來沒</a:t>
            </a:r>
          </a:p>
          <a:p>
            <a:r>
              <a:t>被當成實驗變因的設計選擇——交易端的「動作空間」——然後報告三段實證結果，</a:t>
            </a:r>
          </a:p>
          <a:p>
            <a:r>
              <a:t>最後誠實交代這套系統為什麼還不能拿來交易。</a:t>
            </a:r>
          </a:p>
          <a:p/>
          <a:p>
            <a:r>
              <a:t>一句話先講在前面：我的核心發現是，在日頻上，決定學習式交易端成敗的是動作空間</a:t>
            </a:r>
          </a:p>
          <a:p>
            <a:r>
              <a:t>的形狀，而不是學習演算法的強弱。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配對交易的邏輯是相對定價，不是絕對定價。我不主張能預測任何一檔股票會漲會跌，</a:t>
            </a:r>
          </a:p>
          <a:p>
            <a:r>
              <a:t>只主張兩檔有共同經濟驅動因子的股票，它們的相對價格應該維持在某個均衡附近。</a:t>
            </a:r>
          </a:p>
          <a:p/>
          <a:p>
            <a:r>
              <a:t>流程分兩段：形成期選對，交易期交易，兩段不重疊，所以沒有前視偏誤。</a:t>
            </a:r>
          </a:p>
          <a:p/>
          <a:p>
            <a:r>
              <a:t>請特別記住最後一列——交易期結束時無論價差有沒有回歸都要強制平倉。這一點在</a:t>
            </a:r>
          </a:p>
          <a:p>
            <a:r>
              <a:t>後面第五章會變成關鍵：強制平倉佔了所有進場的四成，而且那些配對不是還沒回歸，</a:t>
            </a:r>
          </a:p>
          <a:p>
            <a:r>
              <a:t>是在持續發散。</a:t>
            </a:r>
          </a:p>
          <a:p/>
          <a:p>
            <a:r>
              <a:t>這套規則是 GGR 2006 年提出的，我後面講的所有東西都以它為基準。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但這個策略正在失效。</a:t>
            </a:r>
          </a:p>
          <a:p/>
          <a:p>
            <a:r>
              <a:t>Do &amp; Faff 兩篇是關鍵：2010 那篇把樣本拉到 2009 年，發現獲利從九零年代末就持續</a:t>
            </a:r>
          </a:p>
          <a:p>
            <a:r>
              <a:t>下降；2012 那篇更狠，把真實交易成本算進去之後，多數策略的淨報酬已經不顯著，</a:t>
            </a:r>
          </a:p>
          <a:p>
            <a:r>
              <a:t>2002 年之後基本無利可圖。</a:t>
            </a:r>
          </a:p>
          <a:p/>
          <a:p>
            <a:r>
              <a:t>Krauss 的綜述講了一句話我覺得很重要：方法之間的差異，往往小於樣本期間造成的</a:t>
            </a:r>
          </a:p>
          <a:p>
            <a:r>
              <a:t>差異。換句話說，你換方法得到的改善，可能還不如你換一段期間得到的差異大。</a:t>
            </a:r>
          </a:p>
          <a:p/>
          <a:p>
            <a:r>
              <a:t>所以文獻的反應很自然——轉向機器學習，看能不能救回來。而我的研究就是從這裡</a:t>
            </a:r>
          </a:p>
          <a:p>
            <a:r>
              <a:t>切進去的。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機器學習在這個領域有兩條路線。</a:t>
            </a:r>
          </a:p>
          <a:p/>
          <a:p>
            <a:r>
              <a:t>第一條是改良形成期，也就是怎麼找配對——用非監督式分群取代 GICS 產業分類，</a:t>
            </a:r>
          </a:p>
          <a:p>
            <a:r>
              <a:t>去找跨產業但受同樣總體因子驅動的配對。Han, He &amp; Toh 是這條路最完整的證據。</a:t>
            </a:r>
          </a:p>
          <a:p/>
          <a:p>
            <a:r>
              <a:t>第二條是改良交易期，用深度強化學習取代固定的二倍標準差門檻，讓模型自己決定</a:t>
            </a:r>
          </a:p>
          <a:p>
            <a:r>
              <a:t>什麼時候進出場。Kim &amp; Kim 2019 是創始文獻。</a:t>
            </a:r>
          </a:p>
          <a:p/>
          <a:p>
            <a:r>
              <a:t>我做的是第二條。但我要強調：我問的不是「DRL 有沒有用」這種問題——那個問題</a:t>
            </a:r>
          </a:p>
          <a:p>
            <a:r>
              <a:t>已經有很多人問過了。我要問的是一個更前面、而且從來沒人問過的問題。下一張講。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這就是缺口。</a:t>
            </a:r>
          </a:p>
          <a:p/>
          <a:p>
            <a:r>
              <a:t>當你把所有把 DRL 用在配對交易的論文攤開來看，會發現它們都做了同一個決定：</a:t>
            </a:r>
          </a:p>
          <a:p>
            <a:r>
              <a:t>要讓模型每期可以做幾次決策。多數研究給了模型每天自由決定持倉的權限。</a:t>
            </a:r>
          </a:p>
          <a:p/>
          <a:p>
            <a:r>
              <a:t>但沒有任何一篇解釋為什麼是這個設計。它被當成理所當然的預設值。</a:t>
            </a:r>
          </a:p>
          <a:p/>
          <a:p>
            <a:r>
              <a:t>我把這個東西命名為「動作空間」——模型可以做的決策集合。它是每一篇 DRL 論文</a:t>
            </a:r>
          </a:p>
          <a:p>
            <a:r>
              <a:t>都必須設定、卻從來沒有被當成實驗變因的設計選擇。</a:t>
            </a:r>
          </a:p>
          <a:p/>
          <a:p>
            <a:r>
              <a:t>文獻反覆做這個決定，但沒有人回頭檢查它做得對不對。這就是我的切入點。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我把動作空間分成三類，差別只在每期可以做幾次決策。</a:t>
            </a:r>
          </a:p>
          <a:p/>
          <a:p>
            <a:r>
              <a:t>第一類是固定門檻，決策次數是零——它根本不決策，就是 GGR 那組二倍標準差進場、</a:t>
            </a:r>
          </a:p>
          <a:p>
            <a:r>
              <a:t>回歸零出場的常數。</a:t>
            </a:r>
          </a:p>
          <a:p/>
          <a:p>
            <a:r>
              <a:t>第二類是我提出的：每期選一組門檻，決策次數是一。選單有九個選項，包含 SKIP</a:t>
            </a:r>
          </a:p>
          <a:p>
            <a:r>
              <a:t>也就是拒絕交易，加上八組進出場邊界的組合。</a:t>
            </a:r>
          </a:p>
          <a:p/>
          <a:p>
            <a:r>
              <a:t>第三類是多數 DRL 文獻在做的：逐日自由決定持倉。交易期是 126 個交易日，所以</a:t>
            </a:r>
          </a:p>
          <a:p>
            <a:r>
              <a:t>一期最多 126 次決策。</a:t>
            </a:r>
          </a:p>
          <a:p/>
          <a:p>
            <a:r>
              <a:t>關鍵在最後一句：這三者的表達能力是遞增的。逐日決策可以模擬任何固定門檻規則</a:t>
            </a:r>
          </a:p>
          <a:p>
            <a:r>
              <a:t>——我只要讓模型每天照門檻規則行動就好。所以如果只看表達能力，第三類應該</a:t>
            </a:r>
          </a:p>
          <a:p>
            <a:r>
              <a:t>弱優於前兩類。這是很直覺的推理。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但這裡有一個張力。</a:t>
            </a:r>
          </a:p>
          <a:p/>
          <a:p>
            <a:r>
              <a:t>左邊是支持「越大越好」的理由：表達能力涵蓋。模型大不了就學出一條固定規則，</a:t>
            </a:r>
          </a:p>
          <a:p>
            <a:r>
              <a:t>理論上它至少不會比較差。</a:t>
            </a:r>
          </a:p>
          <a:p/>
          <a:p>
            <a:r>
              <a:t>右邊是支持「越大越糟」的理由：決策次數越多，每次決策所依據的訊號就越短、</a:t>
            </a:r>
          </a:p>
          <a:p>
            <a:r>
              <a:t>噪音佔比越高。而且更實際的問題是——每一次決策都可能產生一次換手成本。</a:t>
            </a:r>
          </a:p>
          <a:p/>
          <a:p>
            <a:r>
              <a:t>這個取捨在日頻上到底朝哪邊傾斜？這不是一個需要理論爭辯的問題，它可以用實驗</a:t>
            </a:r>
          </a:p>
          <a:p>
            <a:r>
              <a:t>直接回答。而文獻沒有做這個實驗，因為沒有人把動作空間當成變因。</a:t>
            </a:r>
          </a:p>
          <a:p/>
          <a:p>
            <a:r>
              <a:t>我的研究就是去做這個實驗。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三個研究問題。</a:t>
            </a:r>
          </a:p>
          <a:p/>
          <a:p>
            <a:r>
              <a:t>Q1 是核心：動作空間是不是關鍵約束。在其餘一切都相同的條件下，把每期決策次數</a:t>
            </a:r>
          </a:p>
          <a:p>
            <a:r>
              <a:t>從零、一放大到一百二十六，會不會系統性造成過度交易跟績效劣化。</a:t>
            </a:r>
          </a:p>
          <a:p/>
          <a:p>
            <a:r>
              <a:t>Q2 是接續的問題：如果 Q1 的答案是「該把動作空間縮小」，那縮小之後還剩下什麼</a:t>
            </a:r>
          </a:p>
          <a:p>
            <a:r>
              <a:t>能力？模型能不能逐對辨識出該用哪個門檻？</a:t>
            </a:r>
          </a:p>
          <a:p/>
          <a:p>
            <a:r>
              <a:t>Q3 是驗收：門檻選擇式相對固定門檻到底有沒有效，以及——這點很重要——它的界線</a:t>
            </a:r>
          </a:p>
          <a:p>
            <a:r>
              <a:t>在哪裡。我刻意不把 Q3 問成「能不能獲得統計顯著的超額報酬」，因為我的答案在</a:t>
            </a:r>
          </a:p>
          <a:p>
            <a:r>
              <a:t>相對層面是「是」、在絕對層面是「否」，兩者不能混為一談。</a:t>
            </a:r>
          </a:p>
          <a:p/>
          <a:p>
            <a:r>
              <a:t>先講結論：這三個問題得到三個不一致的答案，而這個不一致本身就是我的發現。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資料是 S&amp;P 500 成分股，2000 到 2025 年，扣掉第一個形成窗之後有 6287 個可交易日、</a:t>
            </a:r>
          </a:p>
          <a:p>
            <a:r>
              <a:t>295 個滾動期，每期中位 411 檔股票。</a:t>
            </a:r>
          </a:p>
          <a:p/>
          <a:p>
            <a:r>
              <a:t>形成期 252 天、交易期 126 天、每 21 天往前滾一次。請注意最後一欄：因為步長是</a:t>
            </a:r>
          </a:p>
          <a:p>
            <a:r>
              <a:t>21 天而交易期是 126 天，所以任何一個時點都有 6 個交易期同時在跑。這件事會影響</a:t>
            </a:r>
          </a:p>
          <a:p>
            <a:r>
              <a:t>統計檢定的設計，等一下會講到。</a:t>
            </a:r>
          </a:p>
          <a:p/>
          <a:p>
            <a:r>
              <a:t>時點處理有三道，都是為了防偏誤：成分股只取當時真正在指數裡的，所以下市、被</a:t>
            </a:r>
          </a:p>
          <a:p>
            <a:r>
              <a:t>併購、被剔除的公司都還留在歷史樣本池裡；基本面只取不晚於形成期結束日的資料；</a:t>
            </a:r>
          </a:p>
          <a:p>
            <a:r>
              <a:t>特徵計算只用形成窗內的資料，交易期價格不參與任何估計。</a:t>
            </a:r>
          </a:p>
          <a:p/>
          <a:p>
            <a:r>
              <a:t>交易成本用 Do &amp; Faff 2012 的估計，單邊 0.29%，往返約 0.58%。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形成期是四層架構：特徵、分組、篩選、排序。</a:t>
            </a:r>
          </a:p>
          <a:p/>
          <a:p>
            <a:r>
              <a:t>特徵層 19 維：報酬的前五個主成分載荷、市值跟盈餘殖利率、加上 GICS 產業的</a:t>
            </a:r>
          </a:p>
          <a:p>
            <a:r>
              <a:t>one-hot 編碼。</a:t>
            </a:r>
          </a:p>
          <a:p/>
          <a:p>
            <a:r>
              <a:t>分組層是唯一有差異的一層，提供五個配對來源：不分組、GICS 產業、HDBSCAN、</a:t>
            </a:r>
          </a:p>
          <a:p>
            <a:r>
              <a:t>凝聚層次聚類、K-means。每一期都重新估計。</a:t>
            </a:r>
          </a:p>
          <a:p/>
          <a:p>
            <a:r>
              <a:t>篩選層做共整合檢定。這裡有個細節我要提：ADF 檢定的 p 值不能用 Dickey-Fuller</a:t>
            </a:r>
          </a:p>
          <a:p>
            <a:r>
              <a:t>分布，因為受檢的是估計出來的殘差、OLS 已經先把變異最小化過了。我改用</a:t>
            </a:r>
          </a:p>
          <a:p>
            <a:r>
              <a:t>MacKinnon 的響應曲面臨界值。沿用錯誤的臨界值時通過率會高達 77%——一個名目</a:t>
            </a:r>
          </a:p>
          <a:p>
            <a:r>
              <a:t>5% 的檢定不可能拒絕 77% 的虛無假設。</a:t>
            </a:r>
          </a:p>
          <a:p/>
          <a:p>
            <a:r>
              <a:t>排序層三種距離準則，SDP 是把 SSD 跟 DTW 各自標準化後相加。</a:t>
            </a:r>
          </a:p>
          <a:p/>
          <a:p>
            <a:r>
              <a:t>最重要的是下面那句：五個來源只在第二層不同。這不是宣言，是實作成程式架構的</a:t>
            </a:r>
          </a:p>
          <a:p>
            <a:r>
              <a:t>性質，所以任兩個來源之間只有單一變因。交易端也一樣，共用同一個介面，任何</a:t>
            </a:r>
          </a:p>
          <a:p>
            <a:r>
              <a:t>交易端都可以在同一批配對上原樣重跑——這正是消融能做的前提。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這張要講清楚，不然後面整個消融會被誤解。</a:t>
            </a:r>
          </a:p>
          <a:p/>
          <a:p>
            <a:r>
              <a:t>我的交易端叫 DL-THR。它每期從九個動作裡選一個：SKIP 也就是拒絕交易，加上八組</a:t>
            </a:r>
          </a:p>
          <a:p>
            <a:r>
              <a:t>進出場門檻的組合。狀態是 12 維的形成期特徵，全部在交易期開始前就算完了。</a:t>
            </a:r>
          </a:p>
          <a:p/>
          <a:p>
            <a:r>
              <a:t>左邊是重點：它不是強化學習。原因是這九個動作的報酬全部可以精確反事實回算</a:t>
            </a:r>
          </a:p>
          <a:p>
            <a:r>
              <a:t>——我只要拿該交易期的價格，把九組門檻各模擬一次就知道每個動作會賺多少。</a:t>
            </a:r>
          </a:p>
          <a:p/>
          <a:p>
            <a:r>
              <a:t>既然每個動作的報酬都看得到，就不存在探索與利用的取捨。這是全資訊監督回歸，</a:t>
            </a:r>
          </a:p>
          <a:p>
            <a:r>
              <a:t>不是部分回饋的強化學習。程式碼裡還叫 DRL 是歷史命名，論文一律稱 DL-THR。</a:t>
            </a:r>
          </a:p>
          <a:p/>
          <a:p>
            <a:r>
              <a:t>右邊三項保證：選單包含靜態基準，所以策略空間必然涵蓋 Z-Score；樣本不足時自動</a:t>
            </a:r>
          </a:p>
          <a:p>
            <a:r>
              <a:t>退回基準動作；還有 SKIP，讓代理人可以主動拒絕爛配對——這是固定規則沒有的</a:t>
            </a:r>
          </a:p>
          <a:p>
            <a:r>
              <a:t>選擇性。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這是消融的設計。五條臂，唯一的差別就是動作空間。</a:t>
            </a:r>
          </a:p>
          <a:p/>
          <a:p>
            <a:r>
              <a:t>上面兩條是基準：Z-Score 每期零次決策，DL-THR 每期一次。下面三條是處理組，</a:t>
            </a:r>
          </a:p>
          <a:p>
            <a:r>
              <a:t>三代逐日自由持倉的實作——原始的 LSTM-DQN、修掉訓練缺陷的修復版、還有批次</a:t>
            </a:r>
          </a:p>
          <a:p>
            <a:r>
              <a:t>擬合 Q 的 FQI。</a:t>
            </a:r>
          </a:p>
          <a:p/>
          <a:p>
            <a:r>
              <a:t>右上是共用的部分：同一批 GICS-SDP 配對、同一個網格格點、同一種對沖口徑、</a:t>
            </a:r>
          </a:p>
          <a:p>
            <a:r>
              <a:t>訓練預算一律 150 episodes、同一段期間。</a:t>
            </a:r>
          </a:p>
          <a:p/>
          <a:p>
            <a:r>
              <a:t>訓練預算為什麼不能下修？因為一旦下修，「它表現差是因為訓練不足」就會變成</a:t>
            </a:r>
          </a:p>
          <a:p>
            <a:r>
              <a:t>我無法排除的替代解釋。代價是單臂要跑三天。</a:t>
            </a:r>
          </a:p>
          <a:p/>
          <a:p>
            <a:r>
              <a:t>左下：五臂共同期 108 期。有個不對稱要說明——只有 v1 需要形成期的價格切片，</a:t>
            </a:r>
          </a:p>
          <a:p>
            <a:r>
              <a:t>所以有 12 個左緣期只有 v1 算不了。我的處置是取五臂交集，而且這個不對稱是在</a:t>
            </a:r>
          </a:p>
          <a:p>
            <a:r>
              <a:t>執行前就寫進預先登記的，不是事後發現才補說明。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統計設計三個重點，加一個。</a:t>
            </a:r>
          </a:p>
          <a:p/>
          <a:p>
            <a:r>
              <a:t>第一，抽樣單位。我不以 15 個參數配置當觀測單位，因為那是偽重複——它們共用</a:t>
            </a:r>
          </a:p>
          <a:p>
            <a:r>
              <a:t>同一份資料、同一段期間、同一批配對，有效樣本數其實接近一條回測路徑。我改以</a:t>
            </a:r>
          </a:p>
          <a:p>
            <a:r>
              <a:t>時間為抽樣單位。</a:t>
            </a:r>
          </a:p>
          <a:p/>
          <a:p>
            <a:r>
              <a:t>第二，主檢定用循環區塊拔靴，逐日報酬差，一萬次重抽。區塊長度取一個完整交易期，</a:t>
            </a:r>
          </a:p>
          <a:p>
            <a:r>
              <a:t>因為剛才說過有六個交易期同時運行，逐期報酬序列有結構性自相關。多重比較用</a:t>
            </a:r>
          </a:p>
          <a:p>
            <a:r>
              <a:t>BH-FDR 校正。</a:t>
            </a:r>
          </a:p>
          <a:p/>
          <a:p>
            <a:r>
              <a:t>第三，報告口徑是 15 個配置的等權組合，不是最佳配置。因為等權組合沒有東西可挑，</a:t>
            </a:r>
          </a:p>
          <a:p>
            <a:r>
              <a:t>選擇偏誤從源頭就消失了。代價是報告的絕對績效比較難看，這是誠實的代價。</a:t>
            </a:r>
          </a:p>
          <a:p/>
          <a:p>
            <a:r>
              <a:t>最後一點很重要：消融這部分是完整預先登記的，假說、門檻、比較族、七項核對程序</a:t>
            </a:r>
          </a:p>
          <a:p>
            <a:r>
              <a:t>全部在回測啟動前就提交版本庫了。但我研究的其餘部分不是，那些是依文獻慣例在</a:t>
            </a:r>
          </a:p>
          <a:p>
            <a:r>
              <a:t>分析時採用的判準。兩者證據強度不同，我等一下報結果時會分開講。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第一段結果。這是我唯一完整預先登記的部分，也是證據最強的一段。</a:t>
            </a:r>
          </a:p>
          <a:p/>
          <a:p>
            <a:r>
              <a:t>左邊長條圖：橫軸是五條臂，縱軸是每期進場次數。兩條基準都在 1.9 到 2.0 之間，</a:t>
            </a:r>
          </a:p>
          <a:p>
            <a:r>
              <a:t>三條逐日自由持倉的臂分別是 4.2、5.6、7.9。</a:t>
            </a:r>
          </a:p>
          <a:p/>
          <a:p>
            <a:r>
              <a:t>右上表：比值 2.142 到 4.028，BH 校正後全部顯著，p 值最大的也只有 0.0004。</a:t>
            </a:r>
          </a:p>
          <a:p>
            <a:r>
              <a:t>判準只要求三條臂裡有兩條達標，結果是 3/3，而且每一條都同時贏過兩個基準。</a:t>
            </a:r>
          </a:p>
          <a:p/>
          <a:p>
            <a:r>
              <a:t>右下我要誠實講一件事：n 是 108 期，區塊長度 6 期，所以其實只有 18 個獨立區塊。</a:t>
            </a:r>
          </a:p>
          <a:p>
            <a:r>
              <a:t>這是這個設計檢定力的實際上限，我不會宣稱比這更多的東西。</a:t>
            </a:r>
          </a:p>
          <a:p/>
          <a:p>
            <a:r>
              <a:t>另外補充：這個結論在兩種進場定義下都成立——落庫的是部位轉換式，分析用的是</a:t>
            </a:r>
          </a:p>
          <a:p>
            <a:r>
              <a:t>狀態列式，兩者在三條臂上逐位相同，在 v1、v2 上差 0.7%，BH 校正的 p 值完全相同。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H2：績效。三條自由持倉的臂 Sharpe 分別是負 0.829、負 1.547、負 0.298，兩條基準</a:t>
            </a:r>
          </a:p>
          <a:p>
            <a:r>
              <a:t>都在負 0.01 附近。H2 成立，三條臂全部不高於門檻選擇式。</a:t>
            </a:r>
          </a:p>
          <a:p/>
          <a:p>
            <a:r>
              <a:t>這裡要說明一個口徑：交集的 Sharpe 看起來兩條基準也是負的，那是因為取五臂交集</a:t>
            </a:r>
          </a:p>
          <a:p>
            <a:r>
              <a:t>丟掉了左緣 11 期，而那正好是 2008 到 2009 的危機反彈窗口，基準的獲利幾乎全在</a:t>
            </a:r>
          </a:p>
          <a:p>
            <a:r>
              <a:t>裡面。基準在各自全期集上的 Sharpe 是正 0.42 跟正 0.44。組內比較是公平的，因為</a:t>
            </a:r>
          </a:p>
          <a:p>
            <a:r>
              <a:t>五臂用同一組 108 期；但我不會拿交集的數字去宣稱基準也不行。</a:t>
            </a:r>
          </a:p>
          <a:p/>
          <a:p>
            <a:r>
              <a:t>右邊 H3 是我覺得最有意思的地方。成本歸因顯示三代失敗的原因不一樣：v1 跟 v2</a:t>
            </a:r>
          </a:p>
          <a:p>
            <a:r>
              <a:t>的劣勢主要是換手成本，零成本重算後差距縮小八成以上。但 v3 不是——零成本下</a:t>
            </a:r>
          </a:p>
          <a:p>
            <a:r>
              <a:t>它對門檻選擇式反而由負 0.285 變成正 0.195，也就是在免費世界裡它略優，成本</a:t>
            </a:r>
          </a:p>
          <a:p>
            <a:r>
              <a:t>一加回就翻負。</a:t>
            </a:r>
          </a:p>
          <a:p/>
          <a:p>
            <a:r>
              <a:t>所以「自由持倉為什麼失敗」在三代之間不是同一個原因。這個分裂比一致的結果更</a:t>
            </a:r>
          </a:p>
          <a:p>
            <a:r>
              <a:t>有訊息量。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第二段。Q1 告訴我們該把動作空間縮小，那縮小之後還剩下什麼能力？</a:t>
            </a:r>
          </a:p>
          <a:p/>
          <a:p>
            <a:r>
              <a:t>我用監督回歸去逐對學門檻——也就是讓模型看每一組配對的特徵，預測它該用哪個</a:t>
            </a:r>
          </a:p>
          <a:p>
            <a:r>
              <a:t>門檻。對照組是「擴張窗最佳常數」：每期只用截至前一期的資料，選出單一一個最佳</a:t>
            </a:r>
          </a:p>
          <a:p>
            <a:r>
              <a:t>門檻，套用到所有配對。這是完全不做逐對辨識的做法，而且它是合法的、無前視的。</a:t>
            </a:r>
          </a:p>
          <a:p/>
          <a:p>
            <a:r>
              <a:t>結果：模型每期平均 capture_frac 是 0.0055，最佳常數是 0.0104，差距是負 0.0049，</a:t>
            </a:r>
          </a:p>
          <a:p>
            <a:r>
              <a:t>配對 t 檢定 p 等於 0.0004。</a:t>
            </a:r>
          </a:p>
          <a:p/>
          <a:p>
            <a:r>
              <a:t>所以模型不只是沒捕獲到東西——它顯著劣於一個常數。吃到完美預知天花板的比例</a:t>
            </a:r>
          </a:p>
          <a:p>
            <a:r>
              <a:t>是負 13.8%。</a:t>
            </a:r>
          </a:p>
          <a:p/>
          <a:p>
            <a:r>
              <a:t>判準是執行前定稿的。裁決是未過閘。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為什麼會輸給常數？機制可以講清楚，而且這是資訊科學的機制，不需要任何價格理論。</a:t>
            </a:r>
          </a:p>
          <a:p/>
          <a:p>
            <a:r>
              <a:t>設計所依據的訊號是價差波動度跟最佳進場門檻的 Spearman 相關，等於 0.1007，</a:t>
            </a:r>
          </a:p>
          <a:p>
            <a:r>
              <a:t>t 值 3.37。統計上顯著，但量級很弱。</a:t>
            </a:r>
          </a:p>
          <a:p/>
          <a:p>
            <a:r>
              <a:t>而我的選取方式是對 20 個獨立回歸的預測值取 argmax，也就是挑預測報酬最高的</a:t>
            </a:r>
          </a:p>
          <a:p>
            <a:r>
              <a:t>那個動作。問題就在這裡：弱訊號下，argmax 會系統性偏向預測誤差最大的那個輸出</a:t>
            </a:r>
          </a:p>
          <a:p>
            <a:r>
              <a:t>——因為誤差大的那一個最容易被推到最高。於是選取本身引入的雜訊超過了訊號。</a:t>
            </a:r>
          </a:p>
          <a:p/>
          <a:p>
            <a:r>
              <a:t>這跟第一段其實是同一件事的兩面。自由持倉的 DRL 輸出近乎常數，門檻中位數</a:t>
            </a:r>
          </a:p>
          <a:p>
            <a:r>
              <a:t>2.11 到 2.33，門檻跟名次的 Spearman 接近零——它塌陷到邊際平均解。而我改用</a:t>
            </a:r>
          </a:p>
          <a:p>
            <a:r>
              <a:t>正確範式之後，不是塌陷到常數，是比常數更差。</a:t>
            </a:r>
          </a:p>
          <a:p/>
          <a:p>
            <a:r>
              <a:t>兩者一致指向同一個結論：逐對門檻選擇所需要的訊號，在現有的特徵裡不夠。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第三段是主檢定，也是本研究唯一通過多重檢定校正的正向結果。注意證據等級：</a:t>
            </a:r>
          </a:p>
          <a:p>
            <a:r>
              <a:t>這一段的判準不是事前登記的，是依文獻慣例在分析時採用。</a:t>
            </a:r>
          </a:p>
          <a:p/>
          <a:p>
            <a:r>
              <a:t>五個配對來源，年化增益從 0.239 到 0.798 個百分點，方向全部為正，BH 校正後</a:t>
            </a:r>
          </a:p>
          <a:p>
            <a:r>
              <a:t>五個裡面三個顯著。</a:t>
            </a:r>
          </a:p>
          <a:p/>
          <a:p>
            <a:r>
              <a:t>左下請容我強調：不要用二分法讀這張表。K-means 的校正後 p 是 0.0495 通過，</a:t>
            </a:r>
          </a:p>
          <a:p>
            <a:r>
              <a:t>GICS-SSD 是 0.0504 沒通過，兩者差 0.0009。通過與否在邊界上極不穩固，應該以</a:t>
            </a:r>
          </a:p>
          <a:p>
            <a:r>
              <a:t>效果量跟信賴區間為準，不是看有沒有星號。</a:t>
            </a:r>
          </a:p>
          <a:p/>
          <a:p>
            <a:r>
              <a:t>右下是我覺得最值得講的：增益最大的是傳統 GICS 產業分類，不是任何一種資料驅動</a:t>
            </a:r>
          </a:p>
          <a:p>
            <a:r>
              <a:t>分群。這說明門檻選擇的價值跟分群方法無關——它來自交易端的設計，不是形成期</a:t>
            </a:r>
          </a:p>
          <a:p>
            <a:r>
              <a:t>的聰明。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這是把門檻選擇疊加到 GICS-SSD 上的 25 年權益曲線，起始資本一萬。</a:t>
            </a:r>
          </a:p>
          <a:p/>
          <a:p>
            <a:r>
              <a:t>紅線是加了 DL-THR 的，藍線是固定門檻的 Z-Score。終值分別是 13,062 跟 11,072。</a:t>
            </a:r>
          </a:p>
          <a:p/>
          <a:p>
            <a:r>
              <a:t>兩件事要講。第一，這是 15 個參數配置的等權組合，不是我挑出來的最佳格。第二，</a:t>
            </a:r>
          </a:p>
          <a:p>
            <a:r>
              <a:t>請看曲線的形狀——大部分的增長發生在 2008 到 2009，之後兩條線都走得很平。這個</a:t>
            </a:r>
          </a:p>
          <a:p>
            <a:r>
              <a:t>觀察在第五章會變成一個限制：獲利高度集中於特定市場環境。</a:t>
            </a:r>
          </a:p>
          <a:p/>
          <a:p>
            <a:r>
              <a:t>而這張圖同時也預告了下一張要講的事：25 年從一萬變成一萬三，年化大概 1%。</a:t>
            </a:r>
          </a:p>
          <a:p>
            <a:r>
              <a:t>這個數字本身就說明了為什麼我不能宣稱它可以交易。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把三段放在一起看。</a:t>
            </a:r>
          </a:p>
          <a:p/>
          <a:p>
            <a:r>
              <a:t>Q1 的答案是「是」，動作空間是關鍵約束，而且這是唯一完整預先登記的結果。</a:t>
            </a:r>
          </a:p>
          <a:p/>
          <a:p>
            <a:r>
              <a:t>Q2 的答案是「否」，逐對辨識能力不存在，判準是跑前定稿的。</a:t>
            </a:r>
          </a:p>
          <a:p/>
          <a:p>
            <a:r>
              <a:t>Q3 的答案是「是，但不可交易」，判準則是分析時依文獻慣例採用的。</a:t>
            </a:r>
          </a:p>
          <a:p/>
          <a:p>
            <a:r>
              <a:t>請注意最右邊那一欄——三段的證據等級不一樣，我刻意把它標出來，因為我認為</a:t>
            </a:r>
          </a:p>
          <a:p>
            <a:r>
              <a:t>把預先登記的結果跟事後判準的結果混在一起報告是不誠實的。</a:t>
            </a:r>
          </a:p>
          <a:p/>
          <a:p>
            <a:r>
              <a:t>這三個答案並不一致。但我要說：這個不一致本身就是我的發現。如果三個答案</a:t>
            </a:r>
          </a:p>
          <a:p>
            <a:r>
              <a:t>全部都是「是」，那反而應該懷疑。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現在講界線。第三段通過了多重檢定校正，但它不足以支持任何可交易的宣稱。</a:t>
            </a:r>
          </a:p>
          <a:p/>
          <a:p>
            <a:r>
              <a:t>這張圖是 15 格固定門檻基準的 rf 超額年化。所謂 rf 超額，是把閒置現金也計無風險</a:t>
            </a:r>
          </a:p>
          <a:p>
            <a:r>
              <a:t>利息之後，超過無風險利率的部分。</a:t>
            </a:r>
          </a:p>
          <a:p/>
          <a:p>
            <a:r>
              <a:t>結果是 15 格無一為正。最高的不分組 DTW 只有 0.009 個百分點，實質等於零。最低的</a:t>
            </a:r>
          </a:p>
          <a:p>
            <a:r>
              <a:t>K-means SSD 是負 1.577。</a:t>
            </a:r>
          </a:p>
          <a:p/>
          <a:p>
            <a:r>
              <a:t>也就是說：單靠配對選擇加固定門檻，這 25 年連無風險利率都跑不贏。</a:t>
            </a:r>
          </a:p>
          <a:p/>
          <a:p>
            <a:r>
              <a:t>唯二為正的是疊加 DL-THR 的兩條 GICS 臂，0.375 跟 0.390 個百分點。但我要自己</a:t>
            </a:r>
          </a:p>
          <a:p>
            <a:r>
              <a:t>拆穿一件事：其中 0.282 個百分點純粹來自「少動用資本、閒置現金多收利息」</a:t>
            </a:r>
          </a:p>
          <a:p>
            <a:r>
              <a:t>——DL-THR 會 SKIP 掉三到四成配對期，資金利用率只有 42%，而固定門檻是 57%。</a:t>
            </a:r>
          </a:p>
          <a:p>
            <a:r>
              <a:t>那 0.282 不應該算成技巧。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不只 rf 超額這一道。三道獨立的界線，任何一道都足以否定可交易性。</a:t>
            </a:r>
          </a:p>
          <a:p/>
          <a:p>
            <a:r>
              <a:t>第一道是絕對績效。最佳配置帳面年化 1.026%，rf 超額只有 0.375 個百分點，Sharpe</a:t>
            </a:r>
          </a:p>
          <a:p>
            <a:r>
              <a:t>0.276。而且對「日均報酬是否為零」的檢定，六組全部不顯著。請注意這跟第三段</a:t>
            </a:r>
          </a:p>
          <a:p>
            <a:r>
              <a:t>通過校正不矛盾——第三段通過的是「相對於 Z-Score 的差」，不是這裡的絕對水準。</a:t>
            </a:r>
          </a:p>
          <a:p/>
          <a:p>
            <a:r>
              <a:t>第二道是 Deflated Sharpe Ratio。41 條策略無一通過 0.95。最高的那條 DSR 0.885，</a:t>
            </a:r>
          </a:p>
          <a:p>
            <a:r>
              <a:t>但它的後半期 Sharpe 是負 0.389，高值全部來自前半期——以全期指標挑選就會選中</a:t>
            </a:r>
          </a:p>
          <a:p>
            <a:r>
              <a:t>它。這正好說明 DSR 也不足以獨力防止選擇偏誤。</a:t>
            </a:r>
          </a:p>
          <a:p/>
          <a:p>
            <a:r>
              <a:t>第三道是成本餘裕，這道只有部分成立。K-means 那條臂餘裕為負，但 GICS 加</a:t>
            </a:r>
          </a:p>
          <a:p>
            <a:r>
              <a:t>DL-THR 的 break-even 達到 0.99% 到 1.01%，對 0.58% 的成本有逾七成餘裕。所以</a:t>
            </a:r>
          </a:p>
          <a:p>
            <a:r>
              <a:t>用成本來否定，嚴格說只適用於 K-means。</a:t>
            </a:r>
          </a:p>
          <a:p/>
          <a:p>
            <a:r>
              <a:t>底下那句是我整篇論文最想講清楚的一句話。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總結成一句話。</a:t>
            </a:r>
          </a:p>
          <a:p/>
          <a:p>
            <a:r>
              <a:t>門檻選擇的增益來自動作空間的「設計」，不來自逐對的「辨識能力」；而該增益的</a:t>
            </a:r>
          </a:p>
          <a:p>
            <a:r>
              <a:t>量級不足以構成可交易的策略。</a:t>
            </a:r>
          </a:p>
          <a:p/>
          <a:p>
            <a:r>
              <a:t>換個說法：在日頻配對交易上，決定學習式交易端成敗的是動作空間的形狀，不是</a:t>
            </a:r>
          </a:p>
          <a:p>
            <a:r>
              <a:t>學習演算法的強弱，也不是模型能不能辨識每一組配對。</a:t>
            </a:r>
          </a:p>
          <a:p/>
          <a:p>
            <a:r>
              <a:t>至於那個形狀所能帶來的增益——它是真的，方向一致，機制可歸因，但它不夠大。</a:t>
            </a:r>
          </a:p>
          <a:p/>
          <a:p>
            <a:r>
              <a:t>這是一個關於設計的結論，不是關於獲利的結論。我認為這樣講比硬要宣稱賺錢誠實</a:t>
            </a:r>
          </a:p>
          <a:p>
            <a:r>
              <a:t>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研究限制，依對結論的影響程度排列。</a:t>
            </a:r>
          </a:p>
          <a:p/>
          <a:p>
            <a:r>
              <a:t>第一也是最重要的：消融只在單一配對來源、單一格點、單一對沖口徑、108 期上執行，</a:t>
            </a:r>
          </a:p>
          <a:p>
            <a:r>
              <a:t>而且四條學習臂都沒固定隨機種子、每臂只跑一次。我測過同組態兩次執行的差異可以</a:t>
            </a:r>
          </a:p>
          <a:p>
            <a:r>
              <a:t>到 2.0 到 2.8 倍，我的效果量 2.1 到 4.1 倍是大於這個雜訊的，兩條基準臂也是逐位</a:t>
            </a:r>
          </a:p>
          <a:p>
            <a:r>
              <a:t>確定的，所以結論成立。但我無法排除在其他來源或格點上量級不同。</a:t>
            </a:r>
          </a:p>
          <a:p/>
          <a:p>
            <a:r>
              <a:t>第二，母體限於大型股，而 Do &amp; Faff 指出報酬衰減在流動性高的大型股上更明顯</a:t>
            </a:r>
          </a:p>
          <a:p>
            <a:r>
              <a:t>——也就是說我的母體恰好是衰減最嚴重的地方。</a:t>
            </a:r>
          </a:p>
          <a:p/>
          <a:p>
            <a:r>
              <a:t>第三這一條我要特別說。形成期層的比較，最小可偵測效果是 1.14 個百分點，而參照臂</a:t>
            </a:r>
          </a:p>
          <a:p>
            <a:r>
              <a:t>自身的年化績效只有 0.461 個百分點。也就是說這個設計連參照臂自己那麼大的效果</a:t>
            </a:r>
          </a:p>
          <a:p>
            <a:r>
              <a:t>都偵測不到。所以我對配對來源之間的優劣只作描述，不作檢定。把這一節從「結論」</a:t>
            </a:r>
          </a:p>
          <a:p>
            <a:r>
              <a:t>降為「描述性觀察」，是我最不情願但最必要的決定。</a:t>
            </a:r>
          </a:p>
          <a:p/>
          <a:p>
            <a:r>
              <a:t>第四，存活者偏誤沒完全消除，方向是高估絕對績效，所以我報的「不顯著」是偏保守的。</a:t>
            </a:r>
          </a:p>
          <a:p/>
          <a:p>
            <a:r>
              <a:t>第五，entry_z 的下界 1.5 從來沒跑過，所以不能推論最適門檻的位置。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最後是貢獻跟建議。</a:t>
            </a:r>
          </a:p>
          <a:p/>
          <a:p>
            <a:r>
              <a:t>實證貢獻四項。第一，把動作空間設為唯一變因並完整預先登記，這是文獻沒做過的</a:t>
            </a:r>
          </a:p>
          <a:p>
            <a:r>
              <a:t>消融。第二，分離動作空間的形狀跟逐對辨識能力——這兩者的實務意涵相反，前者</a:t>
            </a:r>
          </a:p>
          <a:p>
            <a:r>
              <a:t>指向更好的選單設計，後者指向更好的特徵工程，而我的結論是增益來自前者。第三，</a:t>
            </a:r>
          </a:p>
          <a:p>
            <a:r>
              <a:t>釐清增益的非來源，特別是指出損益分解裡的「SKIP 貢獻」是會計恆等式而不是技巧</a:t>
            </a:r>
          </a:p>
          <a:p>
            <a:r>
              <a:t>歸因。第四，指出文獻成功案例的頻率相依，並提供日頻上缺的那組對照。</a:t>
            </a:r>
          </a:p>
          <a:p/>
          <a:p>
            <a:r>
              <a:t>後續建議：在其他來源跟格點上重複消融，可以先用成本較低的 FQI；為學習臂固定</a:t>
            </a:r>
          </a:p>
          <a:p>
            <a:r>
              <a:t>種子並跑多輪；補完門檻水準的掃描，特別是從未執行的 1.5；直接驗證槽位週轉假說。</a:t>
            </a:r>
          </a:p>
          <a:p/>
          <a:p>
            <a:r>
              <a:t>實務上我不建議直接採用所檢驗的策略。但如果還是要做配對交易，我的證據支持</a:t>
            </a:r>
          </a:p>
          <a:p>
            <a:r>
              <a:t>兩件事：動作空間應該設計成每期少數次決策，而不是逐日自由持倉；而且應該包含</a:t>
            </a:r>
          </a:p>
          <a:p>
            <a:r>
              <a:t>「拒絕交易」的選項。</a:t>
            </a:r>
          </a:p>
          <a:p/>
          <a:p>
            <a:r>
              <a:t>報告到這裡，謝謝各位老師。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以下為備用投影片，供問答時使用。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如果委員問「這些數字可靠嗎」或「你怎麼確認實作正確」，用這張。</a:t>
            </a:r>
          </a:p>
          <a:p/>
          <a:p>
            <a:r>
              <a:t>我在研究後期發現多項實作跟方法章宣告的不符，這裡列六項主要的。最嚴重的是</a:t>
            </a:r>
          </a:p>
          <a:p>
            <a:r>
              <a:t>共整合檢定誤用了 Dickey-Fuller 臨界值，導致通過率虛高到 77%——一個名目 5% 的</a:t>
            </a:r>
          </a:p>
          <a:p>
            <a:r>
              <a:t>檢定不可能拒絕 77% 的虛無假設，這本身就是警訊。</a:t>
            </a:r>
          </a:p>
          <a:p/>
          <a:p>
            <a:r>
              <a:t>還有子視窗回測的槽位洩漏，它會讓某一期零配對而且完全不報錯，這種靜默失敗</a:t>
            </a:r>
          </a:p>
          <a:p>
            <a:r>
              <a:t>最危險。</a:t>
            </a:r>
          </a:p>
          <a:p/>
          <a:p>
            <a:r>
              <a:t>修正後，交易層的相對效果從 0/5 顯著變成 3/5 顯著。也就是說修正之前，我關於</a:t>
            </a:r>
          </a:p>
          <a:p>
            <a:r>
              <a:t>交易層的任何結論都建立在一組並非我所描述的管線之上。</a:t>
            </a:r>
          </a:p>
          <a:p/>
          <a:p>
            <a:r>
              <a:t>有一個可以陳述的觀察：以錯誤的臨界值跟測錯對象的估計量所篩掉的，系統性地是</a:t>
            </a:r>
          </a:p>
          <a:p>
            <a:r>
              <a:t>較好的配對。</a:t>
            </a:r>
          </a:p>
          <a:p/>
          <a:p>
            <a:r>
              <a:t>今天報告的每一個數字都產自修正後的管線。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如果委員追問報酬口徑，用這張。</a:t>
            </a:r>
          </a:p>
          <a:p/>
          <a:p>
            <a:r>
              <a:t>年化有三個口徑：帳面（閒置現金不計息）、動用資本、rf 超額（閒置現金計息後超過</a:t>
            </a:r>
          </a:p>
          <a:p>
            <a:r>
              <a:t>無風險的部分）。最佳配置分別是 1.026%、2.793%、0.375%。</a:t>
            </a:r>
          </a:p>
          <a:p/>
          <a:p>
            <a:r>
              <a:t>關鍵是資金利用率只有 42.6%——靜態槽位的分母是理論上限，實際同時持倉遠低於此，</a:t>
            </a:r>
          </a:p>
          <a:p>
            <a:r>
              <a:t>所以逾半數資金長期閒置。</a:t>
            </a:r>
          </a:p>
          <a:p/>
          <a:p>
            <a:r>
              <a:t>下面那張表是我把 DL-THR 的 rf 超額優勢拆開：1.080 個百分點裡面，0.798 是真實</a:t>
            </a:r>
          </a:p>
          <a:p>
            <a:r>
              <a:t>報酬差，0.282 純粹是少動用資本多收的利息。</a:t>
            </a:r>
          </a:p>
          <a:p/>
          <a:p>
            <a:r>
              <a:t>右邊是一個內部一致性檢查：拆出來的 0.798 跟 0.579，跟第三段主檢定報的年化Δ</a:t>
            </a:r>
          </a:p>
          <a:p>
            <a:r>
              <a:t>逐位相同。這不是湊的，因為 rf 超額等於算術年化減去 rf 乘以利用率，對逐日損益</a:t>
            </a:r>
          </a:p>
          <a:p>
            <a:r>
              <a:t>是線性的，所以這個拆解是代數恆等式。</a:t>
            </a:r>
          </a:p>
          <a:p/>
          <a:p>
            <a:r>
              <a:t>我要強調：那 0.282 不應該算成技巧。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如果委員問「網路沒固定種子，你怎麼知道差異不是隨機的」，用這張。</a:t>
            </a:r>
          </a:p>
          <a:p/>
          <a:p>
            <a:r>
              <a:t>我做了五輪獨立重訓。檢驗的問題是：管線修正造成的位移，是不是超出重訓本身的</a:t>
            </a:r>
          </a:p>
          <a:p>
            <a:r>
              <a:t>雜訊。</a:t>
            </a:r>
          </a:p>
          <a:p/>
          <a:p>
            <a:r>
              <a:t>120 組比較裡有 88 組，修正前的 Sharpe 低於修正後四輪的最小值，比例 73.3%。</a:t>
            </a:r>
          </a:p>
          <a:p>
            <a:r>
              <a:t>如果修正沒有效果，這個比例應該是五分之一。二項檢定的 p 值是 10 的負 36 次方。</a:t>
            </a:r>
          </a:p>
          <a:p/>
          <a:p>
            <a:r>
              <a:t>跨輪 Sharpe 的標準差中位數是 0.031，而修正造成的位移中位數是 0.236，差了將近</a:t>
            </a:r>
          </a:p>
          <a:p>
            <a:r>
              <a:t>八倍。</a:t>
            </a:r>
          </a:p>
          <a:p/>
          <a:p>
            <a:r>
              <a:t>有一個例外我必須主動說：KM-SSD-DRL 那條臂只有 6/15，p 值 0.061，沒過。那條臂</a:t>
            </a:r>
          </a:p>
          <a:p>
            <a:r>
              <a:t>不可以單獨宣稱。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如果委員問「什麼時候賺錢」或「能不能只在高波動期交易」，用這張。</a:t>
            </a:r>
          </a:p>
          <a:p/>
          <a:p>
            <a:r>
              <a:t>12 個臂全部呈現同一個型態：動盪期為正，平靜期跟一般期為負。而且這個型態不是</a:t>
            </a:r>
          </a:p>
          <a:p>
            <a:r>
              <a:t>前視偏誤造成的，我用 walk-forward 門檻重做過，一致率 82.6%。</a:t>
            </a:r>
          </a:p>
          <a:p/>
          <a:p>
            <a:r>
              <a:t>但這不構成可靠的改良，因為動盪期報酬極度集中——2008 到 2009 兩年貢獻了全部</a:t>
            </a:r>
          </a:p>
          <a:p>
            <a:r>
              <a:t>動盪期報酬的 54% 到 87%。以 GICS-SSD 最極端，扣掉那兩年之後，其餘 17 個年度</a:t>
            </a:r>
          </a:p>
          <a:p>
            <a:r>
              <a:t>合計只有 2.8%。</a:t>
            </a:r>
          </a:p>
          <a:p/>
          <a:p>
            <a:r>
              <a:t>機制可以講清楚：波動高不等於配對機會多。2008 到 2009 是流動性危機跟強制去槓桿，</a:t>
            </a:r>
          </a:p>
          <a:p>
            <a:r>
              <a:t>會製造價差極端偏離並隨後回歸。但 2022 年動盪日數最多，卻只產生負 0.18% 到</a:t>
            </a:r>
          </a:p>
          <a:p>
            <a:r>
              <a:t>正 1.45%，因為那波動源於升息跟通膨預期的趨勢性方向移動，價差偏離後不必然回歸。</a:t>
            </a:r>
          </a:p>
          <a:p/>
          <a:p>
            <a:r>
              <a:t>以已實現波動定義的 regime 無法區分這兩種來源。要做 regime 條件化，需要的是能</a:t>
            </a:r>
          </a:p>
          <a:p>
            <a:r>
              <a:t>區分波動來源的指標，不是波動水準本身。</a:t>
            </a:r>
          </a:p>
          <a:p/>
          <a:p>
            <a:r>
              <a:t>一句話：這個策略實質上在賣出波動率的均值回歸選擇權。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如果委員問「你有沒有試過其他改良」或「為什麼不延長交易期」，用這張。</a:t>
            </a:r>
          </a:p>
          <a:p/>
          <a:p>
            <a:r>
              <a:t>我對交易端測了三項常見改良，三項全部否證。</a:t>
            </a:r>
          </a:p>
          <a:p/>
          <a:p>
            <a:r>
              <a:t>波動 regime 條件式進場——剛才 B4 講過了。</a:t>
            </a:r>
          </a:p>
          <a:p/>
          <a:p>
            <a:r>
              <a:t>時間停損：4 臂乘 5 個門檻共 20 格，全部劣於現行，而且隨門檻放寬單調收斂回現行</a:t>
            </a:r>
          </a:p>
          <a:p>
            <a:r>
              <a:t>值。機制是價差的回歸集中在持倉後期，平均持有 49 到 53 天，42 天就砍會系統性地</a:t>
            </a:r>
          </a:p>
          <a:p>
            <a:r>
              <a:t>在最不利的時點認賠。</a:t>
            </a:r>
          </a:p>
          <a:p/>
          <a:p>
            <a:r>
              <a:t>延長交易期：期末仍持倉的部位，再追蹤一個完整交易期，只有 45.4% 回歸。沒回歸</a:t>
            </a:r>
          </a:p>
          <a:p>
            <a:r>
              <a:t>的 54.6%，它們的 z 分數從 4.57 繼續擴大到 6.82。這些不是尚未回歸，是持續發散。</a:t>
            </a:r>
          </a:p>
          <a:p/>
          <a:p>
            <a:r>
              <a:t>三項都是針對「期末強制平倉佔進場 40.3%」設計的。結論是這個現象沒辦法靠調整</a:t>
            </a:r>
          </a:p>
          <a:p>
            <a:r>
              <a:t>持有期或進場時機消除，因為沒回歸的配對多數是真發散。要降低它，需要的是形成期</a:t>
            </a:r>
          </a:p>
          <a:p>
            <a:r>
              <a:t>能預測樣本外收斂的篩選訊號，而我的單道共整合檢定提供不了。</a:t>
            </a:r>
          </a:p>
          <a:p/>
          <a:p>
            <a:r>
              <a:t>最後一行是分工說明：4.1 變動的是每期可做幾次決策，這裡變動的是那條固定規則</a:t>
            </a:r>
          </a:p>
          <a:p>
            <a:r>
              <a:t>本身的形狀，決策次數始終是零。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如果委員問預先登記的細節，或問「你怎麼確認那三天的回測真的跑成功了」，用這張。</a:t>
            </a:r>
          </a:p>
          <a:p/>
          <a:p>
            <a:r>
              <a:t>我在回測啟動前就寫定了七項核對程序。因為 run_trading 回報「成功」不足以證明</a:t>
            </a:r>
          </a:p>
          <a:p>
            <a:r>
              <a:t>真的跑成功——我在開發過程中曾兩度遇到回報成功但實際零有效模擬的情況。</a:t>
            </a:r>
          </a:p>
          <a:p/>
          <a:p>
            <a:r>
              <a:t>七項全部通過。其中第四項我要特別說明：我核對 v1、v2 的逐期耗時中位數要大於</a:t>
            </a:r>
          </a:p>
          <a:p>
            <a:r>
              <a:t>60 分鐘，這是用來確認模型確實在訓練，而不是空轉。實測是 69.7 跟 71.0 分鐘。</a:t>
            </a:r>
          </a:p>
          <a:p/>
          <a:p>
            <a:r>
              <a:t>但下面這件事我必須主動揭露：分析程式第一次執行時，第 2 項跟第 7 項沒有通過。</a:t>
            </a:r>
          </a:p>
          <a:p>
            <a:r>
              <a:t>原因不在回測，而在核對程式本身把「左緣」實作成單一期，而不是整個 12 期的區塊。</a:t>
            </a:r>
          </a:p>
          <a:p>
            <a:r>
              <a:t>更正之後由失敗轉為通過。</a:t>
            </a:r>
          </a:p>
          <a:p/>
          <a:p>
            <a:r>
              <a:t>這正是預先登記最容易被濫用的情境——看到失敗才改程式。我的處置是把更正的依據、</a:t>
            </a:r>
          </a:p>
          <a:p>
            <a:r>
              <a:t>它只用日期不涉結果這個性質、以及「它確實是在看到失敗之後才改的」，全部寫進</a:t>
            </a:r>
          </a:p>
          <a:p>
            <a:r>
              <a:t>偏離紀錄。</a:t>
            </a:r>
          </a:p>
          <a:p/>
          <a:p>
            <a:r>
              <a:t>預先登記的價值不在於不出錯，而在於出錯的時候留下痕跡。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828800"/>
            <a:ext cx="10149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結合配對來源組裝與動作空間設計之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Microsoft JhengHei"/>
              </a:rPr>
              <a:t>配對交易系統建構與實證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200" b="0">
                <a:solidFill>
                  <a:srgbClr val="E8EDF5"/>
                </a:solidFill>
                <a:latin typeface="Microsoft JhengHei"/>
              </a:rPr>
              <a:t>以 S&amp;P 500 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4846320"/>
            <a:ext cx="10149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E8EDF5"/>
                </a:solidFill>
                <a:latin typeface="Microsoft JhengHei"/>
              </a:rPr>
              <a:t>元智大學　管理學院財務金融暨會計碩士班（主修：金融科技）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研究生：李伯修　　指導教授：李詩政 博士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E8EDF5"/>
                </a:solidFill>
                <a:latin typeface="Microsoft JhengHei"/>
              </a:rPr>
              <a:t>中華民國 一一五 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背景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配對交易：賭的是相對價格，不是絕對價格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找兩檔歷史上走勢相近的股票。當價差異常拉開時，</a:t>
            </a:r>
            <a:r>
              <a:rPr sz="1700" b="1">
                <a:solidFill>
                  <a:srgbClr val="1A1A1A"/>
                </a:solidFill>
                <a:latin typeface="Microsoft JhengHei"/>
              </a:rPr>
              <a:t>買進落後的、放空領先的</a:t>
            </a:r>
            <a:r>
              <a:rPr sz="1700" b="0">
                <a:solidFill>
                  <a:srgbClr val="1A1A1A"/>
                </a:solidFill>
                <a:latin typeface="Microsoft JhengHei"/>
              </a:rPr>
              <a:t>；等價差收斂回來就平倉獲利。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部位一多一空且金額相當，市場曝險趨近於零——</a:t>
            </a:r>
            <a:r>
              <a:rPr sz="1700" b="1">
                <a:solidFill>
                  <a:srgbClr val="1A1A1A"/>
                </a:solidFill>
                <a:latin typeface="Microsoft JhengHei"/>
              </a:rPr>
              <a:t>不需要預測大盤方向</a:t>
            </a:r>
            <a:r>
              <a:rPr sz="170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200400"/>
          <a:ext cx="108813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8638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步驟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作法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形成期（252 個交易日）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計算兩檔股票標準化價格的距離，選出最相近的配對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進場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價差偏離形成期標準差 2 倍時，做多價差／做空價差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出場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價差回歸至 0 時平倉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交易期結束（126 日）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無論回歸與否，一律強制平倉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Microsoft JhengHei"/>
              </a:rPr>
              <a:t>這套規則出自 Gatev, Goetzmann &amp; Rouwenhorst（2006，以下簡稱 GGR），至今仍是所有後續研究的事實標準。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背景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問題：這個策略的報酬正在消失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GGR 在 1962–2002 年報告年化超額報酬最高可達 11%。但後續研究一致發現：</a:t>
            </a:r>
            <a:r>
              <a:rPr sz="1700" b="1">
                <a:solidFill>
                  <a:srgbClr val="1A1A1A"/>
                </a:solidFill>
                <a:latin typeface="Microsoft JhengHei"/>
              </a:rPr>
              <a:t>這個績效在 2000 年代之後大幅衰減</a:t>
            </a:r>
            <a:r>
              <a:rPr sz="170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3429000" cy="19202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B2A5B"/>
                </a:solidFill>
                <a:latin typeface="Microsoft JhengHei"/>
              </a:rPr>
              <a:t>Do &amp; Faff（2010）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把樣本延伸到 2009 年，獲利自 1990 年代末起顯著下降，且非由特定次期間的異常值驅動。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743200"/>
            <a:ext cx="3429000" cy="19202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B2A5B"/>
                </a:solidFill>
                <a:latin typeface="Microsoft JhengHei"/>
              </a:rPr>
              <a:t>Do &amp; Faff（2012）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納入佣金、買賣價差與市場衝擊後，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多數策略的淨報酬已不再顯著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；2002 年後基本無利可圖。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74320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B2A5B"/>
                </a:solidFill>
                <a:latin typeface="Microsoft JhengHei"/>
              </a:rPr>
              <a:t>Krauss（2017）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綜述五大類方法，指出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方法間的差異往往小於樣本期間造成的差異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C4553B"/>
                </a:solidFill>
                <a:latin typeface="Microsoft JhengHei"/>
              </a:rPr>
              <a:t>→ 文獻於是轉向：能不能用機器學習把它救回來？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背景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文獻的兩條改良路線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機器學習被用在兩個地方。</a:t>
            </a:r>
            <a:r>
              <a:rPr sz="1700" b="1">
                <a:solidFill>
                  <a:srgbClr val="1A1A1A"/>
                </a:solidFill>
                <a:latin typeface="Microsoft JhengHei"/>
              </a:rPr>
              <a:t>絕大多數研究只動其中一邊。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5257800" cy="23774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0B2A5B"/>
                </a:solidFill>
                <a:latin typeface="Microsoft JhengHei"/>
              </a:rPr>
              <a:t>① 形成期：改良「怎麼找配對」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以非監督式分群取代傳統產業分類，找出跨產業的隱性關聯配對。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代表：Han, He &amp; Toh（2023）、Sarmento &amp; Horta（2020）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377440"/>
            <a:ext cx="5257800" cy="23774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0B2A5B"/>
                </a:solidFill>
                <a:latin typeface="Microsoft JhengHei"/>
              </a:rPr>
              <a:t>② 交易期：改良「什麼時候進出場」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以深度強化學習取代固定門檻，讓模型自己決定進出場與停損邊界。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代表：Kim &amp; Kim（2019）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C4553B"/>
                </a:solidFill>
                <a:latin typeface="Microsoft JhengHei"/>
              </a:rPr>
              <a:t>我的研究做的是 ②。但我要問的不是「DRL 有沒有用」——</a:t>
            </a:r>
            <a:r>
              <a:rPr sz="1700" b="1">
                <a:solidFill>
                  <a:srgbClr val="C4553B"/>
                </a:solidFill>
                <a:latin typeface="Microsoft JhengHei"/>
              </a:rPr>
              <a:t>而是一個更前面、從來沒人問的問題。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研究缺口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缺口：每篇都選了一種「動作空間」，卻沒人檢驗這個選擇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把 DRL 應用於配對交易的研究攤開來看，它們都做了同一個決定：</a:t>
            </a:r>
            <a:r>
              <a:rPr sz="1700" b="1">
                <a:solidFill>
                  <a:srgbClr val="1A1A1A"/>
                </a:solidFill>
                <a:latin typeface="Microsoft JhengHei"/>
              </a:rPr>
              <a:t>要讓模型每期可以做幾次決策？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多數研究給了模型「每天自由決定持倉」的權限——買進價差、放空價差、空手。但</a:t>
            </a:r>
            <a:r>
              <a:rPr sz="1700" b="1">
                <a:solidFill>
                  <a:srgbClr val="1A1A1A"/>
                </a:solidFill>
                <a:latin typeface="Microsoft JhengHei"/>
              </a:rPr>
              <a:t>沒有任何一篇解釋為什麼是這個設計</a:t>
            </a:r>
            <a:r>
              <a:rPr sz="1700" b="0">
                <a:solidFill>
                  <a:srgbClr val="1A1A1A"/>
                </a:solidFill>
                <a:latin typeface="Microsoft JhengHei"/>
              </a:rPr>
              <a:t>，也沒有人把它單獨拿出來檢驗。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10881360" cy="155448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Microsoft JhengHei"/>
              </a:rPr>
              <a:t>動作空間（action space）＝模型可以做的決策集合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E8EDF5"/>
                </a:solidFill>
                <a:latin typeface="Microsoft JhengHei"/>
              </a:rPr>
              <a:t>它是每一篇 DRL 論文都必須設定、卻從來沒有被當成實驗變因的一個設計選擇。換句話說：文獻反覆地做這個決定，但沒有人回頭檢查這個決定做得對不對。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研究缺口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三類動作空間：差別在「每期可以做幾次決策」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3017520"/>
                <a:gridCol w="31089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每期決策次數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動作集合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誰在用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單一常數（不決策）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0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固定 (2.0, 0.0)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GGR 以降的所有傳統研究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每期選一組門檻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SKIP ＋ 8 組邊界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本研究提出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逐日自由決定持倉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最多 126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{做多, 做空, 空手}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多數 DRL 文獻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749039"/>
            <a:ext cx="10881360" cy="173736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為什麼是 126？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</a:rPr>
              <a:t>交易期長度就是 126 個交易日。讓模型逐日決定持倉，等於一期最多 126 次決策；而每期選一組門檻只有 1 次；固定門檻則是 0 次——它根本不決策。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C4553B"/>
                </a:solidFill>
                <a:latin typeface="Microsoft JhengHei"/>
              </a:rPr>
              <a:t>三者的表達能力遞增</a:t>
            </a:r>
            <a:r>
              <a:rPr sz="1500" b="0">
                <a:solidFill>
                  <a:srgbClr val="C4553B"/>
                </a:solidFill>
                <a:latin typeface="Microsoft JhengHei"/>
              </a:rPr>
              <a:t>：逐日決策可以模擬任何固定門檻規則。所以若只看表達能力，它應該弱優於另外兩者。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研究缺口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一個可以用實驗回答、而文獻還沒回答的張力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0B2A5B"/>
                </a:solidFill>
                <a:latin typeface="Microsoft JhengHei"/>
              </a:rPr>
              <a:t>支持「動作空間越大越好」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</a:rPr>
              <a:t>逐日自由持倉在表達能力上涵蓋任何固定門檻規則。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</a:rPr>
              <a:t>理論上它至少不會比較差——模型大不了學出一條固定規則。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C4553B"/>
                </a:solidFill>
                <a:latin typeface="Microsoft JhengHei"/>
              </a:rPr>
              <a:t>支持「動作空間越大越糟」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</a:rPr>
              <a:t>決策次數越多，每次決策依據的訊號越短、噪音佔比越高。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</a:rPr>
              <a:t>而且</a:t>
            </a:r>
            <a:r>
              <a:rPr sz="1500" b="1">
                <a:solidFill>
                  <a:srgbClr val="1A1A1A"/>
                </a:solidFill>
                <a:latin typeface="Microsoft JhengHei"/>
              </a:rPr>
              <a:t>每一次決策都可能產生一次換手成本</a:t>
            </a:r>
            <a:r>
              <a:rPr sz="150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200" b="1">
                <a:solidFill>
                  <a:srgbClr val="0B2A5B"/>
                </a:solidFill>
                <a:latin typeface="Microsoft JhengHei"/>
              </a:rPr>
              <a:t>這個取捨在日頻上究竟朝哪一邊傾斜？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>
                <a:solidFill>
                  <a:srgbClr val="1A1A1A"/>
                </a:solidFill>
                <a:latin typeface="Microsoft JhengHei"/>
              </a:rPr>
              <a:t>這是一個可以用實驗回答的問題。本研究就是去做這個實驗。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研究問題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三個研究問題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C4553B"/>
                </a:solidFill>
                <a:latin typeface="Microsoft JhengHei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792224"/>
            <a:ext cx="9784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Microsoft JhengHei"/>
              </a:rPr>
              <a:t>動作空間是不是關鍵約束？</a:t>
            </a:r>
            <a:r>
              <a:rPr sz="1500" b="0">
                <a:solidFill>
                  <a:srgbClr val="1A1A1A"/>
                </a:solidFill>
                <a:latin typeface="Microsoft JhengHei"/>
              </a:rPr>
              <a:t>　在其餘一切完全相同的條件下，把每期決策次數從 0、1 放大到 126，會不會系統性造成過度交易與績效劣化？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118104"/>
            <a:ext cx="9784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Microsoft JhengHei"/>
              </a:rPr>
              <a:t>逐對辨識能力存在嗎？</a:t>
            </a:r>
            <a:r>
              <a:rPr sz="1500" b="0">
                <a:solidFill>
                  <a:srgbClr val="1A1A1A"/>
                </a:solidFill>
                <a:latin typeface="Microsoft JhengHei"/>
              </a:rPr>
              <a:t>　把動作空間縮到每期選一組門檻之後，模型能不能辨識出「這一組配對該用哪個門檻」——也就是贏過一個完全不辨識的常數？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443984"/>
            <a:ext cx="9784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Microsoft JhengHei"/>
              </a:rPr>
              <a:t>相對固定門檻有效嗎？它的界線在哪？</a:t>
            </a:r>
            <a:r>
              <a:rPr sz="1500" b="0">
                <a:solidFill>
                  <a:srgbClr val="1A1A1A"/>
                </a:solidFill>
                <a:latin typeface="Microsoft JhengHei"/>
              </a:rPr>
              <a:t>　門檻選擇式相對固定門檻是否有穩健優勢；而該優勢在哪種報酬口徑下成立、哪種口徑下不足以宣稱可交易？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C4553B"/>
                </a:solidFill>
                <a:latin typeface="Microsoft JhengHei"/>
              </a:rPr>
              <a:t>三個問題會得到三個不一致的答案——而這個不一致本身就是本研究的發現。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研究方法 1 /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資料與滾動回測設計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Microsoft JhengHei"/>
              </a:rPr>
              <a:t>6,287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可交易日（2000–2025）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64592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Microsoft JhengHei"/>
              </a:rPr>
              <a:t>295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個滾動期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4592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Microsoft JhengHei"/>
              </a:rPr>
              <a:t>411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每期中位成分股數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64592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C4553B"/>
                </a:solidFill>
                <a:latin typeface="Microsoft JhengHei"/>
              </a:rPr>
              <a:t>0.58%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往返交易成本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200400"/>
          <a:ext cx="108813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377440"/>
                <a:gridCol w="64008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參數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設定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為什麼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形成期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252 個交易日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選配對、估參數，不參與交易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交易期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126 個交易日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完全樣本外；期末強制平倉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滾動步長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21 個交易日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Microsoft JhengHei"/>
                        </a:rPr>
                        <a:t>→ 任一時點有 </a:t>
                      </a:r>
                      <a:r>
                        <a:rPr sz="1400" b="1">
                          <a:solidFill>
                            <a:srgbClr val="1A1A1A"/>
                          </a:solidFill>
                          <a:latin typeface="Microsoft JhengHei"/>
                        </a:rPr>
                        <a:t>6 個交易期同時運行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892040"/>
            <a:ext cx="10881360" cy="10058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時點處理三道：成分股只取當時真正在指數內的（避免存活者偏誤）；基本面只取不晚於形成期結束日的最近一筆；特徵只用形成窗內資料。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研究方法 2 /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形成期：四層架構，把五個配對來源的差異限縮在一層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1　特徵萃取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19 維：報酬 PCA 5 主成分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＋市值、盈餘殖利率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＋GICS 產業 one-hot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2　分組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>
                <a:solidFill>
                  <a:srgbClr val="E8EDF5"/>
                </a:solidFill>
                <a:latin typeface="Microsoft JhengHei"/>
              </a:rPr>
              <a:t>五個配對來源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E8EDF5"/>
                </a:solidFill>
                <a:latin typeface="Microsoft JhengHei"/>
              </a:rPr>
              <a:t>不分組／GICS／HDBSCAN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E8EDF5"/>
                </a:solidFill>
                <a:latin typeface="Microsoft JhengHei"/>
              </a:rPr>
              <a:t>／Agglomerative／K-means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3　統計篩選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Engle-Granger 共整合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ADF 殘差檢定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（MacKinnon 臨界值）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39" y="18288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4　群內排序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SSD／DTW／SDP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SDP = z(SSD) + z(DTW)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881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C4553B"/>
                </a:solidFill>
                <a:latin typeface="Microsoft JhengHei"/>
              </a:rPr>
              <a:t>關鍵性質：五個配對來源只在第 2 層不同，其餘三層完全相同。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這不是寫在方法章的宣言，而是實作成程式架構的性質——所以任兩個來源之間只存在單一變因。交易端同理：各模組共用同一個配對載入與模擬介面，因此任何交易端都可以在</a:t>
            </a:r>
            <a:r>
              <a:rPr sz="1400" b="1">
                <a:solidFill>
                  <a:srgbClr val="1A1A1A"/>
                </a:solidFill>
                <a:latin typeface="Microsoft JhengHei"/>
              </a:rPr>
              <a:t>同一批配對</a:t>
            </a:r>
            <a:r>
              <a:rPr sz="1400" b="0">
                <a:solidFill>
                  <a:srgbClr val="1A1A1A"/>
                </a:solidFill>
                <a:latin typeface="Microsoft JhengHei"/>
              </a:rPr>
              <a:t>上原樣重跑。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研究方法 3 /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交易端：DL-THR ——它不是強化學習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每期從 9 個動作中選一個：</a:t>
            </a:r>
            <a:r>
              <a:rPr sz="1600" b="1">
                <a:solidFill>
                  <a:srgbClr val="1A1A1A"/>
                </a:solidFill>
                <a:latin typeface="Microsoft JhengHei"/>
              </a:rPr>
              <a:t>SKIP（拒絕交易）</a:t>
            </a:r>
            <a:r>
              <a:rPr sz="1600" b="0">
                <a:solidFill>
                  <a:srgbClr val="1A1A1A"/>
                </a:solidFill>
                <a:latin typeface="Microsoft JhengHei"/>
              </a:rPr>
              <a:t> ＋ 8 組 (進場門檻, 出場門檻) 的組合。狀態是 12 維形成期特徵，全部在交易期開始前算完。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為什麼不是 RL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E8EDF5"/>
                </a:solidFill>
                <a:latin typeface="Microsoft JhengHei"/>
              </a:rPr>
              <a:t>這 9 個動作的報酬</a:t>
            </a:r>
            <a:r>
              <a:rPr sz="1400" b="1">
                <a:solidFill>
                  <a:srgbClr val="E8EDF5"/>
                </a:solidFill>
                <a:latin typeface="Microsoft JhengHei"/>
              </a:rPr>
              <a:t>全部可以精確反事實回算</a:t>
            </a:r>
            <a:r>
              <a:rPr sz="1400" b="0">
                <a:solidFill>
                  <a:srgbClr val="E8EDF5"/>
                </a:solidFill>
                <a:latin typeface="Microsoft JhengHei"/>
              </a:rPr>
              <a:t>——對該交易期的價格逐一模擬9 組門檻即可。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E8EDF5"/>
                </a:solidFill>
                <a:latin typeface="Microsoft JhengHei"/>
              </a:rPr>
              <a:t>既然每個動作的報酬都看得到，就</a:t>
            </a:r>
            <a:r>
              <a:rPr sz="1400" b="1">
                <a:solidFill>
                  <a:srgbClr val="E8EDF5"/>
                </a:solidFill>
                <a:latin typeface="Microsoft JhengHei"/>
              </a:rPr>
              <a:t>不存在探索與利用的取捨</a:t>
            </a:r>
            <a:r>
              <a:rPr sz="1400" b="0">
                <a:solidFill>
                  <a:srgbClr val="E8EDF5"/>
                </a:solidFill>
                <a:latin typeface="Microsoft JhengHei"/>
              </a:rPr>
              <a:t>。這是全資訊監督回歸，不是部分回饋的強化學習。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74320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700" b="1">
                <a:solidFill>
                  <a:srgbClr val="0B2A5B"/>
                </a:solidFill>
                <a:latin typeface="Microsoft JhengHei"/>
              </a:rPr>
              <a:t>三項結構性保證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Microsoft JhengHei"/>
              </a:rPr>
              <a:t>① 選單</a:t>
            </a:r>
            <a:r>
              <a:rPr sz="1350" b="1">
                <a:solidFill>
                  <a:srgbClr val="1A1A1A"/>
                </a:solidFill>
                <a:latin typeface="Microsoft JhengHei"/>
              </a:rPr>
              <a:t>包含靜態基準</a:t>
            </a:r>
            <a:r>
              <a:rPr sz="1350" b="0">
                <a:solidFill>
                  <a:srgbClr val="1A1A1A"/>
                </a:solidFill>
                <a:latin typeface="Microsoft JhengHei"/>
              </a:rPr>
              <a:t> (2.0, 0.0) → 策略空間必然涵蓋 Z-Score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Microsoft JhengHei"/>
              </a:rPr>
              <a:t>② 訓練樣本不足時</a:t>
            </a:r>
            <a:r>
              <a:rPr sz="1350" b="1">
                <a:solidFill>
                  <a:srgbClr val="1A1A1A"/>
                </a:solidFill>
                <a:latin typeface="Microsoft JhengHei"/>
              </a:rPr>
              <a:t>自動選用基準動作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Microsoft JhengHei"/>
              </a:rPr>
              <a:t>③ </a:t>
            </a:r>
            <a:r>
              <a:rPr sz="1350" b="1">
                <a:solidFill>
                  <a:srgbClr val="1A1A1A"/>
                </a:solidFill>
                <a:latin typeface="Microsoft JhengHei"/>
              </a:rPr>
              <a:t>SKIP</a:t>
            </a:r>
            <a:r>
              <a:rPr sz="1350" b="0">
                <a:solidFill>
                  <a:srgbClr val="1A1A1A"/>
                </a:solidFill>
                <a:latin typeface="Microsoft JhengHei"/>
              </a:rPr>
              <a:t> 讓代理人可以拒絕交易——這是固定規則不具備的選擇性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JhengHei"/>
              </a:rPr>
              <a:t>程式碼與資料庫沿用歷史命名 DRL；依其學習問題的性質，本文一律稱 DL-THR。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研究方法 4 /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動作空間消融：唯一變因就是動作空間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60350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737360"/>
                <a:gridCol w="1005840"/>
                <a:gridCol w="10058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臂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動作空間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每期決策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角色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Z-Score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單一常數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0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基準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DL-THR（v4）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每期選一組門檻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基準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v1　LSTM-DQN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逐日自由持倉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≤ 126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處理組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v2　LSTM-DQN 修復版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逐日自由持倉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≤ 126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處理組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v3　FQI（批次擬合 Q）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逐日自由持倉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≤ 126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處理組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949440" y="1691640"/>
            <a:ext cx="4572000" cy="210312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五臂共用（完全相同）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配對來源　GICS-SDP（同一批配對）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網格格點　Top1／停損 0%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對沖口徑　dollar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訓練預算　一律 150 episodes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期間　　　2009-07 ~ 2018-12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3977639"/>
            <a:ext cx="4572000" cy="173736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訓練預算不得下修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E8EDF5"/>
                </a:solidFill>
                <a:latin typeface="Microsoft JhengHei"/>
              </a:rPr>
              <a:t>否則「訓練不足」會成為無法排除的替代解釋。單臂實測耗時約 3 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6035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C4553B"/>
                </a:solidFill>
                <a:latin typeface="Microsoft JhengHei"/>
              </a:rPr>
              <a:t>五臂共同期 </a:t>
            </a:r>
            <a:r>
              <a:rPr sz="1600" b="1">
                <a:solidFill>
                  <a:srgbClr val="C4553B"/>
                </a:solidFill>
                <a:latin typeface="Microsoft JhengHei"/>
              </a:rPr>
              <a:t>108 期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只有 v1 需要形成期價格切片，故 12 個左緣期只有 v1 算不了；其餘四臂各僅缺 1 期。分析取五臂交集——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此不對稱於執行前即已揭露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研究方法 5 /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統計設計：抽樣單位、主檢定、預先登記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429000" cy="23774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抽樣單位取「時間」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以 15 個參數配置為觀測單位是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偽重複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——它們共用同一份資料、同一段期間、同一批配對。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Microsoft JhengHei"/>
              </a:rPr>
              <a:t>有效樣本數接近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一條回測路徑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3429000" cy="23774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主檢定：循環區塊拔靴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逐日報酬差 ＋ 10,000 次重抽。區塊長度取一個完整交易期（因為有 6 期同時運行，序列自相關）。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多重比較以 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BH-FDR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 校正。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9164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報告口徑：全網格等權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DF5"/>
                </a:solidFill>
                <a:latin typeface="Microsoft JhengHei"/>
              </a:rPr>
              <a:t>一切績效主張皆以 </a:t>
            </a:r>
            <a:r>
              <a:rPr sz="1300" b="1">
                <a:solidFill>
                  <a:srgbClr val="E8EDF5"/>
                </a:solidFill>
                <a:latin typeface="Microsoft JhengHei"/>
              </a:rPr>
              <a:t>15 個配置的等權組合</a:t>
            </a:r>
            <a:r>
              <a:rPr sz="1300" b="0">
                <a:solidFill>
                  <a:srgbClr val="E8EDF5"/>
                </a:solidFill>
                <a:latin typeface="Microsoft JhengHei"/>
              </a:rPr>
              <a:t>為口徑。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E8EDF5"/>
                </a:solidFill>
                <a:latin typeface="Microsoft JhengHei"/>
              </a:rPr>
              <a:t>等權組合沒有東西可挑，</a:t>
            </a:r>
            <a:r>
              <a:rPr sz="1300" b="1">
                <a:solidFill>
                  <a:srgbClr val="E8EDF5"/>
                </a:solidFill>
                <a:latin typeface="Microsoft JhengHei"/>
              </a:rPr>
              <a:t>選擇偏誤自源頭消失</a:t>
            </a:r>
            <a:r>
              <a:rPr sz="1300" b="0">
                <a:solidFill>
                  <a:srgbClr val="E8EDF5"/>
                </a:solidFill>
                <a:latin typeface="Microsoft JhengHei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43400"/>
            <a:ext cx="10881360" cy="14630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C4553B"/>
                </a:solidFill>
                <a:latin typeface="Microsoft JhengHei"/>
              </a:rPr>
              <a:t>消融採完整預先登記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假說、效果量門檻、多重比較族、凍結超參數清單、以及判定「執行是否成功」的七項核對程序，</a:t>
            </a:r>
            <a:r>
              <a:rPr sz="1400" b="1">
                <a:solidFill>
                  <a:srgbClr val="1A1A1A"/>
                </a:solidFill>
                <a:latin typeface="Microsoft JhengHei"/>
              </a:rPr>
              <a:t>全部於回測啟動前提交版本庫</a:t>
            </a:r>
            <a:r>
              <a:rPr sz="1400" b="0">
                <a:solidFill>
                  <a:srgbClr val="1A1A1A"/>
                </a:solidFill>
                <a:latin typeface="Microsoft JhengHei"/>
              </a:rPr>
              <a:t>；事後每一項偏離逐筆記錄。本研究其餘部分的判準則是依文獻慣例於分析時採用——</a:t>
            </a:r>
            <a:r>
              <a:rPr sz="1400" b="1">
                <a:solidFill>
                  <a:srgbClr val="1A1A1A"/>
                </a:solidFill>
                <a:latin typeface="Microsoft JhengHei"/>
              </a:rPr>
              <a:t>兩者證據強度不同，後面報告結果時我會分開講。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實證結果 · 第一段（完整預先登記）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第一段：逐日自由持倉的換手率是門檻選擇的 2.1–4.1 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45920"/>
          <a:ext cx="67665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80960" y="1828800"/>
          <a:ext cx="384048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822960"/>
                <a:gridCol w="1005840"/>
                <a:gridCol w="5486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處理臂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比值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BH 校正 p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達標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v1 對 Z-Score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2.849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&lt; 0.0001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✔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v2 對 Z-Score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4.028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&lt; 0.0001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✔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v3 對 Z-Score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2.142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0.0004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✔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80960" y="3291840"/>
            <a:ext cx="3840480" cy="237744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3 / 3 達標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E8EDF5"/>
                </a:solidFill>
                <a:latin typeface="Microsoft JhengHei"/>
              </a:rPr>
              <a:t>判準只要求 2/3。三條臂</a:t>
            </a:r>
            <a:r>
              <a:rPr sz="1300" b="1">
                <a:solidFill>
                  <a:srgbClr val="E8EDF5"/>
                </a:solidFill>
                <a:latin typeface="Microsoft JhengHei"/>
              </a:rPr>
              <a:t>全部同時贏過兩個基準</a:t>
            </a:r>
            <a:r>
              <a:rPr sz="1300" b="0">
                <a:solidFill>
                  <a:srgbClr val="E8EDF5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E8EDF5"/>
                </a:solidFill>
                <a:latin typeface="Microsoft JhengHei"/>
              </a:rPr>
              <a:t>n = 108 期，區塊長度 6 期
→ 僅 </a:t>
            </a:r>
            <a:r>
              <a:rPr sz="1250" b="1">
                <a:solidFill>
                  <a:srgbClr val="E8EDF5"/>
                </a:solidFill>
                <a:latin typeface="Microsoft JhengHei"/>
              </a:rPr>
              <a:t>18 個獨立區塊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E8EDF5"/>
                </a:solidFill>
                <a:latin typeface="Microsoft JhengHei"/>
              </a:rPr>
              <a:t>這是本設計檢定力的實際上限。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實證結果 · 第一段（續）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而且績效一律更差——但三代失敗的原因並不相同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54864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280160"/>
                <a:gridCol w="11887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臂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交集 Sharpe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交集年化 %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交集 MDD %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Z-Score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−0.009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−0.24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−16.51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DL-THR（v4）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−0.012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−0.26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−16.54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v1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−0.829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−4.12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−34.64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v2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−1.547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−5.46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−41.73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v3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−0.298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−1.75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−18.79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8404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B2A5B"/>
                </a:solidFill>
                <a:latin typeface="Microsoft JhengHei"/>
              </a:rPr>
              <a:t>H2 成立：三條臂的風險調整後報酬</a:t>
            </a:r>
            <a:r>
              <a:rPr sz="1500" b="1">
                <a:solidFill>
                  <a:srgbClr val="0B2A5B"/>
                </a:solidFill>
                <a:latin typeface="Microsoft JhengHei"/>
              </a:rPr>
              <a:t>全部不高於</a:t>
            </a:r>
            <a:r>
              <a:rPr sz="1500" b="1">
                <a:solidFill>
                  <a:srgbClr val="0B2A5B"/>
                </a:solidFill>
                <a:latin typeface="Microsoft JhengHei"/>
              </a:rPr>
              <a:t>門檻選擇式。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691640"/>
          <a:ext cx="512064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280160"/>
                <a:gridCol w="1280160"/>
                <a:gridCol w="1097280"/>
                <a:gridCol w="8229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臂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含成本 ΔSharpe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零成本 ΔSharpe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差距縮小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H3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v1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−0.816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−0.106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87.0%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✔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v2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−1.535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−0.255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83.4%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✔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v3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−0.285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+0.195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31.7%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✘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3108960"/>
            <a:ext cx="5120640" cy="256032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C4553B"/>
                </a:solidFill>
                <a:latin typeface="Microsoft JhengHei"/>
              </a:rPr>
              <a:t>這個分裂比一致的結果更有訊息量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1A1A1A"/>
                </a:solidFill>
                <a:latin typeface="Microsoft JhengHei"/>
              </a:rPr>
              <a:t>v1／v2（兩代 LSTM-DQN）的劣勢主要是換手成本</a:t>
            </a:r>
            <a:r>
              <a:rPr sz="1350" b="0">
                <a:solidFill>
                  <a:srgbClr val="1A1A1A"/>
                </a:solidFill>
                <a:latin typeface="Microsoft JhengHei"/>
              </a:rPr>
              <a:t>——零成本重算後差距縮小八成以上。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1A1A1A"/>
                </a:solidFill>
                <a:latin typeface="Microsoft JhengHei"/>
              </a:rPr>
              <a:t>但 v3（FQI）不是。</a:t>
            </a:r>
            <a:r>
              <a:rPr sz="1350" b="0">
                <a:solidFill>
                  <a:srgbClr val="1A1A1A"/>
                </a:solidFill>
                <a:latin typeface="Microsoft JhengHei"/>
              </a:rPr>
              <a:t> 零成本下它對門檻選擇式由 −0.285 轉為 </a:t>
            </a:r>
            <a:r>
              <a:rPr sz="1350" b="1">
                <a:solidFill>
                  <a:srgbClr val="1A1A1A"/>
                </a:solidFill>
                <a:latin typeface="Microsoft JhengHei"/>
              </a:rPr>
              <a:t>+0.195</a:t>
            </a:r>
            <a:r>
              <a:rPr sz="1350" b="0">
                <a:solidFill>
                  <a:srgbClr val="1A1A1A"/>
                </a:solidFill>
                <a:latin typeface="Microsoft JhengHei"/>
              </a:rPr>
              <a:t>——在免費世界裡它略優，成本一加回就翻負。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Microsoft JhengHei"/>
              </a:rPr>
              <a:t>亦即「自由持倉為何失敗」在三代之間</a:t>
            </a:r>
            <a:r>
              <a:rPr sz="1350" b="1">
                <a:solidFill>
                  <a:srgbClr val="1A1A1A"/>
                </a:solidFill>
                <a:latin typeface="Microsoft JhengHei"/>
              </a:rPr>
              <a:t>並非同一個原因</a:t>
            </a:r>
            <a:r>
              <a:rPr sz="135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實證結果 · 第二段（跑前定稿）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第二段：逐對學門檻，輸給一個不辨識的常數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</a:rPr>
              <a:t>Q1 說「該把動作空間縮小」。那縮小之後還剩什麼能力？本節以監督回歸</a:t>
            </a:r>
            <a:r>
              <a:rPr sz="1500" b="1">
                <a:solidFill>
                  <a:srgbClr val="1A1A1A"/>
                </a:solidFill>
                <a:latin typeface="Microsoft JhengHei"/>
              </a:rPr>
              <a:t>逐對</a:t>
            </a:r>
            <a:r>
              <a:rPr sz="1500" b="0">
                <a:solidFill>
                  <a:srgbClr val="1A1A1A"/>
                </a:solidFill>
                <a:latin typeface="Microsoft JhengHei"/>
              </a:rPr>
              <a:t>學習門檻，對照</a:t>
            </a:r>
            <a:r>
              <a:rPr sz="1500" b="1">
                <a:solidFill>
                  <a:srgbClr val="1A1A1A"/>
                </a:solidFill>
                <a:latin typeface="Microsoft JhengHei"/>
              </a:rPr>
              <a:t>擴張窗最佳常數</a:t>
            </a:r>
            <a:r>
              <a:rPr sz="1500" b="0">
                <a:solidFill>
                  <a:srgbClr val="1A1A1A"/>
                </a:solidFill>
                <a:latin typeface="Microsoft JhengHei"/>
              </a:rPr>
              <a:t>——每期只用截至前一期的資料選一個最佳門檻，是合法的無前視規則。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743200"/>
          <a:ext cx="60350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92608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方法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每期平均 capture_frac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模型（30 維特徵 × 20 動作）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+0.005510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擴張窗最佳常數（基準）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+0.010397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差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−0.004887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（配對 t，p = </a:t>
                      </a:r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0.0004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）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現行 e2.0_x0.0（附帶）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+0.006932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完美預知（天花板）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+0.045794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49440" y="2743200"/>
            <a:ext cx="4572000" cy="237744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裁決：未過閘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E8EDF5"/>
                </a:solidFill>
                <a:latin typeface="Microsoft JhengHei"/>
              </a:rPr>
              <a:t>模型吃到完美預知天花板的 </a:t>
            </a:r>
            <a:r>
              <a:rPr sz="1500" b="1">
                <a:solidFill>
                  <a:srgbClr val="E8EDF5"/>
                </a:solidFill>
                <a:latin typeface="Microsoft JhengHei"/>
              </a:rPr>
              <a:t>−13.8%</a:t>
            </a:r>
            <a:r>
              <a:rPr sz="1500" b="0">
                <a:solidFill>
                  <a:srgbClr val="E8EDF5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不只是沒捕獲——它</a:t>
            </a:r>
            <a:r>
              <a:rPr sz="1500" b="1">
                <a:solidFill>
                  <a:srgbClr val="FFFFFF"/>
                </a:solidFill>
                <a:latin typeface="Microsoft JhengHei"/>
              </a:rPr>
              <a:t>顯著劣於一個常數</a:t>
            </a:r>
            <a:r>
              <a:rPr sz="1500" b="1">
                <a:solidFill>
                  <a:srgbClr val="FFFFFF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E8EDF5"/>
                </a:solidFill>
                <a:latin typeface="Microsoft JhengHei"/>
              </a:rPr>
              <a:t>判準於執行前定稿。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實證結果 · 第二段（續）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機制：argmax 在弱訊號下放大雜訊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Microsoft JhengHei"/>
              </a:rPr>
              <a:t>設計所依據的訊號：Spearman（價差波動度, 最佳進場門檻）= </a:t>
            </a:r>
            <a:r>
              <a:rPr sz="1600" b="1">
                <a:solidFill>
                  <a:srgbClr val="1A1A1A"/>
                </a:solidFill>
                <a:latin typeface="Microsoft JhengHei"/>
              </a:rPr>
              <a:t>+0.1007</a:t>
            </a:r>
            <a:r>
              <a:rPr sz="1600" b="0">
                <a:solidFill>
                  <a:srgbClr val="1A1A1A"/>
                </a:solidFill>
                <a:latin typeface="Microsoft JhengHei"/>
              </a:rPr>
              <a:t>（t = 3.37）。統計上顯著，但</a:t>
            </a:r>
            <a:r>
              <a:rPr sz="1600" b="1">
                <a:solidFill>
                  <a:srgbClr val="1A1A1A"/>
                </a:solidFill>
                <a:latin typeface="Microsoft JhengHei"/>
              </a:rPr>
              <a:t>量級微弱</a:t>
            </a:r>
            <a:r>
              <a:rPr sz="160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10881360" cy="155448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而選取方式是「對 20 個獨立回歸的預測值取 argmax」。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Microsoft JhengHei"/>
              </a:rPr>
              <a:t>弱訊號下，argmax </a:t>
            </a:r>
            <a:r>
              <a:rPr sz="1500" b="1">
                <a:solidFill>
                  <a:srgbClr val="1A1A1A"/>
                </a:solidFill>
                <a:latin typeface="Microsoft JhengHei"/>
              </a:rPr>
              <a:t>系統性偏向預測誤差最大的那個輸出</a:t>
            </a:r>
            <a:r>
              <a:rPr sz="1500" b="0">
                <a:solidFill>
                  <a:srgbClr val="1A1A1A"/>
                </a:solidFill>
                <a:latin typeface="Microsoft JhengHei"/>
              </a:rPr>
              <a:t>——因為誤差大的那一個最容易被推到最高。於是</a:t>
            </a:r>
            <a:r>
              <a:rPr sz="1500" b="1">
                <a:solidFill>
                  <a:srgbClr val="1A1A1A"/>
                </a:solidFill>
                <a:latin typeface="Microsoft JhengHei"/>
              </a:rPr>
              <a:t>選取本身引入的雜訊超過訊號</a:t>
            </a:r>
            <a:r>
              <a:rPr sz="150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10881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1">
                <a:solidFill>
                  <a:srgbClr val="C4553B"/>
                </a:solidFill>
                <a:latin typeface="Microsoft JhengHei"/>
              </a:rPr>
              <a:t>這是資訊科學的機制，不需要任何價格理論就能陳述。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Microsoft JhengHei"/>
              </a:rPr>
              <a:t>與第一段是同一件事的兩面</a:t>
            </a:r>
            <a:r>
              <a:rPr sz="1450" b="0">
                <a:solidFill>
                  <a:srgbClr val="1A1A1A"/>
                </a:solidFill>
                <a:latin typeface="Microsoft JhengHei"/>
              </a:rPr>
              <a:t>：自由持倉 DRL 的輸出近乎常數（門檻中位 2.11–2.33、Spearman(門檻, 名次) ≈ 0），是塌陷至邊際平均解；本節改用正確範式後，不是塌陷至常數，而是</a:t>
            </a:r>
            <a:r>
              <a:rPr sz="1450" b="1">
                <a:solidFill>
                  <a:srgbClr val="1A1A1A"/>
                </a:solidFill>
                <a:latin typeface="Microsoft JhengHei"/>
              </a:rPr>
              <a:t>比常數更差</a:t>
            </a:r>
            <a:r>
              <a:rPr sz="1450" b="0">
                <a:solidFill>
                  <a:srgbClr val="1A1A1A"/>
                </a:solidFill>
                <a:latin typeface="Microsoft JhengHei"/>
              </a:rPr>
              <a:t>。兩者一致指向——</a:t>
            </a:r>
            <a:r>
              <a:rPr sz="1450" b="1">
                <a:solidFill>
                  <a:srgbClr val="1A1A1A"/>
                </a:solidFill>
                <a:latin typeface="Microsoft JhengHei"/>
              </a:rPr>
              <a:t>逐對門檻選擇所需的訊號，在現有特徵中不足</a:t>
            </a:r>
            <a:r>
              <a:rPr sz="145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實證結果 · 第三段（分析時判準）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第三段：門檻選擇相對固定門檻，五個來源方向全正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1188720"/>
                <a:gridCol w="3108960"/>
                <a:gridCol w="23774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配對來源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年化Δ（pp）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IR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95% CI（pp）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BH 校正 p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GICS-SSD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+0.798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0.505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[+0.165, +1.689]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0.0504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HDBSCAN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+0.666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0.493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[+0.265, +1.148]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0.0210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GICS-SDP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+0.579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0.429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[+0.170, +1.046]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0.0278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K-means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+0.310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0.267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[+0.027, +0.585]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0.0495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Agglomerative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+0.239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0.189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[−0.091, +0.606]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0.1802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9319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C4553B"/>
                </a:solidFill>
                <a:latin typeface="Microsoft JhengHei"/>
              </a:rPr>
              <a:t>不要用二分法讀這張表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1A1A1A"/>
                </a:solidFill>
                <a:latin typeface="Microsoft JhengHei"/>
              </a:rPr>
              <a:t>K-means 的 0.0495 通過、GICS-SSD 的 0.0504 未通過——</a:t>
            </a:r>
            <a:r>
              <a:rPr sz="1350" b="1">
                <a:solidFill>
                  <a:srgbClr val="1A1A1A"/>
                </a:solidFill>
                <a:latin typeface="Microsoft JhengHei"/>
              </a:rPr>
              <a:t>相差 0.0009</a:t>
            </a:r>
            <a:r>
              <a:rPr sz="1350" b="0">
                <a:solidFill>
                  <a:srgbClr val="1A1A1A"/>
                </a:solidFill>
                <a:latin typeface="Microsoft JhengHei"/>
              </a:rPr>
              <a:t>。通過與否在邊界上極不穩固，應以效果量與區間為準。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93192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增益最大者是傳統 GICS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8EDF5"/>
                </a:solidFill>
                <a:latin typeface="Microsoft JhengHei"/>
              </a:rPr>
              <a:t>不是任何一種資料驅動分群。</a:t>
            </a:r>
            <a:r>
              <a:rPr sz="1350" b="1">
                <a:solidFill>
                  <a:srgbClr val="E8EDF5"/>
                </a:solidFill>
                <a:latin typeface="Microsoft JhengHei"/>
              </a:rPr>
              <a:t>門檻選擇的價值與分群方法無關</a:t>
            </a:r>
            <a:r>
              <a:rPr sz="1350" b="0">
                <a:solidFill>
                  <a:srgbClr val="E8EDF5"/>
                </a:solidFill>
                <a:latin typeface="Microsoft JhengHei"/>
              </a:rPr>
              <a:t>——它來自交易端的設計，不是形成期的聰明。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實證結果 · 第三段（續）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疊加門檻選擇後的 25 年權益曲線（GICS-SSD）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19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45920"/>
          <a:ext cx="75895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03920" y="182880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C4553B"/>
                </a:solidFill>
                <a:latin typeface="Microsoft JhengHei"/>
              </a:rPr>
              <a:t>13,062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＋DL-THR 25 年終值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310896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0B2A5B"/>
                </a:solidFill>
                <a:latin typeface="Microsoft JhengHei"/>
              </a:rPr>
              <a:t>11,072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Microsoft JhengHei"/>
              </a:rPr>
              <a:t>Z-Score 25 年終值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4389120"/>
            <a:ext cx="3017520" cy="13716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0B2A5B"/>
                </a:solidFill>
                <a:latin typeface="Microsoft JhengHei"/>
              </a:rPr>
              <a:t>起始資本 10,000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Microsoft JhengHei"/>
              </a:rPr>
              <a:t>15 個參數配置等權組合，</a:t>
            </a:r>
            <a:r>
              <a:rPr sz="1250" b="1">
                <a:solidFill>
                  <a:srgbClr val="1A1A1A"/>
                </a:solidFill>
                <a:latin typeface="Microsoft JhengHei"/>
              </a:rPr>
              <a:t>不是挑出來的最佳格</a:t>
            </a:r>
            <a:r>
              <a:rPr sz="1250" b="0">
                <a:solidFill>
                  <a:srgbClr val="1A1A1A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E8EDF5"/>
                </a:solidFill>
                <a:latin typeface="Microsoft JhengHei"/>
              </a:rPr>
              <a:t>實證結果 · 綜合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三個問題，三個不一致的答案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E8EDF5"/>
                </a:solidFill>
                <a:latin typeface="Microsoft JhengHe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E8EDF5"/>
                </a:solidFill>
                <a:latin typeface="Microsoft JhengHei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56232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Microsoft JhengHei"/>
              </a:rPr>
              <a:t>動作空間是關鍵約束嗎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83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C4553B"/>
                </a:solidFill>
                <a:latin typeface="Microsoft JhengHei"/>
              </a:rPr>
              <a:t>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89280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8EDF5"/>
                </a:solidFill>
                <a:latin typeface="Microsoft JhengHei"/>
              </a:rPr>
              <a:t>完整預先登記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E8EDF5"/>
                </a:solidFill>
                <a:latin typeface="Microsoft JhengHei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36392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Microsoft JhengHei"/>
              </a:rPr>
              <a:t>逐對辨識能力存在嗎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0632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17296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8EDF5"/>
                </a:solidFill>
                <a:latin typeface="Microsoft JhengHei"/>
              </a:rPr>
              <a:t>跑前定稿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E8EDF5"/>
                </a:solidFill>
                <a:latin typeface="Microsoft JhengHei"/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416552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Microsoft JhengHei"/>
              </a:rPr>
              <a:t>相對固定門檻有效嗎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3434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是，但不可交易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45312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8EDF5"/>
                </a:solidFill>
                <a:latin typeface="Microsoft JhengHei"/>
              </a:rPr>
              <a:t>分析時判準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>
                <a:solidFill>
                  <a:srgbClr val="E8EDF5"/>
                </a:solidFill>
                <a:latin typeface="Microsoft JhengHei"/>
              </a:rPr>
              <a:t>這三個答案不一致——而這個不一致本身就是本研究的發現。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為何統計顯著仍不可交易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界線：15 格固定門檻基準，無一跑贏無風險利率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21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45920"/>
          <a:ext cx="6949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63840" y="1737360"/>
            <a:ext cx="3657600" cy="192024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一致口徑下的事實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8EDF5"/>
                </a:solidFill>
                <a:latin typeface="Microsoft JhengHei"/>
              </a:rPr>
              <a:t>把閒置現金也計 rf 利息之後，15 格</a:t>
            </a:r>
            <a:r>
              <a:rPr sz="1350" b="1">
                <a:solidFill>
                  <a:srgbClr val="E8EDF5"/>
                </a:solidFill>
                <a:latin typeface="Microsoft JhengHei"/>
              </a:rPr>
              <a:t>無一為正</a:t>
            </a:r>
            <a:r>
              <a:rPr sz="1350" b="0">
                <a:solidFill>
                  <a:srgbClr val="E8EDF5"/>
                </a:solidFill>
                <a:latin typeface="Microsoft JhengHei"/>
              </a:rPr>
              <a:t>。最高的不分組 DTW 只有 </a:t>
            </a:r>
            <a:r>
              <a:rPr sz="1350" b="1">
                <a:solidFill>
                  <a:srgbClr val="E8EDF5"/>
                </a:solidFill>
                <a:latin typeface="Microsoft JhengHei"/>
              </a:rPr>
              <a:t>+0.009 個百分點</a:t>
            </a:r>
            <a:r>
              <a:rPr sz="1350" b="0">
                <a:solidFill>
                  <a:srgbClr val="E8EDF5"/>
                </a:solidFill>
                <a:latin typeface="Microsoft JhengHei"/>
              </a:rPr>
              <a:t>，實質為零。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3840480"/>
            <a:ext cx="3657600" cy="192024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0B2A5B"/>
                </a:solidFill>
                <a:latin typeface="Microsoft JhengHei"/>
              </a:rPr>
              <a:t>唯二為正的是疊加 DL-THR 的兩條 GICS 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+0.375、+0.390 個百分點。但其中 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+0.282 pp 純粹來自少動用資本、閒置現金多收的利息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——不應計為技巧。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為何統計顯著仍不可交易（續）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三道獨立的界線，任一道都足以否定可交易性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949440"/>
                <a:gridCol w="19202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界線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內容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是否全面成立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絕對績效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最佳配置帳面年化 1.026%；rf 超額僅 +0.375 pp、Sharpe 0.276；「日均報酬是否為零」檢定 </a:t>
                      </a:r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6/6 不顯著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全面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Deflated Sharpe Ratio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41 條策略</a:t>
                      </a:r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無一通過 0.95</a:t>
                      </a:r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。最高者 DSR 0.885，而它的後半期 Sharpe 為 −0.389——高值全來自前半期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全面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成本餘裕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全距 58 個基點，與成本假設本身同量級；K-means 為負，但 GICS＋DL-THR 有逾七成餘裕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僅部分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297680"/>
            <a:ext cx="10881360" cy="155448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Microsoft JhengHei"/>
              </a:rPr>
              <a:t>「相對於某個基準較優」與「本身可交易」是兩個不同的主張，而本研究只支持前者。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E8EDF5"/>
                </a:solidFill>
                <a:latin typeface="Microsoft JhengHei"/>
              </a:rPr>
              <a:t>這不是修辭上的保留：效果存在、方向一致（5/5）、機制可歸因（三個來源排除三項替代解釋），但水準太低、選擇偏誤校正後不足、其中一個來源連成本都付不起。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E8EDF5"/>
                </a:solidFill>
                <a:latin typeface="Microsoft JhengHei"/>
              </a:rPr>
              <a:t>結論 1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結論：一個關於「設計」而非關於「獲利」的結論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E8EDF5"/>
                </a:solidFill>
                <a:latin typeface="Microsoft JhengHe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4241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0">
                <a:solidFill>
                  <a:srgbClr val="E8EDF5"/>
                </a:solidFill>
                <a:latin typeface="Microsoft JhengHei"/>
              </a:rPr>
              <a:t>門檻選擇的增益來自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icrosoft JhengHei"/>
              </a:rPr>
              <a:t>動作空間的「設計」，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3600" b="1">
                <a:solidFill>
                  <a:srgbClr val="FFFFFF"/>
                </a:solidFill>
                <a:latin typeface="Microsoft JhengHei"/>
              </a:rPr>
              <a:t>不來自逐對的「辨識能力」；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C4553B"/>
                </a:solidFill>
                <a:latin typeface="Microsoft JhengHei"/>
              </a:rPr>
              <a:t>而該增益的量級不足以構成可交易的策略。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E8EDF5"/>
                </a:solidFill>
                <a:latin typeface="Microsoft JhengHei"/>
              </a:rPr>
              <a:t>決定學習式交易端成敗的是動作空間的形狀，不是學習演算法的強弱，也不是模型能否辨識每一組配對。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E8EDF5"/>
                </a:solidFill>
                <a:latin typeface="Microsoft JhengHei"/>
              </a:rPr>
              <a:t>至於那個形狀所能帶來的增益——它是真的，方向一致，機制可歸因，</a:t>
            </a:r>
            <a:r>
              <a:rPr sz="1500" b="1">
                <a:solidFill>
                  <a:srgbClr val="E8EDF5"/>
                </a:solidFill>
                <a:latin typeface="Microsoft JhengHei"/>
              </a:rPr>
              <a:t>但它不夠大</a:t>
            </a:r>
            <a:r>
              <a:rPr sz="1500" b="0">
                <a:solidFill>
                  <a:srgbClr val="E8EDF5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結論 2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研究限制（依對結論的影響程度）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8813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486400"/>
                <a:gridCol w="48463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限制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對結論的影響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一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消融只在</a:t>
                      </a:r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單一配對來源、單一格點、單一對沖口徑、108 期</a:t>
                      </a:r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上執行；四條學習臂皆未固定種子、每臂只跑一次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效果量 2.1–4.1 倍大於已量測的執行間雜訊（2.0–2.8 倍），但</a:t>
                      </a:r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無法排除其他來源上量級不同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二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母體為 S&amp;P 500 大型股，而報酬衰減在流動性高的大型股上更明顯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本研究的母體恰為衰減最嚴重之處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三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形成期層的比較檢定力不足，且無法以更多資料補救</a:t>
                      </a:r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：最小可偵測效果 1.14 pp ＞ 參照臂自身績效 0.461 pp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故對配對來源之優劣</a:t>
                      </a:r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只作描述，不作檢定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四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存活者偏誤未完全消除：170 檔已下市者中 49 檔無價格資料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方向明確——</a:t>
                      </a:r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絕對績效被高估</a:t>
                      </a:r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，故「不顯著」偏保守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五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`entry_z` 的下界 </a:t>
                      </a:r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1.5 從未執行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不得推論最適門檻的位置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結論 3 /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研究貢獻與後續建議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57800" cy="402336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0B2A5B"/>
                </a:solidFill>
                <a:latin typeface="Microsoft JhengHei"/>
              </a:rPr>
              <a:t>實證貢獻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A1A1A"/>
                </a:solidFill>
                <a:latin typeface="Microsoft JhengHei"/>
              </a:rPr>
              <a:t>① 把動作空間設為唯一變因，並完整預先登記。</a:t>
            </a:r>
            <a:r>
              <a:rPr sz="1250" b="0">
                <a:solidFill>
                  <a:srgbClr val="1A1A1A"/>
                </a:solidFill>
                <a:latin typeface="Microsoft JhengHei"/>
              </a:rPr>
              <a:t>既有研究各自選定一種動作空間並報告績效，無人在同一條管線內僅變動它。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A1A1A"/>
                </a:solidFill>
                <a:latin typeface="Microsoft JhengHei"/>
              </a:rPr>
              <a:t>② 分離「動作空間的形狀」與「逐對辨識能力」。</a:t>
            </a:r>
            <a:r>
              <a:rPr sz="1250" b="0">
                <a:solidFill>
                  <a:srgbClr val="1A1A1A"/>
                </a:solidFill>
                <a:latin typeface="Microsoft JhengHei"/>
              </a:rPr>
              <a:t>兩者的實務意涵相反：前者指向更好的選單設計，後者指向更好的特徵。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A1A1A"/>
                </a:solidFill>
                <a:latin typeface="Microsoft JhengHei"/>
              </a:rPr>
              <a:t>③ 釐清增益的非來源。</a:t>
            </a:r>
            <a:r>
              <a:rPr sz="1250" b="0">
                <a:solidFill>
                  <a:srgbClr val="1A1A1A"/>
                </a:solidFill>
                <a:latin typeface="Microsoft JhengHei"/>
              </a:rPr>
              <a:t>指出損益分解中的「SKIP 貢獻」是會計恆等式而非技巧歸因——底層期望為負時，隨機跳過都會「避開損失」。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1">
                <a:solidFill>
                  <a:srgbClr val="1A1A1A"/>
                </a:solidFill>
                <a:latin typeface="Microsoft JhengHei"/>
              </a:rPr>
              <a:t>④ 指出文獻成功案例的頻率相依，並提供日頻的受控對照。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691640"/>
            <a:ext cx="5257800" cy="402336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對後續研究與實務的建議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E8EDF5"/>
                </a:solidFill>
                <a:latin typeface="Microsoft JhengHei"/>
              </a:rPr>
              <a:t>在其他來源與格點上重複消融</a:t>
            </a:r>
            <a:r>
              <a:rPr sz="1250" b="0">
                <a:solidFill>
                  <a:srgbClr val="E8EDF5"/>
                </a:solidFill>
                <a:latin typeface="Microsoft JhengHei"/>
              </a:rPr>
              <a:t>——可先以成本較低的 v3（FQI）擴大覆蓋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E8EDF5"/>
                </a:solidFill>
                <a:latin typeface="Microsoft JhengHei"/>
              </a:rPr>
              <a:t>為學習臂固定種子並跑多輪</a:t>
            </a:r>
            <a:r>
              <a:rPr sz="1250" b="0">
                <a:solidFill>
                  <a:srgbClr val="E8EDF5"/>
                </a:solidFill>
                <a:latin typeface="Microsoft JhengHei"/>
              </a:rPr>
              <a:t>——這是比較量級較小之設計差異的前提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E8EDF5"/>
                </a:solidFill>
                <a:latin typeface="Microsoft JhengHei"/>
              </a:rPr>
              <a:t>補完門檻水準的掃描</a:t>
            </a:r>
            <a:r>
              <a:rPr sz="1250" b="0">
                <a:solidFill>
                  <a:srgbClr val="E8EDF5"/>
                </a:solidFill>
                <a:latin typeface="Microsoft JhengHei"/>
              </a:rPr>
              <a:t>——下界 1.5 從未執行；擴張窗最佳常數多數期選中 3.0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1">
                <a:solidFill>
                  <a:srgbClr val="E8EDF5"/>
                </a:solidFill>
                <a:latin typeface="Microsoft JhengHei"/>
              </a:rPr>
              <a:t>直接驗證槽位週轉假說</a:t>
            </a:r>
            <a:r>
              <a:rPr sz="1250" b="0">
                <a:solidFill>
                  <a:srgbClr val="E8EDF5"/>
                </a:solidFill>
                <a:latin typeface="Microsoft JhengHei"/>
              </a:rPr>
              <a:t>——事後重抽無法涵蓋再配置效應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JhengHei"/>
              </a:rPr>
              <a:t>實務上</a:t>
            </a:r>
            <a:r>
              <a:rPr sz="1250" b="1">
                <a:solidFill>
                  <a:srgbClr val="FFFFFF"/>
                </a:solidFill>
                <a:latin typeface="Microsoft JhengHei"/>
              </a:rPr>
              <a:t>不建議</a:t>
            </a:r>
            <a:r>
              <a:rPr sz="1250" b="0">
                <a:solidFill>
                  <a:srgbClr val="FFFFFF"/>
                </a:solidFill>
                <a:latin typeface="Microsoft JhengHei"/>
              </a:rPr>
              <a:t>直接採用所檢驗的策略。若仍要做配對交易，本研究的證據支持：動作空間宜設計為「每期少數次決策」，且應包含「拒絕交易」的選項。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備用投影片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E8EDF5"/>
                </a:solidFill>
                <a:latin typeface="Microsoft JhengHei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7899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Microsoft JhengHei"/>
              </a:rPr>
              <a:t>B1　實作與宣告不符的修正記錄（附錄 B）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Microsoft JhengHei"/>
              </a:rPr>
              <a:t>B2　三道界線的完整數字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Microsoft JhengHei"/>
              </a:rPr>
              <a:t>B3　五輪獨立重訓：位移是否超出訓練雜訊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Microsoft JhengHei"/>
              </a:rPr>
              <a:t>B4　Regime 分層：獲利集中於何時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Microsoft JhengHei"/>
              </a:rPr>
              <a:t>B5　交易端三項改良的受控否證（附錄 C）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900" b="0">
                <a:solidFill>
                  <a:srgbClr val="FFFFFF"/>
                </a:solidFill>
                <a:latin typeface="Microsoft JhengHei"/>
              </a:rPr>
              <a:t>B6　預先登記的七項執行核對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備用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B1　實作與宣告不符的修正記錄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88136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21208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缺陷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後果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共整合檢定誤用 Dickey-Fuller 臨界值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通過率虛高至 </a:t>
                      </a:r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77%</a:t>
                      </a:r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（改用 EG 後約 9.5%）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Hurst 指數測錯對象（R/S 施於水準值而非增量）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該關卡未發揮宣稱的功能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HDBSCAN 的噪音標記被當成一個群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每期可達兩成標的被誤併為一群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缺失值以</a:t>
                      </a:r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產業中位數</a:t>
                      </a:r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插補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構成一條隱性的產業資訊管道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對沖權重口徑不一致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交易端實際執行與方法章所述不符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子視窗回測的槽位洩漏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某一期零配對且</a:t>
                      </a:r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不報錯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114800"/>
            <a:ext cx="10881360" cy="164592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Microsoft JhengHei"/>
              </a:rPr>
              <a:t>修正後，交易層的相對效果自 </a:t>
            </a:r>
            <a:r>
              <a:rPr sz="1900" b="1">
                <a:solidFill>
                  <a:srgbClr val="FFFFFF"/>
                </a:solidFill>
                <a:latin typeface="Microsoft JhengHei"/>
              </a:rPr>
              <a:t>0/5 顯著變為 3/5 顯著</a:t>
            </a:r>
            <a:r>
              <a:rPr sz="1900" b="1">
                <a:solidFill>
                  <a:srgbClr val="FFFFFF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E8EDF5"/>
                </a:solidFill>
                <a:latin typeface="Microsoft JhengHei"/>
              </a:rPr>
              <a:t>主軸 13 格中 12 格績效改善，ΔSharpe 中位 +0.236。一項可陳述的觀察：</a:t>
            </a:r>
            <a:r>
              <a:rPr sz="1400" b="1">
                <a:solidFill>
                  <a:srgbClr val="E8EDF5"/>
                </a:solidFill>
                <a:latin typeface="Microsoft JhengHei"/>
              </a:rPr>
              <a:t>以錯誤的臨界值與測錯對象的估計量所篩掉的，系統性地是較好的配對。</a:t>
            </a:r>
            <a:r>
              <a:rPr sz="1400" b="0">
                <a:solidFill>
                  <a:srgbClr val="E8EDF5"/>
                </a:solidFill>
                <a:latin typeface="Microsoft JhengHei"/>
              </a:rPr>
              <a:t>簡報所報告的每一個數字皆產自修正後的管線。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備用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B2　三道界線的完整數字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28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67665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2880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口徑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GICS-SSD ＋ DL-THR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GICS-SDP ＋ DL-THR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帳面年化（閒置現金計 0%）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+1.026%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+1.016%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動用資本年化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+2.793%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+2.697%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rf 超額年化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+0.375%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+0.390%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平均資金利用率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42.6%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43.2%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566160"/>
          <a:ext cx="676656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2880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Δ rf 超額拆解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真實報酬差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閒置現金利息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GICS-SSD（DRL − ZS）+1.080 pp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+0.798 pp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+0.282 pp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GICS-SDP（DRL − ZS）+0.861 pp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Microsoft JhengHei"/>
                        </a:rPr>
                        <a:t>+0.579 pp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</a:rPr>
                        <a:t>+0.282 pp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80960" y="1691640"/>
            <a:ext cx="3840480" cy="402336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內部一致性檢查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拆出來的「真實報酬差」+0.798、+0.579 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與第三段主檢定的年化Δ逐位相同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這不是湊的——rf 超額 = 算術年化 − rf × 利用率，對逐日損益線性，所以拆解是代數恆等式。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Microsoft JhengHei"/>
              </a:rPr>
              <a:t>那 +0.282 pp 不應計為技巧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：它只是「少投入資本、多收利息」，與「總曝險減少」那項替代解釋是同一件事的另一面。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備用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B3　五輪獨立重訓：位移是否超出訓練雜訊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6400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945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指標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結果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修正前 Sharpe 低於修正後四輪最小值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1A1A1A"/>
                          </a:solidFill>
                          <a:latin typeface="Microsoft JhengHei"/>
                        </a:rPr>
                        <a:t>88 / 120（73.3%）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二項檢定（虛無率 1/5）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p = 3.7 × 10⁻³⁶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跨輪 Sharpe 標準差（中位）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0.031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跨輪 Sharpe 全距（中位）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</a:rPr>
                        <a:t>0.069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1737360"/>
            <a:ext cx="4206240" cy="310896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為什麼要做這件事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DL-THR 的網路未固定種子。若不檢驗，「修正前後的差異」可能只是重訓雜訊。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Microsoft JhengHei"/>
              </a:rPr>
              <a:t>位移（ΔSharpe 中位 +0.236）</a:t>
            </a:r>
            <a:r>
              <a:rPr sz="1300" b="1">
                <a:solidFill>
                  <a:srgbClr val="1A1A1A"/>
                </a:solidFill>
                <a:latin typeface="Microsoft JhengHei"/>
              </a:rPr>
              <a:t>遠大於</a:t>
            </a:r>
            <a:r>
              <a:rPr sz="1300" b="0">
                <a:solidFill>
                  <a:srgbClr val="1A1A1A"/>
                </a:solidFill>
                <a:latin typeface="Microsoft JhengHei"/>
              </a:rPr>
              <a:t>跨輪雜訊（標準差 0.031）。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C4553B"/>
                </a:solidFill>
                <a:latin typeface="Microsoft JhengHei"/>
              </a:rPr>
              <a:t>唯一例外</a:t>
            </a:r>
            <a:r>
              <a:rPr sz="1300" b="1">
                <a:solidFill>
                  <a:srgbClr val="C4553B"/>
                </a:solidFill>
                <a:latin typeface="Microsoft JhengHei"/>
              </a:rPr>
              <a:t>：`KM-SSD-DRL` 為 6/15（p = 0.061），該臂不可單獨宣稱。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備用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B4　Regime 分層：獲利集中於何時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6949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43000"/>
                <a:gridCol w="1143000"/>
                <a:gridCol w="1188720"/>
                <a:gridCol w="109728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臂（walk-forward 門檻）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Calm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Normal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Turbulent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動盪期年化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AGG-DTW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−0.386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−0.616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+0.893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+3.49%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GICS-DTW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−0.282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−0.307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+0.754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+3.34%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GICS-SSD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−0.463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−0.097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+0.737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+3.33%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GICS-SDP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−0.324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−0.058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+0.702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+3.26%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63840" y="173736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型態一致，但不可據以建立策略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E8EDF5"/>
                </a:solidFill>
                <a:latin typeface="Microsoft JhengHei"/>
              </a:rPr>
              <a:t>12 個臂</a:t>
            </a:r>
            <a:r>
              <a:rPr sz="1300" b="1">
                <a:solidFill>
                  <a:srgbClr val="E8EDF5"/>
                </a:solidFill>
                <a:latin typeface="Microsoft JhengHei"/>
              </a:rPr>
              <a:t>全部</a:t>
            </a:r>
            <a:r>
              <a:rPr sz="1300" b="0">
                <a:solidFill>
                  <a:srgbClr val="E8EDF5"/>
                </a:solidFill>
                <a:latin typeface="Microsoft JhengHei"/>
              </a:rPr>
              <a:t>呈同一型態：動盪期為正，平靜與一般期為負。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E8EDF5"/>
                </a:solidFill>
                <a:latin typeface="Microsoft JhengHei"/>
              </a:rPr>
              <a:t>但動盪期報酬</a:t>
            </a:r>
            <a:r>
              <a:rPr sz="1300" b="1">
                <a:solidFill>
                  <a:srgbClr val="E8EDF5"/>
                </a:solidFill>
                <a:latin typeface="Microsoft JhengHei"/>
              </a:rPr>
              <a:t>極度集中</a:t>
            </a:r>
            <a:r>
              <a:rPr sz="1300" b="0">
                <a:solidFill>
                  <a:srgbClr val="E8EDF5"/>
                </a:solidFill>
                <a:latin typeface="Microsoft JhengHei"/>
              </a:rPr>
              <a:t>：2008–2009 兩年貢獻全部動盪期報酬的 </a:t>
            </a:r>
            <a:r>
              <a:rPr sz="1300" b="1">
                <a:solidFill>
                  <a:srgbClr val="E8EDF5"/>
                </a:solidFill>
                <a:latin typeface="Microsoft JhengHei"/>
              </a:rPr>
              <a:t>54%–87%</a:t>
            </a:r>
            <a:r>
              <a:rPr sz="1300" b="0">
                <a:solidFill>
                  <a:srgbClr val="E8EDF5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300" b="0">
                <a:solidFill>
                  <a:srgbClr val="E8EDF5"/>
                </a:solidFill>
                <a:latin typeface="Microsoft JhengHei"/>
              </a:rPr>
              <a:t>2022 年動盪日數最多（225 日）卻僅 −0.18% ~ +1.45%——因其波動源於</a:t>
            </a:r>
            <a:r>
              <a:rPr sz="1300" b="1">
                <a:solidFill>
                  <a:srgbClr val="E8EDF5"/>
                </a:solidFill>
                <a:latin typeface="Microsoft JhengHei"/>
              </a:rPr>
              <a:t>趨勢性方向移動</a:t>
            </a:r>
            <a:r>
              <a:rPr sz="1300" b="0">
                <a:solidFill>
                  <a:srgbClr val="E8EDF5"/>
                </a:solidFill>
                <a:latin typeface="Microsoft JhengHei"/>
              </a:rPr>
              <a:t>，價差偏離後不必然回歸。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策略實質上在賣出波動率的均值回歸選擇權。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備用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B5　交易端三項改良的受控否證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31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74066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改良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結果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機制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波動 regime 條件式進場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否證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動盪期報酬 54–87% 集中於 2008–2009；波動水準無法區分波動來源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時間停損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否證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4 臂 × 5 門檻 = </a:t>
                      </a:r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20 格全部劣於現行</a:t>
                      </a:r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；回歸集中於持倉後期，中途平倉系統性地在最不利時點認賠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延長交易期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否證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期末仍持倉者追蹤 126 日僅 </a:t>
                      </a:r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45.4% 回歸</a:t>
                      </a:r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；未回歸的 54.6% 其 |z| 自 4.57 擴大至 6.82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93192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E8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1">
                <a:solidFill>
                  <a:srgbClr val="0B2A5B"/>
                </a:solidFill>
                <a:latin typeface="Microsoft JhengHei"/>
              </a:rPr>
              <a:t>三項皆針對「期末強制平倉佔進場 40.3%」這一現象而設計。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Microsoft JhengHei"/>
              </a:rPr>
              <a:t>結果顯示該現象</a:t>
            </a:r>
            <a:r>
              <a:rPr sz="1400" b="1">
                <a:solidFill>
                  <a:srgbClr val="1A1A1A"/>
                </a:solidFill>
                <a:latin typeface="Microsoft JhengHei"/>
              </a:rPr>
              <a:t>並非可藉調整持有期或進場時機而消除</a:t>
            </a:r>
            <a:r>
              <a:rPr sz="1400" b="0">
                <a:solidFill>
                  <a:srgbClr val="1A1A1A"/>
                </a:solidFill>
                <a:latin typeface="Microsoft JhengHei"/>
              </a:rPr>
              <a:t>：未回歸的配對多數是</a:t>
            </a:r>
            <a:r>
              <a:rPr sz="1400" b="1">
                <a:solidFill>
                  <a:srgbClr val="1A1A1A"/>
                </a:solidFill>
                <a:latin typeface="Microsoft JhengHei"/>
              </a:rPr>
              <a:t>真發散</a:t>
            </a:r>
            <a:r>
              <a:rPr sz="1400" b="0">
                <a:solidFill>
                  <a:srgbClr val="1A1A1A"/>
                </a:solidFill>
                <a:latin typeface="Microsoft JhengHei"/>
              </a:rPr>
              <a:t>，而非時點選擇不當。若要降低該比例，所需的是形成期能預測出樣本收斂的篩選訊號——本研究的單道共整合檢定未能提供。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Microsoft JhengHei"/>
              </a:rPr>
              <a:t>與 4.1 的分工：4.1 變動的是「每期可做幾次決策」；本附錄變動的是「那條固定規則本身的形狀」——決策次數始終為 0。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6B7280"/>
                </a:solidFill>
                <a:latin typeface="Microsoft JhengHei"/>
              </a:rPr>
              <a:t>備用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1">
                <a:solidFill>
                  <a:srgbClr val="0B2A5B"/>
                </a:solidFill>
                <a:latin typeface="Microsoft JhengHei"/>
              </a:rPr>
              <a:t>B6　預先登記的七項執行核對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JhengHei"/>
              </a:rPr>
              <a:t>32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88136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7589520"/>
                <a:gridCol w="27432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核對項目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JhengHei"/>
                        </a:rPr>
                        <a:t>實測</a:t>
                      </a:r>
                    </a:p>
                  </a:txBody>
                  <a:tcPr marL="91440" marR="91440" marT="27432" marB="27432"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每期交易日列數完整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✔ 五臂皆 0 異常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缺期僅限左緣，且非 v1 的四臂一致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✔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五臂共同期 ≥ 100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✔ </a:t>
                      </a:r>
                      <a:r>
                        <a:rPr sz="1250" b="1">
                          <a:solidFill>
                            <a:srgbClr val="1A1A1A"/>
                          </a:solidFill>
                          <a:latin typeface="Microsoft JhengHei"/>
                        </a:rPr>
                        <a:t>108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v1／v2 逐期耗時中位 ≥ 60 分（確認模型確實在訓練）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✔ 69.7／71.0 分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五臂皆 dollar 對沖口徑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✔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6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db_method 無測試後綴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✔</a:t>
                      </a:r>
                    </a:p>
                  </a:txBody>
                  <a:tcPr marL="91440" marR="91440" marT="27432" marB="27432">
                    <a:solidFill>
                      <a:srgbClr val="E8ED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7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落庫配對期中段無缺期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Microsoft JhengHei"/>
                        </a:rPr>
                        <a:t>✔ 五臂皆 0</a:t>
                      </a:r>
                    </a:p>
                  </a:txBody>
                  <a:tcPr marL="91440" marR="9144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297680"/>
            <a:ext cx="10881360" cy="1554480"/>
          </a:xfrm>
          <a:prstGeom prst="roundRect">
            <a:avLst>
              <a:gd name="adj" fmla="val 6000"/>
            </a:avLst>
          </a:prstGeom>
          <a:solidFill>
            <a:srgbClr val="0B2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 bIns="146304"/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</a:rPr>
              <a:t>一項必須揭露的事後更正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E8EDF5"/>
                </a:solidFill>
                <a:latin typeface="Microsoft JhengHei"/>
              </a:rPr>
              <a:t>分析程式</a:t>
            </a:r>
            <a:r>
              <a:rPr sz="1350" b="1">
                <a:solidFill>
                  <a:srgbClr val="E8EDF5"/>
                </a:solidFill>
                <a:latin typeface="Microsoft JhengHei"/>
              </a:rPr>
              <a:t>首次執行時第 2、7 項未通過</a:t>
            </a:r>
            <a:r>
              <a:rPr sz="1350" b="0">
                <a:solidFill>
                  <a:srgbClr val="E8EDF5"/>
                </a:solidFill>
                <a:latin typeface="Microsoft JhengHei"/>
              </a:rPr>
              <a:t>。原因不在回測，而在核對程式把「左緣」實作為單一期而非整個 12 期區塊。更正後由失敗轉為通過。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E8EDF5"/>
                </a:solidFill>
                <a:latin typeface="Microsoft JhengHei"/>
              </a:rPr>
              <a:t>依據全部來自早於資料的原文、只用價格日曆與形成期日期、不涉任何結果；假說與估計式皆未更動——</a:t>
            </a:r>
            <a:r>
              <a:rPr sz="1350" b="1">
                <a:solidFill>
                  <a:srgbClr val="E8EDF5"/>
                </a:solidFill>
                <a:latin typeface="Microsoft JhengHei"/>
              </a:rPr>
              <a:t>但它確實是在看到失敗之後才改的</a:t>
            </a:r>
            <a:r>
              <a:rPr sz="1350" b="0">
                <a:solidFill>
                  <a:srgbClr val="E8EDF5"/>
                </a:solidFill>
                <a:latin typeface="Microsoft JhengHei"/>
              </a:rPr>
              <a:t>，故逐條記於附錄 D。</a:t>
            </a:r>
            <a:r>
              <a:rPr sz="1350" b="1">
                <a:solidFill>
                  <a:srgbClr val="E8EDF5"/>
                </a:solidFill>
                <a:latin typeface="Microsoft JhengHei"/>
              </a:rPr>
              <a:t>預先登記的價值不在於不出錯，而在於出錯時留下痕跡。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